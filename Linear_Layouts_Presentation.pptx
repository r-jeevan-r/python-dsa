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amp; background" id="{13edebff-b64b-67b0-bee5-1208b6280c88}">
          <p14:sldIdLst>
            <p14:sldId id="256"/>
            <p14:sldId id="257"/>
            <p14:sldId id="258"/>
            <p14:sldId id="259"/>
            <p14:sldId id="260"/>
            <p14:sldId id="261"/>
            <p14:sldId id="262"/>
            <p14:sldId id="263"/>
            <p14:sldId id="264"/>
          </p14:sldIdLst>
        </p14:section>
        <p14:section name="§4 Linear Layouts" id="{2de44abe-e744-1ad8-a481-b6435ef5a104}">
          <p14:sldIdLst>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 name="§5 Code generation" id="{150d98aa-da97-9be9-29da-7c7a6ad77887}">
          <p14:sldIdLst>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Implementation" id="{00227c30-9e16-49ff-1f3a-b7fb53fe0a9e}">
          <p14:sldIdLst>
            <p14:sldId id="310"/>
          </p14:sldIdLst>
        </p14:section>
        <p14:section name="§6 Evaluation" id="{2b3ab4c4-2250-f9fb-f13e-151c190a1393}">
          <p14:sldIdLst>
            <p14:sldId id="311"/>
            <p14:sldId id="312"/>
            <p14:sldId id="313"/>
            <p14:sldId id="314"/>
            <p14:sldId id="315"/>
            <p14:sldId id="316"/>
            <p14:sldId id="317"/>
          </p14:sldIdLst>
        </p14:section>
        <p14:section name="Wrap-up" id="{c23315f0-7e05-47ba-b8c0-e0db965054de}">
          <p14:sldIdLst>
            <p14:sldId id="318"/>
            <p14:sldId id="319"/>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morning everyone. I am Ragimanu Jeevan, and I will present the ASPLOS 2026 paper "Linear Layouts: Robust Code Generation of Efficient Tensor Computation Using F2".
The central question of the paper: how can a compiler describe and transform the complex mappings between tensor indices and hardware — registers, threads, warps, and memory — without writing a custom rule for every pair of layouts?
The answer is in the small matrix on the right. It is a real layout from the paper, written as a matrix of zeros and ones. By the end of the talk you will be able to read it: each column is one hardware bit, each row is one bit of a tensor coordinate, and multiplying with XOR and AND tells you which tensor element a register holds.
Authorship note: Keren Zhou is at George Mason University (the paper also lists an OpenAI affiliation for him); the other authors are listed with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Five parts. First, why tensor layouts matter on GPUs and why the old approach in Triton was painful. Second — the technical core — Section 4 of the paper: layouts as linear maps over the two-element field, with definitions, propositions and theorems. Third, also core: Section 5, where these matrices are used to generate code — vectorized loads, broadcasting, mixed precision, shared-memory instructions, layout conversions with warp shuffles, bank-conflict-free swizzling, and gather.
For every definition and algorithm in Sections 4 and 5 I will show a small worked example with actual binary matrices, so we can follow each algebraic step instead of talking in the abstract.
Then the evaluation numbers, and the takeaways. The through-line: represent layouts as bit-level linear maps, compose and invert them to derive conversions, then lower those conversions to efficient GPU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The paper lists four contributions, and they build on each other — the talk follows the same order.
One, the representation: linear layouts use linear algebra over F2 to represent tensor layouts and to compose them inside one unified framework. A layout becomes a binary matrix acting on the bits of a hardware index. This is Section 4.
Two, the system: linear layouts are fully integrated into Triton's GPU backend, with a layout engine that automatically chooses and propagates layouts for any operation in Triton. That is Section 4.4.
Three, the algorithms built on top: automatic optimal swizzling, which provably maximizes read and write vectorization and minimizes bank conflicts; automatic optimal warp-shuffle generation for layout conversions; and generic lowering of hardware intrinsics for every layout in this family, instead of one implementation per layout. That is Section 5, where I will spend most of the time on worked examples.
Four, the evidence: on synthetic and real deep-learning workloads, linear layouts outperform baseline Triton — up to 1.40×, average 1.07×, across 265 real benchmark cases — and they make Triton more robust by fixing many pre-existing layout bugs. That is Section 6. Note the end-to-end gains are modest on average; the large numbers come from micro-benchmarks.
So the one-line summary: one composable representation instead of case-by-case layout conversion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This is Figure 1 of the paper. Both pictures store the same 16 by 16 tensor with two warps. Each small cell is one tensor element. The labels tell us who owns it: w_i is warp i, t_j is thread j, r_k is register k.
In Layout A on the left, each thread owns a 2 by 2 tile — four registers r0..r3 — and the 32 threads of warp 0 are arranged 4 rows by 8 columns, so warp 0 covers the top 8 rows and warp 1 the bottom 8 rows.
In Layout B on the right, threads are arranged down the columns instead: t0..t7 go down the first column of tiles.
The logical tensor is identical; only the ownership changes. The paper notes that if the tensor sits in row-major order in memory, loading it into Layout A is more efficient than into Layout B, because neighbouring threads touch neighbouring addresses — the loads are coalesced.
So a layout is a hardware mapping, not just a shape or a row-major/column-major label. Keep Layout A in mind: in a few minutes we will write it as the 8 by 8 binary matrix from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In legacy Triton, layouts were separate types: Blocked, Sliced, MMA, MMA Input, and for memory Unswizzled and Swizzled. Each type had to implement its own interface — elements per thread, contiguous elements, indexing — and every conversion between a pair of types had to be written by hand.
The sketch at bottom left shows the problem: with N layout types you can face up to N squared source-destination combinations. Adding one new layout means touching many places. The paper reports that, at the time cited, 12% of the bugs filed in Triton's GitHub repository were layout-related. That is the paper's observation at that time, not a claim about compilers in general today.
Figure 2 on the right is an early teaser: a float8 transpose kernel, Linear Layouts compared with Triton's padding heuristic for shared memory. Speedup grows with tensor size, approaching about 1.8 to 1.9× at the largest sizes. The full evaluation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Quick hardware vocabulary, since the matrices use it.
A CTA — cooperative thread array — is roughly a CUDA thread block. It contains several warps. A warp is a group of hardware threads that execute together: 32 on NVIDIA, 32 or 64 on AMD. Each thread, also called a lane, has private registers; when one thread holds several tensor elements they sit in several registers, which is why "Reg" is the first input dimension of a layout.
Data can move in a few ways. Within a thread: just rename registers — free. Within a warp: warp shuffle instructions let lanes exchange values without memory. Across warps: through shared memory, an on-chip scratchpad shared by the CTA, organised in banks — that becomes important for swizzling. Global memory (HBM or GDDR) is the large off-chip memory. Newer GPUs add special memories such as Tensor Memory on Blackwell.
Finally, matrix-multiply instructions: mma on NVIDIA tensor cores, wgmma (warp-group MMA, Hopper) and mfma on AMD. These instructions dictate exactly which lane and register must hold which operand element. That is the source of many required layouts. I will use NVIDIA names, but the paper notes AMD and Intel have analogous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Triton is a Python-like domain-specific language for writing GPU kernels at the level of tiles. A kernel follows the single-program-multiple-data model: you write the program for one CTA, and a tensor in Triton means a tile.
Compilation goes through MLIR dialects. Python is turned into the Triton dialect, tt, then into the TritonGPU dialect, ttg. In ttg every tensor value carries a layout attribute. For example, operands of tt.dot get the mma layout so tensor cores can be used. Then it is lowered to LLVM IR and to PTX for NVIDIA or AMDGCN for AMD. Exact stages differ by target, so treat this as a conceptual pipeline.
The important point is the dashed line: all layout reasoning happens at compile time. The GPU is not multiplying 8 by 8 binary matrices for every element at run time. The compiler uses the matrices to decide which loads, shuffles, register moves and stores to emit; at run time the GPU just executes those instructions. Where an index really depends on runtime values, the generated code is a few XORs and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Everything in this paper uses arithmetic over F2, the field with two elements, 0 and 1. Addition is XOR: 1 plus 1 is 0. Multiplication is AND. These are the truth tables on the left.
A matrix-vector product works as usual, except we multiply with AND and add with XOR. Take A = [[1,1],[0,1]] and x = [1,1]. Row by row: the first output bit is 1·1 XOR 1·1 = 1 XOR 1 = 0. The second is 0·1 XOR 1·1 = 1. So y = [0,1]. In real-number arithmetic we would have got [2,1]; here, modulo 2, we get [0,1].
The second view on the right is the one we will use constantly: Ax is the XOR of the columns of A selected by the 1-bits of x. Here both bits of x are 1, so y = column 0 XOR column 1 = [1,0] XOR [1,1] = [0,1]. Same answer.
Why this matters for layouts: column k of a layout matrix tells you where hardware bit k "points" in the tensor. The value of any hardware index is the XOR of the columns for its set bits. Triton's source code calls these columns the "bases" of the layout.
Convention for the whole talk: bit vectors are written least-significant bit first, as in the paper. All the dimensions are powers of two, so every index is exactly a bit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Figure 3 is the taxonomy of legacy layouts in Triton — it is a classification, not a runtime pipeline.
Distributed layouts say how tensor elements are distributed across execution units: they map register, thread and warp to logical coordinates. Blocked is the general tiling layout used for contiguous memory access. Sliced is derived from a parent layout by removing one dimension — the input to a broadcast or the output of a reduction such as tt.sum. MMA layouts are the outputs of matrix-multiply instructions; MMA Input layouts are their operands, with an operand index 0 or 1.
Memory layouts map a memory offset to a logical coordinate. Unswizzled is plain row-major storage. Swizzled XORs the column-group index with a row-dependent phase, to avoid shared-memory bank conflicts; notice the phase=0 and phase=1 rows in the figure.
Each of these was its own class in the legacy code. Section 4 shows that all of them become linear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Now the technical core, Section 4. For every definition I will put a small binary matrix on the screen and do the algebra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Definition 4.1: a linear layout is a linear map between labelled vector spaces over F2.
For a distributed layout, the input space is the hardware index: the register bits, thread bits and warp bits, written Reg × Thr × Wrp. The output space is the bits of the logical tensor coordinate. So the question the layout answers is: given a hardware location, which logical tensor element does it hold?
It must be a function: one hardware location holds one element. But it does not have to be one-to-one: several hardware locations may hold the same element — that is duplication or broadcasting, and we will see it as zero columns. Triton's source code explains why the direction is hardware → tensor: the reverse would not be a function when values are duplicated.
The labels matter: we keep track of which input bits are Reg, Thr, Wrp and which output bits are row i or column j. L_Reg means the block of columns that act on register bits.
Worked example on the right, an 8-element vector held by 4 threads with 2 registers each. That is 1 register bit, 2 thread bits, and 3 output bits e0, e1, e2.
Layout P is the identity: register bit r0 points to element 1, thread bit t0 to element 2, t1 to element 4. So thread 0 holds 0,1; thread 1 holds 2,3; and so on.
Layout Q has the same hardware but a different matrix: r0 points to element 4, t0 to 1, t1 to 2. Now thread 0 holds 0 and 4, thread 1 holds 1 and 5.
Read the columns: column k is where hardware bit k lands — Triton stores exactly these columns, called reg_bases and lane_bases. These two layouts reappear later as the source and destination in Figure 4's warp-shuffle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Back to Layout A from Figure 1. The paper notes that almost everything in GPU programming is a power of two: warps of 32 or 64 threads, warp groups of 4 warps, MMA tiles of 16 by n. Triton also restricts tensor dimensions and layout sub-divisions to powers of two. That is what lets us write every index as a bit vector.
Layout A: the tensor is 16 by 16, so a coordinate (i, j) needs 4 bits for the row i and 4 bits for the column j: 8 output bits.
On the hardware side: each thread holds a 2 by 2 tile, so 4 registers — 2 register bits, which I call q0 and q1. Each warp has 32 threads arranged 4 by 8 — 5 thread bits t0 to t4. Two warps stacked vertically — 1 warp bit w. Total 2 + 5 + 1 = 8 input bits. So the layout is an 8 by 8 binary matrix.
Table 1 of the paper lists a few elements in binary. Look at register 0: every r0 sits at a coordinate whose last bit of i and last bit of j are both 0. r1 has j's last bit equal to 1 — it is one column to the right. That observation is the whole idea: each register bit flips exactly one coordinate bit. Note the convention: j is the fastest-moving dimension, so the output vector lists the j bits first, then the i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Here is the paper's exact matrix A. Columns are input bits in the order q0, q1 | t0..t4 | w — the dashed lines separate Reg, Thr and Wrp. Rows are output bits j0..j3 then i0..i3.
Read it one column at a time, using the column view from the F2 slide. Column k answers: if only hardware bit k is 1, which coordinate do I get?
- q0 has its 1 in row j0: register bit 0 moves one column to the right inside the 2 by 2 tile.
- q1 has its 1 in row i0: register bit 1 moves one row down.
- t0, t1, t2 go to j1, j2, j3: the 8 threads along a row step across tiles of width 2 — so thread bit t0 is worth 2 columns, t1 is 4, t2 is 8.
- t3, t4 go to i1, i2: the 4 thread-rows step down by 2 and 4 rows.
- w goes to i3: warp 1 is 8 rows below warp 0.
Every column has exactly one 1 and every row has exactly one 1 — under this bit ordering A is a permutation matrix. That is the typical shape of a blocked layout.
One caution: this is the paper's chosen example layout. The compiler picks a layout based on the operations, the target and its optimization policy; this matrix is not a universal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This is the key proof-of-understanding example, and it is the paper's own.
Step 1, encode the hardware location in bits, least-significant bit first. Register 1 is 0b01, so [q0, q1] = [1, 0]. Thread 9 is binary 01001, so LSB-first [t0..t4] = [1, 0, 0, 1, 0]. Warp 0 gives w = 0. Stack them: x = [1,0 | 1,0,0,1,0 | 0].
Step 2, multiply. Each output bit is the XOR of the input bits selected by that row — or, in the column view, y is the XOR of the highlighted columns: the columns where x has a 1, which are q0, t0 and t3. q0 contributes j0, t0 contributes j1, t3 contributes i1.
Step 3, decode. The j bits [j0..j3] = [1,1,0,0] = 0b0011 = 3. The i bits [i0..i3] = [0,1,0,0] = 0b0010 = 2. So L(r1, t9, w0) = (i, j) = (2, 3), which matches row "(2,3) → r1, t9, w0" of Table 1.
Watch the ordering: the bit lists are LSB-first, and y lists j bits before i bits, but the familiar coordinate is written (i,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(optional — skip if short on time)
The paper explains the same computation hierarchically. Each hardware level contributes an offset inside an ever larger tile, and you XOR them.
For r1 in t9 in w0: the register map puts r1 at loc = (0,1), the second column of the thread's tile. The thread map puts thread 9's tile at (2,2) inside the warp tile. The warp map puts warp 0 at (0,0). XOR: (0 ⊕ 2 ⊕ 0, 1 ⊕ 2 ⊕ 0) = (2, 3). Same answer as the matrix product — because these offsets are exactly sums of columns of A grouped by level.
Second example, mine, to practise: register r3, thread t14, warp w1.
r3 = 0b11, so q0 = q1 = 1. t14 = 0b01110, so t1, t2, t3 are set. w = 1.
Active columns: q0 → (0,1); q1 → (1,0); t1 → (0,4); t2 → (0,8); t3 → (2,0); w → (8,0).
XOR the i parts: 1 ⊕ 2 ⊕ 8 = 11. XOR the j parts: 1 ⊕ 4 ⊕ 8 = 13. So (11, 13).
Sanity check with the picture: thread 14 is in thread-row 1, thread-column 6 of the 4 by 8 grid, so its tile covers rows 2–3 and columns 12–13; warp 1 adds 8 rows, giving rows 10–11; register 3 is the bottom-right of the tile: (11, 13). Because the bit positions do not overlap, XOR here equals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Definition 4.2: given L1 from U to V and L2 from V to W, the composition L2 ∘ L1 sends u to L2(L1(u)). With matrices M1 and M2, the composition is the matrix product M2 M1 over F2 — note the order: the map applied first is on the right.
Worked example with a small layout I will reuse: L1 is a 4 by 4 tensor held by 4 threads with a 2 by 2 tile each — a mini version of Layout A. Register bit r0 → j0, r1 → i0, thread bit t0 → j1, t1 → i1. The grid shows who owns each cell.
L2 is a transpose of the logical tensor: it swaps the i bits with the j bits. As a matrix, P has a 1 in row j0' column i0, row j1' column i1, and so on.
Multiply: entry (row j0', column r1) of M2 M1 is row j0' of P — which selects i0 — dotted with column r1 of L1, which is e_i0. That is 1. Doing every entry gives the right-hand matrix. Read its columns: r0 now points to i0', r1 to j0', t0 to i1', t1 to j1'. That is the layout of the transposed tensor — same registers, same threads, no data moved. That is exactly how tt.trans becomes a no-op in Section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Let us check associativity concretely: take register r1 of thread t2. In bits, r1 = 0b01 → [r0, r1] = [1, 0]; t2 = 0b10 → [t0, t1] = [0, 1]. So x = [1, 0, 0, 1].
Route 1, step by step. First L1: columns r0 and t1 are active, giving j0 and i1, so (i, j) = (2, 1) — row 2, column 1 of the original tensor; you can verify in the ownership grid on the previous slide that t2 r1 holds (2,1). Then apply P, the transpose: (2, 1) becomes (1, 2).
Route 2, directly with the product matrix M2 M1: the same active columns r0 and t1 now give i0' and j1', i.e. (1, 2).
Same answer. This is the property the compiler exploits: once a layout and a transformation are matrices, chaining them is a single matrix product computed at compile time. Later, layout conversion is exactly a composition: B inverse composed with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Definition 4.3, the product. Given L1 from U1 to V1 and L2 from U2 to V2, the product L1 × L2 maps the pair (u1, u2) to (L1(u1), L2(u2)). The two pieces do not interact, so the matrix is block diagonal: M1 in the top-left, M2 in the bottom-right, zeros elsewhere. The paper's footnote says this is usually called the direct sum; they call it a product to avoid confusion with the XOR symbol.
The paper says the product is how you build a complex layout incrementally — registers, then threads, then warps. Let us build Layout A that way.
- The register level: (q0, q1) → (j0, i0), an identity I2 — the 2 by 2 tile.
- The thread level: (t0..t4) → (j1, j2, j3, i1, i2), an identity I5 — the 4 by 8 thread grid.
- The warp level: w → i3, an identity I1.
Their product is block diagonal, here the 8 by 8 identity, with the output rows grouped level by level: j0, i0 | j1, j2, j3, i1, i2 | i3.
This is literally how current upstream Triton builds a blocked layout: identity for registers, times identity for lanes, times identity for warps. On the next slide we regroup the output bits by tensor dimension and recover A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(optional — skip if short on time)
The product M0 groups output bits level by level. But the tensor coordinate wants all the j bits together, then all the i bits. Regrouping is a permutation of output rows — a matrix P — so by composition the full layout is P times M0.
P picks rows of M0 in the order 0, 2, 3, 4, 1, 5, 6, 7: that is j0, then the thread's j1, j2, j3, then i0, then i1, i2, then i3. Because M0 is the identity here, the result is exactly P, and P is exactly the paper's matrix A — I checked this equality programmatically while building the slides.
In Triton's implementation this regrouping happens automatically, because outputs are labelled: when you take the product, bits of the same named dimension are stacked, lower levels first. This is a teaching factorization showing both definitions at work; I am not claiming the compiler literally multiplies these two matrices internally.
One more remark: Layout A is a Blocked encoding with sizePerThread [2,2], threadsPerWarp [4,8], warpsPerCTA [2,1], and order [1,0] — j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Definition 4.4. A matrix M is divisible on the left by M1 if M has the block structure [[M1, 0],[0, M2]]. Then we write M divided-on-the-left by M1 equals M2. It is the inverse of the product: it peels an independent block off the top-left. In a labelled layout this is done label by label.
Why we care: a hardware instruction handles a small fixed mapping — a tile T. If the layout literally contains T as an independent block, the instruction can be used, and the quotient tells us how the remaining bits are laid out.
Example 1. Four threads each hold 4 fp32 values; L maps (register, thread) to a shared-memory offset. Here L is the identity: registers r0, r1 → offset bits o0, o1; threads → o2, o3. The tile T for a 4-wide vector store maps 2 register bits to the 2 low offset bits — I2. The top-left block of L is T, the off-diagonal blocks are zero, so L /ℓ T = I2: thread t writes its 4 values at offsets 4t to 4t+3 with one vector instruction.
Example 2. Now registers point to o2, o3 — each thread's values are 4 apart — and threads point to the low bits. The top-left Reg-to-low-offset block is zero, not T: no division, so no 4-wide vector store.
This is a structural compatibility test — not ordinary division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Definition 4.5: a surjective linear layout L from U to V has a right inverse. If M is m by n, M inverse is defined as an n by m least-squares solution of M X = I_m, computed with Gaussian elimination over F2. It is used whenever we need to recover hardware indices from logical coordinates.
Why "right" inverse and not a normal inverse? Because layouts can be many-to-one. Example: 3 register bits but only 4 logical elements, so M is 2 by 3: r0 → e0, r1 → e1, and r2 → nothing — a zero column. Then registers 0 and 4 both hold element 0, registers 1 and 5 hold element 1, and so on: the table shows every logical element has two hardware preimages.
Solve M X = I2 by Gaussian elimination: M is already in reduced form. Columns 0 and 1 are pivots; column 2 — register bit r2 — is a free, or slack, variable. Setting the slack variable to 0 gives R = [[1,0],[0,1],[0,0]]. Check: M R = I2.
But R' with a 1 in the slack position also works: M R' = I2 too. So the right inverse is not unique; it picks one representative preimage. The convention of setting slack variables to zero — the minimum Hamming-weight choice — becomes a design decision in Section 5.4 for layout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Proposition 4.6: blocked layouts are linear layouts. We already saw why for Layout A: a blocked layout is a product of identities for registers, threads and warps, regrouped by dimension. The paper generalizes the example of Section 4.1 to the whole family.
The interesting part is what happens when the tensor does not match the tile. The blocked layout of Layout A covers a 16 by 16 tile.
Left: the same layout on a 32 by 16 tensor. The tile is smaller than the tensor, so it repeats. A tensor coordinate now needs a fifth row bit i4. Who covers it? A new register bit q2: each thread now holds two tiles, 8 registers. So the matrix grows a column q2 with its 1 in row i4. Still a permutation matrix — still linear.
Right: the same layout on an 8 by 16 tensor. The tile is larger than the tensor. The row coordinate only has 3 bits, i0..i2, so the warp bit has nowhere to point: its column becomes zero. Both warps hold the same 8 by 16 data — duplication. The matrix is still linear and still surjective; it just stopped being injective.
So both "replicate the tile" and "duplicate across hardware" become simple column operations, rather than special cases. This is exactly what Section 5.1 exploits for broadcasting.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Proposition 4.7: the input and output layouts of mma and wgmma are linear layouts. The paper says the same constructive argument works for AMD's and Intel's matrix instructions; this family is called MMA layouts.
To make it concrete I use the accumulator fragment of NVIDIA's mma.m16n8k16 instruction with f32 accumulators, as documented in the PTX ISA. A warp computes a 16 by 8 output tile; each lane holds 4 values c0..c3. With groupID = lane / 4 and threadID_in_group = lane mod 4, the PTX manual says: c0 and c1 are at row groupID, columns 2·threadID_in_group and +1; c2 and c3 are the same but 8 rows lower.
Written as bits that is a 7 by 7 matrix. Register bit r0 → j0 (the +1 column). Lane bits t0, t1 → j1, j2 (threadID_in_group times 2). Lane bits t2, t3, t4 → i0, i1, i2 (groupID). And register bit r1 → i3 — the "+8 rows". Notice the unusual feature: a register bit points at the most significant row bit. Still exactly one 1 per column: a permutation matrix. I verified this matrix against the PTX formula for all 32 lanes and 4 registers.
Trace lane 5, register c3: lane 5 = 0b00101, so t0 = 1 and t2 = 1; c3 = 0b11, so r0 = r1 = 1. j = 1 + 2 = 3, i = 1 + 8 = 9. The PTX formula: groupID 1 + 8 = row 9; column 2·1 + 1 = 3. Same.
This is an illustration of the proposition, not the paper's proof; the paper handles mma and wgmma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Proposition 4.8: the slice of a linear layout is a linear layout. Proof: removing a dimension is a linear map. A sliced layout is what you get after a reduction such as tt.sum over one axis — the result has one dimension fewer, but stays in the same threads.
Example: reduce Layout A over the columns j, i.e. tt.sum with axis = 1. Each row i now has one value.
As a matrix operation this is a composition with a projection D that keeps the i rows and drops the j rows: D is [0 | I4]. The paper mentions this in the text: composition can extract a slice by mapping a parent dimension to zero. D times A simply deletes the four j rows of A.
The Remark in the paper: the sliced matrix keeps its surjectivity — every row i is still held by someone; its rank is 4 — but loses injectivity. Columns q0, t0, t1, t2 are now zero, because those bits only moved along j. So for any row i there are 2^4 = 16 hardware locations holding the same value: 2 registers times 8 threads. For example i = 2 is held by 16 locations. That duplication information is what code generation needs, e.g. to avoid counting duplicates twice in a later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Theorem 4.9: every distributed layout is a linear layout. This follows from the previous propositions: blocked, MMA and sliced cover the distributed family in Triton.
Then the paper turns the informal notion into a definition. Definition 4.10: a distributed layout is a surjective linear layout from registers, threads and warps to the logical tensor, where every column of the matrix has at most one non-zero bit, and no two non-zero columns are repeated. In words: a permutation matrix with zero columns interleaved.
Let me check four small candidates, each mapping 3 hardware bits to 2 element bits.
1. [[1,0,0],[0,1,0]]: each column has at most one 1, the non-zero columns are different, rank 2 so surjective. Valid — and the zero column means hardware bit r2 is a duplication bit.
2. [[1,0,1],[0,1,1]]: the third column has two 1s. Rejected. Flipping r2 would change both e0 and e1 at once — that is a swizzle-like map, which is allowed for memory layouts but not here.
3. [[1,0,1],[0,1,0]]: r0 and r2 have the same column. Rejected: the duplication must come from a whole hardware bit being ignored, not from two bits cancelling — register 5 would hold element 0.
4. [[1,0,0],[0,0,0]]: element bit e1 is never produced; elements 2 and 3 are held by nobody. Not surjective, rejected.
And the paper's matrix A passes. The significance: what used to be informal English in the legacy code is now a precise, checkable property in linear algebra. The paper also notes this family is strictly larger than the legacy one — for example it contains the transpose of an MMA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Now memory layouts. The simplest is unswizzled: offset (i, j) is just row-major. But when distributed layouts such as the MMA family read or write it, many threads may hit the same shared-memory bank — bank conflicts, which serialize accesses. mma swizzling was introduced to fix that.
Definition 4.11. Parameters vec, per_phase and max_phase, all powers of two. vec is the size of a group of adjacent elements that stays together and in order. per_phase is how many consecutive rows share one phase. max_phase is how many distinct phases there are before cycling. The phase of row i is (i / per_phase) mod max_phase. The column group index j / vec is XORed with the phase, scaled back by vec, and the position inside the group, j mod vec, is kept. The paper's formula gives the offset within the row, counted in elements; for a 2D picture I add the row base, row_stride times i.
Worked example: a 4 by 4 tile, vec = 2, per_phase = 1, max_phase = 2. Phases by row: 0, 1, 0, 1. Take row 1, phase 1. j = 0: group 0 XOR 1 = 1, times 2 = 2, plus 0 → slot 2. j = 1 → slot 3. j = 2: group 1 XOR 1 = 0 → slot 0. j = 3 → slot 1. So in phase-1 rows, the physical slots hold logical columns [2, 3, 0, 1]; phase-0 rows are unchanged.
Same values, only the offsets are permuted. Since the group part and the within-group part occupy different bits, the XOR and plus in the formula agree. Swizzling aims to reduce bank conflicts and keep vectorized access; it does not guarantee improvement for every access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Why does XORing help? A small bank model: 4 banks, one element per bank per row, so physical slot k of every row is in bank k. Shared memory can serve one address per bank per cycle; two threads hitting different addresses in the same bank are serialized.
Now four threads each read one element of logical column 0 — one per row. This is typical when a row-major tile is read in a transposed, column-wise layout, for example by an MMA operand.
Left, unswizzled: column 0 lives in slot 0 of every row, so all four reads hit bank 0. A 4-way bank conflict: four serialized accesses.
Right, swizzle with vec = 1, per_phase = 1, max_phase = 4, so j' = j XOR i. Column 0 of row i lands in slot i: banks 0, 1, 2, 3. Conflict-free. Row-wise reads also stay conflict-free, because within one row the XOR is just a permutation of slots.
The values are identical; only the address assignment changed. In Section 5.4 we will see that the paper does not pick swizzle parameters by hand: it computes an optimal swizzled layout from the source and destination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Proposition 4.12: mma swizzled layouts are linear layouts. Proof idea from the paper: the operations — integer division and mod by powers of two, XOR — are linear on the bits of i and j. The map is injective and surjective, so it has an inverse, and the inverse is a linear layout from logical coordinates to offsets.
Computing the matrix for a 2^m by 2^n tensor gives the block structure [[I_n, C],[0, I_m]], where column i of C is (vec · (2^i / per_phase mod max_phase)) mod 2^n.
Our 4 by 4 example: n = m = 2, vec = 2, per_phase = 1, max_phase = 2.
Column 0 of C: 2 · (1 mod 2) = 2 → bits [0, 1].
Column 1 of C: 2 · (2 mod 2) = 0 → [0, 0].
So C = [[0,0],[1,0]]: row bit i0 toggles the high column bit j1 — the phase flips the column group, exactly what we saw in the table.
Rows of M are logical bits j0, j1, i0, i1; columns are offset bits o0..o3, where o0, o1 are the slot within the row and o2, o3 the row.
Trace offset 6 = 0b0110: o1 = o2 = 1. Columns o1 and o2 give j1 from o1 and j1 plus i0 from o2: j1 cancels! Result j = 0, i = 1: logical (1, 0). The table said row 1, slot 2 holds column 0. Correct.
Inverse: M times M is the identity — XORing the same phase twice cancels — so the inverse has the same structure; here M is its own inverse. For the bank example with vec = 1 and max_phase = 4, the same formula gives C = I2. I checked M against the formula for all 16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Theorem 4.13: similar computations for the other swizzling strategies show that every memory layout in Triton is a linear layout.
Definition 4.14 then characterizes the family: a memory layout is an invertible linear layout whose matrix columns have either one or two non-zero bits.
Compare with distributed layouts in the table. A distributed layout maps Reg × Thr × Wrp to the tensor; it must be surjective and may be many-to-one, with at most one 1 per column. A memory layout maps an offset to the tensor; it must be invertible, since each element is stored exactly once, and a column may have two 1s — that second 1 is the swizzle XOR.
Checks: the unswizzled identity — one 1 per column, invertible — is a memory layout. Our swizzled M — column o2 has two 1s, still invertible — is a memory layout. A matrix with a zero column, like a broadcast distributed layout, is not invertible, so not a memory layout. A matrix with a column of three 1s is invertible but violates the one-or-two rule.
So not every invertible matrix is a valid memory layout in this family; the definition imposes structure. Section 5.4 will compute optimal memory layouts of exactly this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Section 4.4. Triton operations fall into four categories: computation, memory, layout conversion, and shape operations. Shape operations are tt.trans, tt.reshape, tt.join, tt.split, tt.expand_dims and tt.broadcast.
The claim: for every input distributed layout there is an output layout in the same family such that the shape operation is a no-op — no data moves — and the same backwards. The paper proves the family of Definition 4.10 is forward and backward closed under these operations.
With matrices this is almost visible. Take our mini layout L1 for a 4 by 4 tensor.
- tt.trans: compose with the swap P — we did this already. Same hardware, new labels.
- tt.reshape from [4,4] to [16]: flattening row-major, the flat index k has bits k0 k1 = j0 j1 and k2 k3 = i0 i1. The matrix is unchanged; only the row names change.
- reshape to [2,8]: again the same bits, regrouped as (j0, j1, j2 | i0), where the new j2 is the old i0.
- expand_dims adds a dimension of size 1 — zero bits, nothing changes.
- broadcast is the reverse of slicing: zero columns of a sliced layout get pointed at the new dimension's bits.
- join and split add or remove a size-2 dimension, i.e. one bit, typically handed to a register bit.
Why does this matter? Legacy layouts could not even represent some results — for example the transpose of an MMA layout — so the compiler inserted unnecessary layout conversions, i.e. real data movement. With linear layouts the engine stays generic, and the paper says this is what lets optimizations like Section 5.2 be written at the Python level at zero runtime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How does Triton decide layouts for a whole kernel? The layout engine.
Step 1, anchors: Triton initially assigns blocked layouts to global memory operations, and to computation operations that need a specific input layout — mma or wgmma, exposed through tt.dot. These are anchor layouts.
Step 2, forward pass: layouts propagate along use chains. An operation with several inputs may receive several candidate layouts.
Step 3, conflicts are resolved with a heuristic model — the paper's example is favouring blocked layouts for load and store operations — and layout conversions are inserted to standardize values that have several candidates.
Step 4, backward pass: conversions are rematerialized in reverse through the definition chain. If the instructions along the chain are cheap, the whole chain can be recomputed in the target layout and the conversion disappears.
The small IR on the right is illustrative: two loads get blocked layouts, the add inherits blocked, tt.dot needs an MMA operand layout, so a convert_layout is inserted between them. "Backward" here is compiler layout propagation, not neural-network back-propagation. And all of this is compile time; the GPU only runs the resulting instructions. The current upstream file RemoveLayoutConversions.cpp describes these same steps in its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Section 5 is where the algebra pays off. Every subsection is a code-generation decision; for each one I will show which matrix operation answers it, on a small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First utility: how many contiguous elements does each thread own? This decides the width of vectorized global loads and stores.
Legacy Triton used a heuristic: look at the fastest-running dimension and assume that determines contiguity. With a tensor of shape [512, 1] or [512, 2] the last dimension is tiny, so the heuristic finds only 1 or 2 contiguous elements, even when a thread's elements are contiguous across rows.
With linear layouts the paper's rule is: find the largest u such that L_Reg inverse of i equals i for every i up to u — the register map is the identity on an initial block. In the column view: walk the register columns in order and check that column m is the unit vector e_m of the flattened memory index.
Example, illustrative but consistent with Table 3's widths: a [512, 2] tensor of fp8, row-major, so the flat index is k = 2i + j, with k0 = j0 and k1, k2, k3 = i0, i1, i2. Suppose each thread owns an 8 by 2 block with j fastest. Then q0 → k0, q1 → k1, q2 → k2, q3 → k3. All four columns pass: u = 2^4 = 16 contiguous fp8 = 128 bits — one v4.b32 access. The legacy heuristic sees only the last dimension of size 2: 2 fp8 = 16 bits, a v1.b16. That is exactly Table 3's [512,2] × f8 row: 16 bits → 128 bits.
Counter-example: same elements per thread, but the registers walk down the rows first. Column q0 is e1, not e0, so the prefix stops immediately — u = 1. Section 5.3 shows how permuting registers can recover this case.
Careful: this is per-thread vectorization, not coalescing across threads, and alignment, dtype and hardware still constrain the final instruction. A wider instruction does not mean proportionally faster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Second utility: broadcasting and duplication. Legacy blocked and MMA layouts are defined by an initial tile distributed over registers, threads and warps. If the tile is smaller than the tensor it is replicated, increasing registers per thread. If the tile is larger, several threads or warps hold duplicated data. Getting that right in LLVM code generation — especially for reductions and scans — was a persistent source of bugs in Triton, with several bug reports cited.
With linear layouts, tiling is just the Product, and duplicates are visible directly: a zero column.
This is the paper's own example: take A_Reg from Section 4.1 — the two register columns q0 → j0 and q1 → i0 — and add a zero column q2. Now there are 8 registers. Registers 0 to 3 map to (0,0), (0,1), (1,0), (1,1). Registers 4 to 7 have q2 = 1, which contributes nothing, so they map to exactly the same four elements.
The same reading works for every hardware dimension: a zero Thr column means pairs of threads duplicate data; a zero Wrp column means warps duplicate data. Once you know which bits are "don't care", reductions can avoid counting duplicates twice and stores can avoid writing the same value several times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Let me make broadcasting concrete with a bias vector b = [10, 20, 30, 40] added to every row of a 4 by 4 tile — think x + b[None, :]. The 4 by 4 tile uses our mini layout L1. The bias lives in the sliced layout: take L1 and keep only the j rows.
That leaves the 2 by 4 matrix shown. Columns r1 and t1 are zero — they used to move along i, which no longer exists for b. So the zero-column mask says: register bit r1 and thread bit t1 are "don't care".
The grid shows what each of the 16 (thread, register) slots holds. Every value appears four times: in registers r and r+2 of threads t and t+2.
Use 1, stores: only slots with all masked bits zero — r1 = 0 and t1 = 0 — need to write. That is 4 writes instead of 16, one per logical element, highlighted in green. Use 2, reductions: when summing b, each logical value must be counted once, so the same mask tells the code generator which copies to skip.
The paper reports that this generic handling lets Triton-Linear support reductions on all tested layouts and reduce shared-memory store instructions by up to 76% in its micro-benchmark — that is Table 4, which we will see in the evaluation. Physical copies may still exist in registers; the gain is avoiding redundant loads, stores, and miscounting.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Section 5.2, mixed-precision matrix multiplication. MXFP4 is a quantized microscaling format: groups of 32 floating-point values share a single 8-bit exponent, the scale. B200 and MI350x support it natively, but on older GPUs Triton has to emulate it: for mxfp4 × bf16, upcast the mxfp4 values to bf16, multiplying in the right scale.
The difficulty: each value must meet its group's scale in the same thread. The paper notes that each set of 8 threads in a warp — a row of the mma layout — shares the same scale. With legacy layouts this needed a new layout plus conversions to and from every other layout; alternatively, load scales in a blocked layout and share them with warp shuffles, which is slower.
Linear layouts: write the scale broadcast with shape operations — reshape, transpose, broadcast — and the layout engine derives the scale layout. Algebraically, it is a composition with a projection.
Illustrative, scaled down: group size 4 instead of 32. Logical bits of the value tensor: k0, k1 (inside a group), k2 (which group), m0 (row). The scale index g0 is k2, so the projection D keeps k2 and m0 and drops k0, k1.
Case 1: value layout V is the identity: registers r0, r1 → k0, k1. Scale layout S = D·V: the register columns become zero. Reading: all four registers of a thread use the same scale — load one scale per thread and broadcast it in registers.
Case 2: V' splits a group across threads: r0 → k0, t0 → k1, r1 → k2. Now S' = D·V' has zero columns r0 and t0: neighbouring threads t and t XOR 1 share a scale. That is the kind of "threads share a scale" fact the paper states for the real mma layout — derived, not hand-coded.
The [M, G, 32] reshape view is a conceptual illustration, not literal code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Second mixed-precision trick: data shuffling. Loading low-precision data and then upcasting before the tensor-core instruction is often inefficient. For mxfp4 × bf16 the paper says the mxfp4 data cannot be loaded with vectorized instructions, because the wgmma instruction requires two registers per thread for each row of the operand: the K elements a thread needs are not contiguous.
The fix: pre-shuffle the higher-precision bf16 operand in HBM before the computation, which allows wider vectorization of the mxfp4 operand. The Machete framework implemented this with several thousand lines of code and a CUTLASS dependency; with linear layouts it is five lines of Python using shape operations. Footnote 3: for mma no pre-shuffle is needed, since mma takes both operands in registers.
Why is this legal? The dot product sums over k, and a sum does not care about order: permuting K the same way in both operands gives the same result.
Illustration with the documented mma.m16n8k16 A-operand fragment — not the exact wgmma/mxfp4 case. Restricted to K, register bit r0 → k0, register bit r2 → k3 (the "+8 columns" half), lane bits t0, t1 → k1, k2. So thread group 0 needs K = {0, 1, 8, 9}: only pairs are contiguous.
Choose a bit permutation Π with k'0 = k0, k'1 = k3, k'2 = k1, k'3 = k2. Then Π·L_K is the identity: in the permuted order the same thread needs K' = {0, 1, 2, 3}, four contiguous elements, so a wider vector load. Store the other operand with the same Π once, in HBM, and the product is unchanged.
Same logical values, different physical layout — and the benefit is workload- and hardware-dependent.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Section 5.3, SIMD hardware primitives. Moving data between registers and a shared-memory layout used to need a hand-written implementation per layout pair, supporting only a subset of layouts.
Linear layouts give a generic recipe. A is the memory layout: offset → logical coordinate, invertible by Definition 4.14. B is the distributed layout: register, thread, warp → logical coordinate. We want, for each hardware location, which memory offset to touch: first B gives the logical element, then A inverse gives its offset. So L = A⁻¹ ∘ B, a map from hardware to offsets.
Theorem 5.1: an instruction with tile T can lower L if L divided on the left by T exists. T is the small mapping the instruction implements; left division asks whether L contains T as an independent block. Proof: from the definitions of the tile and left division.
Worked example: four threads each hold one row of a 4 by 4 fp32 tile: r0, r1 → j0, j1 and t0, t1 → i0, i1. B is the identity. Memory is unswizzled row-major, so A is the identity and A⁻¹ too. L = A⁻¹ B = I4, from (Reg, Thr) to offset bits.
The vectorized st.shared tile of 2^n bits is the identity from registers to offsets. For v4.b32 with fp32 — 4 elements of 32 bits = 128 bits — T is id2 from (r0, r1) to (o0, o1). Top-left block of L is T, off-diagonal blocks zero: divisible. The quotient id2 from (t0, t1) to (o2, o3) says thread t writes at offset 4t. So each thread issues one 128-bit store at offsets 4t to 4t+3.
It is a structural compatibility test, not a promise that every layout works with every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(optional — skip if short on time)
Same distributed layout B, but now shared memory uses our swizzle from Definition 4.11 with vec = 2, per_phase = 1, max_phase = 2. We saw M is its own inverse, so A⁻¹ = M and L = M · B = M.
Check the tiles. For a 4-wide vector, T = id2 on (r0, r1) → (o0, o1). The top-left 2 by 2 block is the identity, but the off-diagonal block is not zero: column t0 has a 1 in row o1. Thread bit t0 — odd rows — flips the column group. So L is not left-divisible by id2: no 128-bit store.
For a 2-wide vector, T = id1 on r0 → o0. Row o0 and column r0 are isolated: divisible. So the compiler emits two v2.b32 stores per thread.
Check with actual offsets: thread 1 (odd row, phase 1) has registers holding logical (1,0), (1,1), (1,2), (1,3), which live at offsets 6, 7, 4, 5. Two contiguous pairs, not one run of four. The algebra and the table agree: vectorization is limited by the swizzle's vec parameter. This is exactly why the optimal-swizzle algorithm in Section 5.4 starts by preserving the vectorization subspace.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Now the matrix load and store instructions, ldmatrix and stmatrix. The paper's description: each thread handles 4 contiguous bytes, and 8 groups of 4 threads collaborate to store one row each. For an element type of byte width w, the tile is id_k from registers to offsets, times id_2 from threads to offsets, with k = log2(4 / w).
So: fp8, w = 1: k = 2 — four values per thread fill the 4 bytes. fp16, w = 2: k = 1, two values. fp32, w = 4: k = 0, one value. In all three cases two thread bits extend it: 4 threads × 4 bytes = 16 bytes per row.
v4.b32 notation reminder: four 32-bit transfer units = 128 bits = 16 bytes; b32 is the transfer-unit width, not necessarily the tensor dtype — fp8 values can be packed inside 32-bit words.
Worked example, illustrative: the mma accumulator from Proposition 4.7, converted to fp16, stored into a row-major 16 by 8 shared tile (offset = 8i + j). L = A⁻¹ B maps r0 → o0, t0, t1 → o1, o2 — that's exactly the fp16 tile, highlighted green — and r1 → o6, t2, t3, t4 → o3, o4, o5. The tile's rows and columns are isolated, so L divides by T. The quotient says: lane bits t2..t4 choose which of 8 rows — the 8 groups of 4 threads — and register bit r1 chooses which 8 by 8 matrix. That is the shape of an stmatrix with two 8 by 8 matrices.
Exact instruction semantics are architecture-specific; this is the paper's abstract tile characterization, not a claim that every case maps to the same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What if L does not have the structure to be divided by T? If the problem is only the order of registers — for example a column-major register order — the paper defines L' = P_Reg L, where P_Reg permutes the registers. Since the division algorithm processes the columns of L and T in order, it can determine P_Reg while computing the division. In our matrix picture, permuting registers reorders the Reg columns.
Example: registers r0..r3 of a thread hold offsets 0, 2, 1, 3 — register bit r0 points to o1 and r1 to o0. The top-left block is [[0,1],[1,0]], not the identity, so L is not divisible by id2. Swap r0 and r1: the block becomes the identity, L' is divisible, and the compiler emits one 4-wide vector store, simply passing registers in the order r0, r2, r1, r3. No data moves; only the operand order of the instruction changes.
Counter-example: registers hold offsets 0, 1, 4, 5 — r1 points to o2. No permutation of register columns can produce Reg → {o0, o1}, because no register bit points to o1 at all. The best is id1: two 2-wide stores. A register permutation cannot turn truly strided addresses into contiguous ones; the memory layout must permit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Section 5.4: converting a tensor from distributed layout A to distributed layout B. Careful with names: in this section A and B are the source and destination distributed layouts — not the memory and distributed layouts of Section 5.3.
Source location x holds logical element A(x). We need the destination location y with B(y) = A(x). So y = B⁻¹(A(x)). B need not be invertible, but it is surjective — it covers the whole tensor — so a right inverse exists. The conversion map is B⁻¹ ∘ A.
Worked with the paper's Figure 4 matrices: 8 elements, 4 threads, 2 registers. Source A: thread t holds 2t and 2t+1 — the identity. Destination B: thread t holds t and t+4 — register bit → e2, thread bits → e0, e1. B is a permutation here, so B⁻¹ is its transpose.
Multiply: B⁻¹ A. Read its columns: the source register bit becomes destination thread bit t0'; source t0 becomes destination t1'; source t1 becomes the destination register bit r'.
Trace element 5: in A it is thread 2, register 1: x = [r=1, t0=0, t1=1]. Then y = [r' = 1, t0' = 1, t1' = 0]: destination thread 1, register 1. Check in B: thread 1 holds 1 and 5, and 5 is in register 1. Correct.
Reading components: the register column of the conversion points to a thread bit, so data must cross threads; there are no warp bits, so everything stays within a warp — candidates for warp shuffles instead of shared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When the right inverse is not unique, the paper picks B⁻¹ ∘ A to satisfy two criteria.
Criterion 1, minimize inter-warp and inter-thread data movement: if A_i equals B_i for a hardware dimension i in Reg, Thr, Wrp, then the conversion is the identity on that component. Example: extend Figure 4 with a warp bit that maps to e3 in both layouts. The product B⁻¹A then has an identity block for the warp — highlighted — and zeros elsewhere in that row and column: no element changes warp, so no shared-memory round trip between warps is needed.
Criterion 2, promote broadcasting: when B duplicates data — here destination register bit r1' has a zero column — the system B X = A has several solutions. The paper sets the slack variables to zero, which gives the solution X of minimal Hamming weight, the fewest 1-bits. Intuitively, all destination copies of the same logical value read from the same source execution unit.
Worked: for the source column r we need B X = e0. The solutions are t0' and t0' + r1' — weights 1 and 2. Pick t0'. Same for the other two columns. The resulting X has an all-zero r1' row: the duplicate register bit is never used to address the source, so both destination copies come from one source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simplest case. The register component of B⁻¹ ∘ A is the register permutation needed to transform A into B.
Example: source A gives thread 0 the elements 0, 1, 2, 3 in registers r0..r3. Destination B swaps the two register bits: r0 → e1, r1 → e0, so thread 0 holds 0, 2, 1, 3. Threads are mapped identically.
B⁻¹ A: the thread block is the identity and the Reg-to-Thr blocks are zero. Nothing crosses a thread. The register block is a permutation: destination register 1 takes source register 2 and vice versa.
So the conversion costs no instructions: the compiler just renames SSA values. Upstream Triton's Gluon tutorial says the same thing from the user's side: conversions that only reorder registers within a thread are free, and you can assert that with convert_layout(..., assert_trivial=True).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If the warp component of B⁻¹ ∘ A is the identity, data can be exchanged with warp shuffles. Assume no broadcasting for simplicity. The paper builds the shuffle schedule from subspaces.
Step 1, vectorization: V is the largest common subset of A_Reg and B_Reg — the register directions shared by both layouts. Each shuffle can move 2^|V| elements, typically up to 32 bits per shuffle on NVIDIA and AMD. In Figure 4, A_Reg = {e0} and B_Reg = {e2}: nothing in common, so V is empty — one element per shuffle.
Step 2: I is A_Thr ∩ B_Thr, the thread directions that do not move. E is A_Thr minus I, F is B_Thr minus I. In Figure 4: A_Thr has columns e1 (for t0) and e2 (for t1); B_Thr has e0 (for t0) and e1 (for t1). The paper states I is empty here; the comparison is per thread bit — t0 maps to e1 in A but e0 in B, t1 to e2 versus e1 — so E keeps both columns of A_Thr and F both columns of B_Thr, exactly as the figure draws them.
Since there is no broadcasting, |E| = |F|. Pair them in order and set G = {e_i ⊕ f_i}: e1 ⊕ e0 = [1,1,0] and e2 ⊕ e1 = [0,1,1]. G spans a subspace in which every element belongs to a different thread of A and a different thread of B — I check that explicitly on the next slide. V ∪ I ∪ G is a basis of the elements taking part in the first shuffle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Step 2 continued: tile the complement. span(G) = {000, 110, 011, 101} = elements 0, 3, 6, 5. Extend V ∪ I ∪ G to a basis of the whole space F2^3; the extension is R. Here one extra vector suffices, so there are 2^|R| = 2 rounds: R(0) = 000 and R(1). Each affine subspace R(i) ⊕ span(V ∪ I ∪ G) contains exactly one vectorized element per thread in both A and B, so it can be exchanged in one shuffle round.
A detail: the paper's text says R(1) = [0,1,0]; the figure draws R(1) = [1,0,0]. Both give the same round, because their XOR, 110, is in span(G) — a coset does not depend on which representative you pick.
Round 1 = span(G) = {0, 3, 6, 5}. Look up each element's source with A⁻¹ and its destination with B⁻¹. Element 0: stays in thread 0. Element 3: thread 1 sends it to thread 3. Element 6: thread 3 → thread 2. Element 5: thread 2 → thread 1. Every thread sends exactly one value and receives exactly one.
Round 2 = R(1) ⊕ span(G) = {2, 1, 4, 7}: thread 1 sends 2 to thread 2, thread 0 sends 1 to thread 1, thread 2 sends 4 to thread 0, thread 3 keeps 7.
Compare with the arrows labelled s(1) and s(2) in Figure 4: they match. Two shuffle rounds instead of a round trip through shared memory — that's the source of Figure 7's conversion speedups. The 4-thread picture generalizes to any power-of-two warp.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Shared memory is organized in banks. A bank conflict happens when different threads in the same transaction access different addresses in the same bank — the accesses are serialized. Values stay correct; only performance suffers.
The paper models a shared-memory layout as M from Vec × Bank × Seg to the logical tensor: Vec is the vectorized elements, Bank the bank index inside a segment, Seg the segment index. Figure 5 simplifies to four threads, segments of four banks.
The key observation: two elements land in the same bank of different segments exactly when their logical difference lies in span(M_Seg). Let P be the span of the logical directions accessed together in one transaction. Then the condition for no bank conflicts is P ∩ span(M_Seg) = {0}.
Figure 5 panel (1): the threads in a transaction differ along the column bits c0 and c1 — A_Bank spans {000, 100, 010, 110}. The segment column of M is r, the row bit. The intersection is just zero: no bank conflicts.
Panel (2): the segment column is c1, which is inside the span of A_Bank. So two threads whose elements differ by c1 hit the same bank in different segments: a 2-way conflict — t0 and t2 contend, as do t1 and t3, as the paper says.
So "is this layout conflict-free?" becomes a subspace intersection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(optional — skip if short on time)
Let's apply the subspace test to the bank example from Section 4. Four banks; offset bits o0, o1 select the bank, o2, o3 the segment (the row of memory). Logical bits are (j0, j1, i0, i1).
Four threads read logical column 0, one row each. Their elements differ only in i0, i1, so P = span{i0, i1} = {0000, 0010, 0001, 0011}.
Unswizzled: M is the identity, so M_Seg's columns are i0 and i1. span(M_Seg) equals P — the intersection is all four vectors: 4-way conflict. That matches the picture where column 0 sat in bank 0 four times.
Swizzled with C = I2: M's segment columns are [1,0,1,0] and [0,1,0,1] — o2 now flips both i0 and j0. span(M_Seg) = {0000, 1010, 0101, 1111}. The intersection with P is only 0000: conflict-free.
And row reads, P = span{j0, j1}: the intersection with the swizzled span(M_Seg) is again only zero, so row access stays conflict-free.
This reproduces the earlier picture purely with set algebra — which is what lets the compiler search for a good layout instead of guessing offsets.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Now the algorithm that constructs a swizzled layout which maximizes vectorization and minimizes bank conflicts, for two given layouts: we write with A and read with B. This is the paper's Figure 5, panel 3.
Logical tensor: 4 by 4, elements numbered 4r + c, logical bits (c0, c1, r0, r1). Layout A — the writer: register bits point to r0 and c0, thread bits to c1 and r1, so each thread owns a 2 by 2 block, registers in the order 0, 4, 1, 5. Layout B — the reader: register bits r0, r1, thread bits c0, c1: each thread owns a column.
Step 1, vectorization: V is a basis of A_Reg ∩ B_Reg. Both have register bit 0 pointing to r0 — element 4 — so V = {r0}: pairs (e, e+4) are written and read as 2-element vectors. v = 1.
Dimensions: d = 4 logical bits, v = 1 vector bit, b = 1 bank bit in this simplified figure — four banks per segment hold two 2-element vectors — so s = d − v − b = 2 segment bits.
Step 2: A_Bank and B_Bank are the thread directions that share one transaction: two threads per transaction, so one thread bit each. A_Bank = {c1}: threads t0 and t1 of A differ by 2. B_Bank = {c0}: B's threads t0 and t1 differ by 1.
P = span(V ∪ A_Bank) ∪ span(V ∪ B_Bank) = {0, 4, 2, 6} ∪ {0, 1, 4, 5}. Any two elements in one transaction differ by something in P, so the segment directions must avoid P. The figure draws A_Bank and B_Bank together with the Vec column; the span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Step 3: E = A_Bank \ B_Bank = {c1}, F = B_Bank \ A_Bank = {c0}. Assume |E| ≤ |F| and pair them: H = {e_i ⊕ f_i} = {c0 ⊕ c1} = [1,1,0,0], element 3. Check: 3 is not in P = {0,1,2,4,5,6}. So H is a segment direction that never puts two elements of one transaction into the same bank.
Step 4: we need s = 2 segment vectors but have only |H| = 1. The paper constructs a basis C of a complementing subspace of P; if |H| + |C| ≥ s, select s vectors from H ∪ C; otherwise bank conflicts are unavoidable and the remaining vectors come from A_Bank. Here C = {r1} (element 8), as in the figure. Check span{3, 8} = {0, 3, 8, 11}: it meets P only in 0. So M_Seg = {r1, c0⊕c1}.
Step 5: complete the columns of M to a basis of F2^4, like the shuffle algorithm. Vec = r0, Seg = r1 and c0⊕c1; the bank column must make it a basis — c1 works (c0 would too). M = [r0 | c1 | r1, c0⊕c1].
A note on the printed figure: its F and E⊕F boxes both show [0,1,0,0]. Applying the text's definitions to the printed A_Bank and B_Bank gives F = [1,0,0,0] and E⊕F = [1,1,0,0] — which is exactly the second Seg column of the printed M. So I follow the text; the final M matches the paper either way. Next slide verifies M against the figure's offset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Verification. Apply M to every offset: offset bit o0 is Vec, o1 is Bank, o2 and o3 are Seg. This reproduces the grid on the right of Figure 5 exactly: segment 0 holds 0, 4, 2, 6; segment 1 holds 8, 12, 10, 14; segment 2 holds 3, 7, 1, 5; segment 3 holds 11, 15, 9, 13. I asserted this equality in code.
Vectorization: every pair (e, e+4) sits at consecutive offsets, so both layouts read and write 2-element vectors.
Reads with B, as the paper describes: first transaction, t0 reads 0 and 4 from banks b0, b1, and t1 reads 1 and 5 from b2, b3. Second transaction, t2 reads 2 and 6 from b2, b3, and t3 reads 3 and 7 from b0, b1. All four banks distinct in each transaction. The remaining two read transactions — elements 8 to 15 — also hit distinct banks.
Writes with A: t0 writes the pair (0,4) and t1 writes (2,6): banks 0,1 and 2,3. And so on — every write transaction is conflict-free too.
So the constructed M gives maximal vectorization and no bank conflicts for both sides of the conversion. Unswizzled storage, by contrast, would put 0 and 4 four offsets apart: no vectorization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Section 5.5, gather. tl.gather extracts elements from a source tensor along an axis using indices from an index tensor: out[i, j] = src[i, index[i, j]]. Triton's baseline always went through shared memory.
The optimization: if all elements along the axis dimension of src and index reside in the same warp, use warp shuffles. The paper's test: all elements of L^axis_Wrp are zero, where L is the layout of src and index. In matrix terms: take the warp column — or columns — and look only at the rows for the axis bits. All zero means moving along the axis never changes the warp.
Illustrative example: a [4, 8] tensor, gather along axis 1 (j, 3 bits), with a toy warp of 8 lanes and 2 warps. Layout L: register bit → j0, lanes t0, t1 → j1, j2, lane t2 → i0, warp bit → i1. The axis rows j0..j2 of the warp column are 000: warp-local, shuffles allowed.
Layout L': the warp bit points to j2 instead. The axis rows of the warp column contain a 1: the gathered row spans two warps, so shuffles are not enough and the shared-memory path is needed.
The upstream implementation's isWarpLocal check states the same condition in its comments: moving along the gather axis must not change the warp.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lowering, step by step. For each position pos along the axis: read index(pos), apply L — really its inverse — to find the source register L(index(pos))_Reg and source lane L(index(pos))_Thr. Then perform rounds of warp shuffles: in round i every thread sends its i-th value and receives a value from the source lane; it keeps the received value only if i equals the source register.
Worked, row i = 0 of our toy layout, index row [6, 1, 4, 4, 0, 2, 7, 3]. Take position j = 5: it is owned by lane 2, register 1. index = 2. Element (0, 2) sits in lane 1, register 0. So the destination emits shuffle round 0 — every lane offers its register 0, we read lane 1 — and round 1 — every lane offers register 1, again reading lane 1 — then selects the round-0 value because the source register is 0. The table gives the same for all 8 positions.
Number of rounds: the paper writes n = 2^|L^axis_Thr|. In its own per-round description, round i ships each thread's i-th value, and the current upstream code loops over the source registers per gathered column — here 2 — with one shuffle each, then a select. I follow that enumeration in the example.
That is why Figure 8 shows up to 14.20× speedup, but the gain falls for larger gather dimensions such as [512, 32]: more registers along the axis means more shuffle rounds, which eventually outweighs saving the shared-memory accesses.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(optional — skip if short on time)
A one-slide recap of Section 5, useful for questions. Every code-generation question we saw reduces to one algebraic operation on the layout matrices:
contiguity is the identity prefix of the inverse register map; duplication is zero columns; scale layouts for mixed precision come from composing with a projection; shared-memory instruction selection is A⁻¹B followed by left division by the instruction tile, with register permutations as a fallback; layout conversion is B⁻¹A with a right inverse chosen by the two criteria; warp shuffles come from spans and cosets; optimal swizzling is a subspace-avoidance problem; and gather is a zero test on the warp sub-block.
None of these needs a hand-written rule for a specific pair of layouts — that is the main engineering win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 paper's implementation home is the official Triton repository, triton-lang/triton; no separate companion repository is needed. Five places are worth knowing.
1. include/triton/Tools/LinearLayout.h — the representation. Its long comment block is the best written explanation: a linear layout maps a hardware location to a logical tensor index; you only specify the values at power-of-two inputs — the bases — and every other value is the XOR of bases. It walks through examples: identity, zeros, a 2D transpose, a 1D permutation, a broadcast layout, and a swizzled layout (t, w ⊕ t). It also explains why the direction is hardware → tensor: duplicates would make the reverse not a function. It credits the idea to Adam P. Goucher.
2. lib/Tools/LinearLayout.cpp — the operations: compose, invertAndCompose (the B⁻¹ ∘ A of Section 5.4), pseudoinvert, divideLeft (Definition 4.4), the product operator, sublayout and removeZeroBasesAlongDim.
3. LinearLayoutConversions.h and .cpp — converting legacy encodings to linear layouts: BlockedEncodingAttr::toLinearLayout is literally identity for registers times identity for lanes times identity for warps; there are NVIDIA MMA, AMD MFMA/WMMA, slice and shared-memory swizzled conversions.
4. lib/Dialect/TritonGPU/Transforms/RemoveLayoutConversions.cpp — the layout engine: find anchors, propagate, resolve conflicts by inserting convert-layout ops, rewrite, and backward rematerialization.
5. python/tutorials/gluon/02-layouts.py — user-facing: explicit layouts, convert_layout, equivalent layouts, DistributedLinearLayout with reg_bases, lane_bases, warp_bases; it points to LinearLayout.h and to the paper.
The top-level README is mostly installation and build help. And an important caveat: main is actively maintained, so treat this as the current upstream implementation illustrating the design — not a line-for-line snapshot of the revision measured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comparison is Triton-Linear — Triton with linear-layout-based optimizations — against baseline Triton, which uses legacy layouts and always goes through shared memory for conversions.
Three platforms, Table 2: an NVIDIA RTX 4090 with 24 GB GDDR6X, a consumer GPU; an NVIDIA GH200 with 80 GB HBM2e, a data-centre GPU; and an AMD MI250 with 64 GB HBM2, data-centre.
Method: micro-benchmarks use 4 warps and a single CTA, except mixed-precision matmul, which uses 4 warps per CTA and a varying number of CTAs. Each benchmark is repeated 10 times and the median reported. For real workloads: 21 TritonBench benchmarks, 265 input cases in total.
Not every benchmark runs on every platform: some need the large shared memory only GH200 has, some rely on TMA tensor descriptors absent on RTX 4090 and MI250. A missing case is not a zero speedup — it is simply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Table 3 tests the contiguity utility from Section 5.1: tensors [512, n] with small last dimensions, fp8 and fp16.
Highlighted rows: [512, 2] × f8 goes from v1.b16, 16 bits, to v4.b32, 128 bits — eight times the width; the paper labels it ↑700%. [512, 2] × f16 goes from v1.b32, 32 bits, to 128 bits, labelled ↑300%. Rows where the baseline already reaches 128 bits are unchanged.
Notation: v4.b32 means four 32-bit transfer units — 128 bits in one access; b32 is the transfer width, so fp8 values are packed four per 32-bit unit.
One arithmetic caution I want to flag honestly. The [512, 4] × f8 row goes from 32 to 128 bits and is labelled ↑400%. 32 to 128 is 4× the width, which is a 300% increase over the baseline. The other labels follow the "increase" definition — 16 to 128 is +700%, 32 to 128 for f16 is +300%, 64 to 128 is +100% — so the 400% appears to be a typo in the table. I quote the widths exactly.
The text summarizes this as "up to 7× increase in the bitwidth" — consistent with +700%, i.e. 8 times the original width. The key result is up to 8× wider accesses for [512, 2] × f8 — instruction width, not 8×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Table 4 tests broadcasting, from Section 5.1: a reduction applied across the most common Triton layouts, on shapes [128,16], [128,128], [32,128], [32,32] and [16,16].
Pass rate counts test cases that compile and produce correct results for each layout. Baseline Triton passes Blocked, MMA and Sliced-of-Blocked, but fails every case for MMA Input, Sliced of MMA, Sliced of MMA Input and a custom layout — 0 out of 10. Triton-Linear passes all of them: 10 out of 10.
Shared-memory instruction counts: Blocked drops from 5888 to 1388, minus 76%; MMA from 5914 to 3517, minus 40%; Sliced-of-Blocked from 6703 to 4687, minus 30%. N/A means the baseline failed, so there is no count to compare.
These counts are for these micro-benchmarks only — 76% fewer shared-memory instructions is not 76% less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Table 5: mixed-precision matrix multiplication correctness. All common data-type pairs in Triton, each tested on a simple matmul kernel across shapes: 14 pairs, 784 cases in total.
Baseline Triton passes 366 of 784 — 46.6%. Triton-Linear passes all 784.
Some pairs were already fine — i16/f64, i32/f16, i64/f16 at 32 of 32. Others were badly broken: i8/f8 passed only 30 of 144, i8/f16 36 of 96, i64/f32 16 of 32.
The paper attributes the failures mainly to small matrix shapes and low-precision types: legacy Triton could not support MMA layouts with more than 32 consecutive bits in the last dimension of the tile. Linear layouts support every valid distributed layout in matrix multiplication.
This is the paper's reported benchmark at its revision — not a guarantee about every current Triton version or every possible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Three micro-benchmarks on GH200. Speedup is baseline runtime divided by Triton-Linear runtime, so above 1 means Triton-Linear is faster.
Figure 6: MXFP4 matmul with the data-shuffling optimization from Section 5.2 — one operand fixed to mxfp4, the other varied: e4m3, e5m2, bf16, f16. Triton-Linear is consistently faster thanks to higher-throughput vectorized shared-memory instructions; the mxfp4 × f16 series reaches 1.87×, partly because the authors also fixed a baseline issue where Triton did not use wgmma for f16 mixed precision.
Figure 7: layout conversions — this is the warp-shuffle algorithm from Section 5.4, compared with the baseline that always goes through shared memory. Up to 3.93×, growing with tensor size.
Figure 8: gather with warp shuffles from Section 5.5: up to 14.20×. Notice the drop at [512, 32] and [512, 64]: more shuffle rounds outweigh the saved shared-memory accesses.
Keep these maxima separate from end-to-end numbers: they isolate one operation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Real kernels: 21 TritonBench benchmarks, 265 cases, three GPUs. Figure 9 plots each case as a dot.
GH200: 0.96× to 1.40×. The biggest gains are int4_gemm, gemm and flex_attention, where efficient primitives such as ldmatrix and stmatrix are used in layout conversion and shared-memory traffic. For welford, Triton-Linear detects that a conversion is between equivalent layouts — legacy Triton could not compare, say, Blocked and Sliced — so the conversion becomes a no-op.
RTX 4090: 0.97× to 1.37×. template_attention gains more on the 4090 than on GH200 because of mma versus wgmma: on GH200 wgmma reads the right operand directly from shared memory, so only on the 4090 is it lowered to ldmatrix after the optimizations.
MI250: 1.00× to 1.03×. Smaller gains, which the paper attributes to the lack of efficient primitives such as ldmatrix on AMD in the evaluated implementation.
Below-1.0 cases come mostly from runtime noise on small inputs, per the authors.
Table 6 counts local, i.e. shared-memory, loads, stores and convert_layout operations in the TritonGPU IR for benchmarks where they occur — static IR counts, not dynamic instruction counts. It confirms the benefits come from optimizing exactly these operations: gemm has 76 loads, 18 stores and 54 conversions.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Three columns to summarise.
Robustness: layouts that legacy Triton could not handle now work — MMA Input, sliced MMA, custom layouts — and mixed-precision correctness goes from 46.6% to 100% of the tested cases.
Code generation: wider vectorized accesses, up to 128 bits; fewer shared-memory instructions; warp-shuffle lowering for conversions and gather instead of shared-memory round trips.
End-to-end: an average of 1.07× and a maximum of 1.40× over the 265 real cases, varying by GPU and workload.
Why are the end-to-end numbers so much smaller than 14.20× or 3.93×? Amdahl's law: a kernel spends only part of its time in layout conversions or gathers. If 10% of the runtime is accelerated 4×, the whole kernel gets about 1.08×. The big numbers are operation-specific micro-benchmarks.
Caveats: results are hardware-specific — AMD gains are small; benchmarks differ by platform availability; some below-1.0 cases are noise on small inputs. And the strongest argument for the paper is arguably robustness and engineering simplicity, with the performance as a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 conclude. Linear layouts represent layouts as linear maps over F2: hardware bits to tensor-coordinate bits. Because they are matrices, layouts compose, invert and divide, so conversions are derived rather than hand-written. The derived maps lower to concrete hardware mechanisms: register renaming, warp shuffles, wide vector accesses, ldmatrix and stmatrix, and swizzled shared-memory layouts constructed to avoid bank conflicts. The paper calls this the first theoretical foundation and implementation for resource mapping between complex hardware and logical tensors, with completeness under Triton's shape operators.
The results: much better layout coverage and robustness, plus measurable performance gains.
Limitations, as stated by the authors: the restriction to power-of-two shapes — mitigated by defining larger tensors and masking out-of-bounds elements. Operations such as flipping and slicing are not expressible as y = Ax, but can be captured by the simple extension to affine layouts, y = Ax ⊕ b. Future work: integrate linear layouts with hardware measurements into a performance model for autotuning.
The paper's baseline discussion should not be read as saying current implementations have no extensions beyond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Q&amp;A.
Likely questions and short answers:
- Why hardware → tensor and not the reverse? Duplicates make the reverse not a function; right inverses pick one preimage when needed.
- Non-power-of-two shapes? Pad to a power of two and mask (paper's stated workaround); LinearLayout.h also notes LLs cannot represent padded layouts.
- How does this compare to CuTe? Paper §7: CuTe is a user-facing layout algebra; linear layouts are integrated into the compiler, labelled, include swizzling as part of the layout, and enable automatic conversion/codegen. LinearLayout.h has a similar comparison.
- Is anything solved at runtime? No — all matrix work is compile-time; runtime executes generated loads/shuffles/stores (index math is XOR/shift).
- Why are end-to-end gains small? Amdahl: conversions are a fraction of kernel time; AMD lacks ldmatrix-like primitives in the evaluated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Reference slide for readers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5486400" cy="256032"/>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Linear Layouts · E0358 · IISc</a:t>
            </a:r>
            <a:endParaRPr lang="en-US" sz="1000" dirty="0"/>
          </a:p>
        </p:txBody>
      </p:sp>
      <p:sp>
        <p:nvSpPr>
          <p:cNvPr id="3" name="Text 1"/>
          <p:cNvSpPr/>
          <p:nvPr>
            <p:ph idx="101" type="title" hasCustomPrompt="1"/>
          </p:nvPr>
        </p:nvSpPr>
        <p:spPr>
          <a:xfrm>
            <a:off x="502920" y="420624"/>
            <a:ext cx="11201400" cy="603504"/>
          </a:xfrm>
          <a:prstGeom prst="rect">
            <a:avLst/>
          </a:prstGeom>
          <a:noFill/>
          <a:ln/>
        </p:spPr>
        <p:txBody>
          <a:bodyPr wrap="square" rtlCol="0"/>
          <a:lstStyle>
            <a:lvl1pPr algn="l" indent="0" marL="0">
              <a:buNone/>
              <a:defRPr lang="en-US" sz="2800" b="1" dirty="0">
                <a:solidFill>
                  <a:srgbClr val="1E2A3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5486400" cy="256032"/>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Linear Layouts · E0358 · IISc</a:t>
            </a:r>
            <a:endParaRPr lang="en-US" sz="1000" dirty="0"/>
          </a:p>
        </p:txBody>
      </p:sp>
      <p:sp>
        <p:nvSpPr>
          <p:cNvPr id="3" name="Text 1"/>
          <p:cNvSpPr/>
          <p:nvPr>
            <p:ph idx="101" type="title" hasCustomPrompt="1"/>
          </p:nvPr>
        </p:nvSpPr>
        <p:spPr>
          <a:xfrm>
            <a:off x="822960" y="2514600"/>
            <a:ext cx="10515600" cy="868680"/>
          </a:xfrm>
          <a:prstGeom prst="rect">
            <a:avLst/>
          </a:prstGeom>
          <a:noFill/>
          <a:ln/>
        </p:spPr>
        <p:txBody>
          <a:bodyPr wrap="square" rtlCol="0"/>
          <a:lstStyle>
            <a:lvl1pPr algn="l" indent="0" marL="0">
              <a:buNone/>
              <a:defRPr lang="en-US" sz="4000" b="1" dirty="0">
                <a:solidFill>
                  <a:srgbClr val="1E2A32"/>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1"/>
          <p:cNvSpPr/>
          <p:nvPr>
            <p:ph idx="102" type="body" hasCustomPrompt="1"/>
          </p:nvPr>
        </p:nvSpPr>
        <p:spPr>
          <a:xfrm>
            <a:off x="822960" y="3474720"/>
            <a:ext cx="10058400" cy="1097280"/>
          </a:xfrm>
          <a:prstGeom prst="rect">
            <a:avLst/>
          </a:prstGeom>
          <a:noFill/>
          <a:ln/>
        </p:spPr>
        <p:txBody>
          <a:bodyPr wrap="square" rtlCol="0"/>
          <a:lstStyle>
            <a:lvl1pPr indent="0" marL="0">
              <a:buNone/>
              <a:defRPr lang="en-US" sz="1800" dirty="0">
                <a:solidFill>
                  <a:srgbClr val="5B6770"/>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60120"/>
            <a:ext cx="6949440" cy="1737360"/>
          </a:xfrm>
          <a:prstGeom prst="rect">
            <a:avLst/>
          </a:prstGeom>
          <a:noFill/>
          <a:ln/>
        </p:spPr>
        <p:txBody>
          <a:bodyPr wrap="square" rtlCol="0"/>
          <a:lstStyle>
            <a:lvl1pPr algn="l" indent="0" marL="0">
              <a:buNone/>
              <a:defRPr lang="en-US" sz="3200" b="1" dirty="0">
                <a:solidFill>
                  <a:srgbClr val="1E2A32"/>
                </a:solidFill>
                <a:latin typeface="Cambria" pitchFamily="34" charset="0"/>
                <a:ea typeface="Cambria" pitchFamily="34" charset="-122"/>
                <a:cs typeface="Cambria" pitchFamily="34" charset="-120"/>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2.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2.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doi.org/10.1145/3760250.3762221" TargetMode="External"/><Relationship Id="rId2" Type="http://schemas.openxmlformats.org/officeDocument/2006/relationships/hyperlink" Target="https://arxiv.org/abs/2505.23819" TargetMode="External"/><Relationship Id="rId3" Type="http://schemas.openxmlformats.org/officeDocument/2006/relationships/hyperlink" Target="https://github.com/triton-lang/triton" TargetMode="External"/><Relationship Id="rId4" Type="http://schemas.openxmlformats.org/officeDocument/2006/relationships/slideLayout" Target="../slideLayouts/slideLayout2.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960120"/>
            <a:ext cx="6949440" cy="1737360"/>
          </a:xfrm>
          <a:prstGeom prst="rect">
            <a:avLst/>
          </a:prstGeom>
          <a:noFill/>
          <a:ln/>
        </p:spPr>
        <p:txBody>
          <a:bodyPr wrap="square" lIns="0" tIns="0" rIns="0" bIns="0" rtlCol="0" anchor="t"/>
          <a:lstStyle/>
          <a:p>
            <a:pPr algn="l" indent="0" marL="0">
              <a:buNone/>
            </a:pPr>
            <a:r>
              <a:rPr lang="en-US" sz="3200" b="1" dirty="0">
                <a:solidFill>
                  <a:srgbClr val="1E2A32"/>
                </a:solidFill>
                <a:latin typeface="Cambria" pitchFamily="34" charset="0"/>
                <a:ea typeface="Cambria" pitchFamily="34" charset="-122"/>
                <a:cs typeface="Cambria" pitchFamily="34" charset="-120"/>
              </a:rPr>
              <a:t>Linear Layouts: </a:t>
            </a:r>
            <a:endParaRPr lang="en-US" sz="3200" dirty="0"/>
          </a:p>
          <a:p>
            <a:pPr algn="l" indent="0" marL="0">
              <a:buNone/>
            </a:pPr>
            <a:r>
              <a:rPr lang="en-US" sz="3200" b="1" dirty="0">
                <a:solidFill>
                  <a:srgbClr val="1E2A32"/>
                </a:solidFill>
                <a:latin typeface="Cambria" pitchFamily="34" charset="0"/>
                <a:ea typeface="Cambria" pitchFamily="34" charset="-122"/>
                <a:cs typeface="Cambria" pitchFamily="34" charset="-120"/>
              </a:rPr>
              <a:t>Robust Code Generation of Efficient Tensor Computation Using F₂</a:t>
            </a:r>
            <a:endParaRPr lang="en-US" sz="3200" dirty="0"/>
          </a:p>
        </p:txBody>
      </p:sp>
      <p:sp>
        <p:nvSpPr>
          <p:cNvPr id="3" name="Text 1"/>
          <p:cNvSpPr txBox="1"/>
          <p:nvPr/>
        </p:nvSpPr>
        <p:spPr>
          <a:xfrm>
            <a:off x="640080" y="2788920"/>
            <a:ext cx="694944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ASPLOS ’26 paper presentation  ·  March 22–26, 2026  ·  DOI 10.1145/3760250.3762221</a:t>
            </a:r>
            <a:endParaRPr lang="en-US" sz="1400" dirty="0"/>
          </a:p>
        </p:txBody>
      </p:sp>
      <p:sp>
        <p:nvSpPr>
          <p:cNvPr id="4" name="Text 2"/>
          <p:cNvSpPr txBox="1"/>
          <p:nvPr/>
        </p:nvSpPr>
        <p:spPr>
          <a:xfrm>
            <a:off x="640080" y="3200400"/>
            <a:ext cx="6949440" cy="566928"/>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Paper authors:</a:t>
            </a:r>
            <a:r>
              <a:rPr lang="en-US" sz="1200" dirty="0">
                <a:solidFill>
                  <a:srgbClr val="5B6770"/>
                </a:solidFill>
                <a:latin typeface="Calibri" pitchFamily="34" charset="0"/>
                <a:ea typeface="Calibri" pitchFamily="34" charset="-122"/>
                <a:cs typeface="Calibri" pitchFamily="34" charset="-120"/>
              </a:rPr>
              <a:t> Keren Zhou; Mario Lezcano-Casado; Adam P. Goucher; Akhmed Rakhmati; Jeff Niu; Justin Lebar; Pawel Szczerbuk; Peter Bell; Phil Tillet; Thomas Raoux; Zahi Moudallal</a:t>
            </a:r>
            <a:endParaRPr lang="en-US" sz="1600" dirty="0"/>
          </a:p>
        </p:txBody>
      </p:sp>
      <p:sp>
        <p:nvSpPr>
          <p:cNvPr id="5" name="Text 3"/>
          <p:cNvSpPr txBox="1"/>
          <p:nvPr/>
        </p:nvSpPr>
        <p:spPr>
          <a:xfrm>
            <a:off x="640080" y="3767328"/>
            <a:ext cx="6949440" cy="45720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Keren Zhou — George Mason University (also listed with OpenAI); the remaining authors are listed with OpenAI affiliations in the paper.</a:t>
            </a:r>
            <a:endParaRPr lang="en-US" sz="1100" dirty="0"/>
          </a:p>
        </p:txBody>
      </p:sp>
      <p:sp>
        <p:nvSpPr>
          <p:cNvPr id="6" name="panel"/>
          <p:cNvSpPr/>
          <p:nvPr/>
        </p:nvSpPr>
        <p:spPr>
          <a:xfrm>
            <a:off x="640080" y="4526280"/>
            <a:ext cx="6949440" cy="1417320"/>
          </a:xfrm>
          <a:prstGeom prst="roundRect">
            <a:avLst>
              <a:gd name="adj" fmla="val 5161"/>
            </a:avLst>
          </a:prstGeom>
          <a:solidFill>
            <a:srgbClr val="F3F6F7"/>
          </a:solidFill>
          <a:ln/>
        </p:spPr>
      </p:sp>
      <p:sp>
        <p:nvSpPr>
          <p:cNvPr id="7" name="Text 5"/>
          <p:cNvSpPr txBox="1"/>
          <p:nvPr/>
        </p:nvSpPr>
        <p:spPr>
          <a:xfrm>
            <a:off x="868680" y="4681728"/>
            <a:ext cx="6583680" cy="1143000"/>
          </a:xfrm>
          <a:prstGeom prst="rect">
            <a:avLst/>
          </a:prstGeom>
          <a:noFill/>
          <a:ln/>
        </p:spPr>
        <p:txBody>
          <a:bodyPr wrap="square" lIns="0" tIns="0" rIns="0" bIns="0" rtlCol="0" anchor="ctr"/>
          <a:lstStyle/>
          <a:p>
            <a:pPr indent="0" marL="0">
              <a:buNone/>
            </a:pPr>
            <a:r>
              <a:rPr lang="en-US" sz="1600" b="1" dirty="0">
                <a:solidFill>
                  <a:srgbClr val="1E2A32"/>
                </a:solidFill>
                <a:latin typeface="Calibri" pitchFamily="34" charset="0"/>
                <a:ea typeface="Calibri" pitchFamily="34" charset="-122"/>
                <a:cs typeface="Calibri" pitchFamily="34" charset="-120"/>
              </a:rPr>
              <a:t>Ragimanu Jeevan  |  Student No. 26965</a:t>
            </a:r>
            <a:endParaRPr lang="en-US" sz="1600" dirty="0"/>
          </a:p>
          <a:p>
            <a:pPr indent="0" marL="0">
              <a:buNone/>
            </a:pPr>
            <a:r>
              <a:rPr lang="en-US" sz="1400" dirty="0">
                <a:solidFill>
                  <a:srgbClr val="1E2A32"/>
                </a:solidFill>
                <a:latin typeface="Calibri" pitchFamily="34" charset="0"/>
                <a:ea typeface="Calibri" pitchFamily="34" charset="-122"/>
                <a:cs typeface="Calibri" pitchFamily="34" charset="-120"/>
              </a:rPr>
              <a:t>M.Tech CSA, IISc Bangalore</a:t>
            </a:r>
            <a:endParaRPr lang="en-US" sz="1600" dirty="0"/>
          </a:p>
          <a:p>
            <a:pPr indent="0" marL="0">
              <a:buNone/>
            </a:pPr>
            <a:r>
              <a:rPr lang="en-US" sz="1300" dirty="0">
                <a:solidFill>
                  <a:srgbClr val="5B6770"/>
                </a:solidFill>
                <a:latin typeface="Calibri" pitchFamily="34" charset="0"/>
                <a:ea typeface="Calibri" pitchFamily="34" charset="-122"/>
                <a:cs typeface="Calibri" pitchFamily="34" charset="-120"/>
              </a:rPr>
              <a:t>E0358 Advanced Techniques in Compilation and Programming for Parallel Architectures</a:t>
            </a:r>
            <a:endParaRPr lang="en-US" sz="1600" dirty="0"/>
          </a:p>
        </p:txBody>
      </p:sp>
      <p:sp>
        <p:nvSpPr>
          <p:cNvPr id="8" name="mcell"/>
          <p:cNvSpPr txBox="1"/>
          <p:nvPr/>
        </p:nvSpPr>
        <p:spPr>
          <a:xfrm>
            <a:off x="8732520" y="1828800"/>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9" name="mcell"/>
          <p:cNvSpPr txBox="1"/>
          <p:nvPr/>
        </p:nvSpPr>
        <p:spPr>
          <a:xfrm>
            <a:off x="9043416"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0" name="mcell"/>
          <p:cNvSpPr txBox="1"/>
          <p:nvPr/>
        </p:nvSpPr>
        <p:spPr>
          <a:xfrm>
            <a:off x="9354312"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1" name="mcell"/>
          <p:cNvSpPr txBox="1"/>
          <p:nvPr/>
        </p:nvSpPr>
        <p:spPr>
          <a:xfrm>
            <a:off x="9665208"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 name="mcell"/>
          <p:cNvSpPr txBox="1"/>
          <p:nvPr/>
        </p:nvSpPr>
        <p:spPr>
          <a:xfrm>
            <a:off x="9976104"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 name="mcell"/>
          <p:cNvSpPr txBox="1"/>
          <p:nvPr/>
        </p:nvSpPr>
        <p:spPr>
          <a:xfrm>
            <a:off x="10287000"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 name="mcell"/>
          <p:cNvSpPr txBox="1"/>
          <p:nvPr/>
        </p:nvSpPr>
        <p:spPr>
          <a:xfrm>
            <a:off x="10597896"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 name="mcell"/>
          <p:cNvSpPr txBox="1"/>
          <p:nvPr/>
        </p:nvSpPr>
        <p:spPr>
          <a:xfrm>
            <a:off x="10908792" y="182880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 name="mcell"/>
          <p:cNvSpPr txBox="1"/>
          <p:nvPr/>
        </p:nvSpPr>
        <p:spPr>
          <a:xfrm>
            <a:off x="8732520"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7" name="mcell"/>
          <p:cNvSpPr txBox="1"/>
          <p:nvPr/>
        </p:nvSpPr>
        <p:spPr>
          <a:xfrm>
            <a:off x="9043416"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8" name="mcell"/>
          <p:cNvSpPr txBox="1"/>
          <p:nvPr/>
        </p:nvSpPr>
        <p:spPr>
          <a:xfrm>
            <a:off x="9354312" y="2139696"/>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9" name="mcell"/>
          <p:cNvSpPr txBox="1"/>
          <p:nvPr/>
        </p:nvSpPr>
        <p:spPr>
          <a:xfrm>
            <a:off x="9665208"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0" name="mcell"/>
          <p:cNvSpPr txBox="1"/>
          <p:nvPr/>
        </p:nvSpPr>
        <p:spPr>
          <a:xfrm>
            <a:off x="9976104"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1" name="mcell"/>
          <p:cNvSpPr txBox="1"/>
          <p:nvPr/>
        </p:nvSpPr>
        <p:spPr>
          <a:xfrm>
            <a:off x="10287000"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2" name="mcell"/>
          <p:cNvSpPr txBox="1"/>
          <p:nvPr/>
        </p:nvSpPr>
        <p:spPr>
          <a:xfrm>
            <a:off x="10597896"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3" name="mcell"/>
          <p:cNvSpPr txBox="1"/>
          <p:nvPr/>
        </p:nvSpPr>
        <p:spPr>
          <a:xfrm>
            <a:off x="10908792" y="213969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4" name="mcell"/>
          <p:cNvSpPr txBox="1"/>
          <p:nvPr/>
        </p:nvSpPr>
        <p:spPr>
          <a:xfrm>
            <a:off x="8732520"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5" name="mcell"/>
          <p:cNvSpPr txBox="1"/>
          <p:nvPr/>
        </p:nvSpPr>
        <p:spPr>
          <a:xfrm>
            <a:off x="9043416"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6" name="mcell"/>
          <p:cNvSpPr txBox="1"/>
          <p:nvPr/>
        </p:nvSpPr>
        <p:spPr>
          <a:xfrm>
            <a:off x="9354312"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7" name="mcell"/>
          <p:cNvSpPr txBox="1"/>
          <p:nvPr/>
        </p:nvSpPr>
        <p:spPr>
          <a:xfrm>
            <a:off x="9665208" y="2450592"/>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28" name="mcell"/>
          <p:cNvSpPr txBox="1"/>
          <p:nvPr/>
        </p:nvSpPr>
        <p:spPr>
          <a:xfrm>
            <a:off x="9976104"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9" name="mcell"/>
          <p:cNvSpPr txBox="1"/>
          <p:nvPr/>
        </p:nvSpPr>
        <p:spPr>
          <a:xfrm>
            <a:off x="10287000"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0" name="mcell"/>
          <p:cNvSpPr txBox="1"/>
          <p:nvPr/>
        </p:nvSpPr>
        <p:spPr>
          <a:xfrm>
            <a:off x="10597896"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1" name="mcell"/>
          <p:cNvSpPr txBox="1"/>
          <p:nvPr/>
        </p:nvSpPr>
        <p:spPr>
          <a:xfrm>
            <a:off x="10908792" y="245059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2" name="mcell"/>
          <p:cNvSpPr txBox="1"/>
          <p:nvPr/>
        </p:nvSpPr>
        <p:spPr>
          <a:xfrm>
            <a:off x="8732520"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3" name="mcell"/>
          <p:cNvSpPr txBox="1"/>
          <p:nvPr/>
        </p:nvSpPr>
        <p:spPr>
          <a:xfrm>
            <a:off x="9043416"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4" name="mcell"/>
          <p:cNvSpPr txBox="1"/>
          <p:nvPr/>
        </p:nvSpPr>
        <p:spPr>
          <a:xfrm>
            <a:off x="9354312"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5" name="mcell"/>
          <p:cNvSpPr txBox="1"/>
          <p:nvPr/>
        </p:nvSpPr>
        <p:spPr>
          <a:xfrm>
            <a:off x="9665208"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6" name="mcell"/>
          <p:cNvSpPr txBox="1"/>
          <p:nvPr/>
        </p:nvSpPr>
        <p:spPr>
          <a:xfrm>
            <a:off x="9976104" y="2761488"/>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37" name="mcell"/>
          <p:cNvSpPr txBox="1"/>
          <p:nvPr/>
        </p:nvSpPr>
        <p:spPr>
          <a:xfrm>
            <a:off x="10287000"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8" name="mcell"/>
          <p:cNvSpPr txBox="1"/>
          <p:nvPr/>
        </p:nvSpPr>
        <p:spPr>
          <a:xfrm>
            <a:off x="10597896"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9" name="mcell"/>
          <p:cNvSpPr txBox="1"/>
          <p:nvPr/>
        </p:nvSpPr>
        <p:spPr>
          <a:xfrm>
            <a:off x="10908792" y="276148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0" name="mcell"/>
          <p:cNvSpPr txBox="1"/>
          <p:nvPr/>
        </p:nvSpPr>
        <p:spPr>
          <a:xfrm>
            <a:off x="8732520"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1" name="mcell"/>
          <p:cNvSpPr txBox="1"/>
          <p:nvPr/>
        </p:nvSpPr>
        <p:spPr>
          <a:xfrm>
            <a:off x="9043416" y="3072384"/>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2" name="mcell"/>
          <p:cNvSpPr txBox="1"/>
          <p:nvPr/>
        </p:nvSpPr>
        <p:spPr>
          <a:xfrm>
            <a:off x="9354312"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3" name="mcell"/>
          <p:cNvSpPr txBox="1"/>
          <p:nvPr/>
        </p:nvSpPr>
        <p:spPr>
          <a:xfrm>
            <a:off x="9665208"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4" name="mcell"/>
          <p:cNvSpPr txBox="1"/>
          <p:nvPr/>
        </p:nvSpPr>
        <p:spPr>
          <a:xfrm>
            <a:off x="9976104"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5" name="mcell"/>
          <p:cNvSpPr txBox="1"/>
          <p:nvPr/>
        </p:nvSpPr>
        <p:spPr>
          <a:xfrm>
            <a:off x="10287000"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6" name="mcell"/>
          <p:cNvSpPr txBox="1"/>
          <p:nvPr/>
        </p:nvSpPr>
        <p:spPr>
          <a:xfrm>
            <a:off x="10597896"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7" name="mcell"/>
          <p:cNvSpPr txBox="1"/>
          <p:nvPr/>
        </p:nvSpPr>
        <p:spPr>
          <a:xfrm>
            <a:off x="10908792" y="3072384"/>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8" name="mcell"/>
          <p:cNvSpPr txBox="1"/>
          <p:nvPr/>
        </p:nvSpPr>
        <p:spPr>
          <a:xfrm>
            <a:off x="8732520"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9" name="mcell"/>
          <p:cNvSpPr txBox="1"/>
          <p:nvPr/>
        </p:nvSpPr>
        <p:spPr>
          <a:xfrm>
            <a:off x="9043416"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0" name="mcell"/>
          <p:cNvSpPr txBox="1"/>
          <p:nvPr/>
        </p:nvSpPr>
        <p:spPr>
          <a:xfrm>
            <a:off x="9354312"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1" name="mcell"/>
          <p:cNvSpPr txBox="1"/>
          <p:nvPr/>
        </p:nvSpPr>
        <p:spPr>
          <a:xfrm>
            <a:off x="9665208"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2" name="mcell"/>
          <p:cNvSpPr txBox="1"/>
          <p:nvPr/>
        </p:nvSpPr>
        <p:spPr>
          <a:xfrm>
            <a:off x="9976104"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3" name="mcell"/>
          <p:cNvSpPr txBox="1"/>
          <p:nvPr/>
        </p:nvSpPr>
        <p:spPr>
          <a:xfrm>
            <a:off x="10287000" y="3383280"/>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4" name="mcell"/>
          <p:cNvSpPr txBox="1"/>
          <p:nvPr/>
        </p:nvSpPr>
        <p:spPr>
          <a:xfrm>
            <a:off x="10597896"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5" name="mcell"/>
          <p:cNvSpPr txBox="1"/>
          <p:nvPr/>
        </p:nvSpPr>
        <p:spPr>
          <a:xfrm>
            <a:off x="10908792" y="33832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6" name="mcell"/>
          <p:cNvSpPr txBox="1"/>
          <p:nvPr/>
        </p:nvSpPr>
        <p:spPr>
          <a:xfrm>
            <a:off x="8732520"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7" name="mcell"/>
          <p:cNvSpPr txBox="1"/>
          <p:nvPr/>
        </p:nvSpPr>
        <p:spPr>
          <a:xfrm>
            <a:off x="9043416"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8" name="mcell"/>
          <p:cNvSpPr txBox="1"/>
          <p:nvPr/>
        </p:nvSpPr>
        <p:spPr>
          <a:xfrm>
            <a:off x="9354312"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9" name="mcell"/>
          <p:cNvSpPr txBox="1"/>
          <p:nvPr/>
        </p:nvSpPr>
        <p:spPr>
          <a:xfrm>
            <a:off x="9665208"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0" name="mcell"/>
          <p:cNvSpPr txBox="1"/>
          <p:nvPr/>
        </p:nvSpPr>
        <p:spPr>
          <a:xfrm>
            <a:off x="9976104"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1" name="mcell"/>
          <p:cNvSpPr txBox="1"/>
          <p:nvPr/>
        </p:nvSpPr>
        <p:spPr>
          <a:xfrm>
            <a:off x="10287000"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2" name="mcell"/>
          <p:cNvSpPr txBox="1"/>
          <p:nvPr/>
        </p:nvSpPr>
        <p:spPr>
          <a:xfrm>
            <a:off x="10597896" y="3694176"/>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63" name="mcell"/>
          <p:cNvSpPr txBox="1"/>
          <p:nvPr/>
        </p:nvSpPr>
        <p:spPr>
          <a:xfrm>
            <a:off x="10908792" y="36941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4" name="mcell"/>
          <p:cNvSpPr txBox="1"/>
          <p:nvPr/>
        </p:nvSpPr>
        <p:spPr>
          <a:xfrm>
            <a:off x="8732520"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5" name="mcell"/>
          <p:cNvSpPr txBox="1"/>
          <p:nvPr/>
        </p:nvSpPr>
        <p:spPr>
          <a:xfrm>
            <a:off x="9043416"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6" name="mcell"/>
          <p:cNvSpPr txBox="1"/>
          <p:nvPr/>
        </p:nvSpPr>
        <p:spPr>
          <a:xfrm>
            <a:off x="9354312"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7" name="mcell"/>
          <p:cNvSpPr txBox="1"/>
          <p:nvPr/>
        </p:nvSpPr>
        <p:spPr>
          <a:xfrm>
            <a:off x="9665208"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8" name="mcell"/>
          <p:cNvSpPr txBox="1"/>
          <p:nvPr/>
        </p:nvSpPr>
        <p:spPr>
          <a:xfrm>
            <a:off x="9976104"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9" name="mcell"/>
          <p:cNvSpPr txBox="1"/>
          <p:nvPr/>
        </p:nvSpPr>
        <p:spPr>
          <a:xfrm>
            <a:off x="10287000"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70" name="mcell"/>
          <p:cNvSpPr txBox="1"/>
          <p:nvPr/>
        </p:nvSpPr>
        <p:spPr>
          <a:xfrm>
            <a:off x="10597896" y="40050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71" name="mcell"/>
          <p:cNvSpPr txBox="1"/>
          <p:nvPr/>
        </p:nvSpPr>
        <p:spPr>
          <a:xfrm>
            <a:off x="10908792" y="4005072"/>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72" name="msep"/>
          <p:cNvSpPr/>
          <p:nvPr/>
        </p:nvSpPr>
        <p:spPr>
          <a:xfrm>
            <a:off x="9354312" y="1847088"/>
            <a:ext cx="0" cy="2450592"/>
          </a:xfrm>
          <a:prstGeom prst="line">
            <a:avLst/>
          </a:prstGeom>
          <a:noFill/>
          <a:ln w="9525">
            <a:solidFill>
              <a:srgbClr val="5B6770"/>
            </a:solidFill>
            <a:prstDash val="dash"/>
          </a:ln>
        </p:spPr>
      </p:sp>
      <p:sp>
        <p:nvSpPr>
          <p:cNvPr id="73" name="msep"/>
          <p:cNvSpPr/>
          <p:nvPr/>
        </p:nvSpPr>
        <p:spPr>
          <a:xfrm>
            <a:off x="10908792" y="1847088"/>
            <a:ext cx="0" cy="2450592"/>
          </a:xfrm>
          <a:prstGeom prst="line">
            <a:avLst/>
          </a:prstGeom>
          <a:noFill/>
          <a:ln w="9525">
            <a:solidFill>
              <a:srgbClr val="5B6770"/>
            </a:solidFill>
            <a:prstDash val="dash"/>
          </a:ln>
        </p:spPr>
      </p:sp>
      <p:sp>
        <p:nvSpPr>
          <p:cNvPr id="74" name="msep"/>
          <p:cNvSpPr/>
          <p:nvPr/>
        </p:nvSpPr>
        <p:spPr>
          <a:xfrm>
            <a:off x="8750808" y="3072384"/>
            <a:ext cx="2450592" cy="0"/>
          </a:xfrm>
          <a:prstGeom prst="line">
            <a:avLst/>
          </a:prstGeom>
          <a:noFill/>
          <a:ln w="9525">
            <a:solidFill>
              <a:srgbClr val="5B6770"/>
            </a:solidFill>
            <a:prstDash val="dash"/>
          </a:ln>
        </p:spPr>
      </p:sp>
      <p:sp>
        <p:nvSpPr>
          <p:cNvPr id="75" name="mbr"/>
          <p:cNvSpPr/>
          <p:nvPr/>
        </p:nvSpPr>
        <p:spPr>
          <a:xfrm>
            <a:off x="8705088" y="1801368"/>
            <a:ext cx="0" cy="2542032"/>
          </a:xfrm>
          <a:prstGeom prst="line">
            <a:avLst/>
          </a:prstGeom>
          <a:noFill/>
          <a:ln w="15875">
            <a:solidFill>
              <a:srgbClr val="1E2A32"/>
            </a:solidFill>
            <a:prstDash val="solid"/>
          </a:ln>
        </p:spPr>
      </p:sp>
      <p:sp>
        <p:nvSpPr>
          <p:cNvPr id="76" name="mbr"/>
          <p:cNvSpPr/>
          <p:nvPr/>
        </p:nvSpPr>
        <p:spPr>
          <a:xfrm>
            <a:off x="8705088" y="1801368"/>
            <a:ext cx="73152" cy="0"/>
          </a:xfrm>
          <a:prstGeom prst="line">
            <a:avLst/>
          </a:prstGeom>
          <a:noFill/>
          <a:ln w="15875">
            <a:solidFill>
              <a:srgbClr val="1E2A32"/>
            </a:solidFill>
            <a:prstDash val="solid"/>
          </a:ln>
        </p:spPr>
      </p:sp>
      <p:sp>
        <p:nvSpPr>
          <p:cNvPr id="77" name="mbr"/>
          <p:cNvSpPr/>
          <p:nvPr/>
        </p:nvSpPr>
        <p:spPr>
          <a:xfrm>
            <a:off x="8705088" y="4343400"/>
            <a:ext cx="73152" cy="0"/>
          </a:xfrm>
          <a:prstGeom prst="line">
            <a:avLst/>
          </a:prstGeom>
          <a:noFill/>
          <a:ln w="15875">
            <a:solidFill>
              <a:srgbClr val="1E2A32"/>
            </a:solidFill>
            <a:prstDash val="solid"/>
          </a:ln>
        </p:spPr>
      </p:sp>
      <p:sp>
        <p:nvSpPr>
          <p:cNvPr id="78" name="mbr"/>
          <p:cNvSpPr/>
          <p:nvPr/>
        </p:nvSpPr>
        <p:spPr>
          <a:xfrm>
            <a:off x="11247120" y="1801368"/>
            <a:ext cx="0" cy="2542032"/>
          </a:xfrm>
          <a:prstGeom prst="line">
            <a:avLst/>
          </a:prstGeom>
          <a:noFill/>
          <a:ln w="15875">
            <a:solidFill>
              <a:srgbClr val="1E2A32"/>
            </a:solidFill>
            <a:prstDash val="solid"/>
          </a:ln>
        </p:spPr>
      </p:sp>
      <p:sp>
        <p:nvSpPr>
          <p:cNvPr id="79" name="mbr"/>
          <p:cNvSpPr/>
          <p:nvPr/>
        </p:nvSpPr>
        <p:spPr>
          <a:xfrm>
            <a:off x="11173968" y="1801368"/>
            <a:ext cx="73152" cy="0"/>
          </a:xfrm>
          <a:prstGeom prst="line">
            <a:avLst/>
          </a:prstGeom>
          <a:noFill/>
          <a:ln w="15875">
            <a:solidFill>
              <a:srgbClr val="1E2A32"/>
            </a:solidFill>
            <a:prstDash val="solid"/>
          </a:ln>
        </p:spPr>
      </p:sp>
      <p:sp>
        <p:nvSpPr>
          <p:cNvPr id="80" name="mbr"/>
          <p:cNvSpPr/>
          <p:nvPr/>
        </p:nvSpPr>
        <p:spPr>
          <a:xfrm>
            <a:off x="11173968" y="4343400"/>
            <a:ext cx="73152" cy="0"/>
          </a:xfrm>
          <a:prstGeom prst="line">
            <a:avLst/>
          </a:prstGeom>
          <a:noFill/>
          <a:ln w="15875">
            <a:solidFill>
              <a:srgbClr val="1E2A32"/>
            </a:solidFill>
            <a:prstDash val="solid"/>
          </a:ln>
        </p:spPr>
      </p:sp>
      <p:sp>
        <p:nvSpPr>
          <p:cNvPr id="81" name="mlab"/>
          <p:cNvSpPr txBox="1"/>
          <p:nvPr/>
        </p:nvSpPr>
        <p:spPr>
          <a:xfrm>
            <a:off x="8686800"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q₀</a:t>
            </a:r>
            <a:endParaRPr lang="en-US" sz="1100" dirty="0"/>
          </a:p>
        </p:txBody>
      </p:sp>
      <p:sp>
        <p:nvSpPr>
          <p:cNvPr id="82" name="mlab"/>
          <p:cNvSpPr txBox="1"/>
          <p:nvPr/>
        </p:nvSpPr>
        <p:spPr>
          <a:xfrm>
            <a:off x="8997696"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q₁</a:t>
            </a:r>
            <a:endParaRPr lang="en-US" sz="1100" dirty="0"/>
          </a:p>
        </p:txBody>
      </p:sp>
      <p:sp>
        <p:nvSpPr>
          <p:cNvPr id="83" name="mlab"/>
          <p:cNvSpPr txBox="1"/>
          <p:nvPr/>
        </p:nvSpPr>
        <p:spPr>
          <a:xfrm>
            <a:off x="9308592"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t₀</a:t>
            </a:r>
            <a:endParaRPr lang="en-US" sz="1100" dirty="0"/>
          </a:p>
        </p:txBody>
      </p:sp>
      <p:sp>
        <p:nvSpPr>
          <p:cNvPr id="84" name="mlab"/>
          <p:cNvSpPr txBox="1"/>
          <p:nvPr/>
        </p:nvSpPr>
        <p:spPr>
          <a:xfrm>
            <a:off x="9619488"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t₁</a:t>
            </a:r>
            <a:endParaRPr lang="en-US" sz="1100" dirty="0"/>
          </a:p>
        </p:txBody>
      </p:sp>
      <p:sp>
        <p:nvSpPr>
          <p:cNvPr id="85" name="mlab"/>
          <p:cNvSpPr txBox="1"/>
          <p:nvPr/>
        </p:nvSpPr>
        <p:spPr>
          <a:xfrm>
            <a:off x="9930384"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t₂</a:t>
            </a:r>
            <a:endParaRPr lang="en-US" sz="1100" dirty="0"/>
          </a:p>
        </p:txBody>
      </p:sp>
      <p:sp>
        <p:nvSpPr>
          <p:cNvPr id="86" name="mlab"/>
          <p:cNvSpPr txBox="1"/>
          <p:nvPr/>
        </p:nvSpPr>
        <p:spPr>
          <a:xfrm>
            <a:off x="10241280"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t₃</a:t>
            </a:r>
            <a:endParaRPr lang="en-US" sz="1100" dirty="0"/>
          </a:p>
        </p:txBody>
      </p:sp>
      <p:sp>
        <p:nvSpPr>
          <p:cNvPr id="87" name="mlab"/>
          <p:cNvSpPr txBox="1"/>
          <p:nvPr/>
        </p:nvSpPr>
        <p:spPr>
          <a:xfrm>
            <a:off x="10552176"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t₄</a:t>
            </a:r>
            <a:endParaRPr lang="en-US" sz="1100" dirty="0"/>
          </a:p>
        </p:txBody>
      </p:sp>
      <p:sp>
        <p:nvSpPr>
          <p:cNvPr id="88" name="mlab"/>
          <p:cNvSpPr txBox="1"/>
          <p:nvPr/>
        </p:nvSpPr>
        <p:spPr>
          <a:xfrm>
            <a:off x="10863072" y="159105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w</a:t>
            </a:r>
            <a:endParaRPr lang="en-US" sz="1100" dirty="0"/>
          </a:p>
        </p:txBody>
      </p:sp>
      <p:sp>
        <p:nvSpPr>
          <p:cNvPr id="89" name="mgrp"/>
          <p:cNvSpPr txBox="1"/>
          <p:nvPr/>
        </p:nvSpPr>
        <p:spPr>
          <a:xfrm>
            <a:off x="8732520" y="1353312"/>
            <a:ext cx="621792"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Reg</a:t>
            </a:r>
            <a:endParaRPr lang="en-US" sz="1100" dirty="0"/>
          </a:p>
        </p:txBody>
      </p:sp>
      <p:sp>
        <p:nvSpPr>
          <p:cNvPr id="90" name="mgrp"/>
          <p:cNvSpPr txBox="1"/>
          <p:nvPr/>
        </p:nvSpPr>
        <p:spPr>
          <a:xfrm>
            <a:off x="9354312" y="1353312"/>
            <a:ext cx="1554480"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Thr</a:t>
            </a:r>
            <a:endParaRPr lang="en-US" sz="1100" dirty="0"/>
          </a:p>
        </p:txBody>
      </p:sp>
      <p:sp>
        <p:nvSpPr>
          <p:cNvPr id="91" name="mgrp"/>
          <p:cNvSpPr txBox="1"/>
          <p:nvPr/>
        </p:nvSpPr>
        <p:spPr>
          <a:xfrm>
            <a:off x="10908792" y="1353312"/>
            <a:ext cx="310896"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Wrp</a:t>
            </a:r>
            <a:endParaRPr lang="en-US" sz="1100" dirty="0"/>
          </a:p>
        </p:txBody>
      </p:sp>
      <p:sp>
        <p:nvSpPr>
          <p:cNvPr id="92" name="mlab"/>
          <p:cNvSpPr txBox="1"/>
          <p:nvPr/>
        </p:nvSpPr>
        <p:spPr>
          <a:xfrm>
            <a:off x="8330184" y="1828800"/>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j₀</a:t>
            </a:r>
            <a:endParaRPr lang="en-US" sz="1100" dirty="0"/>
          </a:p>
        </p:txBody>
      </p:sp>
      <p:sp>
        <p:nvSpPr>
          <p:cNvPr id="93" name="mlab"/>
          <p:cNvSpPr txBox="1"/>
          <p:nvPr/>
        </p:nvSpPr>
        <p:spPr>
          <a:xfrm>
            <a:off x="8330184" y="2139696"/>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j₁</a:t>
            </a:r>
            <a:endParaRPr lang="en-US" sz="1100" dirty="0"/>
          </a:p>
        </p:txBody>
      </p:sp>
      <p:sp>
        <p:nvSpPr>
          <p:cNvPr id="94" name="mlab"/>
          <p:cNvSpPr txBox="1"/>
          <p:nvPr/>
        </p:nvSpPr>
        <p:spPr>
          <a:xfrm>
            <a:off x="8330184" y="2450592"/>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j₂</a:t>
            </a:r>
            <a:endParaRPr lang="en-US" sz="1100" dirty="0"/>
          </a:p>
        </p:txBody>
      </p:sp>
      <p:sp>
        <p:nvSpPr>
          <p:cNvPr id="95" name="mlab"/>
          <p:cNvSpPr txBox="1"/>
          <p:nvPr/>
        </p:nvSpPr>
        <p:spPr>
          <a:xfrm>
            <a:off x="8330184" y="2761488"/>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j₃</a:t>
            </a:r>
            <a:endParaRPr lang="en-US" sz="1100" dirty="0"/>
          </a:p>
        </p:txBody>
      </p:sp>
      <p:sp>
        <p:nvSpPr>
          <p:cNvPr id="96" name="mlab"/>
          <p:cNvSpPr txBox="1"/>
          <p:nvPr/>
        </p:nvSpPr>
        <p:spPr>
          <a:xfrm>
            <a:off x="8330184" y="3072384"/>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i₀</a:t>
            </a:r>
            <a:endParaRPr lang="en-US" sz="1100" dirty="0"/>
          </a:p>
        </p:txBody>
      </p:sp>
      <p:sp>
        <p:nvSpPr>
          <p:cNvPr id="97" name="mlab"/>
          <p:cNvSpPr txBox="1"/>
          <p:nvPr/>
        </p:nvSpPr>
        <p:spPr>
          <a:xfrm>
            <a:off x="8330184" y="3383280"/>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i₁</a:t>
            </a:r>
            <a:endParaRPr lang="en-US" sz="1100" dirty="0"/>
          </a:p>
        </p:txBody>
      </p:sp>
      <p:sp>
        <p:nvSpPr>
          <p:cNvPr id="98" name="mlab"/>
          <p:cNvSpPr txBox="1"/>
          <p:nvPr/>
        </p:nvSpPr>
        <p:spPr>
          <a:xfrm>
            <a:off x="8330184" y="3694176"/>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i₂</a:t>
            </a:r>
            <a:endParaRPr lang="en-US" sz="1100" dirty="0"/>
          </a:p>
        </p:txBody>
      </p:sp>
      <p:sp>
        <p:nvSpPr>
          <p:cNvPr id="99" name="mlab"/>
          <p:cNvSpPr txBox="1"/>
          <p:nvPr/>
        </p:nvSpPr>
        <p:spPr>
          <a:xfrm>
            <a:off x="8330184" y="4005072"/>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i₃</a:t>
            </a:r>
            <a:endParaRPr lang="en-US" sz="1100" dirty="0"/>
          </a:p>
        </p:txBody>
      </p:sp>
      <p:sp>
        <p:nvSpPr>
          <p:cNvPr id="100" name="Text 98"/>
          <p:cNvSpPr txBox="1"/>
          <p:nvPr/>
        </p:nvSpPr>
        <p:spPr>
          <a:xfrm>
            <a:off x="8183880" y="4453128"/>
            <a:ext cx="3566160" cy="457200"/>
          </a:xfrm>
          <a:prstGeom prst="rect">
            <a:avLst/>
          </a:prstGeom>
          <a:noFill/>
          <a:ln/>
        </p:spPr>
        <p:txBody>
          <a:bodyPr wrap="square" lIns="0" tIns="0" rIns="0" bIns="0" rtlCol="0" anchor="t"/>
          <a:lstStyle/>
          <a:p>
            <a:pPr algn="ctr" indent="0" marL="0">
              <a:buNone/>
            </a:pPr>
            <a:r>
              <a:rPr lang="en-US" sz="1100" i="1" dirty="0">
                <a:solidFill>
                  <a:srgbClr val="5B6770"/>
                </a:solidFill>
                <a:latin typeface="Calibri" pitchFamily="34" charset="0"/>
                <a:ea typeface="Calibri" pitchFamily="34" charset="-122"/>
                <a:cs typeface="Calibri" pitchFamily="34" charset="-120"/>
              </a:rPr>
              <a:t>Layout A from §4.1: hardware bits → tensor-coordinate bits, over F₂</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ROADMAP</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Where we are going</a:t>
            </a:r>
            <a:endParaRPr lang="en-US" sz="2800" dirty="0"/>
          </a:p>
        </p:txBody>
      </p:sp>
      <p:sp>
        <p:nvSpPr>
          <p:cNvPr id="5" name="panel"/>
          <p:cNvSpPr/>
          <p:nvPr/>
        </p:nvSpPr>
        <p:spPr>
          <a:xfrm>
            <a:off x="502920" y="1828800"/>
            <a:ext cx="2103120" cy="2331720"/>
          </a:xfrm>
          <a:prstGeom prst="roundRect">
            <a:avLst>
              <a:gd name="adj" fmla="val 3478"/>
            </a:avLst>
          </a:prstGeom>
          <a:solidFill>
            <a:srgbClr val="F3F6F7"/>
          </a:solidFill>
          <a:ln/>
        </p:spPr>
      </p:sp>
      <p:sp>
        <p:nvSpPr>
          <p:cNvPr id="6" name="step-num"/>
          <p:cNvSpPr txBox="1"/>
          <p:nvPr/>
        </p:nvSpPr>
        <p:spPr>
          <a:xfrm>
            <a:off x="685800" y="2029968"/>
            <a:ext cx="502920" cy="502920"/>
          </a:xfrm>
          <a:prstGeom prst="ellipse">
            <a:avLst/>
          </a:prstGeom>
          <a:solidFill>
            <a:srgbClr val="FFFFFF"/>
          </a:solidFill>
          <a:ln w="15875">
            <a:solidFill>
              <a:srgbClr val="0E6E7A"/>
            </a:solidFill>
          </a:ln>
        </p:spPr>
        <p:txBody>
          <a:bodyPr wrap="square" lIns="0" tIns="0" rIns="0" bIns="0" rtlCol="0" anchor="ctr"/>
          <a:lstStyle/>
          <a:p>
            <a:pPr algn="ctr" indent="0" marL="0">
              <a:buNone/>
            </a:pPr>
            <a:r>
              <a:rPr lang="en-US" sz="1800" b="1" dirty="0">
                <a:solidFill>
                  <a:srgbClr val="0E6E7A"/>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685800" y="2697480"/>
            <a:ext cx="1737360" cy="54864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Why layouts matter</a:t>
            </a:r>
            <a:endParaRPr lang="en-US" sz="1800" dirty="0"/>
          </a:p>
        </p:txBody>
      </p:sp>
      <p:sp>
        <p:nvSpPr>
          <p:cNvPr id="8" name="Text 5"/>
          <p:cNvSpPr txBox="1"/>
          <p:nvPr/>
        </p:nvSpPr>
        <p:spPr>
          <a:xfrm>
            <a:off x="685800" y="3273552"/>
            <a:ext cx="1737360" cy="7772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GPU hierarchy, Triton, legacy layout zoo</a:t>
            </a:r>
            <a:endParaRPr lang="en-US" sz="1300" dirty="0"/>
          </a:p>
        </p:txBody>
      </p:sp>
      <p:sp>
        <p:nvSpPr>
          <p:cNvPr id="9" name="arrow"/>
          <p:cNvSpPr/>
          <p:nvPr/>
        </p:nvSpPr>
        <p:spPr>
          <a:xfrm>
            <a:off x="2624328" y="2990088"/>
            <a:ext cx="137160" cy="914"/>
          </a:xfrm>
          <a:prstGeom prst="line">
            <a:avLst/>
          </a:prstGeom>
          <a:noFill/>
          <a:ln w="15875">
            <a:solidFill>
              <a:srgbClr val="B9C1C7"/>
            </a:solidFill>
            <a:prstDash val="solid"/>
            <a:tailEnd type="triangle"/>
          </a:ln>
        </p:spPr>
      </p:sp>
      <p:sp>
        <p:nvSpPr>
          <p:cNvPr id="10" name="panel"/>
          <p:cNvSpPr/>
          <p:nvPr/>
        </p:nvSpPr>
        <p:spPr>
          <a:xfrm>
            <a:off x="2779776" y="1828800"/>
            <a:ext cx="2103120" cy="2331720"/>
          </a:xfrm>
          <a:prstGeom prst="roundRect">
            <a:avLst>
              <a:gd name="adj" fmla="val 3478"/>
            </a:avLst>
          </a:prstGeom>
          <a:solidFill>
            <a:srgbClr val="DDEFF1"/>
          </a:solidFill>
          <a:ln/>
        </p:spPr>
      </p:sp>
      <p:sp>
        <p:nvSpPr>
          <p:cNvPr id="11" name="step-num"/>
          <p:cNvSpPr txBox="1"/>
          <p:nvPr/>
        </p:nvSpPr>
        <p:spPr>
          <a:xfrm>
            <a:off x="2962656" y="2029968"/>
            <a:ext cx="502920" cy="502920"/>
          </a:xfrm>
          <a:prstGeom prst="ellipse">
            <a:avLst/>
          </a:prstGeom>
          <a:solidFill>
            <a:srgbClr val="0E6E7A"/>
          </a:solidFill>
          <a:ln w="15875">
            <a:solidFill>
              <a:srgbClr val="0E6E7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2962656" y="2697480"/>
            <a:ext cx="1737360" cy="54864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Linear Layouts math</a:t>
            </a:r>
            <a:endParaRPr lang="en-US" sz="1800" dirty="0"/>
          </a:p>
        </p:txBody>
      </p:sp>
      <p:sp>
        <p:nvSpPr>
          <p:cNvPr id="13" name="Text 10"/>
          <p:cNvSpPr txBox="1"/>
          <p:nvPr/>
        </p:nvSpPr>
        <p:spPr>
          <a:xfrm>
            <a:off x="2962656" y="3273552"/>
            <a:ext cx="1737360" cy="7772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§4 — definitions 4.1–4.14, completeness, closure</a:t>
            </a:r>
            <a:endParaRPr lang="en-US" sz="1300" dirty="0"/>
          </a:p>
        </p:txBody>
      </p:sp>
      <p:sp>
        <p:nvSpPr>
          <p:cNvPr id="14" name="arrow"/>
          <p:cNvSpPr/>
          <p:nvPr/>
        </p:nvSpPr>
        <p:spPr>
          <a:xfrm>
            <a:off x="4901184" y="2990088"/>
            <a:ext cx="137160" cy="914"/>
          </a:xfrm>
          <a:prstGeom prst="line">
            <a:avLst/>
          </a:prstGeom>
          <a:noFill/>
          <a:ln w="15875">
            <a:solidFill>
              <a:srgbClr val="B9C1C7"/>
            </a:solidFill>
            <a:prstDash val="solid"/>
            <a:tailEnd type="triangle"/>
          </a:ln>
        </p:spPr>
      </p:sp>
      <p:sp>
        <p:nvSpPr>
          <p:cNvPr id="15" name="panel"/>
          <p:cNvSpPr/>
          <p:nvPr/>
        </p:nvSpPr>
        <p:spPr>
          <a:xfrm>
            <a:off x="5056632" y="1828800"/>
            <a:ext cx="2103120" cy="2331720"/>
          </a:xfrm>
          <a:prstGeom prst="roundRect">
            <a:avLst>
              <a:gd name="adj" fmla="val 3478"/>
            </a:avLst>
          </a:prstGeom>
          <a:solidFill>
            <a:srgbClr val="DDEFF1"/>
          </a:solidFill>
          <a:ln/>
        </p:spPr>
      </p:sp>
      <p:sp>
        <p:nvSpPr>
          <p:cNvPr id="16" name="step-num"/>
          <p:cNvSpPr txBox="1"/>
          <p:nvPr/>
        </p:nvSpPr>
        <p:spPr>
          <a:xfrm>
            <a:off x="5239512" y="2029968"/>
            <a:ext cx="502920" cy="502920"/>
          </a:xfrm>
          <a:prstGeom prst="ellipse">
            <a:avLst/>
          </a:prstGeom>
          <a:solidFill>
            <a:srgbClr val="0E6E7A"/>
          </a:solidFill>
          <a:ln w="15875">
            <a:solidFill>
              <a:srgbClr val="0E6E7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5239512" y="2697480"/>
            <a:ext cx="1737360" cy="54864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Code-generation uses</a:t>
            </a:r>
            <a:endParaRPr lang="en-US" sz="1800" dirty="0"/>
          </a:p>
        </p:txBody>
      </p:sp>
      <p:sp>
        <p:nvSpPr>
          <p:cNvPr id="18" name="Text 15"/>
          <p:cNvSpPr txBox="1"/>
          <p:nvPr/>
        </p:nvSpPr>
        <p:spPr>
          <a:xfrm>
            <a:off x="5239512" y="3273552"/>
            <a:ext cx="1737360" cy="7772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§5 — vectorization, broadcast, shuffles, swizzling, gather</a:t>
            </a:r>
            <a:endParaRPr lang="en-US" sz="1300" dirty="0"/>
          </a:p>
        </p:txBody>
      </p:sp>
      <p:sp>
        <p:nvSpPr>
          <p:cNvPr id="19" name="arrow"/>
          <p:cNvSpPr/>
          <p:nvPr/>
        </p:nvSpPr>
        <p:spPr>
          <a:xfrm>
            <a:off x="7178040" y="2990088"/>
            <a:ext cx="137160" cy="914"/>
          </a:xfrm>
          <a:prstGeom prst="line">
            <a:avLst/>
          </a:prstGeom>
          <a:noFill/>
          <a:ln w="15875">
            <a:solidFill>
              <a:srgbClr val="B9C1C7"/>
            </a:solidFill>
            <a:prstDash val="solid"/>
            <a:tailEnd type="triangle"/>
          </a:ln>
        </p:spPr>
      </p:sp>
      <p:sp>
        <p:nvSpPr>
          <p:cNvPr id="20" name="panel"/>
          <p:cNvSpPr/>
          <p:nvPr/>
        </p:nvSpPr>
        <p:spPr>
          <a:xfrm>
            <a:off x="7333488" y="1828800"/>
            <a:ext cx="2103120" cy="2331720"/>
          </a:xfrm>
          <a:prstGeom prst="roundRect">
            <a:avLst>
              <a:gd name="adj" fmla="val 3478"/>
            </a:avLst>
          </a:prstGeom>
          <a:solidFill>
            <a:srgbClr val="F3F6F7"/>
          </a:solidFill>
          <a:ln/>
        </p:spPr>
      </p:sp>
      <p:sp>
        <p:nvSpPr>
          <p:cNvPr id="21" name="step-num"/>
          <p:cNvSpPr txBox="1"/>
          <p:nvPr/>
        </p:nvSpPr>
        <p:spPr>
          <a:xfrm>
            <a:off x="7516368" y="2029968"/>
            <a:ext cx="502920" cy="502920"/>
          </a:xfrm>
          <a:prstGeom prst="ellipse">
            <a:avLst/>
          </a:prstGeom>
          <a:solidFill>
            <a:srgbClr val="FFFFFF"/>
          </a:solidFill>
          <a:ln w="15875">
            <a:solidFill>
              <a:srgbClr val="0E6E7A"/>
            </a:solidFill>
          </a:ln>
        </p:spPr>
        <p:txBody>
          <a:bodyPr wrap="square" lIns="0" tIns="0" rIns="0" bIns="0" rtlCol="0" anchor="ctr"/>
          <a:lstStyle/>
          <a:p>
            <a:pPr algn="ctr" indent="0" marL="0">
              <a:buNone/>
            </a:pPr>
            <a:r>
              <a:rPr lang="en-US" sz="1800" b="1" dirty="0">
                <a:solidFill>
                  <a:srgbClr val="0E6E7A"/>
                </a:solidFill>
                <a:latin typeface="Calibri" pitchFamily="34" charset="0"/>
                <a:ea typeface="Calibri" pitchFamily="34" charset="-122"/>
                <a:cs typeface="Calibri" pitchFamily="34" charset="-120"/>
              </a:rPr>
              <a:t>4</a:t>
            </a:r>
            <a:endParaRPr lang="en-US" sz="1800" dirty="0"/>
          </a:p>
        </p:txBody>
      </p:sp>
      <p:sp>
        <p:nvSpPr>
          <p:cNvPr id="22" name="Text 19"/>
          <p:cNvSpPr txBox="1"/>
          <p:nvPr/>
        </p:nvSpPr>
        <p:spPr>
          <a:xfrm>
            <a:off x="7516368" y="2697480"/>
            <a:ext cx="1737360" cy="54864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Evaluation</a:t>
            </a:r>
            <a:endParaRPr lang="en-US" sz="1800" dirty="0"/>
          </a:p>
        </p:txBody>
      </p:sp>
      <p:sp>
        <p:nvSpPr>
          <p:cNvPr id="23" name="Text 20"/>
          <p:cNvSpPr txBox="1"/>
          <p:nvPr/>
        </p:nvSpPr>
        <p:spPr>
          <a:xfrm>
            <a:off x="7516368" y="3273552"/>
            <a:ext cx="1737360" cy="7772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§6 — micro-benchmarks and 265 real cases</a:t>
            </a:r>
            <a:endParaRPr lang="en-US" sz="1300" dirty="0"/>
          </a:p>
        </p:txBody>
      </p:sp>
      <p:sp>
        <p:nvSpPr>
          <p:cNvPr id="24" name="arrow"/>
          <p:cNvSpPr/>
          <p:nvPr/>
        </p:nvSpPr>
        <p:spPr>
          <a:xfrm>
            <a:off x="9454896" y="2990088"/>
            <a:ext cx="137160" cy="914"/>
          </a:xfrm>
          <a:prstGeom prst="line">
            <a:avLst/>
          </a:prstGeom>
          <a:noFill/>
          <a:ln w="15875">
            <a:solidFill>
              <a:srgbClr val="B9C1C7"/>
            </a:solidFill>
            <a:prstDash val="solid"/>
            <a:tailEnd type="triangle"/>
          </a:ln>
        </p:spPr>
      </p:sp>
      <p:sp>
        <p:nvSpPr>
          <p:cNvPr id="25" name="panel"/>
          <p:cNvSpPr/>
          <p:nvPr/>
        </p:nvSpPr>
        <p:spPr>
          <a:xfrm>
            <a:off x="9610344" y="1828800"/>
            <a:ext cx="2103120" cy="2331720"/>
          </a:xfrm>
          <a:prstGeom prst="roundRect">
            <a:avLst>
              <a:gd name="adj" fmla="val 3478"/>
            </a:avLst>
          </a:prstGeom>
          <a:solidFill>
            <a:srgbClr val="F3F6F7"/>
          </a:solidFill>
          <a:ln/>
        </p:spPr>
      </p:sp>
      <p:sp>
        <p:nvSpPr>
          <p:cNvPr id="26" name="step-num"/>
          <p:cNvSpPr txBox="1"/>
          <p:nvPr/>
        </p:nvSpPr>
        <p:spPr>
          <a:xfrm>
            <a:off x="9793224" y="2029968"/>
            <a:ext cx="502920" cy="502920"/>
          </a:xfrm>
          <a:prstGeom prst="ellipse">
            <a:avLst/>
          </a:prstGeom>
          <a:solidFill>
            <a:srgbClr val="FFFFFF"/>
          </a:solidFill>
          <a:ln w="15875">
            <a:solidFill>
              <a:srgbClr val="0E6E7A"/>
            </a:solidFill>
          </a:ln>
        </p:spPr>
        <p:txBody>
          <a:bodyPr wrap="square" lIns="0" tIns="0" rIns="0" bIns="0" rtlCol="0" anchor="ctr"/>
          <a:lstStyle/>
          <a:p>
            <a:pPr algn="ctr" indent="0" marL="0">
              <a:buNone/>
            </a:pPr>
            <a:r>
              <a:rPr lang="en-US" sz="1800" b="1" dirty="0">
                <a:solidFill>
                  <a:srgbClr val="0E6E7A"/>
                </a:solidFill>
                <a:latin typeface="Calibri" pitchFamily="34" charset="0"/>
                <a:ea typeface="Calibri" pitchFamily="34" charset="-122"/>
                <a:cs typeface="Calibri" pitchFamily="34" charset="-120"/>
              </a:rPr>
              <a:t>5</a:t>
            </a:r>
            <a:endParaRPr lang="en-US" sz="1800" dirty="0"/>
          </a:p>
        </p:txBody>
      </p:sp>
      <p:sp>
        <p:nvSpPr>
          <p:cNvPr id="27" name="Text 24"/>
          <p:cNvSpPr txBox="1"/>
          <p:nvPr/>
        </p:nvSpPr>
        <p:spPr>
          <a:xfrm>
            <a:off x="9793224" y="2697480"/>
            <a:ext cx="1737360" cy="54864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Takeaways</a:t>
            </a:r>
            <a:endParaRPr lang="en-US" sz="1800" dirty="0"/>
          </a:p>
        </p:txBody>
      </p:sp>
      <p:sp>
        <p:nvSpPr>
          <p:cNvPr id="28" name="Text 25"/>
          <p:cNvSpPr txBox="1"/>
          <p:nvPr/>
        </p:nvSpPr>
        <p:spPr>
          <a:xfrm>
            <a:off x="9793224" y="3273552"/>
            <a:ext cx="1737360" cy="7772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Limitations, source code, Q&amp;A</a:t>
            </a:r>
            <a:endParaRPr lang="en-US" sz="1300" dirty="0"/>
          </a:p>
        </p:txBody>
      </p:sp>
      <p:sp>
        <p:nvSpPr>
          <p:cNvPr id="29" name="Text 26"/>
          <p:cNvSpPr txBox="1"/>
          <p:nvPr/>
        </p:nvSpPr>
        <p:spPr>
          <a:xfrm>
            <a:off x="2779776" y="4297680"/>
            <a:ext cx="4379976" cy="457200"/>
          </a:xfrm>
          <a:prstGeom prst="rect">
            <a:avLst/>
          </a:prstGeom>
          <a:noFill/>
          <a:ln/>
        </p:spPr>
        <p:txBody>
          <a:bodyPr wrap="square" lIns="0" tIns="0" rIns="0" bIns="0" rtlCol="0" anchor="t"/>
          <a:lstStyle/>
          <a:p>
            <a:pPr algn="ctr" indent="0" marL="0">
              <a:buNone/>
            </a:pPr>
            <a:r>
              <a:rPr lang="en-US" sz="1300" b="1" dirty="0">
                <a:solidFill>
                  <a:srgbClr val="0E6E7A"/>
                </a:solidFill>
                <a:latin typeface="Calibri" pitchFamily="34" charset="0"/>
                <a:ea typeface="Calibri" pitchFamily="34" charset="-122"/>
                <a:cs typeface="Calibri" pitchFamily="34" charset="-120"/>
              </a:rPr>
              <a:t>Technical core — every definition and algorithm gets a worked binary-matrix example</a:t>
            </a:r>
            <a:endParaRPr lang="en-US" sz="1300" dirty="0"/>
          </a:p>
        </p:txBody>
      </p:sp>
      <p:sp>
        <p:nvSpPr>
          <p:cNvPr id="30" name="callout"/>
          <p:cNvSpPr/>
          <p:nvPr/>
        </p:nvSpPr>
        <p:spPr>
          <a:xfrm>
            <a:off x="502920" y="5074920"/>
            <a:ext cx="11201400" cy="685800"/>
          </a:xfrm>
          <a:prstGeom prst="roundRect">
            <a:avLst>
              <a:gd name="adj" fmla="val 10667"/>
            </a:avLst>
          </a:prstGeom>
          <a:solidFill>
            <a:srgbClr val="DDEFF1"/>
          </a:solidFill>
          <a:ln/>
        </p:spPr>
      </p:sp>
      <p:sp>
        <p:nvSpPr>
          <p:cNvPr id="31" name="callout-text"/>
          <p:cNvSpPr txBox="1"/>
          <p:nvPr/>
        </p:nvSpPr>
        <p:spPr>
          <a:xfrm>
            <a:off x="640080" y="5129784"/>
            <a:ext cx="10927080" cy="576072"/>
          </a:xfrm>
          <a:prstGeom prst="rect">
            <a:avLst/>
          </a:prstGeom>
          <a:noFill/>
          <a:ln/>
        </p:spPr>
        <p:txBody>
          <a:bodyPr wrap="square" lIns="0" tIns="0" rIns="0" bIns="0" rtlCol="0" anchor="ctr"/>
          <a:lstStyle/>
          <a:p>
            <a:pPr algn="l" indent="0" marL="0">
              <a:buNone/>
            </a:pPr>
            <a:r>
              <a:rPr lang="en-US" sz="1600" b="1" dirty="0">
                <a:solidFill>
                  <a:srgbClr val="0A4F58"/>
                </a:solidFill>
                <a:latin typeface="Calibri" pitchFamily="34" charset="0"/>
                <a:ea typeface="Calibri" pitchFamily="34" charset="-122"/>
                <a:cs typeface="Calibri" pitchFamily="34" charset="-120"/>
              </a:rPr>
              <a:t>Through-line:</a:t>
            </a:r>
            <a:r>
              <a:rPr lang="en-US" sz="1600" dirty="0">
                <a:solidFill>
                  <a:srgbClr val="0A4F58"/>
                </a:solidFill>
                <a:latin typeface="Calibri" pitchFamily="34" charset="0"/>
                <a:ea typeface="Calibri" pitchFamily="34" charset="-122"/>
                <a:cs typeface="Calibri" pitchFamily="34" charset="-120"/>
              </a:rPr>
              <a:t> represent a layout as a bit-level linear map  →  compose / invert maps to derive conversions  →  lower them to registers, shuffles, vector loads and swizzled shared memory.</a:t>
            </a:r>
            <a:endParaRPr lang="en-US" sz="16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§1 INTRODUCTION · CONTRIBUTIONS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What the paper contributes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Contributions list in §1 Introduction, p. 134; Abstract, p. 132</a:t>
            </a:r>
            <a:endParaRPr lang="en-US" sz="1000" dirty="0"/>
          </a:p>
        </p:txBody>
      </p:sp>
      <p:sp>
        <p:nvSpPr>
          <p:cNvPr id="6" name="contribution-card"/>
          <p:cNvSpPr/>
          <p:nvPr/>
        </p:nvSpPr>
        <p:spPr>
          <a:xfrm>
            <a:off x="502920" y="1325880"/>
            <a:ext cx="2615184" cy="3794760"/>
          </a:xfrm>
          <a:prstGeom prst="roundRect">
            <a:avLst>
              <a:gd name="adj" fmla="val 2797"/>
            </a:avLst>
          </a:prstGeom>
          <a:solidFill>
            <a:srgbClr val="F3F6F7"/>
          </a:solidFill>
          <a:ln/>
        </p:spPr>
      </p:sp>
      <p:sp>
        <p:nvSpPr>
          <p:cNvPr id="7" name="num"/>
          <p:cNvSpPr txBox="1"/>
          <p:nvPr/>
        </p:nvSpPr>
        <p:spPr>
          <a:xfrm>
            <a:off x="685800" y="1508760"/>
            <a:ext cx="457200" cy="457200"/>
          </a:xfrm>
          <a:prstGeom prst="ellipse">
            <a:avLst/>
          </a:prstGeom>
          <a:solidFill>
            <a:srgbClr val="0E6E7A"/>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5"/>
          <p:cNvSpPr txBox="1"/>
          <p:nvPr/>
        </p:nvSpPr>
        <p:spPr>
          <a:xfrm>
            <a:off x="1252728" y="1581912"/>
            <a:ext cx="1746504" cy="292608"/>
          </a:xfrm>
          <a:prstGeom prst="rect">
            <a:avLst/>
          </a:prstGeom>
          <a:noFill/>
          <a:ln/>
        </p:spPr>
        <p:txBody>
          <a:bodyPr wrap="square" lIns="0" tIns="0" rIns="0" bIns="0" rtlCol="0" anchor="t"/>
          <a:lstStyle/>
          <a:p>
            <a:pPr indent="0" marL="0">
              <a:buNone/>
            </a:pPr>
            <a:r>
              <a:rPr lang="en-US" sz="1200" b="1" spc="100" kern="0" dirty="0">
                <a:solidFill>
                  <a:srgbClr val="0E6E7A"/>
                </a:solidFill>
                <a:latin typeface="Calibri" pitchFamily="34" charset="0"/>
                <a:ea typeface="Calibri" pitchFamily="34" charset="-122"/>
                <a:cs typeface="Calibri" pitchFamily="34" charset="-120"/>
              </a:rPr>
              <a:t>REPRESENTATION</a:t>
            </a:r>
            <a:endParaRPr lang="en-US" sz="1200" dirty="0"/>
          </a:p>
        </p:txBody>
      </p:sp>
      <p:sp>
        <p:nvSpPr>
          <p:cNvPr id="9" name="Text 6"/>
          <p:cNvSpPr txBox="1"/>
          <p:nvPr/>
        </p:nvSpPr>
        <p:spPr>
          <a:xfrm>
            <a:off x="685800" y="2103120"/>
            <a:ext cx="2249424" cy="36576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Linear layouts</a:t>
            </a:r>
            <a:endParaRPr lang="en-US" sz="1800" dirty="0"/>
          </a:p>
        </p:txBody>
      </p:sp>
      <p:sp>
        <p:nvSpPr>
          <p:cNvPr id="10" name="bullets"/>
          <p:cNvSpPr txBox="1"/>
          <p:nvPr/>
        </p:nvSpPr>
        <p:spPr>
          <a:xfrm>
            <a:off x="640080" y="2560320"/>
            <a:ext cx="2340864" cy="2011680"/>
          </a:xfrm>
          <a:prstGeom prst="rect">
            <a:avLst/>
          </a:prstGeom>
          <a:noFill/>
          <a:ln/>
        </p:spPr>
        <p:txBody>
          <a:bodyPr wrap="square" lIns="25400" tIns="25400" rIns="25400" bIns="25400" rtlCol="0" anchor="t"/>
          <a:lstStyle/>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Tensor layouts as </a:t>
            </a:r>
            <a:r>
              <a:rPr lang="en-US" sz="1400" b="1" dirty="0">
                <a:solidFill>
                  <a:srgbClr val="1E2A32"/>
                </a:solidFill>
                <a:latin typeface="Calibri" pitchFamily="34" charset="0"/>
                <a:ea typeface="Calibri" pitchFamily="34" charset="-122"/>
                <a:cs typeface="Calibri" pitchFamily="34" charset="-120"/>
              </a:rPr>
              <a:t>linear maps over F₂</a:t>
            </a:r>
            <a:r>
              <a:rPr lang="en-US" sz="1400" dirty="0">
                <a:solidFill>
                  <a:srgbClr val="1E2A32"/>
                </a:solidFill>
                <a:latin typeface="Calibri" pitchFamily="34" charset="0"/>
                <a:ea typeface="Calibri" pitchFamily="34" charset="-122"/>
                <a:cs typeface="Calibri" pitchFamily="34" charset="-120"/>
              </a:rPr>
              <a:t>: binary matrices on index bits</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Layouts </a:t>
            </a:r>
            <a:r>
              <a:rPr lang="en-US" sz="1400" b="1" dirty="0">
                <a:solidFill>
                  <a:srgbClr val="1E2A32"/>
                </a:solidFill>
                <a:latin typeface="Calibri" pitchFamily="34" charset="0"/>
                <a:ea typeface="Calibri" pitchFamily="34" charset="-122"/>
                <a:cs typeface="Calibri" pitchFamily="34" charset="-120"/>
              </a:rPr>
              <a:t>compose, invert and divide</a:t>
            </a:r>
            <a:r>
              <a:rPr lang="en-US" sz="1400" dirty="0">
                <a:solidFill>
                  <a:srgbClr val="1E2A32"/>
                </a:solidFill>
                <a:latin typeface="Calibri" pitchFamily="34" charset="0"/>
                <a:ea typeface="Calibri" pitchFamily="34" charset="-122"/>
                <a:cs typeface="Calibri" pitchFamily="34" charset="-120"/>
              </a:rPr>
              <a:t> in one unified framework</a:t>
            </a:r>
            <a:endParaRPr lang="en-US" sz="1400" dirty="0"/>
          </a:p>
        </p:txBody>
      </p:sp>
      <p:sp>
        <p:nvSpPr>
          <p:cNvPr id="11" name="tag"/>
          <p:cNvSpPr txBox="1"/>
          <p:nvPr/>
        </p:nvSpPr>
        <p:spPr>
          <a:xfrm>
            <a:off x="685800" y="4709160"/>
            <a:ext cx="160020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In this talk: §4</a:t>
            </a:r>
            <a:endParaRPr lang="en-US" sz="1100" dirty="0"/>
          </a:p>
        </p:txBody>
      </p:sp>
      <p:sp>
        <p:nvSpPr>
          <p:cNvPr id="12" name="arrow"/>
          <p:cNvSpPr/>
          <p:nvPr/>
        </p:nvSpPr>
        <p:spPr>
          <a:xfrm>
            <a:off x="3145536" y="2286000"/>
            <a:ext cx="192024" cy="914"/>
          </a:xfrm>
          <a:prstGeom prst="line">
            <a:avLst/>
          </a:prstGeom>
          <a:noFill/>
          <a:ln w="15875">
            <a:solidFill>
              <a:srgbClr val="B9C1C7"/>
            </a:solidFill>
            <a:prstDash val="solid"/>
            <a:tailEnd type="triangle"/>
          </a:ln>
        </p:spPr>
      </p:sp>
      <p:sp>
        <p:nvSpPr>
          <p:cNvPr id="13" name="contribution-card"/>
          <p:cNvSpPr/>
          <p:nvPr/>
        </p:nvSpPr>
        <p:spPr>
          <a:xfrm>
            <a:off x="3364992" y="1325880"/>
            <a:ext cx="2615184" cy="3794760"/>
          </a:xfrm>
          <a:prstGeom prst="roundRect">
            <a:avLst>
              <a:gd name="adj" fmla="val 2797"/>
            </a:avLst>
          </a:prstGeom>
          <a:solidFill>
            <a:srgbClr val="F3F6F7"/>
          </a:solidFill>
          <a:ln/>
        </p:spPr>
      </p:sp>
      <p:sp>
        <p:nvSpPr>
          <p:cNvPr id="14" name="num"/>
          <p:cNvSpPr txBox="1"/>
          <p:nvPr/>
        </p:nvSpPr>
        <p:spPr>
          <a:xfrm>
            <a:off x="3547872" y="1508760"/>
            <a:ext cx="457200" cy="457200"/>
          </a:xfrm>
          <a:prstGeom prst="ellipse">
            <a:avLst/>
          </a:prstGeom>
          <a:solidFill>
            <a:srgbClr val="0E6E7A"/>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5" name="Text 12"/>
          <p:cNvSpPr txBox="1"/>
          <p:nvPr/>
        </p:nvSpPr>
        <p:spPr>
          <a:xfrm>
            <a:off x="4114800" y="1581912"/>
            <a:ext cx="1746504" cy="292608"/>
          </a:xfrm>
          <a:prstGeom prst="rect">
            <a:avLst/>
          </a:prstGeom>
          <a:noFill/>
          <a:ln/>
        </p:spPr>
        <p:txBody>
          <a:bodyPr wrap="square" lIns="0" tIns="0" rIns="0" bIns="0" rtlCol="0" anchor="t"/>
          <a:lstStyle/>
          <a:p>
            <a:pPr indent="0" marL="0">
              <a:buNone/>
            </a:pPr>
            <a:r>
              <a:rPr lang="en-US" sz="1200" b="1" spc="100" kern="0" dirty="0">
                <a:solidFill>
                  <a:srgbClr val="0E6E7A"/>
                </a:solidFill>
                <a:latin typeface="Calibri" pitchFamily="34" charset="0"/>
                <a:ea typeface="Calibri" pitchFamily="34" charset="-122"/>
                <a:cs typeface="Calibri" pitchFamily="34" charset="-120"/>
              </a:rPr>
              <a:t>SYSTEM</a:t>
            </a:r>
            <a:endParaRPr lang="en-US" sz="1200" dirty="0"/>
          </a:p>
        </p:txBody>
      </p:sp>
      <p:sp>
        <p:nvSpPr>
          <p:cNvPr id="16" name="Text 13"/>
          <p:cNvSpPr txBox="1"/>
          <p:nvPr/>
        </p:nvSpPr>
        <p:spPr>
          <a:xfrm>
            <a:off x="3547872" y="2103120"/>
            <a:ext cx="2249424" cy="36576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Built into Triton</a:t>
            </a:r>
            <a:endParaRPr lang="en-US" sz="1800" dirty="0"/>
          </a:p>
        </p:txBody>
      </p:sp>
      <p:sp>
        <p:nvSpPr>
          <p:cNvPr id="17" name="bullets"/>
          <p:cNvSpPr txBox="1"/>
          <p:nvPr/>
        </p:nvSpPr>
        <p:spPr>
          <a:xfrm>
            <a:off x="3502152" y="2560320"/>
            <a:ext cx="2340864" cy="2011680"/>
          </a:xfrm>
          <a:prstGeom prst="rect">
            <a:avLst/>
          </a:prstGeom>
          <a:noFill/>
          <a:ln/>
        </p:spPr>
        <p:txBody>
          <a:bodyPr wrap="square" lIns="25400" tIns="25400" rIns="25400" bIns="25400" rtlCol="0" anchor="t"/>
          <a:lstStyle/>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Fully integrated into </a:t>
            </a:r>
            <a:r>
              <a:rPr lang="en-US" sz="1400" b="1" dirty="0">
                <a:solidFill>
                  <a:srgbClr val="1E2A32"/>
                </a:solidFill>
                <a:latin typeface="Calibri" pitchFamily="34" charset="0"/>
                <a:ea typeface="Calibri" pitchFamily="34" charset="-122"/>
                <a:cs typeface="Calibri" pitchFamily="34" charset="-120"/>
              </a:rPr>
              <a:t>Triton’s GPU backend</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A </a:t>
            </a:r>
            <a:r>
              <a:rPr lang="en-US" sz="1400" b="1" dirty="0">
                <a:solidFill>
                  <a:srgbClr val="1E2A32"/>
                </a:solidFill>
                <a:latin typeface="Calibri" pitchFamily="34" charset="0"/>
                <a:ea typeface="Calibri" pitchFamily="34" charset="-122"/>
                <a:cs typeface="Calibri" pitchFamily="34" charset="-120"/>
              </a:rPr>
              <a:t>layout engine</a:t>
            </a:r>
            <a:r>
              <a:rPr lang="en-US" sz="1400" dirty="0">
                <a:solidFill>
                  <a:srgbClr val="1E2A32"/>
                </a:solidFill>
                <a:latin typeface="Calibri" pitchFamily="34" charset="0"/>
                <a:ea typeface="Calibri" pitchFamily="34" charset="-122"/>
                <a:cs typeface="Calibri" pitchFamily="34" charset="-120"/>
              </a:rPr>
              <a:t> that automatically chooses and propagates layouts for </a:t>
            </a:r>
            <a:r>
              <a:rPr lang="en-US" sz="1400" b="1" dirty="0">
                <a:solidFill>
                  <a:srgbClr val="1E2A32"/>
                </a:solidFill>
                <a:latin typeface="Calibri" pitchFamily="34" charset="0"/>
                <a:ea typeface="Calibri" pitchFamily="34" charset="-122"/>
                <a:cs typeface="Calibri" pitchFamily="34" charset="-120"/>
              </a:rPr>
              <a:t>any</a:t>
            </a:r>
            <a:r>
              <a:rPr lang="en-US" sz="1400" dirty="0">
                <a:solidFill>
                  <a:srgbClr val="1E2A32"/>
                </a:solidFill>
                <a:latin typeface="Calibri" pitchFamily="34" charset="0"/>
                <a:ea typeface="Calibri" pitchFamily="34" charset="-122"/>
                <a:cs typeface="Calibri" pitchFamily="34" charset="-120"/>
              </a:rPr>
              <a:t> Triton operation</a:t>
            </a:r>
            <a:endParaRPr lang="en-US" sz="1400" dirty="0"/>
          </a:p>
        </p:txBody>
      </p:sp>
      <p:sp>
        <p:nvSpPr>
          <p:cNvPr id="18" name="tag"/>
          <p:cNvSpPr txBox="1"/>
          <p:nvPr/>
        </p:nvSpPr>
        <p:spPr>
          <a:xfrm>
            <a:off x="3547872" y="4709160"/>
            <a:ext cx="160020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In this talk: §4.4</a:t>
            </a:r>
            <a:endParaRPr lang="en-US" sz="1100" dirty="0"/>
          </a:p>
        </p:txBody>
      </p:sp>
      <p:sp>
        <p:nvSpPr>
          <p:cNvPr id="19" name="arrow"/>
          <p:cNvSpPr/>
          <p:nvPr/>
        </p:nvSpPr>
        <p:spPr>
          <a:xfrm>
            <a:off x="6007608" y="2286000"/>
            <a:ext cx="192024" cy="914"/>
          </a:xfrm>
          <a:prstGeom prst="line">
            <a:avLst/>
          </a:prstGeom>
          <a:noFill/>
          <a:ln w="15875">
            <a:solidFill>
              <a:srgbClr val="B9C1C7"/>
            </a:solidFill>
            <a:prstDash val="solid"/>
            <a:tailEnd type="triangle"/>
          </a:ln>
        </p:spPr>
      </p:sp>
      <p:sp>
        <p:nvSpPr>
          <p:cNvPr id="20" name="contribution-card"/>
          <p:cNvSpPr/>
          <p:nvPr/>
        </p:nvSpPr>
        <p:spPr>
          <a:xfrm>
            <a:off x="6227064" y="1325880"/>
            <a:ext cx="2615184" cy="3794760"/>
          </a:xfrm>
          <a:prstGeom prst="roundRect">
            <a:avLst>
              <a:gd name="adj" fmla="val 2797"/>
            </a:avLst>
          </a:prstGeom>
          <a:solidFill>
            <a:srgbClr val="F3F6F7"/>
          </a:solidFill>
          <a:ln/>
        </p:spPr>
      </p:sp>
      <p:sp>
        <p:nvSpPr>
          <p:cNvPr id="21" name="num"/>
          <p:cNvSpPr txBox="1"/>
          <p:nvPr/>
        </p:nvSpPr>
        <p:spPr>
          <a:xfrm>
            <a:off x="6409944" y="1508760"/>
            <a:ext cx="457200" cy="457200"/>
          </a:xfrm>
          <a:prstGeom prst="ellipse">
            <a:avLst/>
          </a:prstGeom>
          <a:solidFill>
            <a:srgbClr val="0E6E7A"/>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2" name="Text 19"/>
          <p:cNvSpPr txBox="1"/>
          <p:nvPr/>
        </p:nvSpPr>
        <p:spPr>
          <a:xfrm>
            <a:off x="6976872" y="1581912"/>
            <a:ext cx="1746504" cy="292608"/>
          </a:xfrm>
          <a:prstGeom prst="rect">
            <a:avLst/>
          </a:prstGeom>
          <a:noFill/>
          <a:ln/>
        </p:spPr>
        <p:txBody>
          <a:bodyPr wrap="square" lIns="0" tIns="0" rIns="0" bIns="0" rtlCol="0" anchor="t"/>
          <a:lstStyle/>
          <a:p>
            <a:pPr indent="0" marL="0">
              <a:buNone/>
            </a:pPr>
            <a:r>
              <a:rPr lang="en-US" sz="1200" b="1" spc="100" kern="0" dirty="0">
                <a:solidFill>
                  <a:srgbClr val="0E6E7A"/>
                </a:solidFill>
                <a:latin typeface="Calibri" pitchFamily="34" charset="0"/>
                <a:ea typeface="Calibri" pitchFamily="34" charset="-122"/>
                <a:cs typeface="Calibri" pitchFamily="34" charset="-120"/>
              </a:rPr>
              <a:t>ALGORITHMS</a:t>
            </a:r>
            <a:endParaRPr lang="en-US" sz="1200" dirty="0"/>
          </a:p>
        </p:txBody>
      </p:sp>
      <p:sp>
        <p:nvSpPr>
          <p:cNvPr id="23" name="Text 20"/>
          <p:cNvSpPr txBox="1"/>
          <p:nvPr/>
        </p:nvSpPr>
        <p:spPr>
          <a:xfrm>
            <a:off x="6409944" y="2103120"/>
            <a:ext cx="2249424" cy="36576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New algorithms</a:t>
            </a:r>
            <a:endParaRPr lang="en-US" sz="1800" dirty="0"/>
          </a:p>
        </p:txBody>
      </p:sp>
      <p:sp>
        <p:nvSpPr>
          <p:cNvPr id="24" name="bullets"/>
          <p:cNvSpPr txBox="1"/>
          <p:nvPr/>
        </p:nvSpPr>
        <p:spPr>
          <a:xfrm>
            <a:off x="6364224" y="2560320"/>
            <a:ext cx="2340864" cy="2011680"/>
          </a:xfrm>
          <a:prstGeom prst="rect">
            <a:avLst/>
          </a:prstGeom>
          <a:noFill/>
          <a:ln/>
        </p:spPr>
        <p:txBody>
          <a:bodyPr wrap="square" lIns="25400" tIns="25400" rIns="25400" bIns="25400" rtlCol="0" anchor="t"/>
          <a:lstStyle/>
          <a:p>
            <a:pPr marL="203200" indent="-203200">
              <a:spcAft>
                <a:spcPts val="600"/>
              </a:spcAft>
              <a:buSzPct val="100000"/>
              <a:buChar char="•"/>
            </a:pPr>
            <a:r>
              <a:rPr lang="en-US" sz="1400" b="1" dirty="0">
                <a:solidFill>
                  <a:srgbClr val="1E2A32"/>
                </a:solidFill>
                <a:latin typeface="Calibri" pitchFamily="34" charset="0"/>
                <a:ea typeface="Calibri" pitchFamily="34" charset="-122"/>
                <a:cs typeface="Calibri" pitchFamily="34" charset="-120"/>
              </a:rPr>
              <a:t>Optimal swizzling</a:t>
            </a:r>
            <a:r>
              <a:rPr lang="en-US" sz="1400" dirty="0">
                <a:solidFill>
                  <a:srgbClr val="1E2A32"/>
                </a:solidFill>
                <a:latin typeface="Calibri" pitchFamily="34" charset="0"/>
                <a:ea typeface="Calibri" pitchFamily="34" charset="-122"/>
                <a:cs typeface="Calibri" pitchFamily="34" charset="-120"/>
              </a:rPr>
              <a:t>: provably max vectorization, min bank conflicts</a:t>
            </a:r>
            <a:endParaRPr lang="en-US" sz="1400" dirty="0"/>
          </a:p>
          <a:p>
            <a:pPr marL="203200" indent="-203200">
              <a:spcAft>
                <a:spcPts val="600"/>
              </a:spcAft>
              <a:buSzPct val="100000"/>
              <a:buChar char="•"/>
            </a:pPr>
            <a:r>
              <a:rPr lang="en-US" sz="1400" b="1" dirty="0">
                <a:solidFill>
                  <a:srgbClr val="1E2A32"/>
                </a:solidFill>
                <a:latin typeface="Calibri" pitchFamily="34" charset="0"/>
                <a:ea typeface="Calibri" pitchFamily="34" charset="-122"/>
                <a:cs typeface="Calibri" pitchFamily="34" charset="-120"/>
              </a:rPr>
              <a:t>Optimal warp-shuffle</a:t>
            </a:r>
            <a:r>
              <a:rPr lang="en-US" sz="1400" dirty="0">
                <a:solidFill>
                  <a:srgbClr val="1E2A32"/>
                </a:solidFill>
                <a:latin typeface="Calibri" pitchFamily="34" charset="0"/>
                <a:ea typeface="Calibri" pitchFamily="34" charset="-122"/>
                <a:cs typeface="Calibri" pitchFamily="34" charset="-120"/>
              </a:rPr>
              <a:t> generation</a:t>
            </a:r>
            <a:endParaRPr lang="en-US" sz="1400" dirty="0"/>
          </a:p>
          <a:p>
            <a:pPr marL="203200" indent="-203200">
              <a:spcAft>
                <a:spcPts val="600"/>
              </a:spcAft>
              <a:buSzPct val="100000"/>
              <a:buChar char="•"/>
            </a:pPr>
            <a:r>
              <a:rPr lang="en-US" sz="1400" b="1" dirty="0">
                <a:solidFill>
                  <a:srgbClr val="1E2A32"/>
                </a:solidFill>
                <a:latin typeface="Calibri" pitchFamily="34" charset="0"/>
                <a:ea typeface="Calibri" pitchFamily="34" charset="-122"/>
                <a:cs typeface="Calibri" pitchFamily="34" charset="-120"/>
              </a:rPr>
              <a:t>Generic lowering</a:t>
            </a:r>
            <a:r>
              <a:rPr lang="en-US" sz="1400" dirty="0">
                <a:solidFill>
                  <a:srgbClr val="1E2A32"/>
                </a:solidFill>
                <a:latin typeface="Calibri" pitchFamily="34" charset="0"/>
                <a:ea typeface="Calibri" pitchFamily="34" charset="-122"/>
                <a:cs typeface="Calibri" pitchFamily="34" charset="-120"/>
              </a:rPr>
              <a:t> of hardware intrinsics for the whole family</a:t>
            </a:r>
            <a:endParaRPr lang="en-US" sz="1400" dirty="0"/>
          </a:p>
        </p:txBody>
      </p:sp>
      <p:sp>
        <p:nvSpPr>
          <p:cNvPr id="25" name="tag"/>
          <p:cNvSpPr txBox="1"/>
          <p:nvPr/>
        </p:nvSpPr>
        <p:spPr>
          <a:xfrm>
            <a:off x="6409944" y="4709160"/>
            <a:ext cx="160020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In this talk: §5</a:t>
            </a:r>
            <a:endParaRPr lang="en-US" sz="1100" dirty="0"/>
          </a:p>
        </p:txBody>
      </p:sp>
      <p:sp>
        <p:nvSpPr>
          <p:cNvPr id="26" name="arrow"/>
          <p:cNvSpPr/>
          <p:nvPr/>
        </p:nvSpPr>
        <p:spPr>
          <a:xfrm>
            <a:off x="8869680" y="2286000"/>
            <a:ext cx="192024" cy="914"/>
          </a:xfrm>
          <a:prstGeom prst="line">
            <a:avLst/>
          </a:prstGeom>
          <a:noFill/>
          <a:ln w="15875">
            <a:solidFill>
              <a:srgbClr val="B9C1C7"/>
            </a:solidFill>
            <a:prstDash val="solid"/>
            <a:tailEnd type="triangle"/>
          </a:ln>
        </p:spPr>
      </p:sp>
      <p:sp>
        <p:nvSpPr>
          <p:cNvPr id="27" name="contribution-card"/>
          <p:cNvSpPr/>
          <p:nvPr/>
        </p:nvSpPr>
        <p:spPr>
          <a:xfrm>
            <a:off x="9089136" y="1325880"/>
            <a:ext cx="2615184" cy="3794760"/>
          </a:xfrm>
          <a:prstGeom prst="roundRect">
            <a:avLst>
              <a:gd name="adj" fmla="val 2797"/>
            </a:avLst>
          </a:prstGeom>
          <a:solidFill>
            <a:srgbClr val="F3F6F7"/>
          </a:solidFill>
          <a:ln/>
        </p:spPr>
      </p:sp>
      <p:sp>
        <p:nvSpPr>
          <p:cNvPr id="28" name="num"/>
          <p:cNvSpPr txBox="1"/>
          <p:nvPr/>
        </p:nvSpPr>
        <p:spPr>
          <a:xfrm>
            <a:off x="9272016" y="1508760"/>
            <a:ext cx="457200" cy="457200"/>
          </a:xfrm>
          <a:prstGeom prst="ellipse">
            <a:avLst/>
          </a:prstGeom>
          <a:solidFill>
            <a:srgbClr val="0E6E7A"/>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9" name="Text 26"/>
          <p:cNvSpPr txBox="1"/>
          <p:nvPr/>
        </p:nvSpPr>
        <p:spPr>
          <a:xfrm>
            <a:off x="9838944" y="1581912"/>
            <a:ext cx="1746504" cy="292608"/>
          </a:xfrm>
          <a:prstGeom prst="rect">
            <a:avLst/>
          </a:prstGeom>
          <a:noFill/>
          <a:ln/>
        </p:spPr>
        <p:txBody>
          <a:bodyPr wrap="square" lIns="0" tIns="0" rIns="0" bIns="0" rtlCol="0" anchor="t"/>
          <a:lstStyle/>
          <a:p>
            <a:pPr indent="0" marL="0">
              <a:buNone/>
            </a:pPr>
            <a:r>
              <a:rPr lang="en-US" sz="1200" b="1" spc="100" kern="0" dirty="0">
                <a:solidFill>
                  <a:srgbClr val="0E6E7A"/>
                </a:solidFill>
                <a:latin typeface="Calibri" pitchFamily="34" charset="0"/>
                <a:ea typeface="Calibri" pitchFamily="34" charset="-122"/>
                <a:cs typeface="Calibri" pitchFamily="34" charset="-120"/>
              </a:rPr>
              <a:t>EVALUATION</a:t>
            </a:r>
            <a:endParaRPr lang="en-US" sz="1200" dirty="0"/>
          </a:p>
        </p:txBody>
      </p:sp>
      <p:sp>
        <p:nvSpPr>
          <p:cNvPr id="30" name="Text 27"/>
          <p:cNvSpPr txBox="1"/>
          <p:nvPr/>
        </p:nvSpPr>
        <p:spPr>
          <a:xfrm>
            <a:off x="9272016" y="2103120"/>
            <a:ext cx="2249424" cy="365760"/>
          </a:xfrm>
          <a:prstGeom prst="rect">
            <a:avLst/>
          </a:prstGeom>
          <a:noFill/>
          <a:ln/>
        </p:spPr>
        <p:txBody>
          <a:bodyPr wrap="square" lIns="0" tIns="0" rIns="0" bIns="0" rtlCol="0" anchor="t"/>
          <a:lstStyle/>
          <a:p>
            <a:pPr indent="0" marL="0">
              <a:buNone/>
            </a:pPr>
            <a:r>
              <a:rPr lang="en-US" sz="1800" b="1" dirty="0">
                <a:solidFill>
                  <a:srgbClr val="1E2A32"/>
                </a:solidFill>
                <a:latin typeface="Calibri" pitchFamily="34" charset="0"/>
                <a:ea typeface="Calibri" pitchFamily="34" charset="-122"/>
                <a:cs typeface="Calibri" pitchFamily="34" charset="-120"/>
              </a:rPr>
              <a:t>Faster and more robust</a:t>
            </a:r>
            <a:endParaRPr lang="en-US" sz="1800" dirty="0"/>
          </a:p>
        </p:txBody>
      </p:sp>
      <p:sp>
        <p:nvSpPr>
          <p:cNvPr id="31" name="bullets"/>
          <p:cNvSpPr txBox="1"/>
          <p:nvPr/>
        </p:nvSpPr>
        <p:spPr>
          <a:xfrm>
            <a:off x="9226296" y="2560320"/>
            <a:ext cx="2340864" cy="2011680"/>
          </a:xfrm>
          <a:prstGeom prst="rect">
            <a:avLst/>
          </a:prstGeom>
          <a:noFill/>
          <a:ln/>
        </p:spPr>
        <p:txBody>
          <a:bodyPr wrap="square" lIns="25400" tIns="25400" rIns="25400" bIns="25400" rtlCol="0" anchor="t"/>
          <a:lstStyle/>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Synthetic + real DL workloads: up to </a:t>
            </a:r>
            <a:r>
              <a:rPr lang="en-US" sz="1400" b="1" dirty="0">
                <a:solidFill>
                  <a:srgbClr val="1E2A32"/>
                </a:solidFill>
                <a:latin typeface="Calibri" pitchFamily="34" charset="0"/>
                <a:ea typeface="Calibri" pitchFamily="34" charset="-122"/>
                <a:cs typeface="Calibri" pitchFamily="34" charset="-120"/>
              </a:rPr>
              <a:t>1.40×</a:t>
            </a:r>
            <a:r>
              <a:rPr lang="en-US" sz="1400" dirty="0">
                <a:solidFill>
                  <a:srgbClr val="1E2A32"/>
                </a:solidFill>
                <a:latin typeface="Calibri" pitchFamily="34" charset="0"/>
                <a:ea typeface="Calibri" pitchFamily="34" charset="-122"/>
                <a:cs typeface="Calibri" pitchFamily="34" charset="-120"/>
              </a:rPr>
              <a:t>, avg </a:t>
            </a:r>
            <a:r>
              <a:rPr lang="en-US" sz="1400" b="1" dirty="0">
                <a:solidFill>
                  <a:srgbClr val="1E2A32"/>
                </a:solidFill>
                <a:latin typeface="Calibri" pitchFamily="34" charset="0"/>
                <a:ea typeface="Calibri" pitchFamily="34" charset="-122"/>
                <a:cs typeface="Calibri" pitchFamily="34" charset="-120"/>
              </a:rPr>
              <a:t>1.07×</a:t>
            </a:r>
            <a:r>
              <a:rPr lang="en-US" sz="1400" dirty="0">
                <a:solidFill>
                  <a:srgbClr val="1E2A32"/>
                </a:solidFill>
                <a:latin typeface="Calibri" pitchFamily="34" charset="0"/>
                <a:ea typeface="Calibri" pitchFamily="34" charset="-122"/>
                <a:cs typeface="Calibri" pitchFamily="34" charset="-120"/>
              </a:rPr>
              <a:t> over 265 cases</a:t>
            </a:r>
            <a:endParaRPr lang="en-US" sz="1400" dirty="0"/>
          </a:p>
          <a:p>
            <a:pPr marL="203200" indent="-203200">
              <a:spcAft>
                <a:spcPts val="600"/>
              </a:spcAft>
              <a:buSzPct val="100000"/>
              <a:buChar char="•"/>
            </a:pPr>
            <a:r>
              <a:rPr lang="en-US" sz="1400" b="1" dirty="0">
                <a:solidFill>
                  <a:srgbClr val="1E2A32"/>
                </a:solidFill>
                <a:latin typeface="Calibri" pitchFamily="34" charset="0"/>
                <a:ea typeface="Calibri" pitchFamily="34" charset="-122"/>
                <a:cs typeface="Calibri" pitchFamily="34" charset="-120"/>
              </a:rPr>
              <a:t>Fixes many</a:t>
            </a:r>
            <a:r>
              <a:rPr lang="en-US" sz="1400" dirty="0">
                <a:solidFill>
                  <a:srgbClr val="1E2A32"/>
                </a:solidFill>
                <a:latin typeface="Calibri" pitchFamily="34" charset="0"/>
                <a:ea typeface="Calibri" pitchFamily="34" charset="-122"/>
                <a:cs typeface="Calibri" pitchFamily="34" charset="-120"/>
              </a:rPr>
              <a:t> pre-existing layout bugs in Triton</a:t>
            </a:r>
            <a:endParaRPr lang="en-US" sz="1400" dirty="0"/>
          </a:p>
        </p:txBody>
      </p:sp>
      <p:sp>
        <p:nvSpPr>
          <p:cNvPr id="32" name="tag"/>
          <p:cNvSpPr txBox="1"/>
          <p:nvPr/>
        </p:nvSpPr>
        <p:spPr>
          <a:xfrm>
            <a:off x="9272016" y="4709160"/>
            <a:ext cx="160020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In this talk: §6</a:t>
            </a:r>
            <a:endParaRPr lang="en-US" sz="1100" dirty="0"/>
          </a:p>
        </p:txBody>
      </p:sp>
      <p:sp>
        <p:nvSpPr>
          <p:cNvPr id="33" name="callout"/>
          <p:cNvSpPr/>
          <p:nvPr/>
        </p:nvSpPr>
        <p:spPr>
          <a:xfrm>
            <a:off x="502920" y="5303520"/>
            <a:ext cx="11201400" cy="640080"/>
          </a:xfrm>
          <a:prstGeom prst="roundRect">
            <a:avLst>
              <a:gd name="adj" fmla="val 11429"/>
            </a:avLst>
          </a:prstGeom>
          <a:solidFill>
            <a:srgbClr val="DDEFF1"/>
          </a:solidFill>
          <a:ln/>
        </p:spPr>
      </p:sp>
      <p:sp>
        <p:nvSpPr>
          <p:cNvPr id="34" name="callout-text"/>
          <p:cNvSpPr txBox="1"/>
          <p:nvPr/>
        </p:nvSpPr>
        <p:spPr>
          <a:xfrm>
            <a:off x="640080" y="5358384"/>
            <a:ext cx="10927080" cy="530352"/>
          </a:xfrm>
          <a:prstGeom prst="rect">
            <a:avLst/>
          </a:prstGeom>
          <a:noFill/>
          <a:ln/>
        </p:spPr>
        <p:txBody>
          <a:bodyPr wrap="square" lIns="0" tIns="0" rIns="0" bIns="0" rtlCol="0" anchor="ctr"/>
          <a:lstStyle/>
          <a:p>
            <a:pPr algn="ctr" indent="0" marL="0">
              <a:buNone/>
            </a:pPr>
            <a:r>
              <a:rPr lang="en-US" sz="1800" dirty="0">
                <a:solidFill>
                  <a:srgbClr val="0A4F58"/>
                </a:solidFill>
                <a:latin typeface="Calibri" pitchFamily="34" charset="0"/>
                <a:ea typeface="Calibri" pitchFamily="34" charset="-122"/>
                <a:cs typeface="Calibri" pitchFamily="34" charset="-120"/>
              </a:rPr>
              <a:t>“One composable representation instead of case-by-case layout conversion code.”</a:t>
            </a:r>
            <a:endParaRPr lang="en-US" sz="18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MOTIVATION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Same 16×16 tensor, two different layouts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Figure 1 and §1 Introduction, p. 133</a:t>
            </a:r>
            <a:endParaRPr lang="en-US" sz="1000" dirty="0"/>
          </a:p>
        </p:txBody>
      </p:sp>
      <p:pic>
        <p:nvPicPr>
          <p:cNvPr id="6" name="fig-fig1" descr="Figure 1: Layout A and Layout B for a 16x16 tensor">    </p:cNvPr>
          <p:cNvPicPr>
            <a:picLocks noChangeAspect="1"/>
          </p:cNvPicPr>
          <p:nvPr/>
        </p:nvPicPr>
        <p:blipFill>
          <a:blip r:embed="rId1"/>
          <a:stretch>
            <a:fillRect/>
          </a:stretch>
        </p:blipFill>
        <p:spPr>
          <a:xfrm>
            <a:off x="502920" y="1652181"/>
            <a:ext cx="6766560" cy="3370759"/>
          </a:xfrm>
          <a:prstGeom prst="rect">
            <a:avLst/>
          </a:prstGeom>
        </p:spPr>
      </p:pic>
      <p:sp>
        <p:nvSpPr>
          <p:cNvPr id="7" name="caption"/>
          <p:cNvSpPr txBox="1"/>
          <p:nvPr/>
        </p:nvSpPr>
        <p:spPr>
          <a:xfrm>
            <a:off x="502920" y="5068659"/>
            <a:ext cx="676656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1.</a:t>
            </a:r>
            <a:r>
              <a:rPr lang="en-US" sz="1100" dirty="0">
                <a:solidFill>
                  <a:srgbClr val="5B6770"/>
                </a:solidFill>
                <a:latin typeface="Calibri" pitchFamily="34" charset="0"/>
                <a:ea typeface="Calibri" pitchFamily="34" charset="-122"/>
                <a:cs typeface="Calibri" pitchFamily="34" charset="-120"/>
              </a:rPr>
              <a:t> Two layouts storing a 16×16 tensor using two warps (wᵢ warp, tⱼ thread, rₖ register).</a:t>
            </a:r>
            <a:endParaRPr lang="en-US" sz="1100" dirty="0"/>
          </a:p>
        </p:txBody>
      </p:sp>
      <p:sp>
        <p:nvSpPr>
          <p:cNvPr id="8" name="bullets"/>
          <p:cNvSpPr txBox="1"/>
          <p:nvPr/>
        </p:nvSpPr>
        <p:spPr>
          <a:xfrm>
            <a:off x="7589520" y="1371600"/>
            <a:ext cx="4114800" cy="4023360"/>
          </a:xfrm>
          <a:prstGeom prst="rect">
            <a:avLst/>
          </a:prstGeom>
          <a:noFill/>
          <a:ln/>
        </p:spPr>
        <p:txBody>
          <a:bodyPr wrap="square" lIns="25400" tIns="25400" rIns="25400" bIns="25400" rtlCol="0" anchor="t"/>
          <a:lstStyle/>
          <a:p>
            <a:pPr marL="203200" indent="-203200">
              <a:spcAft>
                <a:spcPts val="1000"/>
              </a:spcAft>
              <a:buSzPct val="100000"/>
              <a:buChar char="•"/>
            </a:pPr>
            <a:r>
              <a:rPr lang="en-US" sz="1600" dirty="0">
                <a:solidFill>
                  <a:srgbClr val="1E2A32"/>
                </a:solidFill>
                <a:latin typeface="Calibri" pitchFamily="34" charset="0"/>
                <a:ea typeface="Calibri" pitchFamily="34" charset="-122"/>
                <a:cs typeface="Calibri" pitchFamily="34" charset="-120"/>
              </a:rPr>
              <a:t>A logical shape does </a:t>
            </a:r>
            <a:r>
              <a:rPr lang="en-US" sz="1600" b="1" dirty="0">
                <a:solidFill>
                  <a:srgbClr val="1E2A32"/>
                </a:solidFill>
                <a:latin typeface="Calibri" pitchFamily="34" charset="0"/>
                <a:ea typeface="Calibri" pitchFamily="34" charset="-122"/>
                <a:cs typeface="Calibri" pitchFamily="34" charset="-120"/>
              </a:rPr>
              <a:t>not</a:t>
            </a:r>
            <a:r>
              <a:rPr lang="en-US" sz="1600" dirty="0">
                <a:solidFill>
                  <a:srgbClr val="1E2A32"/>
                </a:solidFill>
                <a:latin typeface="Calibri" pitchFamily="34" charset="0"/>
                <a:ea typeface="Calibri" pitchFamily="34" charset="-122"/>
                <a:cs typeface="Calibri" pitchFamily="34" charset="-120"/>
              </a:rPr>
              <a:t> determine who holds which element.</a:t>
            </a:r>
            <a:endParaRPr lang="en-US" sz="1600" dirty="0"/>
          </a:p>
          <a:p>
            <a:pPr marL="203200" indent="-203200">
              <a:spcAft>
                <a:spcPts val="1000"/>
              </a:spcAft>
              <a:buSzPct val="100000"/>
              <a:buChar char="•"/>
            </a:pPr>
            <a:r>
              <a:rPr lang="en-US" sz="1600" b="1" dirty="0">
                <a:solidFill>
                  <a:srgbClr val="1E2A32"/>
                </a:solidFill>
                <a:latin typeface="Calibri" pitchFamily="34" charset="0"/>
                <a:ea typeface="Calibri" pitchFamily="34" charset="-122"/>
                <a:cs typeface="Calibri" pitchFamily="34" charset="-120"/>
              </a:rPr>
              <a:t>Layout A:</a:t>
            </a:r>
            <a:r>
              <a:rPr lang="en-US" sz="1600" dirty="0">
                <a:solidFill>
                  <a:srgbClr val="1E2A32"/>
                </a:solidFill>
                <a:latin typeface="Calibri" pitchFamily="34" charset="0"/>
                <a:ea typeface="Calibri" pitchFamily="34" charset="-122"/>
                <a:cs typeface="Calibri" pitchFamily="34" charset="-120"/>
              </a:rPr>
              <a:t> each thread owns a 2×2 tile; threads tile rows of 8 → coalesced reads for a row-major tensor.</a:t>
            </a:r>
            <a:endParaRPr lang="en-US" sz="1600" dirty="0"/>
          </a:p>
          <a:p>
            <a:pPr marL="203200" indent="-203200">
              <a:spcAft>
                <a:spcPts val="1000"/>
              </a:spcAft>
              <a:buSzPct val="100000"/>
              <a:buChar char="•"/>
            </a:pPr>
            <a:r>
              <a:rPr lang="en-US" sz="1600" b="1" dirty="0">
                <a:solidFill>
                  <a:srgbClr val="1E2A32"/>
                </a:solidFill>
                <a:latin typeface="Calibri" pitchFamily="34" charset="0"/>
                <a:ea typeface="Calibri" pitchFamily="34" charset="-122"/>
                <a:cs typeface="Calibri" pitchFamily="34" charset="-120"/>
              </a:rPr>
              <a:t>Layout B:</a:t>
            </a:r>
            <a:r>
              <a:rPr lang="en-US" sz="1600" dirty="0">
                <a:solidFill>
                  <a:srgbClr val="1E2A32"/>
                </a:solidFill>
                <a:latin typeface="Calibri" pitchFamily="34" charset="0"/>
                <a:ea typeface="Calibri" pitchFamily="34" charset="-122"/>
                <a:cs typeface="Calibri" pitchFamily="34" charset="-120"/>
              </a:rPr>
              <a:t> the same values with threads running down columns → access efficiency changes.</a:t>
            </a:r>
            <a:endParaRPr lang="en-US" sz="1600" dirty="0"/>
          </a:p>
          <a:p>
            <a:pPr marL="203200" indent="-203200">
              <a:spcAft>
                <a:spcPts val="1000"/>
              </a:spcAft>
              <a:buSzPct val="100000"/>
              <a:buChar char="•"/>
            </a:pPr>
            <a:r>
              <a:rPr lang="en-US" sz="1600" dirty="0">
                <a:solidFill>
                  <a:srgbClr val="1E2A32"/>
                </a:solidFill>
                <a:latin typeface="Calibri" pitchFamily="34" charset="0"/>
                <a:ea typeface="Calibri" pitchFamily="34" charset="-122"/>
                <a:cs typeface="Calibri" pitchFamily="34" charset="-120"/>
              </a:rPr>
              <a:t>A layout = a </a:t>
            </a:r>
            <a:r>
              <a:rPr lang="en-US" sz="1600" b="1" dirty="0">
                <a:solidFill>
                  <a:srgbClr val="1E2A32"/>
                </a:solidFill>
                <a:latin typeface="Calibri" pitchFamily="34" charset="0"/>
                <a:ea typeface="Calibri" pitchFamily="34" charset="-122"/>
                <a:cs typeface="Calibri" pitchFamily="34" charset="-120"/>
              </a:rPr>
              <a:t>mapping from hardware locations to tensor elements</a:t>
            </a:r>
            <a:r>
              <a:rPr lang="en-US" sz="1600" dirty="0">
                <a:solidFill>
                  <a:srgbClr val="1E2A32"/>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MOTIVATION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Why the legacy approach is painful</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§1 Introduction and Figure 2, pp. 132–133; §3 Overview, p. 135</a:t>
            </a:r>
            <a:endParaRPr lang="en-US" sz="1000" dirty="0"/>
          </a:p>
        </p:txBody>
      </p:sp>
      <p:sp>
        <p:nvSpPr>
          <p:cNvPr id="6" name="bullets"/>
          <p:cNvSpPr txBox="1"/>
          <p:nvPr/>
        </p:nvSpPr>
        <p:spPr>
          <a:xfrm>
            <a:off x="502920" y="1325880"/>
            <a:ext cx="5669280" cy="2377440"/>
          </a:xfrm>
          <a:prstGeom prst="rect">
            <a:avLst/>
          </a:prstGeom>
          <a:noFill/>
          <a:ln/>
        </p:spPr>
        <p:txBody>
          <a:bodyPr wrap="square" lIns="25400" tIns="25400" rIns="25400" bIns="25400" rtlCol="0" anchor="t"/>
          <a:lstStyle/>
          <a:p>
            <a:pPr marL="203200" indent="-203200">
              <a:spcAft>
                <a:spcPts val="800"/>
              </a:spcAft>
              <a:buSzPct val="100000"/>
              <a:buChar char="•"/>
            </a:pPr>
            <a:r>
              <a:rPr lang="en-US" sz="1600" dirty="0">
                <a:solidFill>
                  <a:srgbClr val="1E2A32"/>
                </a:solidFill>
                <a:latin typeface="Calibri" pitchFamily="34" charset="0"/>
                <a:ea typeface="Calibri" pitchFamily="34" charset="-122"/>
                <a:cs typeface="Calibri" pitchFamily="34" charset="-120"/>
              </a:rPr>
              <a:t>Legacy layouts are </a:t>
            </a:r>
            <a:r>
              <a:rPr lang="en-US" sz="1600" b="1" dirty="0">
                <a:solidFill>
                  <a:srgbClr val="1E2A32"/>
                </a:solidFill>
                <a:latin typeface="Calibri" pitchFamily="34" charset="0"/>
                <a:ea typeface="Calibri" pitchFamily="34" charset="-122"/>
                <a:cs typeface="Calibri" pitchFamily="34" charset="-120"/>
              </a:rPr>
              <a:t>separate types</a:t>
            </a:r>
            <a:r>
              <a:rPr lang="en-US" sz="1600" dirty="0">
                <a:solidFill>
                  <a:srgbClr val="1E2A32"/>
                </a:solidFill>
                <a:latin typeface="Calibri" pitchFamily="34" charset="0"/>
                <a:ea typeface="Calibri" pitchFamily="34" charset="-122"/>
                <a:cs typeface="Calibri" pitchFamily="34" charset="-120"/>
              </a:rPr>
              <a:t>: Blocked, Sliced, MMA, MMA Input, Unswizzled, Swizzled.</a:t>
            </a:r>
            <a:endParaRPr lang="en-US" sz="1600" dirty="0"/>
          </a:p>
          <a:p>
            <a:pPr marL="203200" indent="-203200">
              <a:spcAft>
                <a:spcPts val="800"/>
              </a:spcAft>
              <a:buSzPct val="100000"/>
              <a:buChar char="•"/>
            </a:pPr>
            <a:r>
              <a:rPr lang="en-US" sz="1600" dirty="0">
                <a:solidFill>
                  <a:srgbClr val="1E2A32"/>
                </a:solidFill>
                <a:latin typeface="Calibri" pitchFamily="34" charset="0"/>
                <a:ea typeface="Calibri" pitchFamily="34" charset="-122"/>
                <a:cs typeface="Calibri" pitchFamily="34" charset="-120"/>
              </a:rPr>
              <a:t>Each type implements its own properties, indexing and conversions </a:t>
            </a:r>
            <a:r>
              <a:rPr lang="en-US" sz="1600" b="1" dirty="0">
                <a:solidFill>
                  <a:srgbClr val="1E2A32"/>
                </a:solidFill>
                <a:latin typeface="Calibri" pitchFamily="34" charset="0"/>
                <a:ea typeface="Calibri" pitchFamily="34" charset="-122"/>
                <a:cs typeface="Calibri" pitchFamily="34" charset="-120"/>
              </a:rPr>
              <a:t>case by case</a:t>
            </a:r>
            <a:r>
              <a:rPr lang="en-US" sz="1600" dirty="0">
                <a:solidFill>
                  <a:srgbClr val="1E2A32"/>
                </a:solidFill>
                <a:latin typeface="Calibri" pitchFamily="34" charset="0"/>
                <a:ea typeface="Calibri" pitchFamily="34" charset="-122"/>
                <a:cs typeface="Calibri" pitchFamily="34" charset="-120"/>
              </a:rPr>
              <a:t>.</a:t>
            </a:r>
            <a:endParaRPr lang="en-US" sz="1600" dirty="0"/>
          </a:p>
          <a:p>
            <a:pPr marL="203200" indent="-203200">
              <a:spcAft>
                <a:spcPts val="800"/>
              </a:spcAft>
              <a:buSzPct val="100000"/>
              <a:buChar char="•"/>
            </a:pPr>
            <a:r>
              <a:rPr lang="en-US" sz="1600" dirty="0">
                <a:solidFill>
                  <a:srgbClr val="1E2A32"/>
                </a:solidFill>
                <a:latin typeface="Calibri" pitchFamily="34" charset="0"/>
                <a:ea typeface="Calibri" pitchFamily="34" charset="-122"/>
                <a:cs typeface="Calibri" pitchFamily="34" charset="-120"/>
              </a:rPr>
              <a:t>New layouts multiply maintenance and correctness burden — the paper reports </a:t>
            </a:r>
            <a:r>
              <a:rPr lang="en-US" sz="1600" b="1" dirty="0">
                <a:solidFill>
                  <a:srgbClr val="1E2A32"/>
                </a:solidFill>
                <a:latin typeface="Calibri" pitchFamily="34" charset="0"/>
                <a:ea typeface="Calibri" pitchFamily="34" charset="-122"/>
                <a:cs typeface="Calibri" pitchFamily="34" charset="-120"/>
              </a:rPr>
              <a:t>12%</a:t>
            </a:r>
            <a:r>
              <a:rPr lang="en-US" sz="1600" dirty="0">
                <a:solidFill>
                  <a:srgbClr val="1E2A32"/>
                </a:solidFill>
                <a:latin typeface="Calibri" pitchFamily="34" charset="0"/>
                <a:ea typeface="Calibri" pitchFamily="34" charset="-122"/>
                <a:cs typeface="Calibri" pitchFamily="34" charset="-120"/>
              </a:rPr>
              <a:t> of Triton bugs filed were layout-related.</a:t>
            </a:r>
            <a:endParaRPr lang="en-US" sz="1600" dirty="0"/>
          </a:p>
        </p:txBody>
      </p:sp>
      <p:sp>
        <p:nvSpPr>
          <p:cNvPr id="7" name="Text 4"/>
          <p:cNvSpPr txBox="1"/>
          <p:nvPr/>
        </p:nvSpPr>
        <p:spPr>
          <a:xfrm>
            <a:off x="1033272" y="4069080"/>
            <a:ext cx="50292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Blk</a:t>
            </a:r>
            <a:endParaRPr lang="en-US" sz="1000" dirty="0"/>
          </a:p>
        </p:txBody>
      </p:sp>
      <p:sp>
        <p:nvSpPr>
          <p:cNvPr id="8" name="Text 5"/>
          <p:cNvSpPr txBox="1"/>
          <p:nvPr/>
        </p:nvSpPr>
        <p:spPr>
          <a:xfrm>
            <a:off x="1508760" y="3822192"/>
            <a:ext cx="457200" cy="228600"/>
          </a:xfrm>
          <a:prstGeom prst="rect">
            <a:avLst/>
          </a:prstGeom>
          <a:noFill/>
          <a:ln/>
        </p:spPr>
        <p:txBody>
          <a:bodyPr wrap="square" lIns="0" tIns="0" rIns="0" bIns="0" rtlCol="0" anchor="b"/>
          <a:lstStyle/>
          <a:p>
            <a:pPr algn="ctr" indent="0" marL="0">
              <a:buNone/>
            </a:pPr>
            <a:r>
              <a:rPr lang="en-US" sz="900" dirty="0">
                <a:solidFill>
                  <a:srgbClr val="5B6770"/>
                </a:solidFill>
                <a:latin typeface="Calibri" pitchFamily="34" charset="0"/>
                <a:ea typeface="Calibri" pitchFamily="34" charset="-122"/>
                <a:cs typeface="Calibri" pitchFamily="34" charset="-120"/>
              </a:rPr>
              <a:t>Blk</a:t>
            </a:r>
            <a:endParaRPr lang="en-US" sz="900" dirty="0"/>
          </a:p>
        </p:txBody>
      </p:sp>
      <p:sp>
        <p:nvSpPr>
          <p:cNvPr id="9" name="pair"/>
          <p:cNvSpPr/>
          <p:nvPr/>
        </p:nvSpPr>
        <p:spPr>
          <a:xfrm>
            <a:off x="1627632" y="4096512"/>
            <a:ext cx="219456" cy="219456"/>
          </a:xfrm>
          <a:prstGeom prst="rect">
            <a:avLst/>
          </a:prstGeom>
          <a:solidFill>
            <a:srgbClr val="FFFFFF"/>
          </a:solidFill>
          <a:ln w="6350">
            <a:solidFill>
              <a:srgbClr val="D3DADF"/>
            </a:solidFill>
            <a:prstDash val="solid"/>
          </a:ln>
        </p:spPr>
      </p:sp>
      <p:sp>
        <p:nvSpPr>
          <p:cNvPr id="10" name="pair"/>
          <p:cNvSpPr/>
          <p:nvPr/>
        </p:nvSpPr>
        <p:spPr>
          <a:xfrm>
            <a:off x="1901952" y="4096512"/>
            <a:ext cx="219456" cy="219456"/>
          </a:xfrm>
          <a:prstGeom prst="rect">
            <a:avLst/>
          </a:prstGeom>
          <a:solidFill>
            <a:srgbClr val="DDEFF1"/>
          </a:solidFill>
          <a:ln w="6350">
            <a:solidFill>
              <a:srgbClr val="D3DADF"/>
            </a:solidFill>
            <a:prstDash val="solid"/>
          </a:ln>
        </p:spPr>
      </p:sp>
      <p:sp>
        <p:nvSpPr>
          <p:cNvPr id="11" name="pair"/>
          <p:cNvSpPr/>
          <p:nvPr/>
        </p:nvSpPr>
        <p:spPr>
          <a:xfrm>
            <a:off x="2176272" y="4096512"/>
            <a:ext cx="219456" cy="219456"/>
          </a:xfrm>
          <a:prstGeom prst="rect">
            <a:avLst/>
          </a:prstGeom>
          <a:solidFill>
            <a:srgbClr val="DDEFF1"/>
          </a:solidFill>
          <a:ln w="6350">
            <a:solidFill>
              <a:srgbClr val="D3DADF"/>
            </a:solidFill>
            <a:prstDash val="solid"/>
          </a:ln>
        </p:spPr>
      </p:sp>
      <p:sp>
        <p:nvSpPr>
          <p:cNvPr id="12" name="pair"/>
          <p:cNvSpPr/>
          <p:nvPr/>
        </p:nvSpPr>
        <p:spPr>
          <a:xfrm>
            <a:off x="2450592" y="4096512"/>
            <a:ext cx="219456" cy="219456"/>
          </a:xfrm>
          <a:prstGeom prst="rect">
            <a:avLst/>
          </a:prstGeom>
          <a:solidFill>
            <a:srgbClr val="DDEFF1"/>
          </a:solidFill>
          <a:ln w="6350">
            <a:solidFill>
              <a:srgbClr val="D3DADF"/>
            </a:solidFill>
            <a:prstDash val="solid"/>
          </a:ln>
        </p:spPr>
      </p:sp>
      <p:sp>
        <p:nvSpPr>
          <p:cNvPr id="13" name="pair"/>
          <p:cNvSpPr/>
          <p:nvPr/>
        </p:nvSpPr>
        <p:spPr>
          <a:xfrm>
            <a:off x="2724912" y="4096512"/>
            <a:ext cx="219456" cy="219456"/>
          </a:xfrm>
          <a:prstGeom prst="rect">
            <a:avLst/>
          </a:prstGeom>
          <a:solidFill>
            <a:srgbClr val="DDEFF1"/>
          </a:solidFill>
          <a:ln w="6350">
            <a:solidFill>
              <a:srgbClr val="D3DADF"/>
            </a:solidFill>
            <a:prstDash val="solid"/>
          </a:ln>
        </p:spPr>
      </p:sp>
      <p:sp>
        <p:nvSpPr>
          <p:cNvPr id="14" name="pair"/>
          <p:cNvSpPr/>
          <p:nvPr/>
        </p:nvSpPr>
        <p:spPr>
          <a:xfrm>
            <a:off x="2999232" y="4096512"/>
            <a:ext cx="219456" cy="219456"/>
          </a:xfrm>
          <a:prstGeom prst="rect">
            <a:avLst/>
          </a:prstGeom>
          <a:solidFill>
            <a:srgbClr val="DDEFF1"/>
          </a:solidFill>
          <a:ln w="6350">
            <a:solidFill>
              <a:srgbClr val="D3DADF"/>
            </a:solidFill>
            <a:prstDash val="solid"/>
          </a:ln>
        </p:spPr>
      </p:sp>
      <p:sp>
        <p:nvSpPr>
          <p:cNvPr id="15" name="Text 12"/>
          <p:cNvSpPr txBox="1"/>
          <p:nvPr/>
        </p:nvSpPr>
        <p:spPr>
          <a:xfrm>
            <a:off x="1033272" y="4343400"/>
            <a:ext cx="50292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Slc</a:t>
            </a:r>
            <a:endParaRPr lang="en-US" sz="1000" dirty="0"/>
          </a:p>
        </p:txBody>
      </p:sp>
      <p:sp>
        <p:nvSpPr>
          <p:cNvPr id="16" name="Text 13"/>
          <p:cNvSpPr txBox="1"/>
          <p:nvPr/>
        </p:nvSpPr>
        <p:spPr>
          <a:xfrm>
            <a:off x="1783080" y="3822192"/>
            <a:ext cx="457200" cy="228600"/>
          </a:xfrm>
          <a:prstGeom prst="rect">
            <a:avLst/>
          </a:prstGeom>
          <a:noFill/>
          <a:ln/>
        </p:spPr>
        <p:txBody>
          <a:bodyPr wrap="square" lIns="0" tIns="0" rIns="0" bIns="0" rtlCol="0" anchor="b"/>
          <a:lstStyle/>
          <a:p>
            <a:pPr algn="ctr" indent="0" marL="0">
              <a:buNone/>
            </a:pPr>
            <a:r>
              <a:rPr lang="en-US" sz="900" dirty="0">
                <a:solidFill>
                  <a:srgbClr val="5B6770"/>
                </a:solidFill>
                <a:latin typeface="Calibri" pitchFamily="34" charset="0"/>
                <a:ea typeface="Calibri" pitchFamily="34" charset="-122"/>
                <a:cs typeface="Calibri" pitchFamily="34" charset="-120"/>
              </a:rPr>
              <a:t>Slc</a:t>
            </a:r>
            <a:endParaRPr lang="en-US" sz="900" dirty="0"/>
          </a:p>
        </p:txBody>
      </p:sp>
      <p:sp>
        <p:nvSpPr>
          <p:cNvPr id="17" name="pair"/>
          <p:cNvSpPr/>
          <p:nvPr/>
        </p:nvSpPr>
        <p:spPr>
          <a:xfrm>
            <a:off x="1627632" y="4370832"/>
            <a:ext cx="219456" cy="219456"/>
          </a:xfrm>
          <a:prstGeom prst="rect">
            <a:avLst/>
          </a:prstGeom>
          <a:solidFill>
            <a:srgbClr val="DDEFF1"/>
          </a:solidFill>
          <a:ln w="6350">
            <a:solidFill>
              <a:srgbClr val="D3DADF"/>
            </a:solidFill>
            <a:prstDash val="solid"/>
          </a:ln>
        </p:spPr>
      </p:sp>
      <p:sp>
        <p:nvSpPr>
          <p:cNvPr id="18" name="pair"/>
          <p:cNvSpPr/>
          <p:nvPr/>
        </p:nvSpPr>
        <p:spPr>
          <a:xfrm>
            <a:off x="1901952" y="4370832"/>
            <a:ext cx="219456" cy="219456"/>
          </a:xfrm>
          <a:prstGeom prst="rect">
            <a:avLst/>
          </a:prstGeom>
          <a:solidFill>
            <a:srgbClr val="FFFFFF"/>
          </a:solidFill>
          <a:ln w="6350">
            <a:solidFill>
              <a:srgbClr val="D3DADF"/>
            </a:solidFill>
            <a:prstDash val="solid"/>
          </a:ln>
        </p:spPr>
      </p:sp>
      <p:sp>
        <p:nvSpPr>
          <p:cNvPr id="19" name="pair"/>
          <p:cNvSpPr/>
          <p:nvPr/>
        </p:nvSpPr>
        <p:spPr>
          <a:xfrm>
            <a:off x="2176272" y="4370832"/>
            <a:ext cx="219456" cy="219456"/>
          </a:xfrm>
          <a:prstGeom prst="rect">
            <a:avLst/>
          </a:prstGeom>
          <a:solidFill>
            <a:srgbClr val="DDEFF1"/>
          </a:solidFill>
          <a:ln w="6350">
            <a:solidFill>
              <a:srgbClr val="D3DADF"/>
            </a:solidFill>
            <a:prstDash val="solid"/>
          </a:ln>
        </p:spPr>
      </p:sp>
      <p:sp>
        <p:nvSpPr>
          <p:cNvPr id="20" name="pair"/>
          <p:cNvSpPr/>
          <p:nvPr/>
        </p:nvSpPr>
        <p:spPr>
          <a:xfrm>
            <a:off x="2450592" y="4370832"/>
            <a:ext cx="219456" cy="219456"/>
          </a:xfrm>
          <a:prstGeom prst="rect">
            <a:avLst/>
          </a:prstGeom>
          <a:solidFill>
            <a:srgbClr val="DDEFF1"/>
          </a:solidFill>
          <a:ln w="6350">
            <a:solidFill>
              <a:srgbClr val="D3DADF"/>
            </a:solidFill>
            <a:prstDash val="solid"/>
          </a:ln>
        </p:spPr>
      </p:sp>
      <p:sp>
        <p:nvSpPr>
          <p:cNvPr id="21" name="pair"/>
          <p:cNvSpPr/>
          <p:nvPr/>
        </p:nvSpPr>
        <p:spPr>
          <a:xfrm>
            <a:off x="2724912" y="4370832"/>
            <a:ext cx="219456" cy="219456"/>
          </a:xfrm>
          <a:prstGeom prst="rect">
            <a:avLst/>
          </a:prstGeom>
          <a:solidFill>
            <a:srgbClr val="DDEFF1"/>
          </a:solidFill>
          <a:ln w="6350">
            <a:solidFill>
              <a:srgbClr val="D3DADF"/>
            </a:solidFill>
            <a:prstDash val="solid"/>
          </a:ln>
        </p:spPr>
      </p:sp>
      <p:sp>
        <p:nvSpPr>
          <p:cNvPr id="22" name="pair"/>
          <p:cNvSpPr/>
          <p:nvPr/>
        </p:nvSpPr>
        <p:spPr>
          <a:xfrm>
            <a:off x="2999232" y="4370832"/>
            <a:ext cx="219456" cy="219456"/>
          </a:xfrm>
          <a:prstGeom prst="rect">
            <a:avLst/>
          </a:prstGeom>
          <a:solidFill>
            <a:srgbClr val="DDEFF1"/>
          </a:solidFill>
          <a:ln w="6350">
            <a:solidFill>
              <a:srgbClr val="D3DADF"/>
            </a:solidFill>
            <a:prstDash val="solid"/>
          </a:ln>
        </p:spPr>
      </p:sp>
      <p:sp>
        <p:nvSpPr>
          <p:cNvPr id="23" name="Text 20"/>
          <p:cNvSpPr txBox="1"/>
          <p:nvPr/>
        </p:nvSpPr>
        <p:spPr>
          <a:xfrm>
            <a:off x="1033272" y="4617720"/>
            <a:ext cx="50292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MMA</a:t>
            </a:r>
            <a:endParaRPr lang="en-US" sz="1000" dirty="0"/>
          </a:p>
        </p:txBody>
      </p:sp>
      <p:sp>
        <p:nvSpPr>
          <p:cNvPr id="24" name="Text 21"/>
          <p:cNvSpPr txBox="1"/>
          <p:nvPr/>
        </p:nvSpPr>
        <p:spPr>
          <a:xfrm>
            <a:off x="2057400" y="3822192"/>
            <a:ext cx="457200" cy="228600"/>
          </a:xfrm>
          <a:prstGeom prst="rect">
            <a:avLst/>
          </a:prstGeom>
          <a:noFill/>
          <a:ln/>
        </p:spPr>
        <p:txBody>
          <a:bodyPr wrap="square" lIns="0" tIns="0" rIns="0" bIns="0" rtlCol="0" anchor="b"/>
          <a:lstStyle/>
          <a:p>
            <a:pPr algn="ctr" indent="0" marL="0">
              <a:buNone/>
            </a:pPr>
            <a:r>
              <a:rPr lang="en-US" sz="900" dirty="0">
                <a:solidFill>
                  <a:srgbClr val="5B6770"/>
                </a:solidFill>
                <a:latin typeface="Calibri" pitchFamily="34" charset="0"/>
                <a:ea typeface="Calibri" pitchFamily="34" charset="-122"/>
                <a:cs typeface="Calibri" pitchFamily="34" charset="-120"/>
              </a:rPr>
              <a:t>MMA</a:t>
            </a:r>
            <a:endParaRPr lang="en-US" sz="900" dirty="0"/>
          </a:p>
        </p:txBody>
      </p:sp>
      <p:sp>
        <p:nvSpPr>
          <p:cNvPr id="25" name="pair"/>
          <p:cNvSpPr/>
          <p:nvPr/>
        </p:nvSpPr>
        <p:spPr>
          <a:xfrm>
            <a:off x="1627632" y="4645152"/>
            <a:ext cx="219456" cy="219456"/>
          </a:xfrm>
          <a:prstGeom prst="rect">
            <a:avLst/>
          </a:prstGeom>
          <a:solidFill>
            <a:srgbClr val="DDEFF1"/>
          </a:solidFill>
          <a:ln w="6350">
            <a:solidFill>
              <a:srgbClr val="D3DADF"/>
            </a:solidFill>
            <a:prstDash val="solid"/>
          </a:ln>
        </p:spPr>
      </p:sp>
      <p:sp>
        <p:nvSpPr>
          <p:cNvPr id="26" name="pair"/>
          <p:cNvSpPr/>
          <p:nvPr/>
        </p:nvSpPr>
        <p:spPr>
          <a:xfrm>
            <a:off x="1901952" y="4645152"/>
            <a:ext cx="219456" cy="219456"/>
          </a:xfrm>
          <a:prstGeom prst="rect">
            <a:avLst/>
          </a:prstGeom>
          <a:solidFill>
            <a:srgbClr val="DDEFF1"/>
          </a:solidFill>
          <a:ln w="6350">
            <a:solidFill>
              <a:srgbClr val="D3DADF"/>
            </a:solidFill>
            <a:prstDash val="solid"/>
          </a:ln>
        </p:spPr>
      </p:sp>
      <p:sp>
        <p:nvSpPr>
          <p:cNvPr id="27" name="pair"/>
          <p:cNvSpPr/>
          <p:nvPr/>
        </p:nvSpPr>
        <p:spPr>
          <a:xfrm>
            <a:off x="2176272" y="4645152"/>
            <a:ext cx="219456" cy="219456"/>
          </a:xfrm>
          <a:prstGeom prst="rect">
            <a:avLst/>
          </a:prstGeom>
          <a:solidFill>
            <a:srgbClr val="FFFFFF"/>
          </a:solidFill>
          <a:ln w="6350">
            <a:solidFill>
              <a:srgbClr val="D3DADF"/>
            </a:solidFill>
            <a:prstDash val="solid"/>
          </a:ln>
        </p:spPr>
      </p:sp>
      <p:sp>
        <p:nvSpPr>
          <p:cNvPr id="28" name="pair"/>
          <p:cNvSpPr/>
          <p:nvPr/>
        </p:nvSpPr>
        <p:spPr>
          <a:xfrm>
            <a:off x="2450592" y="4645152"/>
            <a:ext cx="219456" cy="219456"/>
          </a:xfrm>
          <a:prstGeom prst="rect">
            <a:avLst/>
          </a:prstGeom>
          <a:solidFill>
            <a:srgbClr val="DDEFF1"/>
          </a:solidFill>
          <a:ln w="6350">
            <a:solidFill>
              <a:srgbClr val="D3DADF"/>
            </a:solidFill>
            <a:prstDash val="solid"/>
          </a:ln>
        </p:spPr>
      </p:sp>
      <p:sp>
        <p:nvSpPr>
          <p:cNvPr id="29" name="pair"/>
          <p:cNvSpPr/>
          <p:nvPr/>
        </p:nvSpPr>
        <p:spPr>
          <a:xfrm>
            <a:off x="2724912" y="4645152"/>
            <a:ext cx="219456" cy="219456"/>
          </a:xfrm>
          <a:prstGeom prst="rect">
            <a:avLst/>
          </a:prstGeom>
          <a:solidFill>
            <a:srgbClr val="DDEFF1"/>
          </a:solidFill>
          <a:ln w="6350">
            <a:solidFill>
              <a:srgbClr val="D3DADF"/>
            </a:solidFill>
            <a:prstDash val="solid"/>
          </a:ln>
        </p:spPr>
      </p:sp>
      <p:sp>
        <p:nvSpPr>
          <p:cNvPr id="30" name="pair"/>
          <p:cNvSpPr/>
          <p:nvPr/>
        </p:nvSpPr>
        <p:spPr>
          <a:xfrm>
            <a:off x="2999232" y="4645152"/>
            <a:ext cx="219456" cy="219456"/>
          </a:xfrm>
          <a:prstGeom prst="rect">
            <a:avLst/>
          </a:prstGeom>
          <a:solidFill>
            <a:srgbClr val="DDEFF1"/>
          </a:solidFill>
          <a:ln w="6350">
            <a:solidFill>
              <a:srgbClr val="D3DADF"/>
            </a:solidFill>
            <a:prstDash val="solid"/>
          </a:ln>
        </p:spPr>
      </p:sp>
      <p:sp>
        <p:nvSpPr>
          <p:cNvPr id="31" name="Text 28"/>
          <p:cNvSpPr txBox="1"/>
          <p:nvPr/>
        </p:nvSpPr>
        <p:spPr>
          <a:xfrm>
            <a:off x="1033272" y="4892040"/>
            <a:ext cx="50292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MMAi</a:t>
            </a:r>
            <a:endParaRPr lang="en-US" sz="1000" dirty="0"/>
          </a:p>
        </p:txBody>
      </p:sp>
      <p:sp>
        <p:nvSpPr>
          <p:cNvPr id="32" name="Text 29"/>
          <p:cNvSpPr txBox="1"/>
          <p:nvPr/>
        </p:nvSpPr>
        <p:spPr>
          <a:xfrm>
            <a:off x="2331720" y="3822192"/>
            <a:ext cx="457200" cy="228600"/>
          </a:xfrm>
          <a:prstGeom prst="rect">
            <a:avLst/>
          </a:prstGeom>
          <a:noFill/>
          <a:ln/>
        </p:spPr>
        <p:txBody>
          <a:bodyPr wrap="square" lIns="0" tIns="0" rIns="0" bIns="0" rtlCol="0" anchor="b"/>
          <a:lstStyle/>
          <a:p>
            <a:pPr algn="ctr" indent="0" marL="0">
              <a:buNone/>
            </a:pPr>
            <a:r>
              <a:rPr lang="en-US" sz="900" dirty="0">
                <a:solidFill>
                  <a:srgbClr val="5B6770"/>
                </a:solidFill>
                <a:latin typeface="Calibri" pitchFamily="34" charset="0"/>
                <a:ea typeface="Calibri" pitchFamily="34" charset="-122"/>
                <a:cs typeface="Calibri" pitchFamily="34" charset="-120"/>
              </a:rPr>
              <a:t>MMAi</a:t>
            </a:r>
            <a:endParaRPr lang="en-US" sz="900" dirty="0"/>
          </a:p>
        </p:txBody>
      </p:sp>
      <p:sp>
        <p:nvSpPr>
          <p:cNvPr id="33" name="pair"/>
          <p:cNvSpPr/>
          <p:nvPr/>
        </p:nvSpPr>
        <p:spPr>
          <a:xfrm>
            <a:off x="1627632" y="4919472"/>
            <a:ext cx="219456" cy="219456"/>
          </a:xfrm>
          <a:prstGeom prst="rect">
            <a:avLst/>
          </a:prstGeom>
          <a:solidFill>
            <a:srgbClr val="DDEFF1"/>
          </a:solidFill>
          <a:ln w="6350">
            <a:solidFill>
              <a:srgbClr val="D3DADF"/>
            </a:solidFill>
            <a:prstDash val="solid"/>
          </a:ln>
        </p:spPr>
      </p:sp>
      <p:sp>
        <p:nvSpPr>
          <p:cNvPr id="34" name="pair"/>
          <p:cNvSpPr/>
          <p:nvPr/>
        </p:nvSpPr>
        <p:spPr>
          <a:xfrm>
            <a:off x="1901952" y="4919472"/>
            <a:ext cx="219456" cy="219456"/>
          </a:xfrm>
          <a:prstGeom prst="rect">
            <a:avLst/>
          </a:prstGeom>
          <a:solidFill>
            <a:srgbClr val="DDEFF1"/>
          </a:solidFill>
          <a:ln w="6350">
            <a:solidFill>
              <a:srgbClr val="D3DADF"/>
            </a:solidFill>
            <a:prstDash val="solid"/>
          </a:ln>
        </p:spPr>
      </p:sp>
      <p:sp>
        <p:nvSpPr>
          <p:cNvPr id="35" name="pair"/>
          <p:cNvSpPr/>
          <p:nvPr/>
        </p:nvSpPr>
        <p:spPr>
          <a:xfrm>
            <a:off x="2176272" y="4919472"/>
            <a:ext cx="219456" cy="219456"/>
          </a:xfrm>
          <a:prstGeom prst="rect">
            <a:avLst/>
          </a:prstGeom>
          <a:solidFill>
            <a:srgbClr val="DDEFF1"/>
          </a:solidFill>
          <a:ln w="6350">
            <a:solidFill>
              <a:srgbClr val="D3DADF"/>
            </a:solidFill>
            <a:prstDash val="solid"/>
          </a:ln>
        </p:spPr>
      </p:sp>
      <p:sp>
        <p:nvSpPr>
          <p:cNvPr id="36" name="pair"/>
          <p:cNvSpPr/>
          <p:nvPr/>
        </p:nvSpPr>
        <p:spPr>
          <a:xfrm>
            <a:off x="2450592" y="4919472"/>
            <a:ext cx="219456" cy="219456"/>
          </a:xfrm>
          <a:prstGeom prst="rect">
            <a:avLst/>
          </a:prstGeom>
          <a:solidFill>
            <a:srgbClr val="FFFFFF"/>
          </a:solidFill>
          <a:ln w="6350">
            <a:solidFill>
              <a:srgbClr val="D3DADF"/>
            </a:solidFill>
            <a:prstDash val="solid"/>
          </a:ln>
        </p:spPr>
      </p:sp>
      <p:sp>
        <p:nvSpPr>
          <p:cNvPr id="37" name="pair"/>
          <p:cNvSpPr/>
          <p:nvPr/>
        </p:nvSpPr>
        <p:spPr>
          <a:xfrm>
            <a:off x="2724912" y="4919472"/>
            <a:ext cx="219456" cy="219456"/>
          </a:xfrm>
          <a:prstGeom prst="rect">
            <a:avLst/>
          </a:prstGeom>
          <a:solidFill>
            <a:srgbClr val="DDEFF1"/>
          </a:solidFill>
          <a:ln w="6350">
            <a:solidFill>
              <a:srgbClr val="D3DADF"/>
            </a:solidFill>
            <a:prstDash val="solid"/>
          </a:ln>
        </p:spPr>
      </p:sp>
      <p:sp>
        <p:nvSpPr>
          <p:cNvPr id="38" name="pair"/>
          <p:cNvSpPr/>
          <p:nvPr/>
        </p:nvSpPr>
        <p:spPr>
          <a:xfrm>
            <a:off x="2999232" y="4919472"/>
            <a:ext cx="219456" cy="219456"/>
          </a:xfrm>
          <a:prstGeom prst="rect">
            <a:avLst/>
          </a:prstGeom>
          <a:solidFill>
            <a:srgbClr val="DDEFF1"/>
          </a:solidFill>
          <a:ln w="6350">
            <a:solidFill>
              <a:srgbClr val="D3DADF"/>
            </a:solidFill>
            <a:prstDash val="solid"/>
          </a:ln>
        </p:spPr>
      </p:sp>
      <p:sp>
        <p:nvSpPr>
          <p:cNvPr id="39" name="Text 36"/>
          <p:cNvSpPr txBox="1"/>
          <p:nvPr/>
        </p:nvSpPr>
        <p:spPr>
          <a:xfrm>
            <a:off x="1033272" y="5166360"/>
            <a:ext cx="50292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Uns</a:t>
            </a:r>
            <a:endParaRPr lang="en-US" sz="1000" dirty="0"/>
          </a:p>
        </p:txBody>
      </p:sp>
      <p:sp>
        <p:nvSpPr>
          <p:cNvPr id="40" name="Text 37"/>
          <p:cNvSpPr txBox="1"/>
          <p:nvPr/>
        </p:nvSpPr>
        <p:spPr>
          <a:xfrm>
            <a:off x="2606040" y="3822192"/>
            <a:ext cx="457200" cy="228600"/>
          </a:xfrm>
          <a:prstGeom prst="rect">
            <a:avLst/>
          </a:prstGeom>
          <a:noFill/>
          <a:ln/>
        </p:spPr>
        <p:txBody>
          <a:bodyPr wrap="square" lIns="0" tIns="0" rIns="0" bIns="0" rtlCol="0" anchor="b"/>
          <a:lstStyle/>
          <a:p>
            <a:pPr algn="ctr" indent="0" marL="0">
              <a:buNone/>
            </a:pPr>
            <a:r>
              <a:rPr lang="en-US" sz="900" dirty="0">
                <a:solidFill>
                  <a:srgbClr val="5B6770"/>
                </a:solidFill>
                <a:latin typeface="Calibri" pitchFamily="34" charset="0"/>
                <a:ea typeface="Calibri" pitchFamily="34" charset="-122"/>
                <a:cs typeface="Calibri" pitchFamily="34" charset="-120"/>
              </a:rPr>
              <a:t>Uns</a:t>
            </a:r>
            <a:endParaRPr lang="en-US" sz="900" dirty="0"/>
          </a:p>
        </p:txBody>
      </p:sp>
      <p:sp>
        <p:nvSpPr>
          <p:cNvPr id="41" name="pair"/>
          <p:cNvSpPr/>
          <p:nvPr/>
        </p:nvSpPr>
        <p:spPr>
          <a:xfrm>
            <a:off x="1627632" y="5193792"/>
            <a:ext cx="219456" cy="219456"/>
          </a:xfrm>
          <a:prstGeom prst="rect">
            <a:avLst/>
          </a:prstGeom>
          <a:solidFill>
            <a:srgbClr val="DDEFF1"/>
          </a:solidFill>
          <a:ln w="6350">
            <a:solidFill>
              <a:srgbClr val="D3DADF"/>
            </a:solidFill>
            <a:prstDash val="solid"/>
          </a:ln>
        </p:spPr>
      </p:sp>
      <p:sp>
        <p:nvSpPr>
          <p:cNvPr id="42" name="pair"/>
          <p:cNvSpPr/>
          <p:nvPr/>
        </p:nvSpPr>
        <p:spPr>
          <a:xfrm>
            <a:off x="1901952" y="5193792"/>
            <a:ext cx="219456" cy="219456"/>
          </a:xfrm>
          <a:prstGeom prst="rect">
            <a:avLst/>
          </a:prstGeom>
          <a:solidFill>
            <a:srgbClr val="DDEFF1"/>
          </a:solidFill>
          <a:ln w="6350">
            <a:solidFill>
              <a:srgbClr val="D3DADF"/>
            </a:solidFill>
            <a:prstDash val="solid"/>
          </a:ln>
        </p:spPr>
      </p:sp>
      <p:sp>
        <p:nvSpPr>
          <p:cNvPr id="43" name="pair"/>
          <p:cNvSpPr/>
          <p:nvPr/>
        </p:nvSpPr>
        <p:spPr>
          <a:xfrm>
            <a:off x="2176272" y="5193792"/>
            <a:ext cx="219456" cy="219456"/>
          </a:xfrm>
          <a:prstGeom prst="rect">
            <a:avLst/>
          </a:prstGeom>
          <a:solidFill>
            <a:srgbClr val="DDEFF1"/>
          </a:solidFill>
          <a:ln w="6350">
            <a:solidFill>
              <a:srgbClr val="D3DADF"/>
            </a:solidFill>
            <a:prstDash val="solid"/>
          </a:ln>
        </p:spPr>
      </p:sp>
      <p:sp>
        <p:nvSpPr>
          <p:cNvPr id="44" name="pair"/>
          <p:cNvSpPr/>
          <p:nvPr/>
        </p:nvSpPr>
        <p:spPr>
          <a:xfrm>
            <a:off x="2450592" y="5193792"/>
            <a:ext cx="219456" cy="219456"/>
          </a:xfrm>
          <a:prstGeom prst="rect">
            <a:avLst/>
          </a:prstGeom>
          <a:solidFill>
            <a:srgbClr val="DDEFF1"/>
          </a:solidFill>
          <a:ln w="6350">
            <a:solidFill>
              <a:srgbClr val="D3DADF"/>
            </a:solidFill>
            <a:prstDash val="solid"/>
          </a:ln>
        </p:spPr>
      </p:sp>
      <p:sp>
        <p:nvSpPr>
          <p:cNvPr id="45" name="pair"/>
          <p:cNvSpPr/>
          <p:nvPr/>
        </p:nvSpPr>
        <p:spPr>
          <a:xfrm>
            <a:off x="2724912" y="5193792"/>
            <a:ext cx="219456" cy="219456"/>
          </a:xfrm>
          <a:prstGeom prst="rect">
            <a:avLst/>
          </a:prstGeom>
          <a:solidFill>
            <a:srgbClr val="FFFFFF"/>
          </a:solidFill>
          <a:ln w="6350">
            <a:solidFill>
              <a:srgbClr val="D3DADF"/>
            </a:solidFill>
            <a:prstDash val="solid"/>
          </a:ln>
        </p:spPr>
      </p:sp>
      <p:sp>
        <p:nvSpPr>
          <p:cNvPr id="46" name="pair"/>
          <p:cNvSpPr/>
          <p:nvPr/>
        </p:nvSpPr>
        <p:spPr>
          <a:xfrm>
            <a:off x="2999232" y="5193792"/>
            <a:ext cx="219456" cy="219456"/>
          </a:xfrm>
          <a:prstGeom prst="rect">
            <a:avLst/>
          </a:prstGeom>
          <a:solidFill>
            <a:srgbClr val="DDEFF1"/>
          </a:solidFill>
          <a:ln w="6350">
            <a:solidFill>
              <a:srgbClr val="D3DADF"/>
            </a:solidFill>
            <a:prstDash val="solid"/>
          </a:ln>
        </p:spPr>
      </p:sp>
      <p:sp>
        <p:nvSpPr>
          <p:cNvPr id="47" name="Text 44"/>
          <p:cNvSpPr txBox="1"/>
          <p:nvPr/>
        </p:nvSpPr>
        <p:spPr>
          <a:xfrm>
            <a:off x="1033272" y="5440680"/>
            <a:ext cx="50292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Swz</a:t>
            </a:r>
            <a:endParaRPr lang="en-US" sz="1000" dirty="0"/>
          </a:p>
        </p:txBody>
      </p:sp>
      <p:sp>
        <p:nvSpPr>
          <p:cNvPr id="48" name="Text 45"/>
          <p:cNvSpPr txBox="1"/>
          <p:nvPr/>
        </p:nvSpPr>
        <p:spPr>
          <a:xfrm>
            <a:off x="2880360" y="3822192"/>
            <a:ext cx="457200" cy="228600"/>
          </a:xfrm>
          <a:prstGeom prst="rect">
            <a:avLst/>
          </a:prstGeom>
          <a:noFill/>
          <a:ln/>
        </p:spPr>
        <p:txBody>
          <a:bodyPr wrap="square" lIns="0" tIns="0" rIns="0" bIns="0" rtlCol="0" anchor="b"/>
          <a:lstStyle/>
          <a:p>
            <a:pPr algn="ctr" indent="0" marL="0">
              <a:buNone/>
            </a:pPr>
            <a:r>
              <a:rPr lang="en-US" sz="900" dirty="0">
                <a:solidFill>
                  <a:srgbClr val="5B6770"/>
                </a:solidFill>
                <a:latin typeface="Calibri" pitchFamily="34" charset="0"/>
                <a:ea typeface="Calibri" pitchFamily="34" charset="-122"/>
                <a:cs typeface="Calibri" pitchFamily="34" charset="-120"/>
              </a:rPr>
              <a:t>Swz</a:t>
            </a:r>
            <a:endParaRPr lang="en-US" sz="900" dirty="0"/>
          </a:p>
        </p:txBody>
      </p:sp>
      <p:sp>
        <p:nvSpPr>
          <p:cNvPr id="49" name="pair"/>
          <p:cNvSpPr/>
          <p:nvPr/>
        </p:nvSpPr>
        <p:spPr>
          <a:xfrm>
            <a:off x="1627632" y="5468112"/>
            <a:ext cx="219456" cy="219456"/>
          </a:xfrm>
          <a:prstGeom prst="rect">
            <a:avLst/>
          </a:prstGeom>
          <a:solidFill>
            <a:srgbClr val="DDEFF1"/>
          </a:solidFill>
          <a:ln w="6350">
            <a:solidFill>
              <a:srgbClr val="D3DADF"/>
            </a:solidFill>
            <a:prstDash val="solid"/>
          </a:ln>
        </p:spPr>
      </p:sp>
      <p:sp>
        <p:nvSpPr>
          <p:cNvPr id="50" name="pair"/>
          <p:cNvSpPr/>
          <p:nvPr/>
        </p:nvSpPr>
        <p:spPr>
          <a:xfrm>
            <a:off x="1901952" y="5468112"/>
            <a:ext cx="219456" cy="219456"/>
          </a:xfrm>
          <a:prstGeom prst="rect">
            <a:avLst/>
          </a:prstGeom>
          <a:solidFill>
            <a:srgbClr val="DDEFF1"/>
          </a:solidFill>
          <a:ln w="6350">
            <a:solidFill>
              <a:srgbClr val="D3DADF"/>
            </a:solidFill>
            <a:prstDash val="solid"/>
          </a:ln>
        </p:spPr>
      </p:sp>
      <p:sp>
        <p:nvSpPr>
          <p:cNvPr id="51" name="pair"/>
          <p:cNvSpPr/>
          <p:nvPr/>
        </p:nvSpPr>
        <p:spPr>
          <a:xfrm>
            <a:off x="2176272" y="5468112"/>
            <a:ext cx="219456" cy="219456"/>
          </a:xfrm>
          <a:prstGeom prst="rect">
            <a:avLst/>
          </a:prstGeom>
          <a:solidFill>
            <a:srgbClr val="DDEFF1"/>
          </a:solidFill>
          <a:ln w="6350">
            <a:solidFill>
              <a:srgbClr val="D3DADF"/>
            </a:solidFill>
            <a:prstDash val="solid"/>
          </a:ln>
        </p:spPr>
      </p:sp>
      <p:sp>
        <p:nvSpPr>
          <p:cNvPr id="52" name="pair"/>
          <p:cNvSpPr/>
          <p:nvPr/>
        </p:nvSpPr>
        <p:spPr>
          <a:xfrm>
            <a:off x="2450592" y="5468112"/>
            <a:ext cx="219456" cy="219456"/>
          </a:xfrm>
          <a:prstGeom prst="rect">
            <a:avLst/>
          </a:prstGeom>
          <a:solidFill>
            <a:srgbClr val="DDEFF1"/>
          </a:solidFill>
          <a:ln w="6350">
            <a:solidFill>
              <a:srgbClr val="D3DADF"/>
            </a:solidFill>
            <a:prstDash val="solid"/>
          </a:ln>
        </p:spPr>
      </p:sp>
      <p:sp>
        <p:nvSpPr>
          <p:cNvPr id="53" name="pair"/>
          <p:cNvSpPr/>
          <p:nvPr/>
        </p:nvSpPr>
        <p:spPr>
          <a:xfrm>
            <a:off x="2724912" y="5468112"/>
            <a:ext cx="219456" cy="219456"/>
          </a:xfrm>
          <a:prstGeom prst="rect">
            <a:avLst/>
          </a:prstGeom>
          <a:solidFill>
            <a:srgbClr val="DDEFF1"/>
          </a:solidFill>
          <a:ln w="6350">
            <a:solidFill>
              <a:srgbClr val="D3DADF"/>
            </a:solidFill>
            <a:prstDash val="solid"/>
          </a:ln>
        </p:spPr>
      </p:sp>
      <p:sp>
        <p:nvSpPr>
          <p:cNvPr id="54" name="pair"/>
          <p:cNvSpPr/>
          <p:nvPr/>
        </p:nvSpPr>
        <p:spPr>
          <a:xfrm>
            <a:off x="2999232" y="5468112"/>
            <a:ext cx="219456" cy="219456"/>
          </a:xfrm>
          <a:prstGeom prst="rect">
            <a:avLst/>
          </a:prstGeom>
          <a:solidFill>
            <a:srgbClr val="FFFFFF"/>
          </a:solidFill>
          <a:ln w="6350">
            <a:solidFill>
              <a:srgbClr val="D3DADF"/>
            </a:solidFill>
            <a:prstDash val="solid"/>
          </a:ln>
        </p:spPr>
      </p:sp>
      <p:sp>
        <p:nvSpPr>
          <p:cNvPr id="55" name="Text 52"/>
          <p:cNvSpPr txBox="1"/>
          <p:nvPr/>
        </p:nvSpPr>
        <p:spPr>
          <a:xfrm>
            <a:off x="3429000" y="4160520"/>
            <a:ext cx="2743200" cy="1280160"/>
          </a:xfrm>
          <a:prstGeom prst="rect">
            <a:avLst/>
          </a:prstGeom>
          <a:noFill/>
          <a:ln/>
        </p:spPr>
        <p:txBody>
          <a:bodyPr wrap="square" lIns="0" tIns="0" rIns="0" bIns="0" rtlCol="0" anchor="t"/>
          <a:lstStyle/>
          <a:p>
            <a:pPr indent="0" marL="0">
              <a:buNone/>
            </a:pPr>
            <a:r>
              <a:rPr lang="en-US" sz="1300" b="1" dirty="0">
                <a:solidFill>
                  <a:srgbClr val="5B6770"/>
                </a:solidFill>
                <a:latin typeface="Calibri" pitchFamily="34" charset="0"/>
                <a:ea typeface="Calibri" pitchFamily="34" charset="-122"/>
                <a:cs typeface="Calibri" pitchFamily="34" charset="-120"/>
              </a:rPr>
              <a:t>Illustrative:</a:t>
            </a:r>
            <a:r>
              <a:rPr lang="en-US" sz="1300" dirty="0">
                <a:solidFill>
                  <a:srgbClr val="5B6770"/>
                </a:solidFill>
                <a:latin typeface="Calibri" pitchFamily="34" charset="0"/>
                <a:ea typeface="Calibri" pitchFamily="34" charset="-122"/>
                <a:cs typeface="Calibri" pitchFamily="34" charset="-120"/>
              </a:rPr>
              <a:t> 6 layout types → up to 6×5 = 30 hand-written source→destination conversion paths (quadratic growth).</a:t>
            </a:r>
            <a:endParaRPr lang="en-US" sz="1300" dirty="0"/>
          </a:p>
        </p:txBody>
      </p:sp>
      <p:pic>
        <p:nvPicPr>
          <p:cNvPr id="56" name="fig-fig2" descr="Figure 2 speedup curve">    </p:cNvPr>
          <p:cNvPicPr>
            <a:picLocks noChangeAspect="1"/>
          </p:cNvPicPr>
          <p:nvPr/>
        </p:nvPicPr>
        <p:blipFill>
          <a:blip r:embed="rId1"/>
          <a:stretch>
            <a:fillRect/>
          </a:stretch>
        </p:blipFill>
        <p:spPr>
          <a:xfrm>
            <a:off x="6629400" y="1881192"/>
            <a:ext cx="5029200" cy="1724016"/>
          </a:xfrm>
          <a:prstGeom prst="rect">
            <a:avLst/>
          </a:prstGeom>
        </p:spPr>
      </p:pic>
      <p:sp>
        <p:nvSpPr>
          <p:cNvPr id="57" name="caption"/>
          <p:cNvSpPr txBox="1"/>
          <p:nvPr/>
        </p:nvSpPr>
        <p:spPr>
          <a:xfrm>
            <a:off x="6629400" y="3650928"/>
            <a:ext cx="502920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2.</a:t>
            </a:r>
            <a:r>
              <a:rPr lang="en-US" sz="1100" dirty="0">
                <a:solidFill>
                  <a:srgbClr val="5B6770"/>
                </a:solidFill>
                <a:latin typeface="Calibri" pitchFamily="34" charset="0"/>
                <a:ea typeface="Calibri" pitchFamily="34" charset="-122"/>
                <a:cs typeface="Calibri" pitchFamily="34" charset="-120"/>
              </a:rPr>
              <a:t> Speedups over the padding heuristic in a float8 transpose kernel (M×N tensors).</a:t>
            </a:r>
            <a:endParaRPr lang="en-US" sz="1100" dirty="0"/>
          </a:p>
        </p:txBody>
      </p:sp>
      <p:sp>
        <p:nvSpPr>
          <p:cNvPr id="58" name="callout"/>
          <p:cNvSpPr/>
          <p:nvPr/>
        </p:nvSpPr>
        <p:spPr>
          <a:xfrm>
            <a:off x="6629400" y="4572000"/>
            <a:ext cx="5029200" cy="822960"/>
          </a:xfrm>
          <a:prstGeom prst="roundRect">
            <a:avLst>
              <a:gd name="adj" fmla="val 8889"/>
            </a:avLst>
          </a:prstGeom>
          <a:solidFill>
            <a:srgbClr val="DDEFF1"/>
          </a:solidFill>
          <a:ln/>
        </p:spPr>
      </p:sp>
      <p:sp>
        <p:nvSpPr>
          <p:cNvPr id="59" name="callout-text"/>
          <p:cNvSpPr txBox="1"/>
          <p:nvPr/>
        </p:nvSpPr>
        <p:spPr>
          <a:xfrm>
            <a:off x="6766560" y="4626864"/>
            <a:ext cx="4754880" cy="71323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With Linear Layouts, a conversion is derived from two matrices instead of being written for each pair.</a:t>
            </a:r>
            <a:endParaRPr lang="en-US" sz="15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BACKGROUND · §2.1</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GPU background: where can a tensor element live?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§2.1 GPU Architectures, pp. 133–134</a:t>
            </a:r>
            <a:endParaRPr lang="en-US" sz="1000" dirty="0"/>
          </a:p>
        </p:txBody>
      </p:sp>
      <p:sp>
        <p:nvSpPr>
          <p:cNvPr id="6" name="panel"/>
          <p:cNvSpPr/>
          <p:nvPr/>
        </p:nvSpPr>
        <p:spPr>
          <a:xfrm>
            <a:off x="502920" y="1325880"/>
            <a:ext cx="5943600" cy="4526280"/>
          </a:xfrm>
          <a:prstGeom prst="roundRect">
            <a:avLst>
              <a:gd name="adj" fmla="val 1616"/>
            </a:avLst>
          </a:prstGeom>
          <a:solidFill>
            <a:srgbClr val="F3F6F7"/>
          </a:solidFill>
          <a:ln/>
        </p:spPr>
      </p:sp>
      <p:sp>
        <p:nvSpPr>
          <p:cNvPr id="7" name="Text 4"/>
          <p:cNvSpPr txBox="1"/>
          <p:nvPr/>
        </p:nvSpPr>
        <p:spPr>
          <a:xfrm>
            <a:off x="685800" y="1417320"/>
            <a:ext cx="3657600" cy="320040"/>
          </a:xfrm>
          <a:prstGeom prst="rect">
            <a:avLst/>
          </a:prstGeom>
          <a:noFill/>
          <a:ln/>
        </p:spPr>
        <p:txBody>
          <a:bodyPr wrap="square" lIns="0" tIns="0" rIns="0" bIns="0" rtlCol="0" anchor="t"/>
          <a:lstStyle/>
          <a:p>
            <a:pPr indent="0" marL="0">
              <a:buNone/>
            </a:pPr>
            <a:r>
              <a:rPr lang="en-US" sz="1500" b="1" dirty="0">
                <a:solidFill>
                  <a:srgbClr val="0A4F58"/>
                </a:solidFill>
                <a:latin typeface="Calibri" pitchFamily="34" charset="0"/>
                <a:ea typeface="Calibri" pitchFamily="34" charset="-122"/>
                <a:cs typeface="Calibri" pitchFamily="34" charset="-120"/>
              </a:rPr>
              <a:t>CTA (thread block)</a:t>
            </a:r>
            <a:endParaRPr lang="en-US" sz="1500" dirty="0"/>
          </a:p>
        </p:txBody>
      </p:sp>
      <p:sp>
        <p:nvSpPr>
          <p:cNvPr id="8" name="warp"/>
          <p:cNvSpPr/>
          <p:nvPr/>
        </p:nvSpPr>
        <p:spPr>
          <a:xfrm>
            <a:off x="731520" y="1828800"/>
            <a:ext cx="2697480" cy="2514600"/>
          </a:xfrm>
          <a:prstGeom prst="roundRect">
            <a:avLst>
              <a:gd name="adj" fmla="val 2182"/>
            </a:avLst>
          </a:prstGeom>
          <a:solidFill>
            <a:srgbClr val="FFFFFF"/>
          </a:solidFill>
          <a:ln w="12700">
            <a:solidFill>
              <a:srgbClr val="0E6E7A"/>
            </a:solidFill>
            <a:prstDash val="solid"/>
          </a:ln>
        </p:spPr>
      </p:sp>
      <p:sp>
        <p:nvSpPr>
          <p:cNvPr id="9" name="Text 6"/>
          <p:cNvSpPr txBox="1"/>
          <p:nvPr/>
        </p:nvSpPr>
        <p:spPr>
          <a:xfrm>
            <a:off x="841248" y="1901952"/>
            <a:ext cx="246888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Warp w₀  (32 lanes)</a:t>
            </a:r>
            <a:endParaRPr lang="en-US" sz="1300" dirty="0"/>
          </a:p>
        </p:txBody>
      </p:sp>
      <p:sp>
        <p:nvSpPr>
          <p:cNvPr id="10" name="lane"/>
          <p:cNvSpPr/>
          <p:nvPr/>
        </p:nvSpPr>
        <p:spPr>
          <a:xfrm>
            <a:off x="868680" y="2286000"/>
            <a:ext cx="548640" cy="1508760"/>
          </a:xfrm>
          <a:prstGeom prst="roundRect">
            <a:avLst>
              <a:gd name="adj" fmla="val 6667"/>
            </a:avLst>
          </a:prstGeom>
          <a:solidFill>
            <a:srgbClr val="DDEFF1"/>
          </a:solidFill>
          <a:ln/>
        </p:spPr>
      </p:sp>
      <p:sp>
        <p:nvSpPr>
          <p:cNvPr id="11" name="Text 8"/>
          <p:cNvSpPr txBox="1"/>
          <p:nvPr/>
        </p:nvSpPr>
        <p:spPr>
          <a:xfrm>
            <a:off x="868680"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t₀</a:t>
            </a:r>
            <a:endParaRPr lang="en-US" sz="1100" dirty="0"/>
          </a:p>
        </p:txBody>
      </p:sp>
      <p:sp>
        <p:nvSpPr>
          <p:cNvPr id="12" name="reg"/>
          <p:cNvSpPr txBox="1"/>
          <p:nvPr/>
        </p:nvSpPr>
        <p:spPr>
          <a:xfrm>
            <a:off x="941832"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13" name="reg"/>
          <p:cNvSpPr txBox="1"/>
          <p:nvPr/>
        </p:nvSpPr>
        <p:spPr>
          <a:xfrm>
            <a:off x="941832"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14" name="reg"/>
          <p:cNvSpPr txBox="1"/>
          <p:nvPr/>
        </p:nvSpPr>
        <p:spPr>
          <a:xfrm>
            <a:off x="941832"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15" name="reg"/>
          <p:cNvSpPr txBox="1"/>
          <p:nvPr/>
        </p:nvSpPr>
        <p:spPr>
          <a:xfrm>
            <a:off x="941832"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16" name="lane"/>
          <p:cNvSpPr/>
          <p:nvPr/>
        </p:nvSpPr>
        <p:spPr>
          <a:xfrm>
            <a:off x="1499616" y="2286000"/>
            <a:ext cx="548640" cy="1508760"/>
          </a:xfrm>
          <a:prstGeom prst="roundRect">
            <a:avLst>
              <a:gd name="adj" fmla="val 6667"/>
            </a:avLst>
          </a:prstGeom>
          <a:solidFill>
            <a:srgbClr val="DDEFF1"/>
          </a:solidFill>
          <a:ln/>
        </p:spPr>
      </p:sp>
      <p:sp>
        <p:nvSpPr>
          <p:cNvPr id="17" name="Text 14"/>
          <p:cNvSpPr txBox="1"/>
          <p:nvPr/>
        </p:nvSpPr>
        <p:spPr>
          <a:xfrm>
            <a:off x="1499616"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t₁</a:t>
            </a:r>
            <a:endParaRPr lang="en-US" sz="1100" dirty="0"/>
          </a:p>
        </p:txBody>
      </p:sp>
      <p:sp>
        <p:nvSpPr>
          <p:cNvPr id="18" name="reg"/>
          <p:cNvSpPr txBox="1"/>
          <p:nvPr/>
        </p:nvSpPr>
        <p:spPr>
          <a:xfrm>
            <a:off x="1572768"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19" name="reg"/>
          <p:cNvSpPr txBox="1"/>
          <p:nvPr/>
        </p:nvSpPr>
        <p:spPr>
          <a:xfrm>
            <a:off x="1572768"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20" name="reg"/>
          <p:cNvSpPr txBox="1"/>
          <p:nvPr/>
        </p:nvSpPr>
        <p:spPr>
          <a:xfrm>
            <a:off x="1572768"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21" name="reg"/>
          <p:cNvSpPr txBox="1"/>
          <p:nvPr/>
        </p:nvSpPr>
        <p:spPr>
          <a:xfrm>
            <a:off x="1572768"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22" name="lane"/>
          <p:cNvSpPr/>
          <p:nvPr/>
        </p:nvSpPr>
        <p:spPr>
          <a:xfrm>
            <a:off x="2130552" y="2286000"/>
            <a:ext cx="548640" cy="1508760"/>
          </a:xfrm>
          <a:prstGeom prst="roundRect">
            <a:avLst>
              <a:gd name="adj" fmla="val 6667"/>
            </a:avLst>
          </a:prstGeom>
          <a:solidFill>
            <a:srgbClr val="DDEFF1"/>
          </a:solidFill>
          <a:ln/>
        </p:spPr>
      </p:sp>
      <p:sp>
        <p:nvSpPr>
          <p:cNvPr id="23" name="Text 20"/>
          <p:cNvSpPr txBox="1"/>
          <p:nvPr/>
        </p:nvSpPr>
        <p:spPr>
          <a:xfrm>
            <a:off x="2130552"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t₂</a:t>
            </a:r>
            <a:endParaRPr lang="en-US" sz="1100" dirty="0"/>
          </a:p>
        </p:txBody>
      </p:sp>
      <p:sp>
        <p:nvSpPr>
          <p:cNvPr id="24" name="reg"/>
          <p:cNvSpPr txBox="1"/>
          <p:nvPr/>
        </p:nvSpPr>
        <p:spPr>
          <a:xfrm>
            <a:off x="2203704"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25" name="reg"/>
          <p:cNvSpPr txBox="1"/>
          <p:nvPr/>
        </p:nvSpPr>
        <p:spPr>
          <a:xfrm>
            <a:off x="2203704"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26" name="reg"/>
          <p:cNvSpPr txBox="1"/>
          <p:nvPr/>
        </p:nvSpPr>
        <p:spPr>
          <a:xfrm>
            <a:off x="2203704"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27" name="reg"/>
          <p:cNvSpPr txBox="1"/>
          <p:nvPr/>
        </p:nvSpPr>
        <p:spPr>
          <a:xfrm>
            <a:off x="2203704"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28" name="lane"/>
          <p:cNvSpPr/>
          <p:nvPr/>
        </p:nvSpPr>
        <p:spPr>
          <a:xfrm>
            <a:off x="2761488" y="2286000"/>
            <a:ext cx="548640" cy="1508760"/>
          </a:xfrm>
          <a:prstGeom prst="roundRect">
            <a:avLst>
              <a:gd name="adj" fmla="val 6667"/>
            </a:avLst>
          </a:prstGeom>
          <a:solidFill>
            <a:srgbClr val="DDEFF1"/>
          </a:solidFill>
          <a:ln/>
        </p:spPr>
      </p:sp>
      <p:sp>
        <p:nvSpPr>
          <p:cNvPr id="29" name="Text 26"/>
          <p:cNvSpPr txBox="1"/>
          <p:nvPr/>
        </p:nvSpPr>
        <p:spPr>
          <a:xfrm>
            <a:off x="2761488"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a:t>
            </a:r>
            <a:endParaRPr lang="en-US" sz="1100" dirty="0"/>
          </a:p>
        </p:txBody>
      </p:sp>
      <p:sp>
        <p:nvSpPr>
          <p:cNvPr id="30" name="reg"/>
          <p:cNvSpPr txBox="1"/>
          <p:nvPr/>
        </p:nvSpPr>
        <p:spPr>
          <a:xfrm>
            <a:off x="2834640"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31" name="reg"/>
          <p:cNvSpPr txBox="1"/>
          <p:nvPr/>
        </p:nvSpPr>
        <p:spPr>
          <a:xfrm>
            <a:off x="2834640"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32" name="reg"/>
          <p:cNvSpPr txBox="1"/>
          <p:nvPr/>
        </p:nvSpPr>
        <p:spPr>
          <a:xfrm>
            <a:off x="2834640"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33" name="reg"/>
          <p:cNvSpPr txBox="1"/>
          <p:nvPr/>
        </p:nvSpPr>
        <p:spPr>
          <a:xfrm>
            <a:off x="2834640"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34" name="Text 31"/>
          <p:cNvSpPr txBox="1"/>
          <p:nvPr/>
        </p:nvSpPr>
        <p:spPr>
          <a:xfrm>
            <a:off x="841248" y="3931920"/>
            <a:ext cx="246888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registers are private to a lane</a:t>
            </a:r>
            <a:endParaRPr lang="en-US" sz="1100" dirty="0"/>
          </a:p>
        </p:txBody>
      </p:sp>
      <p:sp>
        <p:nvSpPr>
          <p:cNvPr id="35" name="warp"/>
          <p:cNvSpPr/>
          <p:nvPr/>
        </p:nvSpPr>
        <p:spPr>
          <a:xfrm>
            <a:off x="3611880" y="1828800"/>
            <a:ext cx="2697480" cy="2514600"/>
          </a:xfrm>
          <a:prstGeom prst="roundRect">
            <a:avLst>
              <a:gd name="adj" fmla="val 2182"/>
            </a:avLst>
          </a:prstGeom>
          <a:solidFill>
            <a:srgbClr val="FFFFFF"/>
          </a:solidFill>
          <a:ln w="12700">
            <a:solidFill>
              <a:srgbClr val="0E6E7A"/>
            </a:solidFill>
            <a:prstDash val="solid"/>
          </a:ln>
        </p:spPr>
      </p:sp>
      <p:sp>
        <p:nvSpPr>
          <p:cNvPr id="36" name="Text 33"/>
          <p:cNvSpPr txBox="1"/>
          <p:nvPr/>
        </p:nvSpPr>
        <p:spPr>
          <a:xfrm>
            <a:off x="3721608" y="1901952"/>
            <a:ext cx="246888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Warp w₁  (32 lanes)</a:t>
            </a:r>
            <a:endParaRPr lang="en-US" sz="1300" dirty="0"/>
          </a:p>
        </p:txBody>
      </p:sp>
      <p:sp>
        <p:nvSpPr>
          <p:cNvPr id="37" name="lane"/>
          <p:cNvSpPr/>
          <p:nvPr/>
        </p:nvSpPr>
        <p:spPr>
          <a:xfrm>
            <a:off x="3749040" y="2286000"/>
            <a:ext cx="548640" cy="1508760"/>
          </a:xfrm>
          <a:prstGeom prst="roundRect">
            <a:avLst>
              <a:gd name="adj" fmla="val 6667"/>
            </a:avLst>
          </a:prstGeom>
          <a:solidFill>
            <a:srgbClr val="DDEFF1"/>
          </a:solidFill>
          <a:ln/>
        </p:spPr>
      </p:sp>
      <p:sp>
        <p:nvSpPr>
          <p:cNvPr id="38" name="Text 35"/>
          <p:cNvSpPr txBox="1"/>
          <p:nvPr/>
        </p:nvSpPr>
        <p:spPr>
          <a:xfrm>
            <a:off x="3749040"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t₀</a:t>
            </a:r>
            <a:endParaRPr lang="en-US" sz="1100" dirty="0"/>
          </a:p>
        </p:txBody>
      </p:sp>
      <p:sp>
        <p:nvSpPr>
          <p:cNvPr id="39" name="reg"/>
          <p:cNvSpPr txBox="1"/>
          <p:nvPr/>
        </p:nvSpPr>
        <p:spPr>
          <a:xfrm>
            <a:off x="3822192"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40" name="reg"/>
          <p:cNvSpPr txBox="1"/>
          <p:nvPr/>
        </p:nvSpPr>
        <p:spPr>
          <a:xfrm>
            <a:off x="3822192"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41" name="reg"/>
          <p:cNvSpPr txBox="1"/>
          <p:nvPr/>
        </p:nvSpPr>
        <p:spPr>
          <a:xfrm>
            <a:off x="3822192"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42" name="reg"/>
          <p:cNvSpPr txBox="1"/>
          <p:nvPr/>
        </p:nvSpPr>
        <p:spPr>
          <a:xfrm>
            <a:off x="3822192"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43" name="lane"/>
          <p:cNvSpPr/>
          <p:nvPr/>
        </p:nvSpPr>
        <p:spPr>
          <a:xfrm>
            <a:off x="4379976" y="2286000"/>
            <a:ext cx="548640" cy="1508760"/>
          </a:xfrm>
          <a:prstGeom prst="roundRect">
            <a:avLst>
              <a:gd name="adj" fmla="val 6667"/>
            </a:avLst>
          </a:prstGeom>
          <a:solidFill>
            <a:srgbClr val="DDEFF1"/>
          </a:solidFill>
          <a:ln/>
        </p:spPr>
      </p:sp>
      <p:sp>
        <p:nvSpPr>
          <p:cNvPr id="44" name="Text 41"/>
          <p:cNvSpPr txBox="1"/>
          <p:nvPr/>
        </p:nvSpPr>
        <p:spPr>
          <a:xfrm>
            <a:off x="4379976"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t₁</a:t>
            </a:r>
            <a:endParaRPr lang="en-US" sz="1100" dirty="0"/>
          </a:p>
        </p:txBody>
      </p:sp>
      <p:sp>
        <p:nvSpPr>
          <p:cNvPr id="45" name="reg"/>
          <p:cNvSpPr txBox="1"/>
          <p:nvPr/>
        </p:nvSpPr>
        <p:spPr>
          <a:xfrm>
            <a:off x="4453128"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46" name="reg"/>
          <p:cNvSpPr txBox="1"/>
          <p:nvPr/>
        </p:nvSpPr>
        <p:spPr>
          <a:xfrm>
            <a:off x="4453128"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47" name="reg"/>
          <p:cNvSpPr txBox="1"/>
          <p:nvPr/>
        </p:nvSpPr>
        <p:spPr>
          <a:xfrm>
            <a:off x="4453128"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48" name="reg"/>
          <p:cNvSpPr txBox="1"/>
          <p:nvPr/>
        </p:nvSpPr>
        <p:spPr>
          <a:xfrm>
            <a:off x="4453128"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49" name="lane"/>
          <p:cNvSpPr/>
          <p:nvPr/>
        </p:nvSpPr>
        <p:spPr>
          <a:xfrm>
            <a:off x="5010912" y="2286000"/>
            <a:ext cx="548640" cy="1508760"/>
          </a:xfrm>
          <a:prstGeom prst="roundRect">
            <a:avLst>
              <a:gd name="adj" fmla="val 6667"/>
            </a:avLst>
          </a:prstGeom>
          <a:solidFill>
            <a:srgbClr val="DDEFF1"/>
          </a:solidFill>
          <a:ln/>
        </p:spPr>
      </p:sp>
      <p:sp>
        <p:nvSpPr>
          <p:cNvPr id="50" name="Text 47"/>
          <p:cNvSpPr txBox="1"/>
          <p:nvPr/>
        </p:nvSpPr>
        <p:spPr>
          <a:xfrm>
            <a:off x="5010912"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t₂</a:t>
            </a:r>
            <a:endParaRPr lang="en-US" sz="1100" dirty="0"/>
          </a:p>
        </p:txBody>
      </p:sp>
      <p:sp>
        <p:nvSpPr>
          <p:cNvPr id="51" name="reg"/>
          <p:cNvSpPr txBox="1"/>
          <p:nvPr/>
        </p:nvSpPr>
        <p:spPr>
          <a:xfrm>
            <a:off x="5084064"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52" name="reg"/>
          <p:cNvSpPr txBox="1"/>
          <p:nvPr/>
        </p:nvSpPr>
        <p:spPr>
          <a:xfrm>
            <a:off x="5084064"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53" name="reg"/>
          <p:cNvSpPr txBox="1"/>
          <p:nvPr/>
        </p:nvSpPr>
        <p:spPr>
          <a:xfrm>
            <a:off x="5084064"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54" name="reg"/>
          <p:cNvSpPr txBox="1"/>
          <p:nvPr/>
        </p:nvSpPr>
        <p:spPr>
          <a:xfrm>
            <a:off x="5084064"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55" name="lane"/>
          <p:cNvSpPr/>
          <p:nvPr/>
        </p:nvSpPr>
        <p:spPr>
          <a:xfrm>
            <a:off x="5641848" y="2286000"/>
            <a:ext cx="548640" cy="1508760"/>
          </a:xfrm>
          <a:prstGeom prst="roundRect">
            <a:avLst>
              <a:gd name="adj" fmla="val 6667"/>
            </a:avLst>
          </a:prstGeom>
          <a:solidFill>
            <a:srgbClr val="DDEFF1"/>
          </a:solidFill>
          <a:ln/>
        </p:spPr>
      </p:sp>
      <p:sp>
        <p:nvSpPr>
          <p:cNvPr id="56" name="Text 53"/>
          <p:cNvSpPr txBox="1"/>
          <p:nvPr/>
        </p:nvSpPr>
        <p:spPr>
          <a:xfrm>
            <a:off x="5641848" y="2331720"/>
            <a:ext cx="548640" cy="228600"/>
          </a:xfrm>
          <a:prstGeom prst="rect">
            <a:avLst/>
          </a:prstGeom>
          <a:noFill/>
          <a:ln/>
        </p:spPr>
        <p:txBody>
          <a:bodyPr wrap="square" lIns="0" tIns="0" rIns="0" bIns="0" rtlCol="0" anchor="t"/>
          <a:lstStyle/>
          <a:p>
            <a:pPr algn="ctr" indent="0" marL="0">
              <a:buNone/>
            </a:pPr>
            <a:r>
              <a:rPr lang="en-US" sz="1100" b="1" dirty="0">
                <a:solidFill>
                  <a:srgbClr val="0A4F58"/>
                </a:solidFill>
                <a:latin typeface="Calibri" pitchFamily="34" charset="0"/>
                <a:ea typeface="Calibri" pitchFamily="34" charset="-122"/>
                <a:cs typeface="Calibri" pitchFamily="34" charset="-120"/>
              </a:rPr>
              <a:t>…</a:t>
            </a:r>
            <a:endParaRPr lang="en-US" sz="1100" dirty="0"/>
          </a:p>
        </p:txBody>
      </p:sp>
      <p:sp>
        <p:nvSpPr>
          <p:cNvPr id="57" name="reg"/>
          <p:cNvSpPr txBox="1"/>
          <p:nvPr/>
        </p:nvSpPr>
        <p:spPr>
          <a:xfrm>
            <a:off x="5715000" y="2606040"/>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r₀</a:t>
            </a:r>
            <a:endParaRPr lang="en-US" sz="900" dirty="0"/>
          </a:p>
        </p:txBody>
      </p:sp>
      <p:sp>
        <p:nvSpPr>
          <p:cNvPr id="58" name="reg"/>
          <p:cNvSpPr txBox="1"/>
          <p:nvPr/>
        </p:nvSpPr>
        <p:spPr>
          <a:xfrm>
            <a:off x="5715000" y="2889504"/>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r₁</a:t>
            </a:r>
            <a:endParaRPr lang="en-US" sz="900" dirty="0"/>
          </a:p>
        </p:txBody>
      </p:sp>
      <p:sp>
        <p:nvSpPr>
          <p:cNvPr id="59" name="reg"/>
          <p:cNvSpPr txBox="1"/>
          <p:nvPr/>
        </p:nvSpPr>
        <p:spPr>
          <a:xfrm>
            <a:off x="5715000" y="3172968"/>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r₂</a:t>
            </a:r>
            <a:endParaRPr lang="en-US" sz="900" dirty="0"/>
          </a:p>
        </p:txBody>
      </p:sp>
      <p:sp>
        <p:nvSpPr>
          <p:cNvPr id="60" name="reg"/>
          <p:cNvSpPr txBox="1"/>
          <p:nvPr/>
        </p:nvSpPr>
        <p:spPr>
          <a:xfrm>
            <a:off x="5715000" y="3456432"/>
            <a:ext cx="402336" cy="228600"/>
          </a:xfrm>
          <a:prstGeom prst="rect">
            <a:avLst/>
          </a:prstGeom>
          <a:solidFill>
            <a:srgbClr val="FFFFFF"/>
          </a:solidFill>
          <a:ln w="6350">
            <a:solidFill>
              <a:srgbClr val="D3DADF"/>
            </a:solidFill>
          </a:ln>
        </p:spPr>
        <p:txBody>
          <a:bodyPr wrap="square" lIns="0" tIns="0" rIns="0" bIns="0" rtlCol="0" anchor="ctr"/>
          <a:lstStyle/>
          <a:p>
            <a:pPr algn="ctr" indent="0" marL="0">
              <a:buNone/>
            </a:pPr>
            <a:r>
              <a:rPr lang="en-US" sz="900" dirty="0">
                <a:solidFill>
                  <a:srgbClr val="1E2A32"/>
                </a:solidFill>
                <a:latin typeface="Calibri" pitchFamily="34" charset="0"/>
                <a:ea typeface="Calibri" pitchFamily="34" charset="-122"/>
                <a:cs typeface="Calibri" pitchFamily="34" charset="-120"/>
              </a:rPr>
              <a:t>r₃</a:t>
            </a:r>
            <a:endParaRPr lang="en-US" sz="900" dirty="0"/>
          </a:p>
        </p:txBody>
      </p:sp>
      <p:sp>
        <p:nvSpPr>
          <p:cNvPr id="61" name="Text 58"/>
          <p:cNvSpPr txBox="1"/>
          <p:nvPr/>
        </p:nvSpPr>
        <p:spPr>
          <a:xfrm>
            <a:off x="3721608" y="3931920"/>
            <a:ext cx="246888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registers are private to a lane</a:t>
            </a:r>
            <a:endParaRPr lang="en-US" sz="1100" dirty="0"/>
          </a:p>
        </p:txBody>
      </p:sp>
      <p:sp>
        <p:nvSpPr>
          <p:cNvPr id="62" name="mem"/>
          <p:cNvSpPr/>
          <p:nvPr/>
        </p:nvSpPr>
        <p:spPr>
          <a:xfrm>
            <a:off x="731520" y="4572000"/>
            <a:ext cx="1783080" cy="1097280"/>
          </a:xfrm>
          <a:prstGeom prst="roundRect">
            <a:avLst>
              <a:gd name="adj" fmla="val 5000"/>
            </a:avLst>
          </a:prstGeom>
          <a:solidFill>
            <a:srgbClr val="FFFFFF"/>
          </a:solidFill>
          <a:ln w="12700">
            <a:solidFill>
              <a:srgbClr val="B9C1C7"/>
            </a:solidFill>
            <a:prstDash val="solid"/>
          </a:ln>
        </p:spPr>
      </p:sp>
      <p:sp>
        <p:nvSpPr>
          <p:cNvPr id="63" name="Text 60"/>
          <p:cNvSpPr txBox="1"/>
          <p:nvPr/>
        </p:nvSpPr>
        <p:spPr>
          <a:xfrm>
            <a:off x="822960" y="4636008"/>
            <a:ext cx="1600200" cy="502920"/>
          </a:xfrm>
          <a:prstGeom prst="rect">
            <a:avLst/>
          </a:prstGeom>
          <a:noFill/>
          <a:ln/>
        </p:spPr>
        <p:txBody>
          <a:bodyPr wrap="square" lIns="0" tIns="0" rIns="0" bIns="0" rtlCol="0" anchor="t"/>
          <a:lstStyle/>
          <a:p>
            <a:pPr indent="0" marL="0">
              <a:buNone/>
            </a:pPr>
            <a:r>
              <a:rPr lang="en-US" sz="1200" b="1" dirty="0">
                <a:solidFill>
                  <a:srgbClr val="1E2A32"/>
                </a:solidFill>
                <a:latin typeface="Calibri" pitchFamily="34" charset="0"/>
                <a:ea typeface="Calibri" pitchFamily="34" charset="-122"/>
                <a:cs typeface="Calibri" pitchFamily="34" charset="-120"/>
              </a:rPr>
              <a:t>Shared memory</a:t>
            </a:r>
            <a:endParaRPr lang="en-US" sz="1200" dirty="0"/>
          </a:p>
        </p:txBody>
      </p:sp>
      <p:sp>
        <p:nvSpPr>
          <p:cNvPr id="64" name="Text 61"/>
          <p:cNvSpPr txBox="1"/>
          <p:nvPr/>
        </p:nvSpPr>
        <p:spPr>
          <a:xfrm>
            <a:off x="822960" y="5138928"/>
            <a:ext cx="1600200" cy="50292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on-chip, shared by the CTA, banked</a:t>
            </a:r>
            <a:endParaRPr lang="en-US" sz="1100" dirty="0"/>
          </a:p>
        </p:txBody>
      </p:sp>
      <p:sp>
        <p:nvSpPr>
          <p:cNvPr id="65" name="mem"/>
          <p:cNvSpPr/>
          <p:nvPr/>
        </p:nvSpPr>
        <p:spPr>
          <a:xfrm>
            <a:off x="2651760" y="4572000"/>
            <a:ext cx="1783080" cy="1097280"/>
          </a:xfrm>
          <a:prstGeom prst="roundRect">
            <a:avLst>
              <a:gd name="adj" fmla="val 5000"/>
            </a:avLst>
          </a:prstGeom>
          <a:solidFill>
            <a:srgbClr val="FFFFFF"/>
          </a:solidFill>
          <a:ln w="12700">
            <a:solidFill>
              <a:srgbClr val="B9C1C7"/>
            </a:solidFill>
            <a:prstDash val="solid"/>
          </a:ln>
        </p:spPr>
      </p:sp>
      <p:sp>
        <p:nvSpPr>
          <p:cNvPr id="66" name="Text 63"/>
          <p:cNvSpPr txBox="1"/>
          <p:nvPr/>
        </p:nvSpPr>
        <p:spPr>
          <a:xfrm>
            <a:off x="2743200" y="4636008"/>
            <a:ext cx="1600200" cy="502920"/>
          </a:xfrm>
          <a:prstGeom prst="rect">
            <a:avLst/>
          </a:prstGeom>
          <a:noFill/>
          <a:ln/>
        </p:spPr>
        <p:txBody>
          <a:bodyPr wrap="square" lIns="0" tIns="0" rIns="0" bIns="0" rtlCol="0" anchor="t"/>
          <a:lstStyle/>
          <a:p>
            <a:pPr indent="0" marL="0">
              <a:buNone/>
            </a:pPr>
            <a:r>
              <a:rPr lang="en-US" sz="1200" b="1" dirty="0">
                <a:solidFill>
                  <a:srgbClr val="1E2A32"/>
                </a:solidFill>
                <a:latin typeface="Calibri" pitchFamily="34" charset="0"/>
                <a:ea typeface="Calibri" pitchFamily="34" charset="-122"/>
                <a:cs typeface="Calibri" pitchFamily="34" charset="-120"/>
              </a:rPr>
              <a:t>Global memory (HBM/GDDR)</a:t>
            </a:r>
            <a:endParaRPr lang="en-US" sz="1200" dirty="0"/>
          </a:p>
        </p:txBody>
      </p:sp>
      <p:sp>
        <p:nvSpPr>
          <p:cNvPr id="67" name="Text 64"/>
          <p:cNvSpPr txBox="1"/>
          <p:nvPr/>
        </p:nvSpPr>
        <p:spPr>
          <a:xfrm>
            <a:off x="2743200" y="5138928"/>
            <a:ext cx="1600200" cy="50292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large, off-chip</a:t>
            </a:r>
            <a:endParaRPr lang="en-US" sz="1100" dirty="0"/>
          </a:p>
        </p:txBody>
      </p:sp>
      <p:sp>
        <p:nvSpPr>
          <p:cNvPr id="68" name="mem"/>
          <p:cNvSpPr/>
          <p:nvPr/>
        </p:nvSpPr>
        <p:spPr>
          <a:xfrm>
            <a:off x="4572000" y="4572000"/>
            <a:ext cx="1783080" cy="1097280"/>
          </a:xfrm>
          <a:prstGeom prst="roundRect">
            <a:avLst>
              <a:gd name="adj" fmla="val 5000"/>
            </a:avLst>
          </a:prstGeom>
          <a:solidFill>
            <a:srgbClr val="FFFFFF"/>
          </a:solidFill>
          <a:ln w="12700">
            <a:solidFill>
              <a:srgbClr val="B9C1C7"/>
            </a:solidFill>
            <a:prstDash val="solid"/>
          </a:ln>
        </p:spPr>
      </p:sp>
      <p:sp>
        <p:nvSpPr>
          <p:cNvPr id="69" name="Text 66"/>
          <p:cNvSpPr txBox="1"/>
          <p:nvPr/>
        </p:nvSpPr>
        <p:spPr>
          <a:xfrm>
            <a:off x="4663440" y="4636008"/>
            <a:ext cx="1600200" cy="502920"/>
          </a:xfrm>
          <a:prstGeom prst="rect">
            <a:avLst/>
          </a:prstGeom>
          <a:noFill/>
          <a:ln/>
        </p:spPr>
        <p:txBody>
          <a:bodyPr wrap="square" lIns="0" tIns="0" rIns="0" bIns="0" rtlCol="0" anchor="t"/>
          <a:lstStyle/>
          <a:p>
            <a:pPr indent="0" marL="0">
              <a:buNone/>
            </a:pPr>
            <a:r>
              <a:rPr lang="en-US" sz="1200" b="1" dirty="0">
                <a:solidFill>
                  <a:srgbClr val="1E2A32"/>
                </a:solidFill>
                <a:latin typeface="Calibri" pitchFamily="34" charset="0"/>
                <a:ea typeface="Calibri" pitchFamily="34" charset="-122"/>
                <a:cs typeface="Calibri" pitchFamily="34" charset="-120"/>
              </a:rPr>
              <a:t>Tensor memory</a:t>
            </a:r>
            <a:endParaRPr lang="en-US" sz="1200" dirty="0"/>
          </a:p>
        </p:txBody>
      </p:sp>
      <p:sp>
        <p:nvSpPr>
          <p:cNvPr id="70" name="Text 67"/>
          <p:cNvSpPr txBox="1"/>
          <p:nvPr/>
        </p:nvSpPr>
        <p:spPr>
          <a:xfrm>
            <a:off x="4663440" y="5138928"/>
            <a:ext cx="1600200" cy="50292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special unit memory (e.g. Blackwell)</a:t>
            </a:r>
            <a:endParaRPr lang="en-US" sz="1100" dirty="0"/>
          </a:p>
        </p:txBody>
      </p:sp>
      <p:sp>
        <p:nvSpPr>
          <p:cNvPr id="71" name="bullets"/>
          <p:cNvSpPr txBox="1"/>
          <p:nvPr/>
        </p:nvSpPr>
        <p:spPr>
          <a:xfrm>
            <a:off x="6766560" y="1371600"/>
            <a:ext cx="4937760" cy="4389120"/>
          </a:xfrm>
          <a:prstGeom prst="rect">
            <a:avLst/>
          </a:prstGeom>
          <a:noFill/>
          <a:ln/>
        </p:spPr>
        <p:txBody>
          <a:bodyPr wrap="square" lIns="25400" tIns="25400" rIns="25400" bIns="25400" rtlCol="0" anchor="t"/>
          <a:lstStyle/>
          <a:p>
            <a:pPr marL="203200" indent="-203200">
              <a:spcAft>
                <a:spcPts val="1200"/>
              </a:spcAft>
              <a:buSzPct val="100000"/>
              <a:buChar char="•"/>
            </a:pPr>
            <a:r>
              <a:rPr lang="en-US" sz="1600" b="1" dirty="0">
                <a:solidFill>
                  <a:srgbClr val="1E2A32"/>
                </a:solidFill>
                <a:latin typeface="Calibri" pitchFamily="34" charset="0"/>
                <a:ea typeface="Calibri" pitchFamily="34" charset="-122"/>
                <a:cs typeface="Calibri" pitchFamily="34" charset="-120"/>
              </a:rPr>
              <a:t>Registers</a:t>
            </a:r>
            <a:r>
              <a:rPr lang="en-US" sz="1600" dirty="0">
                <a:solidFill>
                  <a:srgbClr val="1E2A32"/>
                </a:solidFill>
                <a:latin typeface="Calibri" pitchFamily="34" charset="0"/>
                <a:ea typeface="Calibri" pitchFamily="34" charset="-122"/>
                <a:cs typeface="Calibri" pitchFamily="34" charset="-120"/>
              </a:rPr>
              <a:t> — private to each thread (lane).</a:t>
            </a:r>
            <a:endParaRPr lang="en-US" sz="1600" dirty="0"/>
          </a:p>
          <a:p>
            <a:pPr marL="203200" indent="-203200">
              <a:spcAft>
                <a:spcPts val="1200"/>
              </a:spcAft>
              <a:buSzPct val="100000"/>
              <a:buChar char="•"/>
            </a:pPr>
            <a:r>
              <a:rPr lang="en-US" sz="1600" b="1" dirty="0">
                <a:solidFill>
                  <a:srgbClr val="1E2A32"/>
                </a:solidFill>
                <a:latin typeface="Calibri" pitchFamily="34" charset="0"/>
                <a:ea typeface="Calibri" pitchFamily="34" charset="-122"/>
                <a:cs typeface="Calibri" pitchFamily="34" charset="-120"/>
              </a:rPr>
              <a:t>Warp shuffle</a:t>
            </a:r>
            <a:r>
              <a:rPr lang="en-US" sz="1600" dirty="0">
                <a:solidFill>
                  <a:srgbClr val="1E2A32"/>
                </a:solidFill>
                <a:latin typeface="Calibri" pitchFamily="34" charset="0"/>
                <a:ea typeface="Calibri" pitchFamily="34" charset="-122"/>
                <a:cs typeface="Calibri" pitchFamily="34" charset="-120"/>
              </a:rPr>
              <a:t> — lane-to-lane exchange inside a warp, no memory round-trip.</a:t>
            </a:r>
            <a:endParaRPr lang="en-US" sz="1600" dirty="0"/>
          </a:p>
          <a:p>
            <a:pPr marL="203200" indent="-203200">
              <a:spcAft>
                <a:spcPts val="1200"/>
              </a:spcAft>
              <a:buSzPct val="100000"/>
              <a:buChar char="•"/>
            </a:pPr>
            <a:r>
              <a:rPr lang="en-US" sz="1600" b="1" dirty="0">
                <a:solidFill>
                  <a:srgbClr val="1E2A32"/>
                </a:solidFill>
                <a:latin typeface="Calibri" pitchFamily="34" charset="0"/>
                <a:ea typeface="Calibri" pitchFamily="34" charset="-122"/>
                <a:cs typeface="Calibri" pitchFamily="34" charset="-120"/>
              </a:rPr>
              <a:t>Shared memory</a:t>
            </a:r>
            <a:r>
              <a:rPr lang="en-US" sz="1600" dirty="0">
                <a:solidFill>
                  <a:srgbClr val="1E2A32"/>
                </a:solidFill>
                <a:latin typeface="Calibri" pitchFamily="34" charset="0"/>
                <a:ea typeface="Calibri" pitchFamily="34" charset="-122"/>
                <a:cs typeface="Calibri" pitchFamily="34" charset="-120"/>
              </a:rPr>
              <a:t> — cooperative on-chip storage, split into </a:t>
            </a:r>
            <a:r>
              <a:rPr lang="en-US" sz="1600" b="1" dirty="0">
                <a:solidFill>
                  <a:srgbClr val="1E2A32"/>
                </a:solidFill>
                <a:latin typeface="Calibri" pitchFamily="34" charset="0"/>
                <a:ea typeface="Calibri" pitchFamily="34" charset="-122"/>
                <a:cs typeface="Calibri" pitchFamily="34" charset="-120"/>
              </a:rPr>
              <a:t>banks</a:t>
            </a:r>
            <a:r>
              <a:rPr lang="en-US" sz="1600" dirty="0">
                <a:solidFill>
                  <a:srgbClr val="1E2A32"/>
                </a:solidFill>
                <a:latin typeface="Calibri" pitchFamily="34" charset="0"/>
                <a:ea typeface="Calibri" pitchFamily="34" charset="-122"/>
                <a:cs typeface="Calibri" pitchFamily="34" charset="-120"/>
              </a:rPr>
              <a:t>.</a:t>
            </a:r>
            <a:endParaRPr lang="en-US" sz="1600" dirty="0"/>
          </a:p>
          <a:p>
            <a:pPr marL="203200" indent="-203200">
              <a:spcAft>
                <a:spcPts val="1200"/>
              </a:spcAft>
              <a:buSzPct val="100000"/>
              <a:buChar char="•"/>
            </a:pPr>
            <a:r>
              <a:rPr lang="en-US" sz="1600" b="1" dirty="0">
                <a:solidFill>
                  <a:srgbClr val="1E2A32"/>
                </a:solidFill>
                <a:latin typeface="Calibri" pitchFamily="34" charset="0"/>
                <a:ea typeface="Calibri" pitchFamily="34" charset="-122"/>
                <a:cs typeface="Calibri" pitchFamily="34" charset="-120"/>
              </a:rPr>
              <a:t>MMA / WGMMA</a:t>
            </a:r>
            <a:r>
              <a:rPr lang="en-US" sz="1600" dirty="0">
                <a:solidFill>
                  <a:srgbClr val="1E2A32"/>
                </a:solidFill>
                <a:latin typeface="Calibri" pitchFamily="34" charset="0"/>
                <a:ea typeface="Calibri" pitchFamily="34" charset="-122"/>
                <a:cs typeface="Calibri" pitchFamily="34" charset="-120"/>
              </a:rPr>
              <a:t> (NVIDIA), </a:t>
            </a:r>
            <a:r>
              <a:rPr lang="en-US" sz="1600" b="1" dirty="0">
                <a:solidFill>
                  <a:srgbClr val="1E2A32"/>
                </a:solidFill>
                <a:latin typeface="Calibri" pitchFamily="34" charset="0"/>
                <a:ea typeface="Calibri" pitchFamily="34" charset="-122"/>
                <a:cs typeface="Calibri" pitchFamily="34" charset="-120"/>
              </a:rPr>
              <a:t>MFMA</a:t>
            </a:r>
            <a:r>
              <a:rPr lang="en-US" sz="1600" dirty="0">
                <a:solidFill>
                  <a:srgbClr val="1E2A32"/>
                </a:solidFill>
                <a:latin typeface="Calibri" pitchFamily="34" charset="0"/>
                <a:ea typeface="Calibri" pitchFamily="34" charset="-122"/>
                <a:cs typeface="Calibri" pitchFamily="34" charset="-120"/>
              </a:rPr>
              <a:t> (AMD) — matrix multiply-accumulate instructions that </a:t>
            </a:r>
            <a:r>
              <a:rPr lang="en-US" sz="1600" b="1" dirty="0">
                <a:solidFill>
                  <a:srgbClr val="1E2A32"/>
                </a:solidFill>
                <a:latin typeface="Calibri" pitchFamily="34" charset="0"/>
                <a:ea typeface="Calibri" pitchFamily="34" charset="-122"/>
                <a:cs typeface="Calibri" pitchFamily="34" charset="-120"/>
              </a:rPr>
              <a:t>dictate</a:t>
            </a:r>
            <a:r>
              <a:rPr lang="en-US" sz="1600" dirty="0">
                <a:solidFill>
                  <a:srgbClr val="1E2A32"/>
                </a:solidFill>
                <a:latin typeface="Calibri" pitchFamily="34" charset="0"/>
                <a:ea typeface="Calibri" pitchFamily="34" charset="-122"/>
                <a:cs typeface="Calibri" pitchFamily="34" charset="-120"/>
              </a:rPr>
              <a:t> operand and output layouts.</a:t>
            </a:r>
            <a:endParaRPr lang="en-US" sz="16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BACKGROUND · §2.2</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Triton and its compiler pipeline (conceptual)</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§2.2 Triton Language and Compiler, p. 134; upstream triton-lang/triton</a:t>
            </a:r>
            <a:endParaRPr lang="en-US" sz="1000" dirty="0"/>
          </a:p>
        </p:txBody>
      </p:sp>
      <p:sp>
        <p:nvSpPr>
          <p:cNvPr id="6" name="stage"/>
          <p:cNvSpPr/>
          <p:nvPr/>
        </p:nvSpPr>
        <p:spPr>
          <a:xfrm>
            <a:off x="502920" y="1920240"/>
            <a:ext cx="1645920" cy="1234440"/>
          </a:xfrm>
          <a:prstGeom prst="roundRect">
            <a:avLst>
              <a:gd name="adj" fmla="val 5185"/>
            </a:avLst>
          </a:prstGeom>
          <a:solidFill>
            <a:srgbClr val="F3F6F7"/>
          </a:solidFill>
          <a:ln/>
        </p:spPr>
      </p:sp>
      <p:sp>
        <p:nvSpPr>
          <p:cNvPr id="7" name="Text 4"/>
          <p:cNvSpPr txBox="1"/>
          <p:nvPr/>
        </p:nvSpPr>
        <p:spPr>
          <a:xfrm>
            <a:off x="594360" y="2057400"/>
            <a:ext cx="1463040" cy="365760"/>
          </a:xfrm>
          <a:prstGeom prst="rect">
            <a:avLst/>
          </a:prstGeom>
          <a:noFill/>
          <a:ln/>
        </p:spPr>
        <p:txBody>
          <a:bodyPr wrap="square" lIns="0" tIns="0" rIns="0" bIns="0" rtlCol="0" anchor="t"/>
          <a:lstStyle/>
          <a:p>
            <a:pPr algn="ctr" indent="0" marL="0">
              <a:buNone/>
            </a:pPr>
            <a:r>
              <a:rPr lang="en-US" sz="1700" b="1" dirty="0">
                <a:solidFill>
                  <a:srgbClr val="1E2A32"/>
                </a:solidFill>
                <a:latin typeface="Calibri" pitchFamily="34" charset="0"/>
                <a:ea typeface="Calibri" pitchFamily="34" charset="-122"/>
                <a:cs typeface="Calibri" pitchFamily="34" charset="-120"/>
              </a:rPr>
              <a:t>Python</a:t>
            </a:r>
            <a:endParaRPr lang="en-US" sz="1700" dirty="0"/>
          </a:p>
        </p:txBody>
      </p:sp>
      <p:sp>
        <p:nvSpPr>
          <p:cNvPr id="8" name="Text 5"/>
          <p:cNvSpPr txBox="1"/>
          <p:nvPr/>
        </p:nvSpPr>
        <p:spPr>
          <a:xfrm>
            <a:off x="594360" y="2468880"/>
            <a:ext cx="1463040" cy="64008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Triton kernel (tiles)</a:t>
            </a:r>
            <a:endParaRPr lang="en-US" sz="1200" dirty="0"/>
          </a:p>
        </p:txBody>
      </p:sp>
      <p:sp>
        <p:nvSpPr>
          <p:cNvPr id="9" name="arrow"/>
          <p:cNvSpPr/>
          <p:nvPr/>
        </p:nvSpPr>
        <p:spPr>
          <a:xfrm>
            <a:off x="2167128" y="2532888"/>
            <a:ext cx="228600" cy="914"/>
          </a:xfrm>
          <a:prstGeom prst="line">
            <a:avLst/>
          </a:prstGeom>
          <a:noFill/>
          <a:ln w="15875">
            <a:solidFill>
              <a:srgbClr val="5B6770"/>
            </a:solidFill>
            <a:prstDash val="solid"/>
            <a:tailEnd type="triangle"/>
          </a:ln>
        </p:spPr>
      </p:sp>
      <p:sp>
        <p:nvSpPr>
          <p:cNvPr id="10" name="stage"/>
          <p:cNvSpPr/>
          <p:nvPr/>
        </p:nvSpPr>
        <p:spPr>
          <a:xfrm>
            <a:off x="2414016" y="1920240"/>
            <a:ext cx="1645920" cy="1234440"/>
          </a:xfrm>
          <a:prstGeom prst="roundRect">
            <a:avLst>
              <a:gd name="adj" fmla="val 5185"/>
            </a:avLst>
          </a:prstGeom>
          <a:solidFill>
            <a:srgbClr val="F3F6F7"/>
          </a:solidFill>
          <a:ln/>
        </p:spPr>
      </p:sp>
      <p:sp>
        <p:nvSpPr>
          <p:cNvPr id="11" name="Text 8"/>
          <p:cNvSpPr txBox="1"/>
          <p:nvPr/>
        </p:nvSpPr>
        <p:spPr>
          <a:xfrm>
            <a:off x="2505456" y="2057400"/>
            <a:ext cx="1463040" cy="365760"/>
          </a:xfrm>
          <a:prstGeom prst="rect">
            <a:avLst/>
          </a:prstGeom>
          <a:noFill/>
          <a:ln/>
        </p:spPr>
        <p:txBody>
          <a:bodyPr wrap="square" lIns="0" tIns="0" rIns="0" bIns="0" rtlCol="0" anchor="t"/>
          <a:lstStyle/>
          <a:p>
            <a:pPr algn="ctr" indent="0" marL="0">
              <a:buNone/>
            </a:pPr>
            <a:r>
              <a:rPr lang="en-US" sz="1700" b="1" dirty="0">
                <a:solidFill>
                  <a:srgbClr val="1E2A32"/>
                </a:solidFill>
                <a:latin typeface="Calibri" pitchFamily="34" charset="0"/>
                <a:ea typeface="Calibri" pitchFamily="34" charset="-122"/>
                <a:cs typeface="Calibri" pitchFamily="34" charset="-120"/>
              </a:rPr>
              <a:t>TTIR</a:t>
            </a:r>
            <a:endParaRPr lang="en-US" sz="1700" dirty="0"/>
          </a:p>
        </p:txBody>
      </p:sp>
      <p:sp>
        <p:nvSpPr>
          <p:cNvPr id="12" name="Text 9"/>
          <p:cNvSpPr txBox="1"/>
          <p:nvPr/>
        </p:nvSpPr>
        <p:spPr>
          <a:xfrm>
            <a:off x="2505456" y="2468880"/>
            <a:ext cx="1463040" cy="64008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tt dialect</a:t>
            </a:r>
            <a:endParaRPr lang="en-US" sz="1200" dirty="0"/>
          </a:p>
        </p:txBody>
      </p:sp>
      <p:sp>
        <p:nvSpPr>
          <p:cNvPr id="13" name="arrow"/>
          <p:cNvSpPr/>
          <p:nvPr/>
        </p:nvSpPr>
        <p:spPr>
          <a:xfrm>
            <a:off x="4078224" y="2532888"/>
            <a:ext cx="228600" cy="914"/>
          </a:xfrm>
          <a:prstGeom prst="line">
            <a:avLst/>
          </a:prstGeom>
          <a:noFill/>
          <a:ln w="15875">
            <a:solidFill>
              <a:srgbClr val="5B6770"/>
            </a:solidFill>
            <a:prstDash val="solid"/>
            <a:tailEnd type="triangle"/>
          </a:ln>
        </p:spPr>
      </p:sp>
      <p:sp>
        <p:nvSpPr>
          <p:cNvPr id="14" name="stage"/>
          <p:cNvSpPr/>
          <p:nvPr/>
        </p:nvSpPr>
        <p:spPr>
          <a:xfrm>
            <a:off x="4325112" y="1920240"/>
            <a:ext cx="1645920" cy="1234440"/>
          </a:xfrm>
          <a:prstGeom prst="roundRect">
            <a:avLst>
              <a:gd name="adj" fmla="val 5185"/>
            </a:avLst>
          </a:prstGeom>
          <a:solidFill>
            <a:srgbClr val="DDEFF1"/>
          </a:solidFill>
          <a:ln w="19050">
            <a:solidFill>
              <a:srgbClr val="0E6E7A"/>
            </a:solidFill>
            <a:prstDash val="solid"/>
          </a:ln>
        </p:spPr>
      </p:sp>
      <p:sp>
        <p:nvSpPr>
          <p:cNvPr id="15" name="Text 12"/>
          <p:cNvSpPr txBox="1"/>
          <p:nvPr/>
        </p:nvSpPr>
        <p:spPr>
          <a:xfrm>
            <a:off x="4416552" y="2057400"/>
            <a:ext cx="1463040" cy="365760"/>
          </a:xfrm>
          <a:prstGeom prst="rect">
            <a:avLst/>
          </a:prstGeom>
          <a:noFill/>
          <a:ln/>
        </p:spPr>
        <p:txBody>
          <a:bodyPr wrap="square" lIns="0" tIns="0" rIns="0" bIns="0" rtlCol="0" anchor="t"/>
          <a:lstStyle/>
          <a:p>
            <a:pPr algn="ctr" indent="0" marL="0">
              <a:buNone/>
            </a:pPr>
            <a:r>
              <a:rPr lang="en-US" sz="1700" b="1" dirty="0">
                <a:solidFill>
                  <a:srgbClr val="0A4F58"/>
                </a:solidFill>
                <a:latin typeface="Calibri" pitchFamily="34" charset="0"/>
                <a:ea typeface="Calibri" pitchFamily="34" charset="-122"/>
                <a:cs typeface="Calibri" pitchFamily="34" charset="-120"/>
              </a:rPr>
              <a:t>TTGIR</a:t>
            </a:r>
            <a:endParaRPr lang="en-US" sz="1700" dirty="0"/>
          </a:p>
        </p:txBody>
      </p:sp>
      <p:sp>
        <p:nvSpPr>
          <p:cNvPr id="16" name="Text 13"/>
          <p:cNvSpPr txBox="1"/>
          <p:nvPr/>
        </p:nvSpPr>
        <p:spPr>
          <a:xfrm>
            <a:off x="4416552" y="2468880"/>
            <a:ext cx="1463040" cy="64008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ttg dialect: tensors carry layouts</a:t>
            </a:r>
            <a:endParaRPr lang="en-US" sz="1200" dirty="0"/>
          </a:p>
        </p:txBody>
      </p:sp>
      <p:sp>
        <p:nvSpPr>
          <p:cNvPr id="17" name="arrow"/>
          <p:cNvSpPr/>
          <p:nvPr/>
        </p:nvSpPr>
        <p:spPr>
          <a:xfrm>
            <a:off x="5989320" y="2532888"/>
            <a:ext cx="228600" cy="914"/>
          </a:xfrm>
          <a:prstGeom prst="line">
            <a:avLst/>
          </a:prstGeom>
          <a:noFill/>
          <a:ln w="15875">
            <a:solidFill>
              <a:srgbClr val="5B6770"/>
            </a:solidFill>
            <a:prstDash val="solid"/>
            <a:tailEnd type="triangle"/>
          </a:ln>
        </p:spPr>
      </p:sp>
      <p:sp>
        <p:nvSpPr>
          <p:cNvPr id="18" name="stage"/>
          <p:cNvSpPr/>
          <p:nvPr/>
        </p:nvSpPr>
        <p:spPr>
          <a:xfrm>
            <a:off x="6236208" y="1920240"/>
            <a:ext cx="1645920" cy="1234440"/>
          </a:xfrm>
          <a:prstGeom prst="roundRect">
            <a:avLst>
              <a:gd name="adj" fmla="val 5185"/>
            </a:avLst>
          </a:prstGeom>
          <a:solidFill>
            <a:srgbClr val="F3F6F7"/>
          </a:solidFill>
          <a:ln/>
        </p:spPr>
      </p:sp>
      <p:sp>
        <p:nvSpPr>
          <p:cNvPr id="19" name="Text 16"/>
          <p:cNvSpPr txBox="1"/>
          <p:nvPr/>
        </p:nvSpPr>
        <p:spPr>
          <a:xfrm>
            <a:off x="6327648" y="2057400"/>
            <a:ext cx="1463040" cy="365760"/>
          </a:xfrm>
          <a:prstGeom prst="rect">
            <a:avLst/>
          </a:prstGeom>
          <a:noFill/>
          <a:ln/>
        </p:spPr>
        <p:txBody>
          <a:bodyPr wrap="square" lIns="0" tIns="0" rIns="0" bIns="0" rtlCol="0" anchor="t"/>
          <a:lstStyle/>
          <a:p>
            <a:pPr algn="ctr" indent="0" marL="0">
              <a:buNone/>
            </a:pPr>
            <a:r>
              <a:rPr lang="en-US" sz="1700" b="1" dirty="0">
                <a:solidFill>
                  <a:srgbClr val="1E2A32"/>
                </a:solidFill>
                <a:latin typeface="Calibri" pitchFamily="34" charset="0"/>
                <a:ea typeface="Calibri" pitchFamily="34" charset="-122"/>
                <a:cs typeface="Calibri" pitchFamily="34" charset="-120"/>
              </a:rPr>
              <a:t>LLVM IR</a:t>
            </a:r>
            <a:endParaRPr lang="en-US" sz="1700" dirty="0"/>
          </a:p>
        </p:txBody>
      </p:sp>
      <p:sp>
        <p:nvSpPr>
          <p:cNvPr id="20" name="Text 17"/>
          <p:cNvSpPr txBox="1"/>
          <p:nvPr/>
        </p:nvSpPr>
        <p:spPr>
          <a:xfrm>
            <a:off x="6327648" y="2468880"/>
            <a:ext cx="1463040" cy="64008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loads, shuffles, math</a:t>
            </a:r>
            <a:endParaRPr lang="en-US" sz="1200" dirty="0"/>
          </a:p>
        </p:txBody>
      </p:sp>
      <p:sp>
        <p:nvSpPr>
          <p:cNvPr id="21" name="arrow"/>
          <p:cNvSpPr/>
          <p:nvPr/>
        </p:nvSpPr>
        <p:spPr>
          <a:xfrm>
            <a:off x="7900416" y="2532888"/>
            <a:ext cx="228600" cy="914"/>
          </a:xfrm>
          <a:prstGeom prst="line">
            <a:avLst/>
          </a:prstGeom>
          <a:noFill/>
          <a:ln w="15875">
            <a:solidFill>
              <a:srgbClr val="5B6770"/>
            </a:solidFill>
            <a:prstDash val="solid"/>
            <a:tailEnd type="triangle"/>
          </a:ln>
        </p:spPr>
      </p:sp>
      <p:sp>
        <p:nvSpPr>
          <p:cNvPr id="22" name="stage"/>
          <p:cNvSpPr/>
          <p:nvPr/>
        </p:nvSpPr>
        <p:spPr>
          <a:xfrm>
            <a:off x="8147304" y="1920240"/>
            <a:ext cx="1645920" cy="1234440"/>
          </a:xfrm>
          <a:prstGeom prst="roundRect">
            <a:avLst>
              <a:gd name="adj" fmla="val 5185"/>
            </a:avLst>
          </a:prstGeom>
          <a:solidFill>
            <a:srgbClr val="F3F6F7"/>
          </a:solidFill>
          <a:ln/>
        </p:spPr>
      </p:sp>
      <p:sp>
        <p:nvSpPr>
          <p:cNvPr id="23" name="Text 20"/>
          <p:cNvSpPr txBox="1"/>
          <p:nvPr/>
        </p:nvSpPr>
        <p:spPr>
          <a:xfrm>
            <a:off x="8238744" y="2057400"/>
            <a:ext cx="1463040" cy="365760"/>
          </a:xfrm>
          <a:prstGeom prst="rect">
            <a:avLst/>
          </a:prstGeom>
          <a:noFill/>
          <a:ln/>
        </p:spPr>
        <p:txBody>
          <a:bodyPr wrap="square" lIns="0" tIns="0" rIns="0" bIns="0" rtlCol="0" anchor="t"/>
          <a:lstStyle/>
          <a:p>
            <a:pPr algn="ctr" indent="0" marL="0">
              <a:buNone/>
            </a:pPr>
            <a:r>
              <a:rPr lang="en-US" sz="1700" b="1" dirty="0">
                <a:solidFill>
                  <a:srgbClr val="1E2A32"/>
                </a:solidFill>
                <a:latin typeface="Calibri" pitchFamily="34" charset="0"/>
                <a:ea typeface="Calibri" pitchFamily="34" charset="-122"/>
                <a:cs typeface="Calibri" pitchFamily="34" charset="-120"/>
              </a:rPr>
              <a:t>PTX / AMDGCN</a:t>
            </a:r>
            <a:endParaRPr lang="en-US" sz="1700" dirty="0"/>
          </a:p>
        </p:txBody>
      </p:sp>
      <p:sp>
        <p:nvSpPr>
          <p:cNvPr id="24" name="Text 21"/>
          <p:cNvSpPr txBox="1"/>
          <p:nvPr/>
        </p:nvSpPr>
        <p:spPr>
          <a:xfrm>
            <a:off x="8238744" y="2468880"/>
            <a:ext cx="1463040" cy="64008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target ISA</a:t>
            </a:r>
            <a:endParaRPr lang="en-US" sz="1200" dirty="0"/>
          </a:p>
        </p:txBody>
      </p:sp>
      <p:sp>
        <p:nvSpPr>
          <p:cNvPr id="25" name="arrow"/>
          <p:cNvSpPr/>
          <p:nvPr/>
        </p:nvSpPr>
        <p:spPr>
          <a:xfrm>
            <a:off x="9811512" y="2532888"/>
            <a:ext cx="228600" cy="914"/>
          </a:xfrm>
          <a:prstGeom prst="line">
            <a:avLst/>
          </a:prstGeom>
          <a:noFill/>
          <a:ln w="15875">
            <a:solidFill>
              <a:srgbClr val="5B6770"/>
            </a:solidFill>
            <a:prstDash val="solid"/>
            <a:tailEnd type="triangle"/>
          </a:ln>
        </p:spPr>
      </p:sp>
      <p:sp>
        <p:nvSpPr>
          <p:cNvPr id="26" name="stage"/>
          <p:cNvSpPr/>
          <p:nvPr/>
        </p:nvSpPr>
        <p:spPr>
          <a:xfrm>
            <a:off x="10058400" y="1920240"/>
            <a:ext cx="1645920" cy="1234440"/>
          </a:xfrm>
          <a:prstGeom prst="roundRect">
            <a:avLst>
              <a:gd name="adj" fmla="val 5185"/>
            </a:avLst>
          </a:prstGeom>
          <a:solidFill>
            <a:srgbClr val="F3F6F7"/>
          </a:solidFill>
          <a:ln/>
        </p:spPr>
      </p:sp>
      <p:sp>
        <p:nvSpPr>
          <p:cNvPr id="27" name="Text 24"/>
          <p:cNvSpPr txBox="1"/>
          <p:nvPr/>
        </p:nvSpPr>
        <p:spPr>
          <a:xfrm>
            <a:off x="10149840" y="2057400"/>
            <a:ext cx="1463040" cy="365760"/>
          </a:xfrm>
          <a:prstGeom prst="rect">
            <a:avLst/>
          </a:prstGeom>
          <a:noFill/>
          <a:ln/>
        </p:spPr>
        <p:txBody>
          <a:bodyPr wrap="square" lIns="0" tIns="0" rIns="0" bIns="0" rtlCol="0" anchor="t"/>
          <a:lstStyle/>
          <a:p>
            <a:pPr algn="ctr" indent="0" marL="0">
              <a:buNone/>
            </a:pPr>
            <a:r>
              <a:rPr lang="en-US" sz="1700" b="1" dirty="0">
                <a:solidFill>
                  <a:srgbClr val="1E2A32"/>
                </a:solidFill>
                <a:latin typeface="Calibri" pitchFamily="34" charset="0"/>
                <a:ea typeface="Calibri" pitchFamily="34" charset="-122"/>
                <a:cs typeface="Calibri" pitchFamily="34" charset="-120"/>
              </a:rPr>
              <a:t>GPU</a:t>
            </a:r>
            <a:endParaRPr lang="en-US" sz="1700" dirty="0"/>
          </a:p>
        </p:txBody>
      </p:sp>
      <p:sp>
        <p:nvSpPr>
          <p:cNvPr id="28" name="Text 25"/>
          <p:cNvSpPr txBox="1"/>
          <p:nvPr/>
        </p:nvSpPr>
        <p:spPr>
          <a:xfrm>
            <a:off x="10149840" y="2468880"/>
            <a:ext cx="1463040" cy="64008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execution</a:t>
            </a:r>
            <a:endParaRPr lang="en-US" sz="1200" dirty="0"/>
          </a:p>
        </p:txBody>
      </p:sp>
      <p:sp>
        <p:nvSpPr>
          <p:cNvPr id="29" name="Text 26"/>
          <p:cNvSpPr txBox="1"/>
          <p:nvPr/>
        </p:nvSpPr>
        <p:spPr>
          <a:xfrm>
            <a:off x="3227832" y="3246120"/>
            <a:ext cx="585216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 Linear Layouts live here: layout assignment, propagation and conversion</a:t>
            </a:r>
            <a:endParaRPr lang="en-US" sz="1300" dirty="0"/>
          </a:p>
        </p:txBody>
      </p:sp>
      <p:sp>
        <p:nvSpPr>
          <p:cNvPr id="30" name="divider"/>
          <p:cNvSpPr/>
          <p:nvPr/>
        </p:nvSpPr>
        <p:spPr>
          <a:xfrm>
            <a:off x="9925812" y="1417320"/>
            <a:ext cx="0" cy="2286000"/>
          </a:xfrm>
          <a:prstGeom prst="line">
            <a:avLst/>
          </a:prstGeom>
          <a:noFill/>
          <a:ln w="15875">
            <a:solidFill>
              <a:srgbClr val="B9C1C7"/>
            </a:solidFill>
            <a:prstDash val="dash"/>
          </a:ln>
        </p:spPr>
      </p:sp>
      <p:sp>
        <p:nvSpPr>
          <p:cNvPr id="31" name="Text 28"/>
          <p:cNvSpPr txBox="1"/>
          <p:nvPr/>
        </p:nvSpPr>
        <p:spPr>
          <a:xfrm>
            <a:off x="502920" y="1463040"/>
            <a:ext cx="274320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compile time</a:t>
            </a:r>
            <a:endParaRPr lang="en-US" sz="1200" dirty="0"/>
          </a:p>
        </p:txBody>
      </p:sp>
      <p:sp>
        <p:nvSpPr>
          <p:cNvPr id="32" name="Text 29"/>
          <p:cNvSpPr txBox="1"/>
          <p:nvPr/>
        </p:nvSpPr>
        <p:spPr>
          <a:xfrm>
            <a:off x="10058400" y="1463040"/>
            <a:ext cx="1645920" cy="274320"/>
          </a:xfrm>
          <a:prstGeom prst="rect">
            <a:avLst/>
          </a:prstGeom>
          <a:noFill/>
          <a:ln/>
        </p:spPr>
        <p:txBody>
          <a:bodyPr wrap="square" lIns="0" tIns="0" rIns="0" bIns="0" rtlCol="0" anchor="t"/>
          <a:lstStyle/>
          <a:p>
            <a:pPr algn="ctr" indent="0" marL="0">
              <a:buNone/>
            </a:pPr>
            <a:r>
              <a:rPr lang="en-US" sz="1200" i="1" dirty="0">
                <a:solidFill>
                  <a:srgbClr val="5B6770"/>
                </a:solidFill>
                <a:latin typeface="Calibri" pitchFamily="34" charset="0"/>
                <a:ea typeface="Calibri" pitchFamily="34" charset="-122"/>
                <a:cs typeface="Calibri" pitchFamily="34" charset="-120"/>
              </a:rPr>
              <a:t>run time</a:t>
            </a:r>
            <a:endParaRPr lang="en-US" sz="1200" dirty="0"/>
          </a:p>
        </p:txBody>
      </p:sp>
      <p:sp>
        <p:nvSpPr>
          <p:cNvPr id="33" name="bullets"/>
          <p:cNvSpPr txBox="1"/>
          <p:nvPr/>
        </p:nvSpPr>
        <p:spPr>
          <a:xfrm>
            <a:off x="502920" y="3931920"/>
            <a:ext cx="11155680" cy="1920240"/>
          </a:xfrm>
          <a:prstGeom prst="rect">
            <a:avLst/>
          </a:prstGeom>
          <a:noFill/>
          <a:ln/>
        </p:spPr>
        <p:txBody>
          <a:bodyPr wrap="square" lIns="25400" tIns="25400" rIns="25400" bIns="25400" rtlCol="0" anchor="t"/>
          <a:lstStyle/>
          <a:p>
            <a:pPr marL="203200" indent="-203200">
              <a:spcAft>
                <a:spcPts val="800"/>
              </a:spcAft>
              <a:buSzPct val="100000"/>
              <a:buChar char="•"/>
            </a:pPr>
            <a:r>
              <a:rPr lang="en-US" sz="1600" dirty="0">
                <a:solidFill>
                  <a:srgbClr val="1E2A32"/>
                </a:solidFill>
                <a:latin typeface="Calibri" pitchFamily="34" charset="0"/>
                <a:ea typeface="Calibri" pitchFamily="34" charset="-122"/>
                <a:cs typeface="Calibri" pitchFamily="34" charset="-120"/>
              </a:rPr>
              <a:t>Triton is a Python-like DSL for GPU kernels; the programmer thinks in </a:t>
            </a:r>
            <a:r>
              <a:rPr lang="en-US" sz="1600" b="1" dirty="0">
                <a:solidFill>
                  <a:srgbClr val="1E2A32"/>
                </a:solidFill>
                <a:latin typeface="Calibri" pitchFamily="34" charset="0"/>
                <a:ea typeface="Calibri" pitchFamily="34" charset="-122"/>
                <a:cs typeface="Calibri" pitchFamily="34" charset="-120"/>
              </a:rPr>
              <a:t>tiles</a:t>
            </a:r>
            <a:r>
              <a:rPr lang="en-US" sz="1600" dirty="0">
                <a:solidFill>
                  <a:srgbClr val="1E2A32"/>
                </a:solidFill>
                <a:latin typeface="Calibri" pitchFamily="34" charset="0"/>
                <a:ea typeface="Calibri" pitchFamily="34" charset="-122"/>
                <a:cs typeface="Calibri" pitchFamily="34" charset="-120"/>
              </a:rPr>
              <a:t> per CTA.</a:t>
            </a:r>
            <a:endParaRPr lang="en-US" sz="1600" dirty="0"/>
          </a:p>
          <a:p>
            <a:pPr marL="203200" indent="-203200">
              <a:spcAft>
                <a:spcPts val="800"/>
              </a:spcAft>
              <a:buSzPct val="100000"/>
              <a:buChar char="•"/>
            </a:pPr>
            <a:r>
              <a:rPr lang="en-US" sz="1600" dirty="0">
                <a:solidFill>
                  <a:srgbClr val="1E2A32"/>
                </a:solidFill>
                <a:latin typeface="Calibri" pitchFamily="34" charset="0"/>
                <a:ea typeface="Calibri" pitchFamily="34" charset="-122"/>
                <a:cs typeface="Calibri" pitchFamily="34" charset="-120"/>
              </a:rPr>
              <a:t>Values in TTGIR carry </a:t>
            </a:r>
            <a:r>
              <a:rPr lang="en-US" sz="1600" b="1" dirty="0">
                <a:solidFill>
                  <a:srgbClr val="1E2A32"/>
                </a:solidFill>
                <a:latin typeface="Calibri" pitchFamily="34" charset="0"/>
                <a:ea typeface="Calibri" pitchFamily="34" charset="-122"/>
                <a:cs typeface="Calibri" pitchFamily="34" charset="-120"/>
              </a:rPr>
              <a:t>layouts</a:t>
            </a:r>
            <a:r>
              <a:rPr lang="en-US" sz="1600" dirty="0">
                <a:solidFill>
                  <a:srgbClr val="1E2A32"/>
                </a:solidFill>
                <a:latin typeface="Calibri" pitchFamily="34" charset="0"/>
                <a:ea typeface="Calibri" pitchFamily="34" charset="-122"/>
                <a:cs typeface="Calibri" pitchFamily="34" charset="-120"/>
              </a:rPr>
              <a:t>; layout analysis and instruction selection happen at </a:t>
            </a:r>
            <a:r>
              <a:rPr lang="en-US" sz="1600" b="1" dirty="0">
                <a:solidFill>
                  <a:srgbClr val="1E2A32"/>
                </a:solidFill>
                <a:latin typeface="Calibri" pitchFamily="34" charset="0"/>
                <a:ea typeface="Calibri" pitchFamily="34" charset="-122"/>
                <a:cs typeface="Calibri" pitchFamily="34" charset="-120"/>
              </a:rPr>
              <a:t>compile time</a:t>
            </a:r>
            <a:r>
              <a:rPr lang="en-US" sz="1600" dirty="0">
                <a:solidFill>
                  <a:srgbClr val="1E2A32"/>
                </a:solidFill>
                <a:latin typeface="Calibri" pitchFamily="34" charset="0"/>
                <a:ea typeface="Calibri" pitchFamily="34" charset="-122"/>
                <a:cs typeface="Calibri" pitchFamily="34" charset="-120"/>
              </a:rPr>
              <a:t>.</a:t>
            </a:r>
            <a:endParaRPr lang="en-US" sz="1600" dirty="0"/>
          </a:p>
          <a:p>
            <a:pPr marL="203200" indent="-203200">
              <a:spcAft>
                <a:spcPts val="800"/>
              </a:spcAft>
              <a:buSzPct val="100000"/>
              <a:buChar char="•"/>
            </a:pPr>
            <a:r>
              <a:rPr lang="en-US" sz="1600" dirty="0">
                <a:solidFill>
                  <a:srgbClr val="1E2A32"/>
                </a:solidFill>
                <a:latin typeface="Calibri" pitchFamily="34" charset="0"/>
                <a:ea typeface="Calibri" pitchFamily="34" charset="-122"/>
                <a:cs typeface="Calibri" pitchFamily="34" charset="-120"/>
              </a:rPr>
              <a:t>The GPU only executes the generated loads, shuffles, math and stores — it never "solves" a layout matrix.</a:t>
            </a:r>
            <a:endParaRPr lang="en-US" sz="16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BACKGROUND · §2.4</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The only algebra we need: F₂</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§2.4 F₂ Mathematics, p. 135; column view as in LinearLayout.h comments</a:t>
            </a:r>
            <a:endParaRPr lang="en-US" sz="1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2194560" cy="914400"/>
        </p:xfrm>
        <a:graphic>
          <a:graphicData uri="http://schemas.openxmlformats.org/drawingml/2006/table">
            <a:tbl>
              <a:tblPr/>
              <a:tblGrid>
                <a:gridCol w="914400"/>
                <a:gridCol w="640080"/>
                <a:gridCol w="640080"/>
              </a:tblGrid>
              <a:tr h="347472">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 (XOR)</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47472">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47472">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3017520" y="1417320"/>
          <a:ext cx="2194560" cy="914400"/>
        </p:xfrm>
        <a:graphic>
          <a:graphicData uri="http://schemas.openxmlformats.org/drawingml/2006/table">
            <a:tbl>
              <a:tblPr/>
              <a:tblGrid>
                <a:gridCol w="914400"/>
                <a:gridCol w="640080"/>
                <a:gridCol w="640080"/>
              </a:tblGrid>
              <a:tr h="347472">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 (AND)</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47472">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47472">
                <a:tc>
                  <a:txBody>
                    <a:bodyP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8" name="Text 3"/>
          <p:cNvSpPr txBox="1"/>
          <p:nvPr/>
        </p:nvSpPr>
        <p:spPr>
          <a:xfrm>
            <a:off x="548640" y="2606040"/>
            <a:ext cx="4846320" cy="32004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F₂ = {0, 1}.  Addition = </a:t>
            </a:r>
            <a:r>
              <a:rPr lang="en-US" sz="1500" b="1" dirty="0">
                <a:solidFill>
                  <a:srgbClr val="1E2A32"/>
                </a:solidFill>
                <a:latin typeface="Calibri" pitchFamily="34" charset="0"/>
                <a:ea typeface="Calibri" pitchFamily="34" charset="-122"/>
                <a:cs typeface="Calibri" pitchFamily="34" charset="-120"/>
              </a:rPr>
              <a:t>XOR</a:t>
            </a:r>
            <a:r>
              <a:rPr lang="en-US" sz="1500" dirty="0">
                <a:solidFill>
                  <a:srgbClr val="1E2A32"/>
                </a:solidFill>
                <a:latin typeface="Calibri" pitchFamily="34" charset="0"/>
                <a:ea typeface="Calibri" pitchFamily="34" charset="-122"/>
                <a:cs typeface="Calibri" pitchFamily="34" charset="-120"/>
              </a:rPr>
              <a:t>, multiplication = </a:t>
            </a:r>
            <a:r>
              <a:rPr lang="en-US" sz="1500" b="1" dirty="0">
                <a:solidFill>
                  <a:srgbClr val="1E2A32"/>
                </a:solidFill>
                <a:latin typeface="Calibri" pitchFamily="34" charset="0"/>
                <a:ea typeface="Calibri" pitchFamily="34" charset="-122"/>
                <a:cs typeface="Calibri" pitchFamily="34" charset="-120"/>
              </a:rPr>
              <a:t>AND</a:t>
            </a:r>
            <a:r>
              <a:rPr lang="en-US" sz="1500" dirty="0">
                <a:solidFill>
                  <a:srgbClr val="1E2A32"/>
                </a:solidFill>
                <a:latin typeface="Calibri" pitchFamily="34" charset="0"/>
                <a:ea typeface="Calibri" pitchFamily="34" charset="-122"/>
                <a:cs typeface="Calibri" pitchFamily="34" charset="-120"/>
              </a:rPr>
              <a:t>.  So 1 ⊕ 1 = 0.</a:t>
            </a:r>
            <a:endParaRPr lang="en-US" sz="1500" dirty="0"/>
          </a:p>
        </p:txBody>
      </p:sp>
      <p:sp>
        <p:nvSpPr>
          <p:cNvPr id="9" name="bullets"/>
          <p:cNvSpPr txBox="1"/>
          <p:nvPr/>
        </p:nvSpPr>
        <p:spPr>
          <a:xfrm>
            <a:off x="548640" y="3108960"/>
            <a:ext cx="4846320" cy="1463040"/>
          </a:xfrm>
          <a:prstGeom prst="rect">
            <a:avLst/>
          </a:prstGeom>
          <a:noFill/>
          <a:ln/>
        </p:spPr>
        <p:txBody>
          <a:bodyPr wrap="square" lIns="25400" tIns="25400" rIns="25400" bIns="25400" rtlCol="0" anchor="t"/>
          <a:lstStyle/>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Matrix product: c₍ᵢⱼ₎ = ⊕ₖ aᵢₖ · bₖⱼ  (AND, then XOR).</a:t>
            </a:r>
            <a:endParaRPr lang="en-US" sz="1500" dirty="0"/>
          </a:p>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Bit vectors are written </a:t>
            </a:r>
            <a:r>
              <a:rPr lang="en-US" sz="1500" b="1" dirty="0">
                <a:solidFill>
                  <a:srgbClr val="1E2A32"/>
                </a:solidFill>
                <a:latin typeface="Calibri" pitchFamily="34" charset="0"/>
                <a:ea typeface="Calibri" pitchFamily="34" charset="-122"/>
                <a:cs typeface="Calibri" pitchFamily="34" charset="-120"/>
              </a:rPr>
              <a:t>least-significant bit first</a:t>
            </a:r>
            <a:r>
              <a:rPr lang="en-US" sz="1500" dirty="0">
                <a:solidFill>
                  <a:srgbClr val="1E2A32"/>
                </a:solidFill>
                <a:latin typeface="Calibri" pitchFamily="34" charset="0"/>
                <a:ea typeface="Calibri" pitchFamily="34" charset="-122"/>
                <a:cs typeface="Calibri" pitchFamily="34" charset="-120"/>
              </a:rPr>
              <a:t>.</a:t>
            </a:r>
            <a:endParaRPr lang="en-US" sz="1500" dirty="0"/>
          </a:p>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All sizes are powers of two → every index is a bit vector.</a:t>
            </a:r>
            <a:endParaRPr lang="en-US" sz="1500" dirty="0"/>
          </a:p>
        </p:txBody>
      </p:sp>
      <p:sp>
        <p:nvSpPr>
          <p:cNvPr id="10" name="Text 5"/>
          <p:cNvSpPr txBox="1"/>
          <p:nvPr/>
        </p:nvSpPr>
        <p:spPr>
          <a:xfrm>
            <a:off x="5852160" y="1371600"/>
            <a:ext cx="274320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Row view</a:t>
            </a:r>
            <a:endParaRPr lang="en-US" sz="1400" dirty="0"/>
          </a:p>
        </p:txBody>
      </p:sp>
      <p:sp>
        <p:nvSpPr>
          <p:cNvPr id="11" name="mcell"/>
          <p:cNvSpPr txBox="1"/>
          <p:nvPr/>
        </p:nvSpPr>
        <p:spPr>
          <a:xfrm>
            <a:off x="5989320" y="1874520"/>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2" name="mcell"/>
          <p:cNvSpPr txBox="1"/>
          <p:nvPr/>
        </p:nvSpPr>
        <p:spPr>
          <a:xfrm>
            <a:off x="6373368" y="1874520"/>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3" name="mcell"/>
          <p:cNvSpPr txBox="1"/>
          <p:nvPr/>
        </p:nvSpPr>
        <p:spPr>
          <a:xfrm>
            <a:off x="5989320" y="2258568"/>
            <a:ext cx="384048" cy="384048"/>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4" name="mcell"/>
          <p:cNvSpPr txBox="1"/>
          <p:nvPr/>
        </p:nvSpPr>
        <p:spPr>
          <a:xfrm>
            <a:off x="6373368" y="2258568"/>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5" name="mbr"/>
          <p:cNvSpPr/>
          <p:nvPr/>
        </p:nvSpPr>
        <p:spPr>
          <a:xfrm>
            <a:off x="5961888" y="1847088"/>
            <a:ext cx="0" cy="822960"/>
          </a:xfrm>
          <a:prstGeom prst="line">
            <a:avLst/>
          </a:prstGeom>
          <a:noFill/>
          <a:ln w="15875">
            <a:solidFill>
              <a:srgbClr val="1E2A32"/>
            </a:solidFill>
            <a:prstDash val="solid"/>
          </a:ln>
        </p:spPr>
      </p:sp>
      <p:sp>
        <p:nvSpPr>
          <p:cNvPr id="16" name="mbr"/>
          <p:cNvSpPr/>
          <p:nvPr/>
        </p:nvSpPr>
        <p:spPr>
          <a:xfrm>
            <a:off x="5961888" y="1847088"/>
            <a:ext cx="73152" cy="0"/>
          </a:xfrm>
          <a:prstGeom prst="line">
            <a:avLst/>
          </a:prstGeom>
          <a:noFill/>
          <a:ln w="15875">
            <a:solidFill>
              <a:srgbClr val="1E2A32"/>
            </a:solidFill>
            <a:prstDash val="solid"/>
          </a:ln>
        </p:spPr>
      </p:sp>
      <p:sp>
        <p:nvSpPr>
          <p:cNvPr id="17" name="mbr"/>
          <p:cNvSpPr/>
          <p:nvPr/>
        </p:nvSpPr>
        <p:spPr>
          <a:xfrm>
            <a:off x="5961888" y="2670048"/>
            <a:ext cx="73152" cy="0"/>
          </a:xfrm>
          <a:prstGeom prst="line">
            <a:avLst/>
          </a:prstGeom>
          <a:noFill/>
          <a:ln w="15875">
            <a:solidFill>
              <a:srgbClr val="1E2A32"/>
            </a:solidFill>
            <a:prstDash val="solid"/>
          </a:ln>
        </p:spPr>
      </p:sp>
      <p:sp>
        <p:nvSpPr>
          <p:cNvPr id="18" name="mbr"/>
          <p:cNvSpPr/>
          <p:nvPr/>
        </p:nvSpPr>
        <p:spPr>
          <a:xfrm>
            <a:off x="6784848" y="1847088"/>
            <a:ext cx="0" cy="822960"/>
          </a:xfrm>
          <a:prstGeom prst="line">
            <a:avLst/>
          </a:prstGeom>
          <a:noFill/>
          <a:ln w="15875">
            <a:solidFill>
              <a:srgbClr val="1E2A32"/>
            </a:solidFill>
            <a:prstDash val="solid"/>
          </a:ln>
        </p:spPr>
      </p:sp>
      <p:sp>
        <p:nvSpPr>
          <p:cNvPr id="19" name="mbr"/>
          <p:cNvSpPr/>
          <p:nvPr/>
        </p:nvSpPr>
        <p:spPr>
          <a:xfrm>
            <a:off x="6711696" y="1847088"/>
            <a:ext cx="73152" cy="0"/>
          </a:xfrm>
          <a:prstGeom prst="line">
            <a:avLst/>
          </a:prstGeom>
          <a:noFill/>
          <a:ln w="15875">
            <a:solidFill>
              <a:srgbClr val="1E2A32"/>
            </a:solidFill>
            <a:prstDash val="solid"/>
          </a:ln>
        </p:spPr>
      </p:sp>
      <p:sp>
        <p:nvSpPr>
          <p:cNvPr id="20" name="mbr"/>
          <p:cNvSpPr/>
          <p:nvPr/>
        </p:nvSpPr>
        <p:spPr>
          <a:xfrm>
            <a:off x="6711696" y="2670048"/>
            <a:ext cx="73152" cy="0"/>
          </a:xfrm>
          <a:prstGeom prst="line">
            <a:avLst/>
          </a:prstGeom>
          <a:noFill/>
          <a:ln w="15875">
            <a:solidFill>
              <a:srgbClr val="1E2A32"/>
            </a:solidFill>
            <a:prstDash val="solid"/>
          </a:ln>
        </p:spPr>
      </p:sp>
      <p:sp>
        <p:nvSpPr>
          <p:cNvPr id="21" name="mname"/>
          <p:cNvSpPr txBox="1"/>
          <p:nvPr/>
        </p:nvSpPr>
        <p:spPr>
          <a:xfrm>
            <a:off x="5715000" y="2697480"/>
            <a:ext cx="131673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a:t>
            </a:r>
            <a:endParaRPr lang="en-US" sz="1300" dirty="0"/>
          </a:p>
        </p:txBody>
      </p:sp>
      <p:sp>
        <p:nvSpPr>
          <p:cNvPr id="22" name="op"/>
          <p:cNvSpPr txBox="1"/>
          <p:nvPr/>
        </p:nvSpPr>
        <p:spPr>
          <a:xfrm>
            <a:off x="6803136" y="2029968"/>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23" name="mcell"/>
          <p:cNvSpPr txBox="1"/>
          <p:nvPr/>
        </p:nvSpPr>
        <p:spPr>
          <a:xfrm>
            <a:off x="7306056" y="1874520"/>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24" name="mcell"/>
          <p:cNvSpPr txBox="1"/>
          <p:nvPr/>
        </p:nvSpPr>
        <p:spPr>
          <a:xfrm>
            <a:off x="7306056" y="2258568"/>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25" name="mbr"/>
          <p:cNvSpPr/>
          <p:nvPr/>
        </p:nvSpPr>
        <p:spPr>
          <a:xfrm>
            <a:off x="7278624" y="1847088"/>
            <a:ext cx="0" cy="822960"/>
          </a:xfrm>
          <a:prstGeom prst="line">
            <a:avLst/>
          </a:prstGeom>
          <a:noFill/>
          <a:ln w="15875">
            <a:solidFill>
              <a:srgbClr val="1E2A32"/>
            </a:solidFill>
            <a:prstDash val="solid"/>
          </a:ln>
        </p:spPr>
      </p:sp>
      <p:sp>
        <p:nvSpPr>
          <p:cNvPr id="26" name="mbr"/>
          <p:cNvSpPr/>
          <p:nvPr/>
        </p:nvSpPr>
        <p:spPr>
          <a:xfrm>
            <a:off x="7278624" y="1847088"/>
            <a:ext cx="73152" cy="0"/>
          </a:xfrm>
          <a:prstGeom prst="line">
            <a:avLst/>
          </a:prstGeom>
          <a:noFill/>
          <a:ln w="15875">
            <a:solidFill>
              <a:srgbClr val="1E2A32"/>
            </a:solidFill>
            <a:prstDash val="solid"/>
          </a:ln>
        </p:spPr>
      </p:sp>
      <p:sp>
        <p:nvSpPr>
          <p:cNvPr id="27" name="mbr"/>
          <p:cNvSpPr/>
          <p:nvPr/>
        </p:nvSpPr>
        <p:spPr>
          <a:xfrm>
            <a:off x="7278624" y="2670048"/>
            <a:ext cx="73152" cy="0"/>
          </a:xfrm>
          <a:prstGeom prst="line">
            <a:avLst/>
          </a:prstGeom>
          <a:noFill/>
          <a:ln w="15875">
            <a:solidFill>
              <a:srgbClr val="1E2A32"/>
            </a:solidFill>
            <a:prstDash val="solid"/>
          </a:ln>
        </p:spPr>
      </p:sp>
      <p:sp>
        <p:nvSpPr>
          <p:cNvPr id="28" name="mbr"/>
          <p:cNvSpPr/>
          <p:nvPr/>
        </p:nvSpPr>
        <p:spPr>
          <a:xfrm>
            <a:off x="7717536" y="1847088"/>
            <a:ext cx="0" cy="822960"/>
          </a:xfrm>
          <a:prstGeom prst="line">
            <a:avLst/>
          </a:prstGeom>
          <a:noFill/>
          <a:ln w="15875">
            <a:solidFill>
              <a:srgbClr val="1E2A32"/>
            </a:solidFill>
            <a:prstDash val="solid"/>
          </a:ln>
        </p:spPr>
      </p:sp>
      <p:sp>
        <p:nvSpPr>
          <p:cNvPr id="29" name="mbr"/>
          <p:cNvSpPr/>
          <p:nvPr/>
        </p:nvSpPr>
        <p:spPr>
          <a:xfrm>
            <a:off x="7644384" y="1847088"/>
            <a:ext cx="73152" cy="0"/>
          </a:xfrm>
          <a:prstGeom prst="line">
            <a:avLst/>
          </a:prstGeom>
          <a:noFill/>
          <a:ln w="15875">
            <a:solidFill>
              <a:srgbClr val="1E2A32"/>
            </a:solidFill>
            <a:prstDash val="solid"/>
          </a:ln>
        </p:spPr>
      </p:sp>
      <p:sp>
        <p:nvSpPr>
          <p:cNvPr id="30" name="mbr"/>
          <p:cNvSpPr/>
          <p:nvPr/>
        </p:nvSpPr>
        <p:spPr>
          <a:xfrm>
            <a:off x="7644384" y="2670048"/>
            <a:ext cx="73152" cy="0"/>
          </a:xfrm>
          <a:prstGeom prst="line">
            <a:avLst/>
          </a:prstGeom>
          <a:noFill/>
          <a:ln w="15875">
            <a:solidFill>
              <a:srgbClr val="1E2A32"/>
            </a:solidFill>
            <a:prstDash val="solid"/>
          </a:ln>
        </p:spPr>
      </p:sp>
      <p:sp>
        <p:nvSpPr>
          <p:cNvPr id="31" name="mname"/>
          <p:cNvSpPr txBox="1"/>
          <p:nvPr/>
        </p:nvSpPr>
        <p:spPr>
          <a:xfrm>
            <a:off x="6949440" y="269748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x</a:t>
            </a:r>
            <a:endParaRPr lang="en-US" sz="1300" dirty="0"/>
          </a:p>
        </p:txBody>
      </p:sp>
      <p:sp>
        <p:nvSpPr>
          <p:cNvPr id="32" name="op"/>
          <p:cNvSpPr txBox="1"/>
          <p:nvPr/>
        </p:nvSpPr>
        <p:spPr>
          <a:xfrm>
            <a:off x="7735824" y="2029968"/>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33" name="mcell"/>
          <p:cNvSpPr txBox="1"/>
          <p:nvPr/>
        </p:nvSpPr>
        <p:spPr>
          <a:xfrm>
            <a:off x="8238744" y="1874520"/>
            <a:ext cx="384048" cy="384048"/>
          </a:xfrm>
          <a:prstGeom prst="rect">
            <a:avLst/>
          </a:prstGeom>
          <a:solidFill>
            <a:srgbClr val="FFF0CC"/>
          </a:solidFill>
          <a:ln/>
        </p:spPr>
        <p:txBody>
          <a:bodyPr wrap="square" lIns="0" tIns="0" rIns="0" bIns="0" rtlCol="0" anchor="ctr"/>
          <a:lstStyle/>
          <a:p>
            <a:pPr algn="ctr" indent="0" marL="0">
              <a:buNone/>
            </a:pPr>
            <a:r>
              <a:rPr lang="en-US" sz="1800" dirty="0">
                <a:solidFill>
                  <a:srgbClr val="1E2A32"/>
                </a:solidFill>
                <a:latin typeface="Calibri" pitchFamily="34" charset="0"/>
                <a:ea typeface="Calibri" pitchFamily="34" charset="-122"/>
                <a:cs typeface="Calibri" pitchFamily="34" charset="-120"/>
              </a:rPr>
              <a:t>0</a:t>
            </a:r>
            <a:endParaRPr lang="en-US" sz="1800" dirty="0"/>
          </a:p>
        </p:txBody>
      </p:sp>
      <p:sp>
        <p:nvSpPr>
          <p:cNvPr id="34" name="mcell"/>
          <p:cNvSpPr txBox="1"/>
          <p:nvPr/>
        </p:nvSpPr>
        <p:spPr>
          <a:xfrm>
            <a:off x="8238744" y="2258568"/>
            <a:ext cx="384048" cy="384048"/>
          </a:xfrm>
          <a:prstGeom prst="rect">
            <a:avLst/>
          </a:prstGeom>
          <a:solidFill>
            <a:srgbClr val="FFF0CC"/>
          </a:solid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35" name="mbr"/>
          <p:cNvSpPr/>
          <p:nvPr/>
        </p:nvSpPr>
        <p:spPr>
          <a:xfrm>
            <a:off x="8211312" y="1847088"/>
            <a:ext cx="0" cy="822960"/>
          </a:xfrm>
          <a:prstGeom prst="line">
            <a:avLst/>
          </a:prstGeom>
          <a:noFill/>
          <a:ln w="15875">
            <a:solidFill>
              <a:srgbClr val="1E2A32"/>
            </a:solidFill>
            <a:prstDash val="solid"/>
          </a:ln>
        </p:spPr>
      </p:sp>
      <p:sp>
        <p:nvSpPr>
          <p:cNvPr id="36" name="mbr"/>
          <p:cNvSpPr/>
          <p:nvPr/>
        </p:nvSpPr>
        <p:spPr>
          <a:xfrm>
            <a:off x="8211312" y="1847088"/>
            <a:ext cx="73152" cy="0"/>
          </a:xfrm>
          <a:prstGeom prst="line">
            <a:avLst/>
          </a:prstGeom>
          <a:noFill/>
          <a:ln w="15875">
            <a:solidFill>
              <a:srgbClr val="1E2A32"/>
            </a:solidFill>
            <a:prstDash val="solid"/>
          </a:ln>
        </p:spPr>
      </p:sp>
      <p:sp>
        <p:nvSpPr>
          <p:cNvPr id="37" name="mbr"/>
          <p:cNvSpPr/>
          <p:nvPr/>
        </p:nvSpPr>
        <p:spPr>
          <a:xfrm>
            <a:off x="8211312" y="2670048"/>
            <a:ext cx="73152" cy="0"/>
          </a:xfrm>
          <a:prstGeom prst="line">
            <a:avLst/>
          </a:prstGeom>
          <a:noFill/>
          <a:ln w="15875">
            <a:solidFill>
              <a:srgbClr val="1E2A32"/>
            </a:solidFill>
            <a:prstDash val="solid"/>
          </a:ln>
        </p:spPr>
      </p:sp>
      <p:sp>
        <p:nvSpPr>
          <p:cNvPr id="38" name="mbr"/>
          <p:cNvSpPr/>
          <p:nvPr/>
        </p:nvSpPr>
        <p:spPr>
          <a:xfrm>
            <a:off x="8650224" y="1847088"/>
            <a:ext cx="0" cy="822960"/>
          </a:xfrm>
          <a:prstGeom prst="line">
            <a:avLst/>
          </a:prstGeom>
          <a:noFill/>
          <a:ln w="15875">
            <a:solidFill>
              <a:srgbClr val="1E2A32"/>
            </a:solidFill>
            <a:prstDash val="solid"/>
          </a:ln>
        </p:spPr>
      </p:sp>
      <p:sp>
        <p:nvSpPr>
          <p:cNvPr id="39" name="mbr"/>
          <p:cNvSpPr/>
          <p:nvPr/>
        </p:nvSpPr>
        <p:spPr>
          <a:xfrm>
            <a:off x="8577072" y="1847088"/>
            <a:ext cx="73152" cy="0"/>
          </a:xfrm>
          <a:prstGeom prst="line">
            <a:avLst/>
          </a:prstGeom>
          <a:noFill/>
          <a:ln w="15875">
            <a:solidFill>
              <a:srgbClr val="1E2A32"/>
            </a:solidFill>
            <a:prstDash val="solid"/>
          </a:ln>
        </p:spPr>
      </p:sp>
      <p:sp>
        <p:nvSpPr>
          <p:cNvPr id="40" name="mbr"/>
          <p:cNvSpPr/>
          <p:nvPr/>
        </p:nvSpPr>
        <p:spPr>
          <a:xfrm>
            <a:off x="8577072" y="2670048"/>
            <a:ext cx="73152" cy="0"/>
          </a:xfrm>
          <a:prstGeom prst="line">
            <a:avLst/>
          </a:prstGeom>
          <a:noFill/>
          <a:ln w="15875">
            <a:solidFill>
              <a:srgbClr val="1E2A32"/>
            </a:solidFill>
            <a:prstDash val="solid"/>
          </a:ln>
        </p:spPr>
      </p:sp>
      <p:sp>
        <p:nvSpPr>
          <p:cNvPr id="41" name="mname"/>
          <p:cNvSpPr txBox="1"/>
          <p:nvPr/>
        </p:nvSpPr>
        <p:spPr>
          <a:xfrm>
            <a:off x="7882128" y="269748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y</a:t>
            </a:r>
            <a:endParaRPr lang="en-US" sz="1300" dirty="0"/>
          </a:p>
        </p:txBody>
      </p:sp>
      <p:sp>
        <p:nvSpPr>
          <p:cNvPr id="42" name="Text 37"/>
          <p:cNvSpPr txBox="1"/>
          <p:nvPr/>
        </p:nvSpPr>
        <p:spPr>
          <a:xfrm>
            <a:off x="8942832" y="1828800"/>
            <a:ext cx="2926080" cy="822960"/>
          </a:xfrm>
          <a:prstGeom prst="rect">
            <a:avLst/>
          </a:prstGeom>
          <a:noFill/>
          <a:ln/>
        </p:spPr>
        <p:txBody>
          <a:bodyPr wrap="square" lIns="0" tIns="0" rIns="0" bIns="0" rtlCol="0" anchor="ctr"/>
          <a:lstStyle/>
          <a:p>
            <a:pPr indent="0" marL="0">
              <a:buNone/>
            </a:pPr>
            <a:r>
              <a:rPr lang="en-US" sz="1500" dirty="0">
                <a:solidFill>
                  <a:srgbClr val="1E2A32"/>
                </a:solidFill>
                <a:latin typeface="Calibri" pitchFamily="34" charset="0"/>
                <a:ea typeface="Calibri" pitchFamily="34" charset="-122"/>
                <a:cs typeface="Calibri" pitchFamily="34" charset="-120"/>
              </a:rPr>
              <a:t>y₀ = 1·1 ⊕ 1·1 = 1 ⊕ 1 = 0</a:t>
            </a:r>
            <a:endParaRPr lang="en-US" sz="1500" dirty="0"/>
          </a:p>
          <a:p>
            <a:pPr indent="0" marL="0">
              <a:buNone/>
            </a:pPr>
            <a:r>
              <a:rPr lang="en-US" sz="1500" dirty="0">
                <a:solidFill>
                  <a:srgbClr val="1E2A32"/>
                </a:solidFill>
                <a:latin typeface="Calibri" pitchFamily="34" charset="0"/>
                <a:ea typeface="Calibri" pitchFamily="34" charset="-122"/>
                <a:cs typeface="Calibri" pitchFamily="34" charset="-120"/>
              </a:rPr>
              <a:t>y₁ = 0·1 ⊕ 1·1 = 0 ⊕ 1 = 1</a:t>
            </a:r>
            <a:endParaRPr lang="en-US" sz="1500" dirty="0"/>
          </a:p>
        </p:txBody>
      </p:sp>
      <p:sp>
        <p:nvSpPr>
          <p:cNvPr id="43" name="Text 38"/>
          <p:cNvSpPr txBox="1"/>
          <p:nvPr/>
        </p:nvSpPr>
        <p:spPr>
          <a:xfrm>
            <a:off x="5852160" y="3246120"/>
            <a:ext cx="548640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Column view (used throughout the talk)</a:t>
            </a:r>
            <a:endParaRPr lang="en-US" sz="1400" dirty="0"/>
          </a:p>
        </p:txBody>
      </p:sp>
      <p:sp>
        <p:nvSpPr>
          <p:cNvPr id="44" name="Text 39"/>
          <p:cNvSpPr txBox="1"/>
          <p:nvPr/>
        </p:nvSpPr>
        <p:spPr>
          <a:xfrm>
            <a:off x="5852160" y="3566160"/>
            <a:ext cx="5852160" cy="27432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A x = XOR of the columns of A where x has a 1:</a:t>
            </a:r>
            <a:endParaRPr lang="en-US" sz="1500" dirty="0"/>
          </a:p>
        </p:txBody>
      </p:sp>
      <p:sp>
        <p:nvSpPr>
          <p:cNvPr id="45" name="mcell"/>
          <p:cNvSpPr txBox="1"/>
          <p:nvPr/>
        </p:nvSpPr>
        <p:spPr>
          <a:xfrm>
            <a:off x="5989320" y="4069080"/>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46" name="mcell"/>
          <p:cNvSpPr txBox="1"/>
          <p:nvPr/>
        </p:nvSpPr>
        <p:spPr>
          <a:xfrm>
            <a:off x="5989320" y="4453128"/>
            <a:ext cx="384048" cy="384048"/>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7" name="mbr"/>
          <p:cNvSpPr/>
          <p:nvPr/>
        </p:nvSpPr>
        <p:spPr>
          <a:xfrm>
            <a:off x="5961888" y="4041648"/>
            <a:ext cx="0" cy="822960"/>
          </a:xfrm>
          <a:prstGeom prst="line">
            <a:avLst/>
          </a:prstGeom>
          <a:noFill/>
          <a:ln w="15875">
            <a:solidFill>
              <a:srgbClr val="1E2A32"/>
            </a:solidFill>
            <a:prstDash val="solid"/>
          </a:ln>
        </p:spPr>
      </p:sp>
      <p:sp>
        <p:nvSpPr>
          <p:cNvPr id="48" name="mbr"/>
          <p:cNvSpPr/>
          <p:nvPr/>
        </p:nvSpPr>
        <p:spPr>
          <a:xfrm>
            <a:off x="5961888" y="4041648"/>
            <a:ext cx="73152" cy="0"/>
          </a:xfrm>
          <a:prstGeom prst="line">
            <a:avLst/>
          </a:prstGeom>
          <a:noFill/>
          <a:ln w="15875">
            <a:solidFill>
              <a:srgbClr val="1E2A32"/>
            </a:solidFill>
            <a:prstDash val="solid"/>
          </a:ln>
        </p:spPr>
      </p:sp>
      <p:sp>
        <p:nvSpPr>
          <p:cNvPr id="49" name="mbr"/>
          <p:cNvSpPr/>
          <p:nvPr/>
        </p:nvSpPr>
        <p:spPr>
          <a:xfrm>
            <a:off x="5961888" y="4864608"/>
            <a:ext cx="73152" cy="0"/>
          </a:xfrm>
          <a:prstGeom prst="line">
            <a:avLst/>
          </a:prstGeom>
          <a:noFill/>
          <a:ln w="15875">
            <a:solidFill>
              <a:srgbClr val="1E2A32"/>
            </a:solidFill>
            <a:prstDash val="solid"/>
          </a:ln>
        </p:spPr>
      </p:sp>
      <p:sp>
        <p:nvSpPr>
          <p:cNvPr id="50" name="mbr"/>
          <p:cNvSpPr/>
          <p:nvPr/>
        </p:nvSpPr>
        <p:spPr>
          <a:xfrm>
            <a:off x="6400800" y="4041648"/>
            <a:ext cx="0" cy="822960"/>
          </a:xfrm>
          <a:prstGeom prst="line">
            <a:avLst/>
          </a:prstGeom>
          <a:noFill/>
          <a:ln w="15875">
            <a:solidFill>
              <a:srgbClr val="1E2A32"/>
            </a:solidFill>
            <a:prstDash val="solid"/>
          </a:ln>
        </p:spPr>
      </p:sp>
      <p:sp>
        <p:nvSpPr>
          <p:cNvPr id="51" name="mbr"/>
          <p:cNvSpPr/>
          <p:nvPr/>
        </p:nvSpPr>
        <p:spPr>
          <a:xfrm>
            <a:off x="6327648" y="4041648"/>
            <a:ext cx="73152" cy="0"/>
          </a:xfrm>
          <a:prstGeom prst="line">
            <a:avLst/>
          </a:prstGeom>
          <a:noFill/>
          <a:ln w="15875">
            <a:solidFill>
              <a:srgbClr val="1E2A32"/>
            </a:solidFill>
            <a:prstDash val="solid"/>
          </a:ln>
        </p:spPr>
      </p:sp>
      <p:sp>
        <p:nvSpPr>
          <p:cNvPr id="52" name="mbr"/>
          <p:cNvSpPr/>
          <p:nvPr/>
        </p:nvSpPr>
        <p:spPr>
          <a:xfrm>
            <a:off x="6327648" y="4864608"/>
            <a:ext cx="73152" cy="0"/>
          </a:xfrm>
          <a:prstGeom prst="line">
            <a:avLst/>
          </a:prstGeom>
          <a:noFill/>
          <a:ln w="15875">
            <a:solidFill>
              <a:srgbClr val="1E2A32"/>
            </a:solidFill>
            <a:prstDash val="solid"/>
          </a:ln>
        </p:spPr>
      </p:sp>
      <p:sp>
        <p:nvSpPr>
          <p:cNvPr id="53" name="mname"/>
          <p:cNvSpPr txBox="1"/>
          <p:nvPr/>
        </p:nvSpPr>
        <p:spPr>
          <a:xfrm>
            <a:off x="5632704" y="489204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col 0</a:t>
            </a:r>
            <a:endParaRPr lang="en-US" sz="1300" dirty="0"/>
          </a:p>
        </p:txBody>
      </p:sp>
      <p:sp>
        <p:nvSpPr>
          <p:cNvPr id="54" name="op"/>
          <p:cNvSpPr txBox="1"/>
          <p:nvPr/>
        </p:nvSpPr>
        <p:spPr>
          <a:xfrm>
            <a:off x="6464808" y="4224528"/>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55" name="mcell"/>
          <p:cNvSpPr txBox="1"/>
          <p:nvPr/>
        </p:nvSpPr>
        <p:spPr>
          <a:xfrm>
            <a:off x="7013448" y="4069080"/>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56" name="mcell"/>
          <p:cNvSpPr txBox="1"/>
          <p:nvPr/>
        </p:nvSpPr>
        <p:spPr>
          <a:xfrm>
            <a:off x="7013448" y="4453128"/>
            <a:ext cx="384048" cy="384048"/>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57" name="mbr"/>
          <p:cNvSpPr/>
          <p:nvPr/>
        </p:nvSpPr>
        <p:spPr>
          <a:xfrm>
            <a:off x="6986016" y="4041648"/>
            <a:ext cx="0" cy="822960"/>
          </a:xfrm>
          <a:prstGeom prst="line">
            <a:avLst/>
          </a:prstGeom>
          <a:noFill/>
          <a:ln w="15875">
            <a:solidFill>
              <a:srgbClr val="1E2A32"/>
            </a:solidFill>
            <a:prstDash val="solid"/>
          </a:ln>
        </p:spPr>
      </p:sp>
      <p:sp>
        <p:nvSpPr>
          <p:cNvPr id="58" name="mbr"/>
          <p:cNvSpPr/>
          <p:nvPr/>
        </p:nvSpPr>
        <p:spPr>
          <a:xfrm>
            <a:off x="6986016" y="4041648"/>
            <a:ext cx="73152" cy="0"/>
          </a:xfrm>
          <a:prstGeom prst="line">
            <a:avLst/>
          </a:prstGeom>
          <a:noFill/>
          <a:ln w="15875">
            <a:solidFill>
              <a:srgbClr val="1E2A32"/>
            </a:solidFill>
            <a:prstDash val="solid"/>
          </a:ln>
        </p:spPr>
      </p:sp>
      <p:sp>
        <p:nvSpPr>
          <p:cNvPr id="59" name="mbr"/>
          <p:cNvSpPr/>
          <p:nvPr/>
        </p:nvSpPr>
        <p:spPr>
          <a:xfrm>
            <a:off x="6986016" y="4864608"/>
            <a:ext cx="73152" cy="0"/>
          </a:xfrm>
          <a:prstGeom prst="line">
            <a:avLst/>
          </a:prstGeom>
          <a:noFill/>
          <a:ln w="15875">
            <a:solidFill>
              <a:srgbClr val="1E2A32"/>
            </a:solidFill>
            <a:prstDash val="solid"/>
          </a:ln>
        </p:spPr>
      </p:sp>
      <p:sp>
        <p:nvSpPr>
          <p:cNvPr id="60" name="mbr"/>
          <p:cNvSpPr/>
          <p:nvPr/>
        </p:nvSpPr>
        <p:spPr>
          <a:xfrm>
            <a:off x="7424928" y="4041648"/>
            <a:ext cx="0" cy="822960"/>
          </a:xfrm>
          <a:prstGeom prst="line">
            <a:avLst/>
          </a:prstGeom>
          <a:noFill/>
          <a:ln w="15875">
            <a:solidFill>
              <a:srgbClr val="1E2A32"/>
            </a:solidFill>
            <a:prstDash val="solid"/>
          </a:ln>
        </p:spPr>
      </p:sp>
      <p:sp>
        <p:nvSpPr>
          <p:cNvPr id="61" name="mbr"/>
          <p:cNvSpPr/>
          <p:nvPr/>
        </p:nvSpPr>
        <p:spPr>
          <a:xfrm>
            <a:off x="7351776" y="4041648"/>
            <a:ext cx="73152" cy="0"/>
          </a:xfrm>
          <a:prstGeom prst="line">
            <a:avLst/>
          </a:prstGeom>
          <a:noFill/>
          <a:ln w="15875">
            <a:solidFill>
              <a:srgbClr val="1E2A32"/>
            </a:solidFill>
            <a:prstDash val="solid"/>
          </a:ln>
        </p:spPr>
      </p:sp>
      <p:sp>
        <p:nvSpPr>
          <p:cNvPr id="62" name="mbr"/>
          <p:cNvSpPr/>
          <p:nvPr/>
        </p:nvSpPr>
        <p:spPr>
          <a:xfrm>
            <a:off x="7351776" y="4864608"/>
            <a:ext cx="73152" cy="0"/>
          </a:xfrm>
          <a:prstGeom prst="line">
            <a:avLst/>
          </a:prstGeom>
          <a:noFill/>
          <a:ln w="15875">
            <a:solidFill>
              <a:srgbClr val="1E2A32"/>
            </a:solidFill>
            <a:prstDash val="solid"/>
          </a:ln>
        </p:spPr>
      </p:sp>
      <p:sp>
        <p:nvSpPr>
          <p:cNvPr id="63" name="mname"/>
          <p:cNvSpPr txBox="1"/>
          <p:nvPr/>
        </p:nvSpPr>
        <p:spPr>
          <a:xfrm>
            <a:off x="6656832" y="489204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col 1</a:t>
            </a:r>
            <a:endParaRPr lang="en-US" sz="1300" dirty="0"/>
          </a:p>
        </p:txBody>
      </p:sp>
      <p:sp>
        <p:nvSpPr>
          <p:cNvPr id="64" name="op"/>
          <p:cNvSpPr txBox="1"/>
          <p:nvPr/>
        </p:nvSpPr>
        <p:spPr>
          <a:xfrm>
            <a:off x="7488936" y="4224528"/>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5" name="mcell"/>
          <p:cNvSpPr txBox="1"/>
          <p:nvPr/>
        </p:nvSpPr>
        <p:spPr>
          <a:xfrm>
            <a:off x="8037576" y="4069080"/>
            <a:ext cx="384048" cy="384048"/>
          </a:xfrm>
          <a:prstGeom prst="rect">
            <a:avLst/>
          </a:prstGeom>
          <a:solidFill>
            <a:srgbClr val="FFF0CC"/>
          </a:solidFill>
          <a:ln/>
        </p:spPr>
        <p:txBody>
          <a:bodyPr wrap="square" lIns="0" tIns="0" rIns="0" bIns="0" rtlCol="0" anchor="ctr"/>
          <a:lstStyle/>
          <a:p>
            <a:pPr algn="ctr" indent="0" marL="0">
              <a:buNone/>
            </a:pPr>
            <a:r>
              <a:rPr lang="en-US" sz="1800" dirty="0">
                <a:solidFill>
                  <a:srgbClr val="1E2A32"/>
                </a:solidFill>
                <a:latin typeface="Calibri" pitchFamily="34" charset="0"/>
                <a:ea typeface="Calibri" pitchFamily="34" charset="-122"/>
                <a:cs typeface="Calibri" pitchFamily="34" charset="-120"/>
              </a:rPr>
              <a:t>0</a:t>
            </a:r>
            <a:endParaRPr lang="en-US" sz="1800" dirty="0"/>
          </a:p>
        </p:txBody>
      </p:sp>
      <p:sp>
        <p:nvSpPr>
          <p:cNvPr id="66" name="mcell"/>
          <p:cNvSpPr txBox="1"/>
          <p:nvPr/>
        </p:nvSpPr>
        <p:spPr>
          <a:xfrm>
            <a:off x="8037576" y="4453128"/>
            <a:ext cx="384048" cy="384048"/>
          </a:xfrm>
          <a:prstGeom prst="rect">
            <a:avLst/>
          </a:prstGeom>
          <a:solidFill>
            <a:srgbClr val="FFF0CC"/>
          </a:solid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67" name="mbr"/>
          <p:cNvSpPr/>
          <p:nvPr/>
        </p:nvSpPr>
        <p:spPr>
          <a:xfrm>
            <a:off x="8010144" y="4041648"/>
            <a:ext cx="0" cy="822960"/>
          </a:xfrm>
          <a:prstGeom prst="line">
            <a:avLst/>
          </a:prstGeom>
          <a:noFill/>
          <a:ln w="15875">
            <a:solidFill>
              <a:srgbClr val="1E2A32"/>
            </a:solidFill>
            <a:prstDash val="solid"/>
          </a:ln>
        </p:spPr>
      </p:sp>
      <p:sp>
        <p:nvSpPr>
          <p:cNvPr id="68" name="mbr"/>
          <p:cNvSpPr/>
          <p:nvPr/>
        </p:nvSpPr>
        <p:spPr>
          <a:xfrm>
            <a:off x="8010144" y="4041648"/>
            <a:ext cx="73152" cy="0"/>
          </a:xfrm>
          <a:prstGeom prst="line">
            <a:avLst/>
          </a:prstGeom>
          <a:noFill/>
          <a:ln w="15875">
            <a:solidFill>
              <a:srgbClr val="1E2A32"/>
            </a:solidFill>
            <a:prstDash val="solid"/>
          </a:ln>
        </p:spPr>
      </p:sp>
      <p:sp>
        <p:nvSpPr>
          <p:cNvPr id="69" name="mbr"/>
          <p:cNvSpPr/>
          <p:nvPr/>
        </p:nvSpPr>
        <p:spPr>
          <a:xfrm>
            <a:off x="8010144" y="4864608"/>
            <a:ext cx="73152" cy="0"/>
          </a:xfrm>
          <a:prstGeom prst="line">
            <a:avLst/>
          </a:prstGeom>
          <a:noFill/>
          <a:ln w="15875">
            <a:solidFill>
              <a:srgbClr val="1E2A32"/>
            </a:solidFill>
            <a:prstDash val="solid"/>
          </a:ln>
        </p:spPr>
      </p:sp>
      <p:sp>
        <p:nvSpPr>
          <p:cNvPr id="70" name="mbr"/>
          <p:cNvSpPr/>
          <p:nvPr/>
        </p:nvSpPr>
        <p:spPr>
          <a:xfrm>
            <a:off x="8449056" y="4041648"/>
            <a:ext cx="0" cy="822960"/>
          </a:xfrm>
          <a:prstGeom prst="line">
            <a:avLst/>
          </a:prstGeom>
          <a:noFill/>
          <a:ln w="15875">
            <a:solidFill>
              <a:srgbClr val="1E2A32"/>
            </a:solidFill>
            <a:prstDash val="solid"/>
          </a:ln>
        </p:spPr>
      </p:sp>
      <p:sp>
        <p:nvSpPr>
          <p:cNvPr id="71" name="mbr"/>
          <p:cNvSpPr/>
          <p:nvPr/>
        </p:nvSpPr>
        <p:spPr>
          <a:xfrm>
            <a:off x="8375904" y="4041648"/>
            <a:ext cx="73152" cy="0"/>
          </a:xfrm>
          <a:prstGeom prst="line">
            <a:avLst/>
          </a:prstGeom>
          <a:noFill/>
          <a:ln w="15875">
            <a:solidFill>
              <a:srgbClr val="1E2A32"/>
            </a:solidFill>
            <a:prstDash val="solid"/>
          </a:ln>
        </p:spPr>
      </p:sp>
      <p:sp>
        <p:nvSpPr>
          <p:cNvPr id="72" name="mbr"/>
          <p:cNvSpPr/>
          <p:nvPr/>
        </p:nvSpPr>
        <p:spPr>
          <a:xfrm>
            <a:off x="8375904" y="4864608"/>
            <a:ext cx="73152" cy="0"/>
          </a:xfrm>
          <a:prstGeom prst="line">
            <a:avLst/>
          </a:prstGeom>
          <a:noFill/>
          <a:ln w="15875">
            <a:solidFill>
              <a:srgbClr val="1E2A32"/>
            </a:solidFill>
            <a:prstDash val="solid"/>
          </a:ln>
        </p:spPr>
      </p:sp>
      <p:sp>
        <p:nvSpPr>
          <p:cNvPr id="73" name="mname"/>
          <p:cNvSpPr txBox="1"/>
          <p:nvPr/>
        </p:nvSpPr>
        <p:spPr>
          <a:xfrm>
            <a:off x="7680960" y="489204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y</a:t>
            </a:r>
            <a:endParaRPr lang="en-US" sz="1300" dirty="0"/>
          </a:p>
        </p:txBody>
      </p:sp>
      <p:sp>
        <p:nvSpPr>
          <p:cNvPr id="74" name="callout"/>
          <p:cNvSpPr/>
          <p:nvPr/>
        </p:nvSpPr>
        <p:spPr>
          <a:xfrm>
            <a:off x="8778240" y="4069080"/>
            <a:ext cx="2926080" cy="914400"/>
          </a:xfrm>
          <a:prstGeom prst="roundRect">
            <a:avLst>
              <a:gd name="adj" fmla="val 8000"/>
            </a:avLst>
          </a:prstGeom>
          <a:solidFill>
            <a:srgbClr val="DDEFF1"/>
          </a:solidFill>
          <a:ln/>
        </p:spPr>
      </p:sp>
      <p:sp>
        <p:nvSpPr>
          <p:cNvPr id="75" name="callout-text"/>
          <p:cNvSpPr txBox="1"/>
          <p:nvPr/>
        </p:nvSpPr>
        <p:spPr>
          <a:xfrm>
            <a:off x="8915400" y="4123944"/>
            <a:ext cx="2651760" cy="80467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Column k = image of hardware bit k (Triton calls these the </a:t>
            </a:r>
            <a:r>
              <a:rPr lang="en-US" sz="1400" b="1" dirty="0">
                <a:solidFill>
                  <a:srgbClr val="0A4F58"/>
                </a:solidFill>
                <a:latin typeface="Calibri" pitchFamily="34" charset="0"/>
                <a:ea typeface="Calibri" pitchFamily="34" charset="-122"/>
                <a:cs typeface="Calibri" pitchFamily="34" charset="-120"/>
              </a:rPr>
              <a:t>bases</a:t>
            </a:r>
            <a:r>
              <a:rPr lang="en-US" sz="1400" dirty="0">
                <a:solidFill>
                  <a:srgbClr val="0A4F58"/>
                </a:solidFill>
                <a:latin typeface="Calibri" pitchFamily="34" charset="0"/>
                <a:ea typeface="Calibri" pitchFamily="34" charset="-122"/>
                <a:cs typeface="Calibri" pitchFamily="34" charset="-120"/>
              </a:rPr>
              <a:t>).</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OVERVIEW · §3</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Legacy Triton layouts: two families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§3 Overview and Figure 3, p. 135</a:t>
            </a:r>
            <a:endParaRPr lang="en-US" sz="1000" dirty="0"/>
          </a:p>
        </p:txBody>
      </p:sp>
      <p:pic>
        <p:nvPicPr>
          <p:cNvPr id="6" name="fig-fig3" descr="Figure 3 taxonomy of legacy layouts">    </p:cNvPr>
          <p:cNvPicPr>
            <a:picLocks noChangeAspect="1"/>
          </p:cNvPicPr>
          <p:nvPr/>
        </p:nvPicPr>
        <p:blipFill>
          <a:blip r:embed="rId1"/>
          <a:stretch>
            <a:fillRect/>
          </a:stretch>
        </p:blipFill>
        <p:spPr>
          <a:xfrm>
            <a:off x="502920" y="1671229"/>
            <a:ext cx="6583680" cy="3561261"/>
          </a:xfrm>
          <a:prstGeom prst="rect">
            <a:avLst/>
          </a:prstGeom>
        </p:spPr>
      </p:pic>
      <p:sp>
        <p:nvSpPr>
          <p:cNvPr id="7" name="caption"/>
          <p:cNvSpPr txBox="1"/>
          <p:nvPr/>
        </p:nvSpPr>
        <p:spPr>
          <a:xfrm>
            <a:off x="502920" y="5278211"/>
            <a:ext cx="658368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3.</a:t>
            </a:r>
            <a:r>
              <a:rPr lang="en-US" sz="1100" dirty="0">
                <a:solidFill>
                  <a:srgbClr val="5B6770"/>
                </a:solidFill>
                <a:latin typeface="Calibri" pitchFamily="34" charset="0"/>
                <a:ea typeface="Calibri" pitchFamily="34" charset="-122"/>
                <a:cs typeface="Calibri" pitchFamily="34" charset="-120"/>
              </a:rPr>
              <a:t> Legacy layouts in Triton (wᵢ warp, tⱼ thread, rₖ register).</a:t>
            </a:r>
            <a:endParaRPr lang="en-US" sz="1100" dirty="0"/>
          </a:p>
        </p:txBody>
      </p:sp>
      <p:sp>
        <p:nvSpPr>
          <p:cNvPr id="8" name="panel"/>
          <p:cNvSpPr/>
          <p:nvPr/>
        </p:nvSpPr>
        <p:spPr>
          <a:xfrm>
            <a:off x="7406640" y="1325880"/>
            <a:ext cx="4297680" cy="2606040"/>
          </a:xfrm>
          <a:prstGeom prst="roundRect">
            <a:avLst>
              <a:gd name="adj" fmla="val 2807"/>
            </a:avLst>
          </a:prstGeom>
          <a:solidFill>
            <a:srgbClr val="DDEFF1"/>
          </a:solidFill>
          <a:ln/>
        </p:spPr>
      </p:sp>
      <p:sp>
        <p:nvSpPr>
          <p:cNvPr id="9" name="Text 5"/>
          <p:cNvSpPr txBox="1"/>
          <p:nvPr/>
        </p:nvSpPr>
        <p:spPr>
          <a:xfrm>
            <a:off x="7589520" y="1417320"/>
            <a:ext cx="4023360" cy="320040"/>
          </a:xfrm>
          <a:prstGeom prst="rect">
            <a:avLst/>
          </a:prstGeom>
          <a:noFill/>
          <a:ln/>
        </p:spPr>
        <p:txBody>
          <a:bodyPr wrap="square" lIns="0" tIns="0" rIns="0" bIns="0" rtlCol="0" anchor="t"/>
          <a:lstStyle/>
          <a:p>
            <a:pPr indent="0" marL="0">
              <a:buNone/>
            </a:pPr>
            <a:r>
              <a:rPr lang="en-US" sz="1500" b="1" dirty="0">
                <a:solidFill>
                  <a:srgbClr val="0A4F58"/>
                </a:solidFill>
                <a:latin typeface="Calibri" pitchFamily="34" charset="0"/>
                <a:ea typeface="Calibri" pitchFamily="34" charset="-122"/>
                <a:cs typeface="Calibri" pitchFamily="34" charset="-120"/>
              </a:rPr>
              <a:t>Distributed:  Reg × Thr × Wrp → (i, j)</a:t>
            </a:r>
            <a:endParaRPr lang="en-US" sz="1500" dirty="0"/>
          </a:p>
        </p:txBody>
      </p:sp>
      <p:sp>
        <p:nvSpPr>
          <p:cNvPr id="10" name="bullets"/>
          <p:cNvSpPr txBox="1"/>
          <p:nvPr/>
        </p:nvSpPr>
        <p:spPr>
          <a:xfrm>
            <a:off x="7589520" y="1783080"/>
            <a:ext cx="4023360" cy="2103120"/>
          </a:xfrm>
          <a:prstGeom prst="rect">
            <a:avLst/>
          </a:prstGeom>
          <a:noFill/>
          <a:ln/>
        </p:spPr>
        <p:txBody>
          <a:bodyPr wrap="square" lIns="25400" tIns="25400" rIns="25400" bIns="25400" rtlCol="0" anchor="t"/>
          <a:lstStyle/>
          <a:p>
            <a:pPr marL="203200" indent="-203200">
              <a:spcAft>
                <a:spcPts val="400"/>
              </a:spcAft>
              <a:buSzPct val="100000"/>
              <a:buChar char="•"/>
            </a:pPr>
            <a:r>
              <a:rPr lang="en-US" sz="1400" b="1" dirty="0">
                <a:solidFill>
                  <a:srgbClr val="1E2A32"/>
                </a:solidFill>
                <a:latin typeface="Calibri" pitchFamily="34" charset="0"/>
                <a:ea typeface="Calibri" pitchFamily="34" charset="-122"/>
                <a:cs typeface="Calibri" pitchFamily="34" charset="-120"/>
              </a:rPr>
              <a:t>Blocked</a:t>
            </a:r>
            <a:r>
              <a:rPr lang="en-US" sz="1400" dirty="0">
                <a:solidFill>
                  <a:srgbClr val="1E2A32"/>
                </a:solidFill>
                <a:latin typeface="Calibri" pitchFamily="34" charset="0"/>
                <a:ea typeface="Calibri" pitchFamily="34" charset="-122"/>
                <a:cs typeface="Calibri" pitchFamily="34" charset="-120"/>
              </a:rPr>
              <a:t> — general tiling across regs/threads/warps</a:t>
            </a:r>
            <a:endParaRPr lang="en-US" sz="1400" dirty="0"/>
          </a:p>
          <a:p>
            <a:pPr marL="203200" indent="-203200">
              <a:spcAft>
                <a:spcPts val="400"/>
              </a:spcAft>
              <a:buSzPct val="100000"/>
              <a:buChar char="•"/>
            </a:pPr>
            <a:r>
              <a:rPr lang="en-US" sz="1400" b="1" dirty="0">
                <a:solidFill>
                  <a:srgbClr val="1E2A32"/>
                </a:solidFill>
                <a:latin typeface="Calibri" pitchFamily="34" charset="0"/>
                <a:ea typeface="Calibri" pitchFamily="34" charset="-122"/>
                <a:cs typeface="Calibri" pitchFamily="34" charset="-120"/>
              </a:rPr>
              <a:t>Sliced</a:t>
            </a:r>
            <a:r>
              <a:rPr lang="en-US" sz="1400" dirty="0">
                <a:solidFill>
                  <a:srgbClr val="1E2A32"/>
                </a:solidFill>
                <a:latin typeface="Calibri" pitchFamily="34" charset="0"/>
                <a:ea typeface="Calibri" pitchFamily="34" charset="-122"/>
                <a:cs typeface="Calibri" pitchFamily="34" charset="-120"/>
              </a:rPr>
              <a:t> — parent with one dim removed (reductions, broadcasts)</a:t>
            </a:r>
            <a:endParaRPr lang="en-US" sz="1400" dirty="0"/>
          </a:p>
          <a:p>
            <a:pPr marL="203200" indent="-203200">
              <a:spcAft>
                <a:spcPts val="400"/>
              </a:spcAft>
              <a:buSzPct val="100000"/>
              <a:buChar char="•"/>
            </a:pPr>
            <a:r>
              <a:rPr lang="en-US" sz="1400" b="1" dirty="0">
                <a:solidFill>
                  <a:srgbClr val="1E2A32"/>
                </a:solidFill>
                <a:latin typeface="Calibri" pitchFamily="34" charset="0"/>
                <a:ea typeface="Calibri" pitchFamily="34" charset="-122"/>
                <a:cs typeface="Calibri" pitchFamily="34" charset="-120"/>
              </a:rPr>
              <a:t>MMA</a:t>
            </a:r>
            <a:r>
              <a:rPr lang="en-US" sz="1400" dirty="0">
                <a:solidFill>
                  <a:srgbClr val="1E2A32"/>
                </a:solidFill>
                <a:latin typeface="Calibri" pitchFamily="34" charset="0"/>
                <a:ea typeface="Calibri" pitchFamily="34" charset="-122"/>
                <a:cs typeface="Calibri" pitchFamily="34" charset="-120"/>
              </a:rPr>
              <a:t> — output of mma / wgmma / mfma</a:t>
            </a:r>
            <a:endParaRPr lang="en-US" sz="1400" dirty="0"/>
          </a:p>
          <a:p>
            <a:pPr marL="203200" indent="-203200">
              <a:spcAft>
                <a:spcPts val="400"/>
              </a:spcAft>
              <a:buSzPct val="100000"/>
              <a:buChar char="•"/>
            </a:pPr>
            <a:r>
              <a:rPr lang="en-US" sz="1400" b="1" dirty="0">
                <a:solidFill>
                  <a:srgbClr val="1E2A32"/>
                </a:solidFill>
                <a:latin typeface="Calibri" pitchFamily="34" charset="0"/>
                <a:ea typeface="Calibri" pitchFamily="34" charset="-122"/>
                <a:cs typeface="Calibri" pitchFamily="34" charset="-120"/>
              </a:rPr>
              <a:t>MMA Input</a:t>
            </a:r>
            <a:r>
              <a:rPr lang="en-US" sz="1400" dirty="0">
                <a:solidFill>
                  <a:srgbClr val="1E2A32"/>
                </a:solidFill>
                <a:latin typeface="Calibri" pitchFamily="34" charset="0"/>
                <a:ea typeface="Calibri" pitchFamily="34" charset="-122"/>
                <a:cs typeface="Calibri" pitchFamily="34" charset="-120"/>
              </a:rPr>
              <a:t> — operands of those instructions</a:t>
            </a:r>
            <a:endParaRPr lang="en-US" sz="1400" dirty="0"/>
          </a:p>
        </p:txBody>
      </p:sp>
      <p:sp>
        <p:nvSpPr>
          <p:cNvPr id="11" name="panel"/>
          <p:cNvSpPr/>
          <p:nvPr/>
        </p:nvSpPr>
        <p:spPr>
          <a:xfrm>
            <a:off x="7406640" y="4114800"/>
            <a:ext cx="4297680" cy="1600200"/>
          </a:xfrm>
          <a:prstGeom prst="roundRect">
            <a:avLst>
              <a:gd name="adj" fmla="val 4571"/>
            </a:avLst>
          </a:prstGeom>
          <a:solidFill>
            <a:srgbClr val="F3F6F7"/>
          </a:solidFill>
          <a:ln/>
        </p:spPr>
      </p:sp>
      <p:sp>
        <p:nvSpPr>
          <p:cNvPr id="12" name="Text 8"/>
          <p:cNvSpPr txBox="1"/>
          <p:nvPr/>
        </p:nvSpPr>
        <p:spPr>
          <a:xfrm>
            <a:off x="7589520" y="4206240"/>
            <a:ext cx="4023360" cy="320040"/>
          </a:xfrm>
          <a:prstGeom prst="rect">
            <a:avLst/>
          </a:prstGeom>
          <a:noFill/>
          <a:ln/>
        </p:spPr>
        <p:txBody>
          <a:bodyPr wrap="square" lIns="0" tIns="0" rIns="0" bIns="0" rtlCol="0" anchor="t"/>
          <a:lstStyle/>
          <a:p>
            <a:pPr indent="0" marL="0">
              <a:buNone/>
            </a:pPr>
            <a:r>
              <a:rPr lang="en-US" sz="1500" b="1" dirty="0">
                <a:solidFill>
                  <a:srgbClr val="1E2A32"/>
                </a:solidFill>
                <a:latin typeface="Calibri" pitchFamily="34" charset="0"/>
                <a:ea typeface="Calibri" pitchFamily="34" charset="-122"/>
                <a:cs typeface="Calibri" pitchFamily="34" charset="-120"/>
              </a:rPr>
              <a:t>Memory:  offset → (i, j)</a:t>
            </a:r>
            <a:endParaRPr lang="en-US" sz="1500" dirty="0"/>
          </a:p>
        </p:txBody>
      </p:sp>
      <p:sp>
        <p:nvSpPr>
          <p:cNvPr id="13" name="bullets"/>
          <p:cNvSpPr txBox="1"/>
          <p:nvPr/>
        </p:nvSpPr>
        <p:spPr>
          <a:xfrm>
            <a:off x="7589520" y="4572000"/>
            <a:ext cx="4023360" cy="1097280"/>
          </a:xfrm>
          <a:prstGeom prst="rect">
            <a:avLst/>
          </a:prstGeom>
          <a:noFill/>
          <a:ln/>
        </p:spPr>
        <p:txBody>
          <a:bodyPr wrap="square" lIns="25400" tIns="25400" rIns="25400" bIns="25400" rtlCol="0" anchor="t"/>
          <a:lstStyle/>
          <a:p>
            <a:pPr marL="203200" indent="-203200">
              <a:spcAft>
                <a:spcPts val="400"/>
              </a:spcAft>
              <a:buSzPct val="100000"/>
              <a:buChar char="•"/>
            </a:pPr>
            <a:r>
              <a:rPr lang="en-US" sz="1400" b="1" dirty="0">
                <a:solidFill>
                  <a:srgbClr val="1E2A32"/>
                </a:solidFill>
                <a:latin typeface="Calibri" pitchFamily="34" charset="0"/>
                <a:ea typeface="Calibri" pitchFamily="34" charset="-122"/>
                <a:cs typeface="Calibri" pitchFamily="34" charset="-120"/>
              </a:rPr>
              <a:t>Unswizzled</a:t>
            </a:r>
            <a:r>
              <a:rPr lang="en-US" sz="1400" dirty="0">
                <a:solidFill>
                  <a:srgbClr val="1E2A32"/>
                </a:solidFill>
                <a:latin typeface="Calibri" pitchFamily="34" charset="0"/>
                <a:ea typeface="Calibri" pitchFamily="34" charset="-122"/>
                <a:cs typeface="Calibri" pitchFamily="34" charset="-120"/>
              </a:rPr>
              <a:t> — plain row-major offsets</a:t>
            </a:r>
            <a:endParaRPr lang="en-US" sz="1400" dirty="0"/>
          </a:p>
          <a:p>
            <a:pPr marL="203200" indent="-203200">
              <a:spcAft>
                <a:spcPts val="400"/>
              </a:spcAft>
              <a:buSzPct val="100000"/>
              <a:buChar char="•"/>
            </a:pPr>
            <a:r>
              <a:rPr lang="en-US" sz="1400" b="1" dirty="0">
                <a:solidFill>
                  <a:srgbClr val="1E2A32"/>
                </a:solidFill>
                <a:latin typeface="Calibri" pitchFamily="34" charset="0"/>
                <a:ea typeface="Calibri" pitchFamily="34" charset="-122"/>
                <a:cs typeface="Calibri" pitchFamily="34" charset="-120"/>
              </a:rPr>
              <a:t>Swizzled</a:t>
            </a:r>
            <a:r>
              <a:rPr lang="en-US" sz="1400" dirty="0">
                <a:solidFill>
                  <a:srgbClr val="1E2A32"/>
                </a:solidFill>
                <a:latin typeface="Calibri" pitchFamily="34" charset="0"/>
                <a:ea typeface="Calibri" pitchFamily="34" charset="-122"/>
                <a:cs typeface="Calibri" pitchFamily="34" charset="-120"/>
              </a:rPr>
              <a:t> — XOR a row phase into column groups to avoid bank conflicts</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number"/>
          <p:cNvSpPr txBox="1"/>
          <p:nvPr/>
        </p:nvSpPr>
        <p:spPr>
          <a:xfrm>
            <a:off x="822960" y="1417320"/>
            <a:ext cx="3657600" cy="1005840"/>
          </a:xfrm>
          <a:prstGeom prst="rect">
            <a:avLst/>
          </a:prstGeom>
          <a:noFill/>
          <a:ln/>
        </p:spPr>
        <p:txBody>
          <a:bodyPr wrap="square" lIns="0" tIns="0" rIns="0" bIns="0" rtlCol="0" anchor="ctr"/>
          <a:lstStyle/>
          <a:p>
            <a:pPr indent="0" marL="0">
              <a:buNone/>
            </a:pPr>
            <a:r>
              <a:rPr lang="en-US" sz="6600" b="1" dirty="0">
                <a:solidFill>
                  <a:srgbClr val="0E6E7A"/>
                </a:solidFill>
                <a:latin typeface="Cambria" pitchFamily="34" charset="0"/>
                <a:ea typeface="Cambria" pitchFamily="34" charset="-122"/>
                <a:cs typeface="Cambria" pitchFamily="34" charset="-120"/>
              </a:rPr>
              <a:t>§4</a:t>
            </a:r>
            <a:endParaRPr lang="en-US" sz="6600" dirty="0"/>
          </a:p>
        </p:txBody>
      </p:sp>
      <p:sp>
        <p:nvSpPr>
          <p:cNvPr id="3" name="Text 1"/>
          <p:cNvSpPr/>
          <p:nvPr>
            <p:ph idx="101" type="title" hasCustomPrompt="1"/>
          </p:nvPr>
        </p:nvSpPr>
        <p:spPr>
          <a:xfrm>
            <a:off x="822960" y="2514600"/>
            <a:ext cx="10515600" cy="868680"/>
          </a:xfrm>
          <a:prstGeom prst="rect">
            <a:avLst/>
          </a:prstGeom>
          <a:noFill/>
          <a:ln/>
        </p:spPr>
        <p:txBody>
          <a:bodyPr wrap="square" lIns="0" tIns="0" rIns="0" bIns="0" rtlCol="0" anchor="t"/>
          <a:lstStyle/>
          <a:p>
            <a:pPr algn="l" indent="0" marL="0">
              <a:buNone/>
            </a:pPr>
            <a:r>
              <a:rPr lang="en-US" sz="4000" b="1" dirty="0">
                <a:solidFill>
                  <a:srgbClr val="1E2A32"/>
                </a:solidFill>
                <a:latin typeface="Cambria" pitchFamily="34" charset="0"/>
                <a:ea typeface="Cambria" pitchFamily="34" charset="-122"/>
                <a:cs typeface="Cambria" pitchFamily="34" charset="-120"/>
              </a:rPr>
              <a:t>Linear Layouts: the mathematics</a:t>
            </a:r>
            <a:endParaRPr lang="en-US" sz="4000" dirty="0"/>
          </a:p>
        </p:txBody>
      </p:sp>
      <p:sp>
        <p:nvSpPr>
          <p:cNvPr id="4" name="Text 1"/>
          <p:cNvSpPr/>
          <p:nvPr>
            <p:ph idx="102" type="body" hasCustomPrompt="1"/>
          </p:nvPr>
        </p:nvSpPr>
        <p:spPr>
          <a:xfrm>
            <a:off x="822960" y="3474720"/>
            <a:ext cx="10058400" cy="1097280"/>
          </a:xfrm>
          <a:prstGeom prst="rect">
            <a:avLst/>
          </a:prstGeom>
          <a:noFill/>
          <a:ln/>
        </p:spPr>
        <p:txBody>
          <a:bodyPr wrap="square" lIns="0" tIns="0" rIns="0" bIns="0" rtlCol="0" anchor="t"/>
          <a:lstStyle/>
          <a:p>
            <a:pPr indent="0" marL="0">
              <a:buNone/>
            </a:pPr>
            <a:r>
              <a:rPr lang="en-US" sz="1800" dirty="0">
                <a:solidFill>
                  <a:srgbClr val="5B6770"/>
                </a:solidFill>
                <a:latin typeface="Calibri" pitchFamily="34" charset="0"/>
                <a:ea typeface="Calibri" pitchFamily="34" charset="-122"/>
                <a:cs typeface="Calibri" pitchFamily="34" charset="-120"/>
              </a:rPr>
              <a:t>Definitions 4.1–4.5, completeness (Props 4.6–4.8, Thm 4.9), distributed and memory layouts (Defs 4.10–4.14), closure under Triton operations — each with a worked F₂ example.</a:t>
            </a:r>
            <a:endParaRPr lang="en-US" sz="18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DEFINITION 4.1</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What is a Linear Layout?</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4.1, p. 136; basis-vector view from LinearLayout.h (upstream Triton)</a:t>
            </a:r>
            <a:endParaRPr lang="en-US" sz="1000" dirty="0"/>
          </a:p>
        </p:txBody>
      </p:sp>
      <p:sp>
        <p:nvSpPr>
          <p:cNvPr id="6" name="callout"/>
          <p:cNvSpPr/>
          <p:nvPr/>
        </p:nvSpPr>
        <p:spPr>
          <a:xfrm>
            <a:off x="502920" y="1234440"/>
            <a:ext cx="5486400" cy="685800"/>
          </a:xfrm>
          <a:prstGeom prst="roundRect">
            <a:avLst>
              <a:gd name="adj" fmla="val 10667"/>
            </a:avLst>
          </a:prstGeom>
          <a:solidFill>
            <a:srgbClr val="DDEFF1"/>
          </a:solidFill>
          <a:ln/>
        </p:spPr>
      </p:sp>
      <p:sp>
        <p:nvSpPr>
          <p:cNvPr id="7" name="callout-text"/>
          <p:cNvSpPr txBox="1"/>
          <p:nvPr/>
        </p:nvSpPr>
        <p:spPr>
          <a:xfrm>
            <a:off x="640080" y="1289304"/>
            <a:ext cx="5212080" cy="576072"/>
          </a:xfrm>
          <a:prstGeom prst="rect">
            <a:avLst/>
          </a:prstGeom>
          <a:noFill/>
          <a:ln/>
        </p:spPr>
        <p:txBody>
          <a:bodyPr wrap="square" lIns="0" tIns="0" rIns="0" bIns="0" rtlCol="0" anchor="ctr"/>
          <a:lstStyle/>
          <a:p>
            <a:pPr algn="l" indent="0" marL="0">
              <a:buNone/>
            </a:pPr>
            <a:r>
              <a:rPr lang="en-US" sz="1600" b="1" dirty="0">
                <a:solidFill>
                  <a:srgbClr val="0A4F58"/>
                </a:solidFill>
                <a:latin typeface="Calibri" pitchFamily="34" charset="0"/>
                <a:ea typeface="Calibri" pitchFamily="34" charset="-122"/>
                <a:cs typeface="Calibri" pitchFamily="34" charset="-120"/>
              </a:rPr>
              <a:t>Definition 4.1.</a:t>
            </a:r>
            <a:r>
              <a:rPr lang="en-US" sz="1600" dirty="0">
                <a:solidFill>
                  <a:srgbClr val="0A4F58"/>
                </a:solidFill>
                <a:latin typeface="Calibri" pitchFamily="34" charset="0"/>
                <a:ea typeface="Calibri" pitchFamily="34" charset="-122"/>
                <a:cs typeface="Calibri" pitchFamily="34" charset="-120"/>
              </a:rPr>
              <a:t> A Linear Layout is a linear map between labelled vector spaces over F₂.</a:t>
            </a:r>
            <a:endParaRPr lang="en-US" sz="1600" dirty="0"/>
          </a:p>
        </p:txBody>
      </p:sp>
      <p:sp>
        <p:nvSpPr>
          <p:cNvPr id="8" name="Text 5"/>
          <p:cNvSpPr txBox="1"/>
          <p:nvPr/>
        </p:nvSpPr>
        <p:spPr>
          <a:xfrm>
            <a:off x="685800" y="2103120"/>
            <a:ext cx="5303520" cy="731520"/>
          </a:xfrm>
          <a:prstGeom prst="rect">
            <a:avLst/>
          </a:prstGeom>
          <a:noFill/>
          <a:ln/>
        </p:spPr>
        <p:txBody>
          <a:bodyPr wrap="square" lIns="0" tIns="0" rIns="0" bIns="0" rtlCol="0" anchor="t"/>
          <a:lstStyle/>
          <a:p>
            <a:pPr algn="ctr" indent="0" marL="0">
              <a:buNone/>
            </a:pPr>
            <a:r>
              <a:rPr lang="en-US" sz="2000" b="1" dirty="0">
                <a:solidFill>
                  <a:srgbClr val="1E2A32"/>
                </a:solidFill>
                <a:latin typeface="Calibri" pitchFamily="34" charset="0"/>
                <a:ea typeface="Calibri" pitchFamily="34" charset="-122"/>
                <a:cs typeface="Calibri" pitchFamily="34" charset="-120"/>
              </a:rPr>
              <a:t>L : Reg × Thr × Wrp  →  F₂ⁿ × F₂ᵐ</a:t>
            </a:r>
            <a:endParaRPr lang="en-US" sz="2000" dirty="0"/>
          </a:p>
          <a:p>
            <a:pPr algn="ctr" indent="0" marL="0">
              <a:buNone/>
            </a:pPr>
            <a:r>
              <a:rPr lang="en-US" sz="2000" dirty="0">
                <a:solidFill>
                  <a:srgbClr val="5B6770"/>
                </a:solidFill>
                <a:latin typeface="Calibri" pitchFamily="34" charset="0"/>
                <a:ea typeface="Calibri" pitchFamily="34" charset="-122"/>
                <a:cs typeface="Calibri" pitchFamily="34" charset="-120"/>
              </a:rPr>
              <a:t>y = A x  (over F₂)</a:t>
            </a:r>
            <a:endParaRPr lang="en-US" sz="2000" dirty="0"/>
          </a:p>
        </p:txBody>
      </p:sp>
      <p:sp>
        <p:nvSpPr>
          <p:cNvPr id="9" name="callout"/>
          <p:cNvSpPr/>
          <p:nvPr/>
        </p:nvSpPr>
        <p:spPr>
          <a:xfrm>
            <a:off x="502920" y="2971800"/>
            <a:ext cx="5486400" cy="566928"/>
          </a:xfrm>
          <a:prstGeom prst="roundRect">
            <a:avLst>
              <a:gd name="adj" fmla="val 12903"/>
            </a:avLst>
          </a:prstGeom>
          <a:solidFill>
            <a:srgbClr val="FFF0CC"/>
          </a:solidFill>
          <a:ln/>
        </p:spPr>
      </p:sp>
      <p:sp>
        <p:nvSpPr>
          <p:cNvPr id="10" name="callout-text"/>
          <p:cNvSpPr txBox="1"/>
          <p:nvPr/>
        </p:nvSpPr>
        <p:spPr>
          <a:xfrm>
            <a:off x="640080" y="3026664"/>
            <a:ext cx="5212080" cy="457200"/>
          </a:xfrm>
          <a:prstGeom prst="rect">
            <a:avLst/>
          </a:prstGeom>
          <a:noFill/>
          <a:ln/>
        </p:spPr>
        <p:txBody>
          <a:bodyPr wrap="square" lIns="0" tIns="0" rIns="0" bIns="0" rtlCol="0" anchor="ctr"/>
          <a:lstStyle/>
          <a:p>
            <a:pPr algn="ctr" indent="0" marL="0">
              <a:buNone/>
            </a:pPr>
            <a:r>
              <a:rPr lang="en-US" sz="1500" dirty="0">
                <a:solidFill>
                  <a:srgbClr val="6B4100"/>
                </a:solidFill>
                <a:latin typeface="Calibri" pitchFamily="34" charset="0"/>
                <a:ea typeface="Calibri" pitchFamily="34" charset="-122"/>
                <a:cs typeface="Calibri" pitchFamily="34" charset="-120"/>
              </a:rPr>
              <a:t>“Given a hardware location, which logical tensor element does it hold?”</a:t>
            </a:r>
            <a:endParaRPr lang="en-US" sz="1500" dirty="0"/>
          </a:p>
        </p:txBody>
      </p:sp>
      <p:sp>
        <p:nvSpPr>
          <p:cNvPr id="11" name="bullets"/>
          <p:cNvSpPr txBox="1"/>
          <p:nvPr/>
        </p:nvSpPr>
        <p:spPr>
          <a:xfrm>
            <a:off x="502920" y="3703320"/>
            <a:ext cx="5486400" cy="2286000"/>
          </a:xfrm>
          <a:prstGeom prst="rect">
            <a:avLst/>
          </a:prstGeom>
          <a:noFill/>
          <a:ln/>
        </p:spPr>
        <p:txBody>
          <a:bodyPr wrap="square" lIns="25400" tIns="25400" rIns="25400" bIns="25400" rtlCol="0" anchor="t"/>
          <a:lstStyle/>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Input = hardware index bits; output = logical coordinate bits.</a:t>
            </a:r>
            <a:endParaRPr lang="en-US" sz="1500" dirty="0"/>
          </a:p>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A </a:t>
            </a:r>
            <a:r>
              <a:rPr lang="en-US" sz="1500" b="1" dirty="0">
                <a:solidFill>
                  <a:srgbClr val="1E2A32"/>
                </a:solidFill>
                <a:latin typeface="Calibri" pitchFamily="34" charset="0"/>
                <a:ea typeface="Calibri" pitchFamily="34" charset="-122"/>
                <a:cs typeface="Calibri" pitchFamily="34" charset="-120"/>
              </a:rPr>
              <a:t>function</a:t>
            </a:r>
            <a:r>
              <a:rPr lang="en-US" sz="1500" dirty="0">
                <a:solidFill>
                  <a:srgbClr val="1E2A32"/>
                </a:solidFill>
                <a:latin typeface="Calibri" pitchFamily="34" charset="0"/>
                <a:ea typeface="Calibri" pitchFamily="34" charset="-122"/>
                <a:cs typeface="Calibri" pitchFamily="34" charset="-120"/>
              </a:rPr>
              <a:t>: each location holds one element — but </a:t>
            </a:r>
            <a:r>
              <a:rPr lang="en-US" sz="1500" b="1" dirty="0">
                <a:solidFill>
                  <a:srgbClr val="1E2A32"/>
                </a:solidFill>
                <a:latin typeface="Calibri" pitchFamily="34" charset="0"/>
                <a:ea typeface="Calibri" pitchFamily="34" charset="-122"/>
                <a:cs typeface="Calibri" pitchFamily="34" charset="-120"/>
              </a:rPr>
              <a:t>many-to-one</a:t>
            </a:r>
            <a:r>
              <a:rPr lang="en-US" sz="1500" dirty="0">
                <a:solidFill>
                  <a:srgbClr val="1E2A32"/>
                </a:solidFill>
                <a:latin typeface="Calibri" pitchFamily="34" charset="0"/>
                <a:ea typeface="Calibri" pitchFamily="34" charset="-122"/>
                <a:cs typeface="Calibri" pitchFamily="34" charset="-120"/>
              </a:rPr>
              <a:t> is allowed (duplication).</a:t>
            </a:r>
            <a:endParaRPr lang="en-US" sz="1500" dirty="0"/>
          </a:p>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Labels record which bits are Reg / Thr / Wrp and i / j;  L_Reg = the register columns.</a:t>
            </a:r>
            <a:endParaRPr lang="en-US" sz="1500" dirty="0"/>
          </a:p>
          <a:p>
            <a:pPr marL="203200" indent="-203200">
              <a:spcAft>
                <a:spcPts val="600"/>
              </a:spcAft>
              <a:buSzPct val="100000"/>
              <a:buChar char="•"/>
            </a:pPr>
            <a:r>
              <a:rPr lang="en-US" sz="1500" b="1" dirty="0">
                <a:solidFill>
                  <a:srgbClr val="1E2A32"/>
                </a:solidFill>
                <a:latin typeface="Calibri" pitchFamily="34" charset="0"/>
                <a:ea typeface="Calibri" pitchFamily="34" charset="-122"/>
                <a:cs typeface="Calibri" pitchFamily="34" charset="-120"/>
              </a:rPr>
              <a:t>Column k = L(eₖ)</a:t>
            </a:r>
            <a:r>
              <a:rPr lang="en-US" sz="1500" dirty="0">
                <a:solidFill>
                  <a:srgbClr val="1E2A32"/>
                </a:solidFill>
                <a:latin typeface="Calibri" pitchFamily="34" charset="0"/>
                <a:ea typeface="Calibri" pitchFamily="34" charset="-122"/>
                <a:cs typeface="Calibri" pitchFamily="34" charset="-120"/>
              </a:rPr>
              <a:t>: the element held when only hardware bit k is set.</a:t>
            </a:r>
            <a:endParaRPr lang="en-US" sz="1500" dirty="0"/>
          </a:p>
        </p:txBody>
      </p:sp>
      <p:sp>
        <p:nvSpPr>
          <p:cNvPr id="12" name="Text 9"/>
          <p:cNvSpPr txBox="1"/>
          <p:nvPr/>
        </p:nvSpPr>
        <p:spPr>
          <a:xfrm>
            <a:off x="6355080" y="1188720"/>
            <a:ext cx="18288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Layout P</a:t>
            </a:r>
            <a:endParaRPr lang="en-US" sz="1500" dirty="0"/>
          </a:p>
        </p:txBody>
      </p:sp>
      <p:sp>
        <p:nvSpPr>
          <p:cNvPr id="13" name="mcell"/>
          <p:cNvSpPr txBox="1"/>
          <p:nvPr/>
        </p:nvSpPr>
        <p:spPr>
          <a:xfrm>
            <a:off x="6903720" y="2011680"/>
            <a:ext cx="329184" cy="329184"/>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4" name="mcell"/>
          <p:cNvSpPr txBox="1"/>
          <p:nvPr/>
        </p:nvSpPr>
        <p:spPr>
          <a:xfrm>
            <a:off x="7232904" y="2011680"/>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5" name="mcell"/>
          <p:cNvSpPr txBox="1"/>
          <p:nvPr/>
        </p:nvSpPr>
        <p:spPr>
          <a:xfrm>
            <a:off x="7562088" y="2011680"/>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6903720" y="2340864"/>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7232904" y="2340864"/>
            <a:ext cx="329184" cy="329184"/>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8" name="mcell"/>
          <p:cNvSpPr txBox="1"/>
          <p:nvPr/>
        </p:nvSpPr>
        <p:spPr>
          <a:xfrm>
            <a:off x="7562088" y="2340864"/>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6903720" y="2670048"/>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0" name="mcell"/>
          <p:cNvSpPr txBox="1"/>
          <p:nvPr/>
        </p:nvSpPr>
        <p:spPr>
          <a:xfrm>
            <a:off x="7232904" y="2670048"/>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7562088" y="2670048"/>
            <a:ext cx="329184" cy="329184"/>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2" name="msep"/>
          <p:cNvSpPr/>
          <p:nvPr/>
        </p:nvSpPr>
        <p:spPr>
          <a:xfrm>
            <a:off x="7232904" y="2029968"/>
            <a:ext cx="0" cy="950976"/>
          </a:xfrm>
          <a:prstGeom prst="line">
            <a:avLst/>
          </a:prstGeom>
          <a:noFill/>
          <a:ln w="9525">
            <a:solidFill>
              <a:srgbClr val="5B6770"/>
            </a:solidFill>
            <a:prstDash val="dash"/>
          </a:ln>
        </p:spPr>
      </p:sp>
      <p:sp>
        <p:nvSpPr>
          <p:cNvPr id="23" name="mbr"/>
          <p:cNvSpPr/>
          <p:nvPr/>
        </p:nvSpPr>
        <p:spPr>
          <a:xfrm>
            <a:off x="6876288" y="1984248"/>
            <a:ext cx="0" cy="1042416"/>
          </a:xfrm>
          <a:prstGeom prst="line">
            <a:avLst/>
          </a:prstGeom>
          <a:noFill/>
          <a:ln w="15875">
            <a:solidFill>
              <a:srgbClr val="1E2A32"/>
            </a:solidFill>
            <a:prstDash val="solid"/>
          </a:ln>
        </p:spPr>
      </p:sp>
      <p:sp>
        <p:nvSpPr>
          <p:cNvPr id="24" name="mbr"/>
          <p:cNvSpPr/>
          <p:nvPr/>
        </p:nvSpPr>
        <p:spPr>
          <a:xfrm>
            <a:off x="6876288" y="1984248"/>
            <a:ext cx="73152" cy="0"/>
          </a:xfrm>
          <a:prstGeom prst="line">
            <a:avLst/>
          </a:prstGeom>
          <a:noFill/>
          <a:ln w="15875">
            <a:solidFill>
              <a:srgbClr val="1E2A32"/>
            </a:solidFill>
            <a:prstDash val="solid"/>
          </a:ln>
        </p:spPr>
      </p:sp>
      <p:sp>
        <p:nvSpPr>
          <p:cNvPr id="25" name="mbr"/>
          <p:cNvSpPr/>
          <p:nvPr/>
        </p:nvSpPr>
        <p:spPr>
          <a:xfrm>
            <a:off x="6876288" y="3026664"/>
            <a:ext cx="73152" cy="0"/>
          </a:xfrm>
          <a:prstGeom prst="line">
            <a:avLst/>
          </a:prstGeom>
          <a:noFill/>
          <a:ln w="15875">
            <a:solidFill>
              <a:srgbClr val="1E2A32"/>
            </a:solidFill>
            <a:prstDash val="solid"/>
          </a:ln>
        </p:spPr>
      </p:sp>
      <p:sp>
        <p:nvSpPr>
          <p:cNvPr id="26" name="mbr"/>
          <p:cNvSpPr/>
          <p:nvPr/>
        </p:nvSpPr>
        <p:spPr>
          <a:xfrm>
            <a:off x="7918704" y="1984248"/>
            <a:ext cx="0" cy="1042416"/>
          </a:xfrm>
          <a:prstGeom prst="line">
            <a:avLst/>
          </a:prstGeom>
          <a:noFill/>
          <a:ln w="15875">
            <a:solidFill>
              <a:srgbClr val="1E2A32"/>
            </a:solidFill>
            <a:prstDash val="solid"/>
          </a:ln>
        </p:spPr>
      </p:sp>
      <p:sp>
        <p:nvSpPr>
          <p:cNvPr id="27" name="mbr"/>
          <p:cNvSpPr/>
          <p:nvPr/>
        </p:nvSpPr>
        <p:spPr>
          <a:xfrm>
            <a:off x="7845552" y="1984248"/>
            <a:ext cx="73152" cy="0"/>
          </a:xfrm>
          <a:prstGeom prst="line">
            <a:avLst/>
          </a:prstGeom>
          <a:noFill/>
          <a:ln w="15875">
            <a:solidFill>
              <a:srgbClr val="1E2A32"/>
            </a:solidFill>
            <a:prstDash val="solid"/>
          </a:ln>
        </p:spPr>
      </p:sp>
      <p:sp>
        <p:nvSpPr>
          <p:cNvPr id="28" name="mbr"/>
          <p:cNvSpPr/>
          <p:nvPr/>
        </p:nvSpPr>
        <p:spPr>
          <a:xfrm>
            <a:off x="7845552" y="3026664"/>
            <a:ext cx="73152" cy="0"/>
          </a:xfrm>
          <a:prstGeom prst="line">
            <a:avLst/>
          </a:prstGeom>
          <a:noFill/>
          <a:ln w="15875">
            <a:solidFill>
              <a:srgbClr val="1E2A32"/>
            </a:solidFill>
            <a:prstDash val="solid"/>
          </a:ln>
        </p:spPr>
      </p:sp>
      <p:sp>
        <p:nvSpPr>
          <p:cNvPr id="29" name="mlab"/>
          <p:cNvSpPr txBox="1"/>
          <p:nvPr/>
        </p:nvSpPr>
        <p:spPr>
          <a:xfrm>
            <a:off x="6858000" y="1773936"/>
            <a:ext cx="420624"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30" name="mlab"/>
          <p:cNvSpPr txBox="1"/>
          <p:nvPr/>
        </p:nvSpPr>
        <p:spPr>
          <a:xfrm>
            <a:off x="7187184" y="1773936"/>
            <a:ext cx="420624"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31" name="mlab"/>
          <p:cNvSpPr txBox="1"/>
          <p:nvPr/>
        </p:nvSpPr>
        <p:spPr>
          <a:xfrm>
            <a:off x="7516368" y="1773936"/>
            <a:ext cx="420624"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32" name="mgrp"/>
          <p:cNvSpPr txBox="1"/>
          <p:nvPr/>
        </p:nvSpPr>
        <p:spPr>
          <a:xfrm>
            <a:off x="6903720" y="1536192"/>
            <a:ext cx="329184"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33" name="mgrp"/>
          <p:cNvSpPr txBox="1"/>
          <p:nvPr/>
        </p:nvSpPr>
        <p:spPr>
          <a:xfrm>
            <a:off x="7232904" y="1536192"/>
            <a:ext cx="658368"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34" name="mlab"/>
          <p:cNvSpPr txBox="1"/>
          <p:nvPr/>
        </p:nvSpPr>
        <p:spPr>
          <a:xfrm>
            <a:off x="6501384" y="2011680"/>
            <a:ext cx="347472" cy="329184"/>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e₀</a:t>
            </a:r>
            <a:endParaRPr lang="en-US" sz="1200" dirty="0"/>
          </a:p>
        </p:txBody>
      </p:sp>
      <p:sp>
        <p:nvSpPr>
          <p:cNvPr id="35" name="mlab"/>
          <p:cNvSpPr txBox="1"/>
          <p:nvPr/>
        </p:nvSpPr>
        <p:spPr>
          <a:xfrm>
            <a:off x="6501384" y="2340864"/>
            <a:ext cx="347472" cy="329184"/>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e₁</a:t>
            </a:r>
            <a:endParaRPr lang="en-US" sz="1200" dirty="0"/>
          </a:p>
        </p:txBody>
      </p:sp>
      <p:sp>
        <p:nvSpPr>
          <p:cNvPr id="36" name="mlab"/>
          <p:cNvSpPr txBox="1"/>
          <p:nvPr/>
        </p:nvSpPr>
        <p:spPr>
          <a:xfrm>
            <a:off x="6501384" y="2670048"/>
            <a:ext cx="347472" cy="329184"/>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e₂</a:t>
            </a:r>
            <a:endParaRPr lang="en-US" sz="1200" dirty="0"/>
          </a:p>
        </p:txBody>
      </p:sp>
      <p:sp>
        <p:nvSpPr>
          <p:cNvPr id="37" name="Text 34"/>
          <p:cNvSpPr txBox="1"/>
          <p:nvPr/>
        </p:nvSpPr>
        <p:spPr>
          <a:xfrm>
            <a:off x="8458200" y="169164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38" name="gcell"/>
          <p:cNvSpPr txBox="1"/>
          <p:nvPr/>
        </p:nvSpPr>
        <p:spPr>
          <a:xfrm>
            <a:off x="8458200" y="196596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39" name="gcell"/>
          <p:cNvSpPr txBox="1"/>
          <p:nvPr/>
        </p:nvSpPr>
        <p:spPr>
          <a:xfrm>
            <a:off x="8823960" y="196596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p>
        </p:txBody>
      </p:sp>
      <p:sp>
        <p:nvSpPr>
          <p:cNvPr id="40" name="Text 37"/>
          <p:cNvSpPr txBox="1"/>
          <p:nvPr/>
        </p:nvSpPr>
        <p:spPr>
          <a:xfrm>
            <a:off x="9281160" y="169164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41" name="gcell"/>
          <p:cNvSpPr txBox="1"/>
          <p:nvPr/>
        </p:nvSpPr>
        <p:spPr>
          <a:xfrm>
            <a:off x="9281160" y="196596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p>
        </p:txBody>
      </p:sp>
      <p:sp>
        <p:nvSpPr>
          <p:cNvPr id="42" name="gcell"/>
          <p:cNvSpPr txBox="1"/>
          <p:nvPr/>
        </p:nvSpPr>
        <p:spPr>
          <a:xfrm>
            <a:off x="9646920" y="196596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p>
        </p:txBody>
      </p:sp>
      <p:sp>
        <p:nvSpPr>
          <p:cNvPr id="43" name="Text 40"/>
          <p:cNvSpPr txBox="1"/>
          <p:nvPr/>
        </p:nvSpPr>
        <p:spPr>
          <a:xfrm>
            <a:off x="10104120" y="169164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t₂</a:t>
            </a:r>
            <a:endParaRPr lang="en-US" sz="1200" dirty="0"/>
          </a:p>
        </p:txBody>
      </p:sp>
      <p:sp>
        <p:nvSpPr>
          <p:cNvPr id="44" name="gcell"/>
          <p:cNvSpPr txBox="1"/>
          <p:nvPr/>
        </p:nvSpPr>
        <p:spPr>
          <a:xfrm>
            <a:off x="10104120" y="196596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p>
        </p:txBody>
      </p:sp>
      <p:sp>
        <p:nvSpPr>
          <p:cNvPr id="45" name="gcell"/>
          <p:cNvSpPr txBox="1"/>
          <p:nvPr/>
        </p:nvSpPr>
        <p:spPr>
          <a:xfrm>
            <a:off x="10469880" y="196596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5</a:t>
            </a:r>
            <a:endParaRPr lang="en-US" sz="1300" dirty="0"/>
          </a:p>
        </p:txBody>
      </p:sp>
      <p:sp>
        <p:nvSpPr>
          <p:cNvPr id="46" name="Text 43"/>
          <p:cNvSpPr txBox="1"/>
          <p:nvPr/>
        </p:nvSpPr>
        <p:spPr>
          <a:xfrm>
            <a:off x="10927080" y="169164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t₃</a:t>
            </a:r>
            <a:endParaRPr lang="en-US" sz="1200" dirty="0"/>
          </a:p>
        </p:txBody>
      </p:sp>
      <p:sp>
        <p:nvSpPr>
          <p:cNvPr id="47" name="gcell"/>
          <p:cNvSpPr txBox="1"/>
          <p:nvPr/>
        </p:nvSpPr>
        <p:spPr>
          <a:xfrm>
            <a:off x="10927080" y="196596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6</a:t>
            </a:r>
            <a:endParaRPr lang="en-US" sz="1300" dirty="0"/>
          </a:p>
        </p:txBody>
      </p:sp>
      <p:sp>
        <p:nvSpPr>
          <p:cNvPr id="48" name="gcell"/>
          <p:cNvSpPr txBox="1"/>
          <p:nvPr/>
        </p:nvSpPr>
        <p:spPr>
          <a:xfrm>
            <a:off x="11292840" y="196596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7</a:t>
            </a:r>
            <a:endParaRPr lang="en-US" sz="1300" dirty="0"/>
          </a:p>
        </p:txBody>
      </p:sp>
      <p:sp>
        <p:nvSpPr>
          <p:cNvPr id="49" name="Text 46"/>
          <p:cNvSpPr txBox="1"/>
          <p:nvPr/>
        </p:nvSpPr>
        <p:spPr>
          <a:xfrm>
            <a:off x="8458200" y="2377440"/>
            <a:ext cx="3246120" cy="237744"/>
          </a:xfrm>
          <a:prstGeom prst="rect">
            <a:avLst/>
          </a:prstGeom>
          <a:noFill/>
          <a:ln/>
        </p:spPr>
        <p:txBody>
          <a:bodyPr wrap="square" lIns="0" tIns="0" rIns="0" bIns="0" rtlCol="0" anchor="t"/>
          <a:lstStyle/>
          <a:p>
            <a:pPr algn="ctr" indent="0" marL="0">
              <a:buNone/>
            </a:pPr>
            <a:r>
              <a:rPr lang="en-US" sz="1100" i="1" dirty="0">
                <a:solidFill>
                  <a:srgbClr val="5B6770"/>
                </a:solidFill>
                <a:latin typeface="Calibri" pitchFamily="34" charset="0"/>
                <a:ea typeface="Calibri" pitchFamily="34" charset="-122"/>
                <a:cs typeface="Calibri" pitchFamily="34" charset="-120"/>
              </a:rPr>
              <a:t>thread → [r₀, r₁] holds elements</a:t>
            </a:r>
            <a:endParaRPr lang="en-US" sz="1100" dirty="0"/>
          </a:p>
        </p:txBody>
      </p:sp>
      <p:sp>
        <p:nvSpPr>
          <p:cNvPr id="50" name="Text 47"/>
          <p:cNvSpPr txBox="1"/>
          <p:nvPr/>
        </p:nvSpPr>
        <p:spPr>
          <a:xfrm>
            <a:off x="8458200" y="2651760"/>
            <a:ext cx="3246120" cy="274320"/>
          </a:xfrm>
          <a:prstGeom prst="rect">
            <a:avLst/>
          </a:prstGeom>
          <a:noFill/>
          <a:ln/>
        </p:spPr>
        <p:txBody>
          <a:bodyPr wrap="square" lIns="0" tIns="0" rIns="0" bIns="0" rtlCol="0" anchor="t"/>
          <a:lstStyle/>
          <a:p>
            <a:pPr algn="ctr" indent="0" marL="0">
              <a:buNone/>
            </a:pPr>
            <a:r>
              <a:rPr lang="en-US" sz="1100" dirty="0">
                <a:solidFill>
                  <a:srgbClr val="0A4F58"/>
                </a:solidFill>
                <a:latin typeface="Courier New" pitchFamily="34" charset="0"/>
                <a:ea typeface="Courier New" pitchFamily="34" charset="-122"/>
                <a:cs typeface="Courier New" pitchFamily="34" charset="-120"/>
              </a:rPr>
              <a:t>reg_bases=[[1]]  lane_bases=[[2],[4]]</a:t>
            </a:r>
            <a:endParaRPr lang="en-US" sz="1100" dirty="0"/>
          </a:p>
        </p:txBody>
      </p:sp>
      <p:sp>
        <p:nvSpPr>
          <p:cNvPr id="51" name="Text 48"/>
          <p:cNvSpPr txBox="1"/>
          <p:nvPr/>
        </p:nvSpPr>
        <p:spPr>
          <a:xfrm>
            <a:off x="6355080" y="3429000"/>
            <a:ext cx="18288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Layout Q</a:t>
            </a:r>
            <a:endParaRPr lang="en-US" sz="1500" dirty="0"/>
          </a:p>
        </p:txBody>
      </p:sp>
      <p:sp>
        <p:nvSpPr>
          <p:cNvPr id="52" name="mcell"/>
          <p:cNvSpPr txBox="1"/>
          <p:nvPr/>
        </p:nvSpPr>
        <p:spPr>
          <a:xfrm>
            <a:off x="6903720" y="4251960"/>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3" name="mcell"/>
          <p:cNvSpPr txBox="1"/>
          <p:nvPr/>
        </p:nvSpPr>
        <p:spPr>
          <a:xfrm>
            <a:off x="7232904" y="4251960"/>
            <a:ext cx="329184" cy="329184"/>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4" name="mcell"/>
          <p:cNvSpPr txBox="1"/>
          <p:nvPr/>
        </p:nvSpPr>
        <p:spPr>
          <a:xfrm>
            <a:off x="7562088" y="4251960"/>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5" name="mcell"/>
          <p:cNvSpPr txBox="1"/>
          <p:nvPr/>
        </p:nvSpPr>
        <p:spPr>
          <a:xfrm>
            <a:off x="6903720" y="4581144"/>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6" name="mcell"/>
          <p:cNvSpPr txBox="1"/>
          <p:nvPr/>
        </p:nvSpPr>
        <p:spPr>
          <a:xfrm>
            <a:off x="7232904" y="4581144"/>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7" name="mcell"/>
          <p:cNvSpPr txBox="1"/>
          <p:nvPr/>
        </p:nvSpPr>
        <p:spPr>
          <a:xfrm>
            <a:off x="7562088" y="4581144"/>
            <a:ext cx="329184" cy="329184"/>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8" name="mcell"/>
          <p:cNvSpPr txBox="1"/>
          <p:nvPr/>
        </p:nvSpPr>
        <p:spPr>
          <a:xfrm>
            <a:off x="6903720" y="4910328"/>
            <a:ext cx="329184" cy="329184"/>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9" name="mcell"/>
          <p:cNvSpPr txBox="1"/>
          <p:nvPr/>
        </p:nvSpPr>
        <p:spPr>
          <a:xfrm>
            <a:off x="7232904" y="4910328"/>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0" name="mcell"/>
          <p:cNvSpPr txBox="1"/>
          <p:nvPr/>
        </p:nvSpPr>
        <p:spPr>
          <a:xfrm>
            <a:off x="7562088" y="4910328"/>
            <a:ext cx="329184" cy="329184"/>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1" name="msep"/>
          <p:cNvSpPr/>
          <p:nvPr/>
        </p:nvSpPr>
        <p:spPr>
          <a:xfrm>
            <a:off x="7232904" y="4270248"/>
            <a:ext cx="0" cy="950976"/>
          </a:xfrm>
          <a:prstGeom prst="line">
            <a:avLst/>
          </a:prstGeom>
          <a:noFill/>
          <a:ln w="9525">
            <a:solidFill>
              <a:srgbClr val="5B6770"/>
            </a:solidFill>
            <a:prstDash val="dash"/>
          </a:ln>
        </p:spPr>
      </p:sp>
      <p:sp>
        <p:nvSpPr>
          <p:cNvPr id="62" name="mbr"/>
          <p:cNvSpPr/>
          <p:nvPr/>
        </p:nvSpPr>
        <p:spPr>
          <a:xfrm>
            <a:off x="6876288" y="4224528"/>
            <a:ext cx="0" cy="1042416"/>
          </a:xfrm>
          <a:prstGeom prst="line">
            <a:avLst/>
          </a:prstGeom>
          <a:noFill/>
          <a:ln w="15875">
            <a:solidFill>
              <a:srgbClr val="1E2A32"/>
            </a:solidFill>
            <a:prstDash val="solid"/>
          </a:ln>
        </p:spPr>
      </p:sp>
      <p:sp>
        <p:nvSpPr>
          <p:cNvPr id="63" name="mbr"/>
          <p:cNvSpPr/>
          <p:nvPr/>
        </p:nvSpPr>
        <p:spPr>
          <a:xfrm>
            <a:off x="6876288" y="4224528"/>
            <a:ext cx="73152" cy="0"/>
          </a:xfrm>
          <a:prstGeom prst="line">
            <a:avLst/>
          </a:prstGeom>
          <a:noFill/>
          <a:ln w="15875">
            <a:solidFill>
              <a:srgbClr val="1E2A32"/>
            </a:solidFill>
            <a:prstDash val="solid"/>
          </a:ln>
        </p:spPr>
      </p:sp>
      <p:sp>
        <p:nvSpPr>
          <p:cNvPr id="64" name="mbr"/>
          <p:cNvSpPr/>
          <p:nvPr/>
        </p:nvSpPr>
        <p:spPr>
          <a:xfrm>
            <a:off x="6876288" y="5266944"/>
            <a:ext cx="73152" cy="0"/>
          </a:xfrm>
          <a:prstGeom prst="line">
            <a:avLst/>
          </a:prstGeom>
          <a:noFill/>
          <a:ln w="15875">
            <a:solidFill>
              <a:srgbClr val="1E2A32"/>
            </a:solidFill>
            <a:prstDash val="solid"/>
          </a:ln>
        </p:spPr>
      </p:sp>
      <p:sp>
        <p:nvSpPr>
          <p:cNvPr id="65" name="mbr"/>
          <p:cNvSpPr/>
          <p:nvPr/>
        </p:nvSpPr>
        <p:spPr>
          <a:xfrm>
            <a:off x="7918704" y="4224528"/>
            <a:ext cx="0" cy="1042416"/>
          </a:xfrm>
          <a:prstGeom prst="line">
            <a:avLst/>
          </a:prstGeom>
          <a:noFill/>
          <a:ln w="15875">
            <a:solidFill>
              <a:srgbClr val="1E2A32"/>
            </a:solidFill>
            <a:prstDash val="solid"/>
          </a:ln>
        </p:spPr>
      </p:sp>
      <p:sp>
        <p:nvSpPr>
          <p:cNvPr id="66" name="mbr"/>
          <p:cNvSpPr/>
          <p:nvPr/>
        </p:nvSpPr>
        <p:spPr>
          <a:xfrm>
            <a:off x="7845552" y="4224528"/>
            <a:ext cx="73152" cy="0"/>
          </a:xfrm>
          <a:prstGeom prst="line">
            <a:avLst/>
          </a:prstGeom>
          <a:noFill/>
          <a:ln w="15875">
            <a:solidFill>
              <a:srgbClr val="1E2A32"/>
            </a:solidFill>
            <a:prstDash val="solid"/>
          </a:ln>
        </p:spPr>
      </p:sp>
      <p:sp>
        <p:nvSpPr>
          <p:cNvPr id="67" name="mbr"/>
          <p:cNvSpPr/>
          <p:nvPr/>
        </p:nvSpPr>
        <p:spPr>
          <a:xfrm>
            <a:off x="7845552" y="5266944"/>
            <a:ext cx="73152" cy="0"/>
          </a:xfrm>
          <a:prstGeom prst="line">
            <a:avLst/>
          </a:prstGeom>
          <a:noFill/>
          <a:ln w="15875">
            <a:solidFill>
              <a:srgbClr val="1E2A32"/>
            </a:solidFill>
            <a:prstDash val="solid"/>
          </a:ln>
        </p:spPr>
      </p:sp>
      <p:sp>
        <p:nvSpPr>
          <p:cNvPr id="68" name="mlab"/>
          <p:cNvSpPr txBox="1"/>
          <p:nvPr/>
        </p:nvSpPr>
        <p:spPr>
          <a:xfrm>
            <a:off x="6858000" y="4014216"/>
            <a:ext cx="420624"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69" name="mlab"/>
          <p:cNvSpPr txBox="1"/>
          <p:nvPr/>
        </p:nvSpPr>
        <p:spPr>
          <a:xfrm>
            <a:off x="7187184" y="4014216"/>
            <a:ext cx="420624"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70" name="mlab"/>
          <p:cNvSpPr txBox="1"/>
          <p:nvPr/>
        </p:nvSpPr>
        <p:spPr>
          <a:xfrm>
            <a:off x="7516368" y="4014216"/>
            <a:ext cx="420624"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71" name="mgrp"/>
          <p:cNvSpPr txBox="1"/>
          <p:nvPr/>
        </p:nvSpPr>
        <p:spPr>
          <a:xfrm>
            <a:off x="6903720" y="3776472"/>
            <a:ext cx="329184"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72" name="mgrp"/>
          <p:cNvSpPr txBox="1"/>
          <p:nvPr/>
        </p:nvSpPr>
        <p:spPr>
          <a:xfrm>
            <a:off x="7232904" y="3776472"/>
            <a:ext cx="658368"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73" name="mlab"/>
          <p:cNvSpPr txBox="1"/>
          <p:nvPr/>
        </p:nvSpPr>
        <p:spPr>
          <a:xfrm>
            <a:off x="6501384" y="4251960"/>
            <a:ext cx="347472" cy="329184"/>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e₀</a:t>
            </a:r>
            <a:endParaRPr lang="en-US" sz="1200" dirty="0"/>
          </a:p>
        </p:txBody>
      </p:sp>
      <p:sp>
        <p:nvSpPr>
          <p:cNvPr id="74" name="mlab"/>
          <p:cNvSpPr txBox="1"/>
          <p:nvPr/>
        </p:nvSpPr>
        <p:spPr>
          <a:xfrm>
            <a:off x="6501384" y="4581144"/>
            <a:ext cx="347472" cy="329184"/>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e₁</a:t>
            </a:r>
            <a:endParaRPr lang="en-US" sz="1200" dirty="0"/>
          </a:p>
        </p:txBody>
      </p:sp>
      <p:sp>
        <p:nvSpPr>
          <p:cNvPr id="75" name="mlab"/>
          <p:cNvSpPr txBox="1"/>
          <p:nvPr/>
        </p:nvSpPr>
        <p:spPr>
          <a:xfrm>
            <a:off x="6501384" y="4910328"/>
            <a:ext cx="347472" cy="329184"/>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e₂</a:t>
            </a:r>
            <a:endParaRPr lang="en-US" sz="1200" dirty="0"/>
          </a:p>
        </p:txBody>
      </p:sp>
      <p:sp>
        <p:nvSpPr>
          <p:cNvPr id="76" name="Text 73"/>
          <p:cNvSpPr txBox="1"/>
          <p:nvPr/>
        </p:nvSpPr>
        <p:spPr>
          <a:xfrm>
            <a:off x="8458200" y="393192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77" name="gcell"/>
          <p:cNvSpPr txBox="1"/>
          <p:nvPr/>
        </p:nvSpPr>
        <p:spPr>
          <a:xfrm>
            <a:off x="8458200" y="420624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78" name="gcell"/>
          <p:cNvSpPr txBox="1"/>
          <p:nvPr/>
        </p:nvSpPr>
        <p:spPr>
          <a:xfrm>
            <a:off x="8823960" y="420624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p>
        </p:txBody>
      </p:sp>
      <p:sp>
        <p:nvSpPr>
          <p:cNvPr id="79" name="Text 76"/>
          <p:cNvSpPr txBox="1"/>
          <p:nvPr/>
        </p:nvSpPr>
        <p:spPr>
          <a:xfrm>
            <a:off x="9281160" y="393192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80" name="gcell"/>
          <p:cNvSpPr txBox="1"/>
          <p:nvPr/>
        </p:nvSpPr>
        <p:spPr>
          <a:xfrm>
            <a:off x="9281160" y="420624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p>
        </p:txBody>
      </p:sp>
      <p:sp>
        <p:nvSpPr>
          <p:cNvPr id="81" name="gcell"/>
          <p:cNvSpPr txBox="1"/>
          <p:nvPr/>
        </p:nvSpPr>
        <p:spPr>
          <a:xfrm>
            <a:off x="9646920" y="420624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5</a:t>
            </a:r>
            <a:endParaRPr lang="en-US" sz="1300" dirty="0"/>
          </a:p>
        </p:txBody>
      </p:sp>
      <p:sp>
        <p:nvSpPr>
          <p:cNvPr id="82" name="Text 79"/>
          <p:cNvSpPr txBox="1"/>
          <p:nvPr/>
        </p:nvSpPr>
        <p:spPr>
          <a:xfrm>
            <a:off x="10104120" y="393192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t₂</a:t>
            </a:r>
            <a:endParaRPr lang="en-US" sz="1200" dirty="0"/>
          </a:p>
        </p:txBody>
      </p:sp>
      <p:sp>
        <p:nvSpPr>
          <p:cNvPr id="83" name="gcell"/>
          <p:cNvSpPr txBox="1"/>
          <p:nvPr/>
        </p:nvSpPr>
        <p:spPr>
          <a:xfrm>
            <a:off x="10104120" y="420624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p>
        </p:txBody>
      </p:sp>
      <p:sp>
        <p:nvSpPr>
          <p:cNvPr id="84" name="gcell"/>
          <p:cNvSpPr txBox="1"/>
          <p:nvPr/>
        </p:nvSpPr>
        <p:spPr>
          <a:xfrm>
            <a:off x="10469880" y="420624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6</a:t>
            </a:r>
            <a:endParaRPr lang="en-US" sz="1300" dirty="0"/>
          </a:p>
        </p:txBody>
      </p:sp>
      <p:sp>
        <p:nvSpPr>
          <p:cNvPr id="85" name="Text 82"/>
          <p:cNvSpPr txBox="1"/>
          <p:nvPr/>
        </p:nvSpPr>
        <p:spPr>
          <a:xfrm>
            <a:off x="10927080" y="3931920"/>
            <a:ext cx="731520" cy="237744"/>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t₃</a:t>
            </a:r>
            <a:endParaRPr lang="en-US" sz="1200" dirty="0"/>
          </a:p>
        </p:txBody>
      </p:sp>
      <p:sp>
        <p:nvSpPr>
          <p:cNvPr id="86" name="gcell"/>
          <p:cNvSpPr txBox="1"/>
          <p:nvPr/>
        </p:nvSpPr>
        <p:spPr>
          <a:xfrm>
            <a:off x="10927080" y="420624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p>
        </p:txBody>
      </p:sp>
      <p:sp>
        <p:nvSpPr>
          <p:cNvPr id="87" name="gcell"/>
          <p:cNvSpPr txBox="1"/>
          <p:nvPr/>
        </p:nvSpPr>
        <p:spPr>
          <a:xfrm>
            <a:off x="11292840" y="420624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7</a:t>
            </a:r>
            <a:endParaRPr lang="en-US" sz="1300" dirty="0"/>
          </a:p>
        </p:txBody>
      </p:sp>
      <p:sp>
        <p:nvSpPr>
          <p:cNvPr id="88" name="Text 85"/>
          <p:cNvSpPr txBox="1"/>
          <p:nvPr/>
        </p:nvSpPr>
        <p:spPr>
          <a:xfrm>
            <a:off x="8458200" y="4617720"/>
            <a:ext cx="3246120" cy="237744"/>
          </a:xfrm>
          <a:prstGeom prst="rect">
            <a:avLst/>
          </a:prstGeom>
          <a:noFill/>
          <a:ln/>
        </p:spPr>
        <p:txBody>
          <a:bodyPr wrap="square" lIns="0" tIns="0" rIns="0" bIns="0" rtlCol="0" anchor="t"/>
          <a:lstStyle/>
          <a:p>
            <a:pPr algn="ctr" indent="0" marL="0">
              <a:buNone/>
            </a:pPr>
            <a:r>
              <a:rPr lang="en-US" sz="1100" i="1" dirty="0">
                <a:solidFill>
                  <a:srgbClr val="5B6770"/>
                </a:solidFill>
                <a:latin typeface="Calibri" pitchFamily="34" charset="0"/>
                <a:ea typeface="Calibri" pitchFamily="34" charset="-122"/>
                <a:cs typeface="Calibri" pitchFamily="34" charset="-120"/>
              </a:rPr>
              <a:t>thread → [r₀, r₁] holds elements</a:t>
            </a:r>
            <a:endParaRPr lang="en-US" sz="1100" dirty="0"/>
          </a:p>
        </p:txBody>
      </p:sp>
      <p:sp>
        <p:nvSpPr>
          <p:cNvPr id="89" name="Text 86"/>
          <p:cNvSpPr txBox="1"/>
          <p:nvPr/>
        </p:nvSpPr>
        <p:spPr>
          <a:xfrm>
            <a:off x="8458200" y="4892040"/>
            <a:ext cx="3246120" cy="274320"/>
          </a:xfrm>
          <a:prstGeom prst="rect">
            <a:avLst/>
          </a:prstGeom>
          <a:noFill/>
          <a:ln/>
        </p:spPr>
        <p:txBody>
          <a:bodyPr wrap="square" lIns="0" tIns="0" rIns="0" bIns="0" rtlCol="0" anchor="t"/>
          <a:lstStyle/>
          <a:p>
            <a:pPr algn="ctr" indent="0" marL="0">
              <a:buNone/>
            </a:pPr>
            <a:r>
              <a:rPr lang="en-US" sz="1100" dirty="0">
                <a:solidFill>
                  <a:srgbClr val="0A4F58"/>
                </a:solidFill>
                <a:latin typeface="Courier New" pitchFamily="34" charset="0"/>
                <a:ea typeface="Courier New" pitchFamily="34" charset="-122"/>
                <a:cs typeface="Courier New" pitchFamily="34" charset="-120"/>
              </a:rPr>
              <a:t>reg_bases=[[4]]  lane_bases=[[1],[2]]</a:t>
            </a:r>
            <a:endParaRPr lang="en-US" sz="1100" dirty="0"/>
          </a:p>
        </p:txBody>
      </p:sp>
      <p:sp>
        <p:nvSpPr>
          <p:cNvPr id="90" name="tag"/>
          <p:cNvSpPr txBox="1"/>
          <p:nvPr/>
        </p:nvSpPr>
        <p:spPr>
          <a:xfrm>
            <a:off x="635508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§4.1 · MOTIVATING EXAMPLE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Layout A in bits: 16×16 tensor, 2 warps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§4.1, Figure 1(a) and Table 1, p. 136</a:t>
            </a:r>
            <a:endParaRPr lang="en-US" sz="1000" dirty="0"/>
          </a:p>
        </p:txBody>
      </p:sp>
      <p:pic>
        <p:nvPicPr>
          <p:cNvPr id="6" name="fig-fig1a" descr="Figure 1(a) Layout A">    </p:cNvPr>
          <p:cNvPicPr>
            <a:picLocks noChangeAspect="1"/>
          </p:cNvPicPr>
          <p:nvPr/>
        </p:nvPicPr>
        <p:blipFill>
          <a:blip r:embed="rId1"/>
          <a:stretch>
            <a:fillRect/>
          </a:stretch>
        </p:blipFill>
        <p:spPr>
          <a:xfrm>
            <a:off x="524727" y="1234440"/>
            <a:ext cx="3248226" cy="3566160"/>
          </a:xfrm>
          <a:prstGeom prst="rect">
            <a:avLst/>
          </a:prstGeom>
        </p:spPr>
      </p:pic>
      <p:sp>
        <p:nvSpPr>
          <p:cNvPr id="7" name="caption"/>
          <p:cNvSpPr txBox="1"/>
          <p:nvPr/>
        </p:nvSpPr>
        <p:spPr>
          <a:xfrm>
            <a:off x="524727" y="4846320"/>
            <a:ext cx="3248226" cy="274320"/>
          </a:xfrm>
          <a:prstGeom prst="rect">
            <a:avLst/>
          </a:prstGeom>
          <a:noFill/>
          <a:ln/>
        </p:spPr>
        <p:txBody>
          <a:bodyPr wrap="square" lIns="0" tIns="0" rIns="0" bIns="0" rtlCol="0" anchor="t"/>
          <a:lstStyle/>
          <a:p>
            <a:pPr algn="l" indent="0" marL="0">
              <a:buNone/>
            </a:pPr>
            <a:r>
              <a:rPr lang="en-US" sz="1100" dirty="0">
                <a:solidFill>
                  <a:srgbClr val="5B6770"/>
                </a:solidFill>
                <a:latin typeface="Calibri" pitchFamily="34" charset="0"/>
                <a:ea typeface="Calibri" pitchFamily="34" charset="-122"/>
                <a:cs typeface="Calibri" pitchFamily="34" charset="-120"/>
              </a:rPr>
              <a:t>Figure 1(a): Layout A</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4114800" y="1325880"/>
          <a:ext cx="4114800" cy="914400"/>
        </p:xfrm>
        <a:graphic>
          <a:graphicData uri="http://schemas.openxmlformats.org/drawingml/2006/table">
            <a:tbl>
              <a:tblPr/>
              <a:tblGrid>
                <a:gridCol w="1600200"/>
                <a:gridCol w="868680"/>
                <a:gridCol w="502920"/>
                <a:gridCol w="1143000"/>
              </a:tblGrid>
              <a:tr h="329184">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Size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Bits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Names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Tensor rows i</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i₀ i₁ i₂ i₃</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Tensor cols j (fastest)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j₀ j₁ j₂ j₃</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Registers / thread</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2×2 = 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q₀ q₁</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Threads / warp</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4×8 = 32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t₀ … t₄</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Warps / CTA</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2×1 = 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w</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9" name="callout"/>
          <p:cNvSpPr/>
          <p:nvPr/>
        </p:nvSpPr>
        <p:spPr>
          <a:xfrm>
            <a:off x="4114800" y="3520440"/>
            <a:ext cx="4114800" cy="914400"/>
          </a:xfrm>
          <a:prstGeom prst="roundRect">
            <a:avLst>
              <a:gd name="adj" fmla="val 8000"/>
            </a:avLst>
          </a:prstGeom>
          <a:solidFill>
            <a:srgbClr val="DDEFF1"/>
          </a:solidFill>
          <a:ln/>
        </p:spPr>
      </p:sp>
      <p:sp>
        <p:nvSpPr>
          <p:cNvPr id="10" name="callout-text"/>
          <p:cNvSpPr txBox="1"/>
          <p:nvPr/>
        </p:nvSpPr>
        <p:spPr>
          <a:xfrm>
            <a:off x="4251960" y="3575304"/>
            <a:ext cx="3840480" cy="80467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Input: 2 + 5 + 1 = </a:t>
            </a:r>
            <a:r>
              <a:rPr lang="en-US" sz="1500" b="1" dirty="0">
                <a:solidFill>
                  <a:srgbClr val="0A4F58"/>
                </a:solidFill>
                <a:latin typeface="Calibri" pitchFamily="34" charset="0"/>
                <a:ea typeface="Calibri" pitchFamily="34" charset="-122"/>
                <a:cs typeface="Calibri" pitchFamily="34" charset="-120"/>
              </a:rPr>
              <a:t>8 hardware bits</a:t>
            </a:r>
            <a:r>
              <a:rPr lang="en-US" sz="1500" dirty="0">
                <a:solidFill>
                  <a:srgbClr val="0A4F58"/>
                </a:solidFill>
                <a:latin typeface="Calibri" pitchFamily="34" charset="0"/>
                <a:ea typeface="Calibri" pitchFamily="34" charset="-122"/>
                <a:cs typeface="Calibri" pitchFamily="34" charset="-120"/>
              </a:rPr>
              <a:t>.  Output: 4 + 4 = </a:t>
            </a:r>
            <a:r>
              <a:rPr lang="en-US" sz="1500" b="1" dirty="0">
                <a:solidFill>
                  <a:srgbClr val="0A4F58"/>
                </a:solidFill>
                <a:latin typeface="Calibri" pitchFamily="34" charset="0"/>
                <a:ea typeface="Calibri" pitchFamily="34" charset="-122"/>
                <a:cs typeface="Calibri" pitchFamily="34" charset="-120"/>
              </a:rPr>
              <a:t>8 coordinate bits</a:t>
            </a:r>
            <a:r>
              <a:rPr lang="en-US" sz="1500" dirty="0">
                <a:solidFill>
                  <a:srgbClr val="0A4F58"/>
                </a:solidFill>
                <a:latin typeface="Calibri" pitchFamily="34" charset="0"/>
                <a:ea typeface="Calibri" pitchFamily="34" charset="-122"/>
                <a:cs typeface="Calibri" pitchFamily="34" charset="-120"/>
              </a:rPr>
              <a:t>  →  A is an </a:t>
            </a:r>
            <a:r>
              <a:rPr lang="en-US" sz="1500" b="1" dirty="0">
                <a:solidFill>
                  <a:srgbClr val="0A4F58"/>
                </a:solidFill>
                <a:latin typeface="Calibri" pitchFamily="34" charset="0"/>
                <a:ea typeface="Calibri" pitchFamily="34" charset="-122"/>
                <a:cs typeface="Calibri" pitchFamily="34" charset="-120"/>
              </a:rPr>
              <a:t>8×8 matrix over F₂</a:t>
            </a:r>
            <a:r>
              <a:rPr lang="en-US" sz="1500" dirty="0">
                <a:solidFill>
                  <a:srgbClr val="0A4F58"/>
                </a:solidFill>
                <a:latin typeface="Calibri" pitchFamily="34" charset="0"/>
                <a:ea typeface="Calibri" pitchFamily="34" charset="-122"/>
                <a:cs typeface="Calibri" pitchFamily="34" charset="-120"/>
              </a:rPr>
              <a:t>.</a:t>
            </a:r>
            <a:endParaRPr lang="en-US" sz="1500" dirty="0"/>
          </a:p>
        </p:txBody>
      </p:sp>
      <p:sp>
        <p:nvSpPr>
          <p:cNvPr id="11" name="Text 6"/>
          <p:cNvSpPr txBox="1"/>
          <p:nvPr/>
        </p:nvSpPr>
        <p:spPr>
          <a:xfrm>
            <a:off x="8503920" y="1280160"/>
            <a:ext cx="3291840" cy="2743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Table 1 (excerpt)</a:t>
            </a:r>
            <a:endParaRPr lang="en-US" sz="12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8503920" y="1600200"/>
          <a:ext cx="3200400" cy="914400"/>
        </p:xfrm>
        <a:graphic>
          <a:graphicData uri="http://schemas.openxmlformats.org/drawingml/2006/table">
            <a:tbl>
              <a:tblPr/>
              <a:tblGrid>
                <a:gridCol w="640080"/>
                <a:gridCol w="868680"/>
                <a:gridCol w="1097280"/>
                <a:gridCol w="594360"/>
              </a:tblGrid>
              <a:tr h="292608">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(i, j)</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Reg</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Thr</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Wrp</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r₀ 0b0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r₁ 0b1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r₀ 0b0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t₁</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r₂ 0b10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r₃ 0b11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r₀ 0b0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t₉ 0b1001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r₁ 0b1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t₉ 0b1001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r₃ 0b11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t₉ 0b1001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w₀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13" name="bullets"/>
          <p:cNvSpPr txBox="1"/>
          <p:nvPr/>
        </p:nvSpPr>
        <p:spPr>
          <a:xfrm>
            <a:off x="4114800" y="4663440"/>
            <a:ext cx="7589520" cy="1097280"/>
          </a:xfrm>
          <a:prstGeom prst="rect">
            <a:avLst/>
          </a:prstGeom>
          <a:noFill/>
          <a:ln/>
        </p:spPr>
        <p:txBody>
          <a:bodyPr wrap="square" lIns="25400" tIns="25400" rIns="25400" bIns="25400" rtlCol="0" anchor="t"/>
          <a:lstStyle/>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Every </a:t>
            </a:r>
            <a:r>
              <a:rPr lang="en-US" sz="1500" b="1" dirty="0">
                <a:solidFill>
                  <a:srgbClr val="1E2A32"/>
                </a:solidFill>
                <a:latin typeface="Calibri" pitchFamily="34" charset="0"/>
                <a:ea typeface="Calibri" pitchFamily="34" charset="-122"/>
                <a:cs typeface="Calibri" pitchFamily="34" charset="-120"/>
              </a:rPr>
              <a:t>r₀</a:t>
            </a:r>
            <a:r>
              <a:rPr lang="en-US" sz="1500" dirty="0">
                <a:solidFill>
                  <a:srgbClr val="1E2A32"/>
                </a:solidFill>
                <a:latin typeface="Calibri" pitchFamily="34" charset="0"/>
                <a:ea typeface="Calibri" pitchFamily="34" charset="-122"/>
                <a:cs typeface="Calibri" pitchFamily="34" charset="-120"/>
              </a:rPr>
              <a:t> sits where the last bits of i and j are 0; </a:t>
            </a:r>
            <a:r>
              <a:rPr lang="en-US" sz="1500" b="1" dirty="0">
                <a:solidFill>
                  <a:srgbClr val="1E2A32"/>
                </a:solidFill>
                <a:latin typeface="Calibri" pitchFamily="34" charset="0"/>
                <a:ea typeface="Calibri" pitchFamily="34" charset="-122"/>
                <a:cs typeface="Calibri" pitchFamily="34" charset="-120"/>
              </a:rPr>
              <a:t>r₁</a:t>
            </a:r>
            <a:r>
              <a:rPr lang="en-US" sz="1500" dirty="0">
                <a:solidFill>
                  <a:srgbClr val="1E2A32"/>
                </a:solidFill>
                <a:latin typeface="Calibri" pitchFamily="34" charset="0"/>
                <a:ea typeface="Calibri" pitchFamily="34" charset="-122"/>
                <a:cs typeface="Calibri" pitchFamily="34" charset="-120"/>
              </a:rPr>
              <a:t> flips j₀; </a:t>
            </a:r>
            <a:r>
              <a:rPr lang="en-US" sz="1500" b="1" dirty="0">
                <a:solidFill>
                  <a:srgbClr val="1E2A32"/>
                </a:solidFill>
                <a:latin typeface="Calibri" pitchFamily="34" charset="0"/>
                <a:ea typeface="Calibri" pitchFamily="34" charset="-122"/>
                <a:cs typeface="Calibri" pitchFamily="34" charset="-120"/>
              </a:rPr>
              <a:t>r₂</a:t>
            </a:r>
            <a:r>
              <a:rPr lang="en-US" sz="1500" dirty="0">
                <a:solidFill>
                  <a:srgbClr val="1E2A32"/>
                </a:solidFill>
                <a:latin typeface="Calibri" pitchFamily="34" charset="0"/>
                <a:ea typeface="Calibri" pitchFamily="34" charset="-122"/>
                <a:cs typeface="Calibri" pitchFamily="34" charset="-120"/>
              </a:rPr>
              <a:t> flips i₀.</a:t>
            </a:r>
            <a:endParaRPr lang="en-US" sz="1500" dirty="0"/>
          </a:p>
          <a:p>
            <a:pPr marL="203200" indent="-203200">
              <a:spcAft>
                <a:spcPts val="600"/>
              </a:spcAft>
              <a:buSzPct val="100000"/>
              <a:buChar char="•"/>
            </a:pPr>
            <a:r>
              <a:rPr lang="en-US" sz="1500" dirty="0">
                <a:solidFill>
                  <a:srgbClr val="1E2A32"/>
                </a:solidFill>
                <a:latin typeface="Calibri" pitchFamily="34" charset="0"/>
                <a:ea typeface="Calibri" pitchFamily="34" charset="-122"/>
                <a:cs typeface="Calibri" pitchFamily="34" charset="-120"/>
              </a:rPr>
              <a:t>Bit vectors are </a:t>
            </a:r>
            <a:r>
              <a:rPr lang="en-US" sz="1500" b="1" dirty="0">
                <a:solidFill>
                  <a:srgbClr val="1E2A32"/>
                </a:solidFill>
                <a:latin typeface="Calibri" pitchFamily="34" charset="0"/>
                <a:ea typeface="Calibri" pitchFamily="34" charset="-122"/>
                <a:cs typeface="Calibri" pitchFamily="34" charset="-120"/>
              </a:rPr>
              <a:t>LSB-first</a:t>
            </a:r>
            <a:r>
              <a:rPr lang="en-US" sz="1500" dirty="0">
                <a:solidFill>
                  <a:srgbClr val="1E2A32"/>
                </a:solidFill>
                <a:latin typeface="Calibri" pitchFamily="34" charset="0"/>
                <a:ea typeface="Calibri" pitchFamily="34" charset="-122"/>
                <a:cs typeface="Calibri" pitchFamily="34" charset="-120"/>
              </a:rPr>
              <a:t>; j (fastest) bits come before i bits in y.</a:t>
            </a:r>
            <a:endParaRPr lang="en-US" sz="15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§4.1 · THE PAPER’S MATRIX</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Building the 8×8 matrix A column by column</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Matrix A in §4.1, p. 136</a:t>
            </a:r>
            <a:endParaRPr lang="en-US" sz="1000" dirty="0"/>
          </a:p>
        </p:txBody>
      </p:sp>
      <p:sp>
        <p:nvSpPr>
          <p:cNvPr id="6" name="mcell"/>
          <p:cNvSpPr txBox="1"/>
          <p:nvPr/>
        </p:nvSpPr>
        <p:spPr>
          <a:xfrm>
            <a:off x="1417320" y="17830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7" name="mcell"/>
          <p:cNvSpPr txBox="1"/>
          <p:nvPr/>
        </p:nvSpPr>
        <p:spPr>
          <a:xfrm>
            <a:off x="18745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8" name="mcell"/>
          <p:cNvSpPr txBox="1"/>
          <p:nvPr/>
        </p:nvSpPr>
        <p:spPr>
          <a:xfrm>
            <a:off x="23317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9" name="mcell"/>
          <p:cNvSpPr txBox="1"/>
          <p:nvPr/>
        </p:nvSpPr>
        <p:spPr>
          <a:xfrm>
            <a:off x="27889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0" name="mcell"/>
          <p:cNvSpPr txBox="1"/>
          <p:nvPr/>
        </p:nvSpPr>
        <p:spPr>
          <a:xfrm>
            <a:off x="32461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1" name="mcell"/>
          <p:cNvSpPr txBox="1"/>
          <p:nvPr/>
        </p:nvSpPr>
        <p:spPr>
          <a:xfrm>
            <a:off x="37033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2" name="mcell"/>
          <p:cNvSpPr txBox="1"/>
          <p:nvPr/>
        </p:nvSpPr>
        <p:spPr>
          <a:xfrm>
            <a:off x="41605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3" name="mcell"/>
          <p:cNvSpPr txBox="1"/>
          <p:nvPr/>
        </p:nvSpPr>
        <p:spPr>
          <a:xfrm>
            <a:off x="4617720" y="1783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4" name="mcell"/>
          <p:cNvSpPr txBox="1"/>
          <p:nvPr/>
        </p:nvSpPr>
        <p:spPr>
          <a:xfrm>
            <a:off x="14173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5" name="mcell"/>
          <p:cNvSpPr txBox="1"/>
          <p:nvPr/>
        </p:nvSpPr>
        <p:spPr>
          <a:xfrm>
            <a:off x="18745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6" name="mcell"/>
          <p:cNvSpPr txBox="1"/>
          <p:nvPr/>
        </p:nvSpPr>
        <p:spPr>
          <a:xfrm>
            <a:off x="2331720" y="22402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7" name="mcell"/>
          <p:cNvSpPr txBox="1"/>
          <p:nvPr/>
        </p:nvSpPr>
        <p:spPr>
          <a:xfrm>
            <a:off x="27889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8" name="mcell"/>
          <p:cNvSpPr txBox="1"/>
          <p:nvPr/>
        </p:nvSpPr>
        <p:spPr>
          <a:xfrm>
            <a:off x="32461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9" name="mcell"/>
          <p:cNvSpPr txBox="1"/>
          <p:nvPr/>
        </p:nvSpPr>
        <p:spPr>
          <a:xfrm>
            <a:off x="37033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0" name="mcell"/>
          <p:cNvSpPr txBox="1"/>
          <p:nvPr/>
        </p:nvSpPr>
        <p:spPr>
          <a:xfrm>
            <a:off x="41605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1" name="mcell"/>
          <p:cNvSpPr txBox="1"/>
          <p:nvPr/>
        </p:nvSpPr>
        <p:spPr>
          <a:xfrm>
            <a:off x="4617720" y="2240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2" name="mcell"/>
          <p:cNvSpPr txBox="1"/>
          <p:nvPr/>
        </p:nvSpPr>
        <p:spPr>
          <a:xfrm>
            <a:off x="14173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3" name="mcell"/>
          <p:cNvSpPr txBox="1"/>
          <p:nvPr/>
        </p:nvSpPr>
        <p:spPr>
          <a:xfrm>
            <a:off x="18745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4" name="mcell"/>
          <p:cNvSpPr txBox="1"/>
          <p:nvPr/>
        </p:nvSpPr>
        <p:spPr>
          <a:xfrm>
            <a:off x="23317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5" name="mcell"/>
          <p:cNvSpPr txBox="1"/>
          <p:nvPr/>
        </p:nvSpPr>
        <p:spPr>
          <a:xfrm>
            <a:off x="2788920" y="26974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26" name="mcell"/>
          <p:cNvSpPr txBox="1"/>
          <p:nvPr/>
        </p:nvSpPr>
        <p:spPr>
          <a:xfrm>
            <a:off x="32461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7" name="mcell"/>
          <p:cNvSpPr txBox="1"/>
          <p:nvPr/>
        </p:nvSpPr>
        <p:spPr>
          <a:xfrm>
            <a:off x="37033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8" name="mcell"/>
          <p:cNvSpPr txBox="1"/>
          <p:nvPr/>
        </p:nvSpPr>
        <p:spPr>
          <a:xfrm>
            <a:off x="41605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9" name="mcell"/>
          <p:cNvSpPr txBox="1"/>
          <p:nvPr/>
        </p:nvSpPr>
        <p:spPr>
          <a:xfrm>
            <a:off x="4617720" y="2697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0" name="mcell"/>
          <p:cNvSpPr txBox="1"/>
          <p:nvPr/>
        </p:nvSpPr>
        <p:spPr>
          <a:xfrm>
            <a:off x="14173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1" name="mcell"/>
          <p:cNvSpPr txBox="1"/>
          <p:nvPr/>
        </p:nvSpPr>
        <p:spPr>
          <a:xfrm>
            <a:off x="18745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2" name="mcell"/>
          <p:cNvSpPr txBox="1"/>
          <p:nvPr/>
        </p:nvSpPr>
        <p:spPr>
          <a:xfrm>
            <a:off x="23317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3" name="mcell"/>
          <p:cNvSpPr txBox="1"/>
          <p:nvPr/>
        </p:nvSpPr>
        <p:spPr>
          <a:xfrm>
            <a:off x="27889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4" name="mcell"/>
          <p:cNvSpPr txBox="1"/>
          <p:nvPr/>
        </p:nvSpPr>
        <p:spPr>
          <a:xfrm>
            <a:off x="3246120" y="31546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35" name="mcell"/>
          <p:cNvSpPr txBox="1"/>
          <p:nvPr/>
        </p:nvSpPr>
        <p:spPr>
          <a:xfrm>
            <a:off x="37033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6" name="mcell"/>
          <p:cNvSpPr txBox="1"/>
          <p:nvPr/>
        </p:nvSpPr>
        <p:spPr>
          <a:xfrm>
            <a:off x="41605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7" name="mcell"/>
          <p:cNvSpPr txBox="1"/>
          <p:nvPr/>
        </p:nvSpPr>
        <p:spPr>
          <a:xfrm>
            <a:off x="4617720" y="31546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8" name="mcell"/>
          <p:cNvSpPr txBox="1"/>
          <p:nvPr/>
        </p:nvSpPr>
        <p:spPr>
          <a:xfrm>
            <a:off x="14173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39" name="mcell"/>
          <p:cNvSpPr txBox="1"/>
          <p:nvPr/>
        </p:nvSpPr>
        <p:spPr>
          <a:xfrm>
            <a:off x="1874520" y="36118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40" name="mcell"/>
          <p:cNvSpPr txBox="1"/>
          <p:nvPr/>
        </p:nvSpPr>
        <p:spPr>
          <a:xfrm>
            <a:off x="23317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1" name="mcell"/>
          <p:cNvSpPr txBox="1"/>
          <p:nvPr/>
        </p:nvSpPr>
        <p:spPr>
          <a:xfrm>
            <a:off x="27889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2" name="mcell"/>
          <p:cNvSpPr txBox="1"/>
          <p:nvPr/>
        </p:nvSpPr>
        <p:spPr>
          <a:xfrm>
            <a:off x="32461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3" name="mcell"/>
          <p:cNvSpPr txBox="1"/>
          <p:nvPr/>
        </p:nvSpPr>
        <p:spPr>
          <a:xfrm>
            <a:off x="37033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4" name="mcell"/>
          <p:cNvSpPr txBox="1"/>
          <p:nvPr/>
        </p:nvSpPr>
        <p:spPr>
          <a:xfrm>
            <a:off x="41605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5" name="mcell"/>
          <p:cNvSpPr txBox="1"/>
          <p:nvPr/>
        </p:nvSpPr>
        <p:spPr>
          <a:xfrm>
            <a:off x="4617720" y="36118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6" name="mcell"/>
          <p:cNvSpPr txBox="1"/>
          <p:nvPr/>
        </p:nvSpPr>
        <p:spPr>
          <a:xfrm>
            <a:off x="14173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7" name="mcell"/>
          <p:cNvSpPr txBox="1"/>
          <p:nvPr/>
        </p:nvSpPr>
        <p:spPr>
          <a:xfrm>
            <a:off x="18745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8" name="mcell"/>
          <p:cNvSpPr txBox="1"/>
          <p:nvPr/>
        </p:nvSpPr>
        <p:spPr>
          <a:xfrm>
            <a:off x="23317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49" name="mcell"/>
          <p:cNvSpPr txBox="1"/>
          <p:nvPr/>
        </p:nvSpPr>
        <p:spPr>
          <a:xfrm>
            <a:off x="27889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0" name="mcell"/>
          <p:cNvSpPr txBox="1"/>
          <p:nvPr/>
        </p:nvSpPr>
        <p:spPr>
          <a:xfrm>
            <a:off x="32461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1" name="mcell"/>
          <p:cNvSpPr txBox="1"/>
          <p:nvPr/>
        </p:nvSpPr>
        <p:spPr>
          <a:xfrm>
            <a:off x="3703320" y="40690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52" name="mcell"/>
          <p:cNvSpPr txBox="1"/>
          <p:nvPr/>
        </p:nvSpPr>
        <p:spPr>
          <a:xfrm>
            <a:off x="41605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3" name="mcell"/>
          <p:cNvSpPr txBox="1"/>
          <p:nvPr/>
        </p:nvSpPr>
        <p:spPr>
          <a:xfrm>
            <a:off x="4617720" y="40690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4" name="mcell"/>
          <p:cNvSpPr txBox="1"/>
          <p:nvPr/>
        </p:nvSpPr>
        <p:spPr>
          <a:xfrm>
            <a:off x="14173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5" name="mcell"/>
          <p:cNvSpPr txBox="1"/>
          <p:nvPr/>
        </p:nvSpPr>
        <p:spPr>
          <a:xfrm>
            <a:off x="18745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6" name="mcell"/>
          <p:cNvSpPr txBox="1"/>
          <p:nvPr/>
        </p:nvSpPr>
        <p:spPr>
          <a:xfrm>
            <a:off x="23317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7" name="mcell"/>
          <p:cNvSpPr txBox="1"/>
          <p:nvPr/>
        </p:nvSpPr>
        <p:spPr>
          <a:xfrm>
            <a:off x="27889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8" name="mcell"/>
          <p:cNvSpPr txBox="1"/>
          <p:nvPr/>
        </p:nvSpPr>
        <p:spPr>
          <a:xfrm>
            <a:off x="32461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59" name="mcell"/>
          <p:cNvSpPr txBox="1"/>
          <p:nvPr/>
        </p:nvSpPr>
        <p:spPr>
          <a:xfrm>
            <a:off x="37033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0" name="mcell"/>
          <p:cNvSpPr txBox="1"/>
          <p:nvPr/>
        </p:nvSpPr>
        <p:spPr>
          <a:xfrm>
            <a:off x="4160520" y="45262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61" name="mcell"/>
          <p:cNvSpPr txBox="1"/>
          <p:nvPr/>
        </p:nvSpPr>
        <p:spPr>
          <a:xfrm>
            <a:off x="4617720" y="45262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2" name="mcell"/>
          <p:cNvSpPr txBox="1"/>
          <p:nvPr/>
        </p:nvSpPr>
        <p:spPr>
          <a:xfrm>
            <a:off x="14173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3" name="mcell"/>
          <p:cNvSpPr txBox="1"/>
          <p:nvPr/>
        </p:nvSpPr>
        <p:spPr>
          <a:xfrm>
            <a:off x="18745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4" name="mcell"/>
          <p:cNvSpPr txBox="1"/>
          <p:nvPr/>
        </p:nvSpPr>
        <p:spPr>
          <a:xfrm>
            <a:off x="23317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5" name="mcell"/>
          <p:cNvSpPr txBox="1"/>
          <p:nvPr/>
        </p:nvSpPr>
        <p:spPr>
          <a:xfrm>
            <a:off x="27889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6" name="mcell"/>
          <p:cNvSpPr txBox="1"/>
          <p:nvPr/>
        </p:nvSpPr>
        <p:spPr>
          <a:xfrm>
            <a:off x="32461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7" name="mcell"/>
          <p:cNvSpPr txBox="1"/>
          <p:nvPr/>
        </p:nvSpPr>
        <p:spPr>
          <a:xfrm>
            <a:off x="37033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8" name="mcell"/>
          <p:cNvSpPr txBox="1"/>
          <p:nvPr/>
        </p:nvSpPr>
        <p:spPr>
          <a:xfrm>
            <a:off x="4160520" y="498348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9" name="mcell"/>
          <p:cNvSpPr txBox="1"/>
          <p:nvPr/>
        </p:nvSpPr>
        <p:spPr>
          <a:xfrm>
            <a:off x="4617720" y="498348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70" name="msep"/>
          <p:cNvSpPr/>
          <p:nvPr/>
        </p:nvSpPr>
        <p:spPr>
          <a:xfrm>
            <a:off x="2331720" y="1801368"/>
            <a:ext cx="0" cy="3621024"/>
          </a:xfrm>
          <a:prstGeom prst="line">
            <a:avLst/>
          </a:prstGeom>
          <a:noFill/>
          <a:ln w="9525">
            <a:solidFill>
              <a:srgbClr val="5B6770"/>
            </a:solidFill>
            <a:prstDash val="dash"/>
          </a:ln>
        </p:spPr>
      </p:sp>
      <p:sp>
        <p:nvSpPr>
          <p:cNvPr id="71" name="msep"/>
          <p:cNvSpPr/>
          <p:nvPr/>
        </p:nvSpPr>
        <p:spPr>
          <a:xfrm>
            <a:off x="4617720" y="1801368"/>
            <a:ext cx="0" cy="3621024"/>
          </a:xfrm>
          <a:prstGeom prst="line">
            <a:avLst/>
          </a:prstGeom>
          <a:noFill/>
          <a:ln w="9525">
            <a:solidFill>
              <a:srgbClr val="5B6770"/>
            </a:solidFill>
            <a:prstDash val="dash"/>
          </a:ln>
        </p:spPr>
      </p:sp>
      <p:sp>
        <p:nvSpPr>
          <p:cNvPr id="72" name="msep"/>
          <p:cNvSpPr/>
          <p:nvPr/>
        </p:nvSpPr>
        <p:spPr>
          <a:xfrm>
            <a:off x="1435608" y="3611880"/>
            <a:ext cx="3621024" cy="0"/>
          </a:xfrm>
          <a:prstGeom prst="line">
            <a:avLst/>
          </a:prstGeom>
          <a:noFill/>
          <a:ln w="9525">
            <a:solidFill>
              <a:srgbClr val="5B6770"/>
            </a:solidFill>
            <a:prstDash val="dash"/>
          </a:ln>
        </p:spPr>
      </p:sp>
      <p:sp>
        <p:nvSpPr>
          <p:cNvPr id="73" name="mbr"/>
          <p:cNvSpPr/>
          <p:nvPr/>
        </p:nvSpPr>
        <p:spPr>
          <a:xfrm>
            <a:off x="1389888" y="1755648"/>
            <a:ext cx="0" cy="3712464"/>
          </a:xfrm>
          <a:prstGeom prst="line">
            <a:avLst/>
          </a:prstGeom>
          <a:noFill/>
          <a:ln w="15875">
            <a:solidFill>
              <a:srgbClr val="1E2A32"/>
            </a:solidFill>
            <a:prstDash val="solid"/>
          </a:ln>
        </p:spPr>
      </p:sp>
      <p:sp>
        <p:nvSpPr>
          <p:cNvPr id="74" name="mbr"/>
          <p:cNvSpPr/>
          <p:nvPr/>
        </p:nvSpPr>
        <p:spPr>
          <a:xfrm>
            <a:off x="1389888" y="1755648"/>
            <a:ext cx="73152" cy="0"/>
          </a:xfrm>
          <a:prstGeom prst="line">
            <a:avLst/>
          </a:prstGeom>
          <a:noFill/>
          <a:ln w="15875">
            <a:solidFill>
              <a:srgbClr val="1E2A32"/>
            </a:solidFill>
            <a:prstDash val="solid"/>
          </a:ln>
        </p:spPr>
      </p:sp>
      <p:sp>
        <p:nvSpPr>
          <p:cNvPr id="75" name="mbr"/>
          <p:cNvSpPr/>
          <p:nvPr/>
        </p:nvSpPr>
        <p:spPr>
          <a:xfrm>
            <a:off x="1389888" y="5468112"/>
            <a:ext cx="73152" cy="0"/>
          </a:xfrm>
          <a:prstGeom prst="line">
            <a:avLst/>
          </a:prstGeom>
          <a:noFill/>
          <a:ln w="15875">
            <a:solidFill>
              <a:srgbClr val="1E2A32"/>
            </a:solidFill>
            <a:prstDash val="solid"/>
          </a:ln>
        </p:spPr>
      </p:sp>
      <p:sp>
        <p:nvSpPr>
          <p:cNvPr id="76" name="mbr"/>
          <p:cNvSpPr/>
          <p:nvPr/>
        </p:nvSpPr>
        <p:spPr>
          <a:xfrm>
            <a:off x="5102352" y="1755648"/>
            <a:ext cx="0" cy="3712464"/>
          </a:xfrm>
          <a:prstGeom prst="line">
            <a:avLst/>
          </a:prstGeom>
          <a:noFill/>
          <a:ln w="15875">
            <a:solidFill>
              <a:srgbClr val="1E2A32"/>
            </a:solidFill>
            <a:prstDash val="solid"/>
          </a:ln>
        </p:spPr>
      </p:sp>
      <p:sp>
        <p:nvSpPr>
          <p:cNvPr id="77" name="mbr"/>
          <p:cNvSpPr/>
          <p:nvPr/>
        </p:nvSpPr>
        <p:spPr>
          <a:xfrm>
            <a:off x="5029200" y="1755648"/>
            <a:ext cx="73152" cy="0"/>
          </a:xfrm>
          <a:prstGeom prst="line">
            <a:avLst/>
          </a:prstGeom>
          <a:noFill/>
          <a:ln w="15875">
            <a:solidFill>
              <a:srgbClr val="1E2A32"/>
            </a:solidFill>
            <a:prstDash val="solid"/>
          </a:ln>
        </p:spPr>
      </p:sp>
      <p:sp>
        <p:nvSpPr>
          <p:cNvPr id="78" name="mbr"/>
          <p:cNvSpPr/>
          <p:nvPr/>
        </p:nvSpPr>
        <p:spPr>
          <a:xfrm>
            <a:off x="5029200" y="5468112"/>
            <a:ext cx="73152" cy="0"/>
          </a:xfrm>
          <a:prstGeom prst="line">
            <a:avLst/>
          </a:prstGeom>
          <a:noFill/>
          <a:ln w="15875">
            <a:solidFill>
              <a:srgbClr val="1E2A32"/>
            </a:solidFill>
            <a:prstDash val="solid"/>
          </a:ln>
        </p:spPr>
      </p:sp>
      <p:sp>
        <p:nvSpPr>
          <p:cNvPr id="79" name="mlab"/>
          <p:cNvSpPr txBox="1"/>
          <p:nvPr/>
        </p:nvSpPr>
        <p:spPr>
          <a:xfrm>
            <a:off x="13716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q₀</a:t>
            </a:r>
            <a:endParaRPr lang="en-US" sz="1400" dirty="0"/>
          </a:p>
        </p:txBody>
      </p:sp>
      <p:sp>
        <p:nvSpPr>
          <p:cNvPr id="80" name="mlab"/>
          <p:cNvSpPr txBox="1"/>
          <p:nvPr/>
        </p:nvSpPr>
        <p:spPr>
          <a:xfrm>
            <a:off x="18288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q₁</a:t>
            </a:r>
            <a:endParaRPr lang="en-US" sz="1400" dirty="0"/>
          </a:p>
        </p:txBody>
      </p:sp>
      <p:sp>
        <p:nvSpPr>
          <p:cNvPr id="81" name="mlab"/>
          <p:cNvSpPr txBox="1"/>
          <p:nvPr/>
        </p:nvSpPr>
        <p:spPr>
          <a:xfrm>
            <a:off x="22860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82" name="mlab"/>
          <p:cNvSpPr txBox="1"/>
          <p:nvPr/>
        </p:nvSpPr>
        <p:spPr>
          <a:xfrm>
            <a:off x="27432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83" name="mlab"/>
          <p:cNvSpPr txBox="1"/>
          <p:nvPr/>
        </p:nvSpPr>
        <p:spPr>
          <a:xfrm>
            <a:off x="32004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t₂</a:t>
            </a:r>
            <a:endParaRPr lang="en-US" sz="1400" dirty="0"/>
          </a:p>
        </p:txBody>
      </p:sp>
      <p:sp>
        <p:nvSpPr>
          <p:cNvPr id="84" name="mlab"/>
          <p:cNvSpPr txBox="1"/>
          <p:nvPr/>
        </p:nvSpPr>
        <p:spPr>
          <a:xfrm>
            <a:off x="36576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t₃</a:t>
            </a:r>
            <a:endParaRPr lang="en-US" sz="1400" dirty="0"/>
          </a:p>
        </p:txBody>
      </p:sp>
      <p:sp>
        <p:nvSpPr>
          <p:cNvPr id="85" name="mlab"/>
          <p:cNvSpPr txBox="1"/>
          <p:nvPr/>
        </p:nvSpPr>
        <p:spPr>
          <a:xfrm>
            <a:off x="41148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t₄</a:t>
            </a:r>
            <a:endParaRPr lang="en-US" sz="1400" dirty="0"/>
          </a:p>
        </p:txBody>
      </p:sp>
      <p:sp>
        <p:nvSpPr>
          <p:cNvPr id="86" name="mlab"/>
          <p:cNvSpPr txBox="1"/>
          <p:nvPr/>
        </p:nvSpPr>
        <p:spPr>
          <a:xfrm>
            <a:off x="4572000" y="154533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w</a:t>
            </a:r>
            <a:endParaRPr lang="en-US" sz="1400" dirty="0"/>
          </a:p>
        </p:txBody>
      </p:sp>
      <p:sp>
        <p:nvSpPr>
          <p:cNvPr id="87" name="mgrp"/>
          <p:cNvSpPr txBox="1"/>
          <p:nvPr/>
        </p:nvSpPr>
        <p:spPr>
          <a:xfrm>
            <a:off x="1417320" y="1307592"/>
            <a:ext cx="914400"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88" name="mgrp"/>
          <p:cNvSpPr txBox="1"/>
          <p:nvPr/>
        </p:nvSpPr>
        <p:spPr>
          <a:xfrm>
            <a:off x="2331720" y="1307592"/>
            <a:ext cx="2286000"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89" name="mgrp"/>
          <p:cNvSpPr txBox="1"/>
          <p:nvPr/>
        </p:nvSpPr>
        <p:spPr>
          <a:xfrm>
            <a:off x="4617720" y="1307592"/>
            <a:ext cx="457200"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Wrp</a:t>
            </a:r>
            <a:endParaRPr lang="en-US" sz="1400" dirty="0"/>
          </a:p>
        </p:txBody>
      </p:sp>
      <p:sp>
        <p:nvSpPr>
          <p:cNvPr id="90" name="mlab"/>
          <p:cNvSpPr txBox="1"/>
          <p:nvPr/>
        </p:nvSpPr>
        <p:spPr>
          <a:xfrm>
            <a:off x="1014984" y="17830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91" name="mlab"/>
          <p:cNvSpPr txBox="1"/>
          <p:nvPr/>
        </p:nvSpPr>
        <p:spPr>
          <a:xfrm>
            <a:off x="1014984" y="22402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92" name="mlab"/>
          <p:cNvSpPr txBox="1"/>
          <p:nvPr/>
        </p:nvSpPr>
        <p:spPr>
          <a:xfrm>
            <a:off x="1014984" y="26974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j₂</a:t>
            </a:r>
            <a:endParaRPr lang="en-US" sz="1400" dirty="0"/>
          </a:p>
        </p:txBody>
      </p:sp>
      <p:sp>
        <p:nvSpPr>
          <p:cNvPr id="93" name="mlab"/>
          <p:cNvSpPr txBox="1"/>
          <p:nvPr/>
        </p:nvSpPr>
        <p:spPr>
          <a:xfrm>
            <a:off x="1014984" y="31546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j₃</a:t>
            </a:r>
            <a:endParaRPr lang="en-US" sz="1400" dirty="0"/>
          </a:p>
        </p:txBody>
      </p:sp>
      <p:sp>
        <p:nvSpPr>
          <p:cNvPr id="94" name="mlab"/>
          <p:cNvSpPr txBox="1"/>
          <p:nvPr/>
        </p:nvSpPr>
        <p:spPr>
          <a:xfrm>
            <a:off x="1014984" y="36118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i₀</a:t>
            </a:r>
            <a:endParaRPr lang="en-US" sz="1400" dirty="0"/>
          </a:p>
        </p:txBody>
      </p:sp>
      <p:sp>
        <p:nvSpPr>
          <p:cNvPr id="95" name="mlab"/>
          <p:cNvSpPr txBox="1"/>
          <p:nvPr/>
        </p:nvSpPr>
        <p:spPr>
          <a:xfrm>
            <a:off x="1014984" y="40690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i₁</a:t>
            </a:r>
            <a:endParaRPr lang="en-US" sz="1400" dirty="0"/>
          </a:p>
        </p:txBody>
      </p:sp>
      <p:sp>
        <p:nvSpPr>
          <p:cNvPr id="96" name="mlab"/>
          <p:cNvSpPr txBox="1"/>
          <p:nvPr/>
        </p:nvSpPr>
        <p:spPr>
          <a:xfrm>
            <a:off x="1014984" y="45262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i₂</a:t>
            </a:r>
            <a:endParaRPr lang="en-US" sz="1400" dirty="0"/>
          </a:p>
        </p:txBody>
      </p:sp>
      <p:sp>
        <p:nvSpPr>
          <p:cNvPr id="97" name="mlab"/>
          <p:cNvSpPr txBox="1"/>
          <p:nvPr/>
        </p:nvSpPr>
        <p:spPr>
          <a:xfrm>
            <a:off x="1014984" y="498348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i₃</a:t>
            </a:r>
            <a:endParaRPr lang="en-US" sz="1400" dirty="0"/>
          </a:p>
        </p:txBody>
      </p:sp>
      <p:sp>
        <p:nvSpPr>
          <p:cNvPr id="98" name="mgrp"/>
          <p:cNvSpPr txBox="1"/>
          <p:nvPr/>
        </p:nvSpPr>
        <p:spPr>
          <a:xfrm>
            <a:off x="685800" y="1783080"/>
            <a:ext cx="310896" cy="1828800"/>
          </a:xfrm>
          <a:prstGeom prst="rect">
            <a:avLst/>
          </a:prstGeom>
          <a:noFill/>
          <a:ln/>
        </p:spPr>
        <p:txBody>
          <a:bodyPr wrap="square" lIns="0" tIns="0" rIns="0" bIns="0" rtlCol="0" anchor="ctr"/>
          <a:lstStyle/>
          <a:p>
            <a:pPr algn="r" indent="0" marL="0">
              <a:buNone/>
            </a:pPr>
            <a:r>
              <a:rPr lang="en-US" sz="1400" b="1" dirty="0">
                <a:solidFill>
                  <a:srgbClr val="0A4F58"/>
                </a:solidFill>
                <a:latin typeface="Calibri" pitchFamily="34" charset="0"/>
                <a:ea typeface="Calibri" pitchFamily="34" charset="-122"/>
                <a:cs typeface="Calibri" pitchFamily="34" charset="-120"/>
              </a:rPr>
              <a:t>j</a:t>
            </a:r>
            <a:endParaRPr lang="en-US" sz="1400" dirty="0"/>
          </a:p>
        </p:txBody>
      </p:sp>
      <p:sp>
        <p:nvSpPr>
          <p:cNvPr id="99" name="mgrp"/>
          <p:cNvSpPr txBox="1"/>
          <p:nvPr/>
        </p:nvSpPr>
        <p:spPr>
          <a:xfrm>
            <a:off x="685800" y="3611880"/>
            <a:ext cx="310896" cy="1828800"/>
          </a:xfrm>
          <a:prstGeom prst="rect">
            <a:avLst/>
          </a:prstGeom>
          <a:noFill/>
          <a:ln/>
        </p:spPr>
        <p:txBody>
          <a:bodyPr wrap="square" lIns="0" tIns="0" rIns="0" bIns="0" rtlCol="0" anchor="ctr"/>
          <a:lstStyle/>
          <a:p>
            <a:pPr algn="r" indent="0" marL="0">
              <a:buNone/>
            </a:pPr>
            <a:r>
              <a:rPr lang="en-US" sz="1400" b="1" dirty="0">
                <a:solidFill>
                  <a:srgbClr val="0A4F58"/>
                </a:solidFill>
                <a:latin typeface="Calibri" pitchFamily="34" charset="0"/>
                <a:ea typeface="Calibri" pitchFamily="34" charset="-122"/>
                <a:cs typeface="Calibri" pitchFamily="34" charset="-120"/>
              </a:rPr>
              <a:t>i</a:t>
            </a:r>
            <a:endParaRPr lang="en-US" sz="1400" dirty="0"/>
          </a:p>
        </p:txBody>
      </p:sp>
      <p:sp>
        <p:nvSpPr>
          <p:cNvPr id="100" name="mname"/>
          <p:cNvSpPr txBox="1"/>
          <p:nvPr/>
        </p:nvSpPr>
        <p:spPr>
          <a:xfrm>
            <a:off x="1143000" y="5495544"/>
            <a:ext cx="420624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  (8×8 over F₂)</a:t>
            </a:r>
            <a:endParaRPr lang="en-US" sz="1300" dirty="0"/>
          </a:p>
        </p:txBody>
      </p:sp>
      <p:sp>
        <p:nvSpPr>
          <p:cNvPr id="101" name="tag"/>
          <p:cNvSpPr txBox="1"/>
          <p:nvPr/>
        </p:nvSpPr>
        <p:spPr>
          <a:xfrm>
            <a:off x="914400" y="5907024"/>
            <a:ext cx="155448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Paper’s exact matrix</a:t>
            </a:r>
            <a:endParaRPr lang="en-US" sz="1100" dirty="0"/>
          </a:p>
        </p:txBody>
      </p:sp>
      <p:sp>
        <p:nvSpPr>
          <p:cNvPr id="102" name="Text 99"/>
          <p:cNvSpPr txBox="1"/>
          <p:nvPr/>
        </p:nvSpPr>
        <p:spPr>
          <a:xfrm>
            <a:off x="5852160" y="1325880"/>
            <a:ext cx="5852160" cy="320040"/>
          </a:xfrm>
          <a:prstGeom prst="rect">
            <a:avLst/>
          </a:prstGeom>
          <a:noFill/>
          <a:ln/>
        </p:spPr>
        <p:txBody>
          <a:bodyPr wrap="square" lIns="0" tIns="0" rIns="0" bIns="0" rtlCol="0" anchor="t"/>
          <a:lstStyle/>
          <a:p>
            <a:pPr indent="0" marL="0">
              <a:buNone/>
            </a:pPr>
            <a:r>
              <a:rPr lang="en-US" sz="1600" b="1" dirty="0">
                <a:solidFill>
                  <a:srgbClr val="0E6E7A"/>
                </a:solidFill>
                <a:latin typeface="Calibri" pitchFamily="34" charset="0"/>
                <a:ea typeface="Calibri" pitchFamily="34" charset="-122"/>
                <a:cs typeface="Calibri" pitchFamily="34" charset="-120"/>
              </a:rPr>
              <a:t>Read each column = where that hardware bit points</a:t>
            </a:r>
            <a:endParaRPr lang="en-US" sz="1600" dirty="0"/>
          </a:p>
        </p:txBody>
      </p:sp>
      <p:sp>
        <p:nvSpPr>
          <p:cNvPr id="103" name="panel"/>
          <p:cNvSpPr/>
          <p:nvPr/>
        </p:nvSpPr>
        <p:spPr>
          <a:xfrm>
            <a:off x="5852160" y="1783080"/>
            <a:ext cx="5852160" cy="475488"/>
          </a:xfrm>
          <a:prstGeom prst="roundRect">
            <a:avLst>
              <a:gd name="adj" fmla="val 15385"/>
            </a:avLst>
          </a:prstGeom>
          <a:solidFill>
            <a:srgbClr val="F3F6F7"/>
          </a:solidFill>
          <a:ln/>
        </p:spPr>
      </p:sp>
      <p:sp>
        <p:nvSpPr>
          <p:cNvPr id="104" name="Text 101"/>
          <p:cNvSpPr txBox="1"/>
          <p:nvPr/>
        </p:nvSpPr>
        <p:spPr>
          <a:xfrm>
            <a:off x="5989320" y="1783080"/>
            <a:ext cx="2011680" cy="475488"/>
          </a:xfrm>
          <a:prstGeom prst="rect">
            <a:avLst/>
          </a:prstGeom>
          <a:noFill/>
          <a:ln/>
        </p:spPr>
        <p:txBody>
          <a:bodyPr wrap="square" lIns="0" tIns="0" rIns="0" bIns="0" rtlCol="0" anchor="ctr"/>
          <a:lstStyle/>
          <a:p>
            <a:pPr indent="0" marL="0">
              <a:buNone/>
            </a:pPr>
            <a:r>
              <a:rPr lang="en-US" sz="1500" b="1" dirty="0">
                <a:solidFill>
                  <a:srgbClr val="1E2A32"/>
                </a:solidFill>
                <a:latin typeface="Calibri" pitchFamily="34" charset="0"/>
                <a:ea typeface="Calibri" pitchFamily="34" charset="-122"/>
                <a:cs typeface="Calibri" pitchFamily="34" charset="-120"/>
              </a:rPr>
              <a:t>q₀ → j₀</a:t>
            </a:r>
            <a:endParaRPr lang="en-US" sz="1500" dirty="0"/>
          </a:p>
        </p:txBody>
      </p:sp>
      <p:sp>
        <p:nvSpPr>
          <p:cNvPr id="105" name="Text 102"/>
          <p:cNvSpPr txBox="1"/>
          <p:nvPr/>
        </p:nvSpPr>
        <p:spPr>
          <a:xfrm>
            <a:off x="8001000" y="1783080"/>
            <a:ext cx="3657600" cy="475488"/>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register bit 0: one column right in the 2×2 tile</a:t>
            </a:r>
            <a:endParaRPr lang="en-US" sz="1400" dirty="0"/>
          </a:p>
        </p:txBody>
      </p:sp>
      <p:sp>
        <p:nvSpPr>
          <p:cNvPr id="106" name="panel"/>
          <p:cNvSpPr/>
          <p:nvPr/>
        </p:nvSpPr>
        <p:spPr>
          <a:xfrm>
            <a:off x="5852160" y="2350008"/>
            <a:ext cx="5852160" cy="475488"/>
          </a:xfrm>
          <a:prstGeom prst="roundRect">
            <a:avLst>
              <a:gd name="adj" fmla="val 15385"/>
            </a:avLst>
          </a:prstGeom>
          <a:solidFill>
            <a:srgbClr val="FFFFFF"/>
          </a:solidFill>
          <a:ln/>
        </p:spPr>
      </p:sp>
      <p:sp>
        <p:nvSpPr>
          <p:cNvPr id="107" name="Text 104"/>
          <p:cNvSpPr txBox="1"/>
          <p:nvPr/>
        </p:nvSpPr>
        <p:spPr>
          <a:xfrm>
            <a:off x="5989320" y="2350008"/>
            <a:ext cx="2011680" cy="475488"/>
          </a:xfrm>
          <a:prstGeom prst="rect">
            <a:avLst/>
          </a:prstGeom>
          <a:noFill/>
          <a:ln/>
        </p:spPr>
        <p:txBody>
          <a:bodyPr wrap="square" lIns="0" tIns="0" rIns="0" bIns="0" rtlCol="0" anchor="ctr"/>
          <a:lstStyle/>
          <a:p>
            <a:pPr indent="0" marL="0">
              <a:buNone/>
            </a:pPr>
            <a:r>
              <a:rPr lang="en-US" sz="1500" b="1" dirty="0">
                <a:solidFill>
                  <a:srgbClr val="1E2A32"/>
                </a:solidFill>
                <a:latin typeface="Calibri" pitchFamily="34" charset="0"/>
                <a:ea typeface="Calibri" pitchFamily="34" charset="-122"/>
                <a:cs typeface="Calibri" pitchFamily="34" charset="-120"/>
              </a:rPr>
              <a:t>q₁ → i₀</a:t>
            </a:r>
            <a:endParaRPr lang="en-US" sz="1500" dirty="0"/>
          </a:p>
        </p:txBody>
      </p:sp>
      <p:sp>
        <p:nvSpPr>
          <p:cNvPr id="108" name="Text 105"/>
          <p:cNvSpPr txBox="1"/>
          <p:nvPr/>
        </p:nvSpPr>
        <p:spPr>
          <a:xfrm>
            <a:off x="8001000" y="2350008"/>
            <a:ext cx="3657600" cy="475488"/>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register bit 1: one row down in the tile</a:t>
            </a:r>
            <a:endParaRPr lang="en-US" sz="1400" dirty="0"/>
          </a:p>
        </p:txBody>
      </p:sp>
      <p:sp>
        <p:nvSpPr>
          <p:cNvPr id="109" name="panel"/>
          <p:cNvSpPr/>
          <p:nvPr/>
        </p:nvSpPr>
        <p:spPr>
          <a:xfrm>
            <a:off x="5852160" y="2916936"/>
            <a:ext cx="5852160" cy="475488"/>
          </a:xfrm>
          <a:prstGeom prst="roundRect">
            <a:avLst>
              <a:gd name="adj" fmla="val 15385"/>
            </a:avLst>
          </a:prstGeom>
          <a:solidFill>
            <a:srgbClr val="F3F6F7"/>
          </a:solidFill>
          <a:ln/>
        </p:spPr>
      </p:sp>
      <p:sp>
        <p:nvSpPr>
          <p:cNvPr id="110" name="Text 107"/>
          <p:cNvSpPr txBox="1"/>
          <p:nvPr/>
        </p:nvSpPr>
        <p:spPr>
          <a:xfrm>
            <a:off x="5989320" y="2916936"/>
            <a:ext cx="2011680" cy="475488"/>
          </a:xfrm>
          <a:prstGeom prst="rect">
            <a:avLst/>
          </a:prstGeom>
          <a:noFill/>
          <a:ln/>
        </p:spPr>
        <p:txBody>
          <a:bodyPr wrap="square" lIns="0" tIns="0" rIns="0" bIns="0" rtlCol="0" anchor="ctr"/>
          <a:lstStyle/>
          <a:p>
            <a:pPr indent="0" marL="0">
              <a:buNone/>
            </a:pPr>
            <a:r>
              <a:rPr lang="en-US" sz="1500" b="1" dirty="0">
                <a:solidFill>
                  <a:srgbClr val="1E2A32"/>
                </a:solidFill>
                <a:latin typeface="Calibri" pitchFamily="34" charset="0"/>
                <a:ea typeface="Calibri" pitchFamily="34" charset="-122"/>
                <a:cs typeface="Calibri" pitchFamily="34" charset="-120"/>
              </a:rPr>
              <a:t>t₀ t₁ t₂ → j₁ j₂ j₃</a:t>
            </a:r>
            <a:endParaRPr lang="en-US" sz="1500" dirty="0"/>
          </a:p>
        </p:txBody>
      </p:sp>
      <p:sp>
        <p:nvSpPr>
          <p:cNvPr id="111" name="Text 108"/>
          <p:cNvSpPr txBox="1"/>
          <p:nvPr/>
        </p:nvSpPr>
        <p:spPr>
          <a:xfrm>
            <a:off x="8001000" y="2916936"/>
            <a:ext cx="3657600" cy="475488"/>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8 threads across: steps of 2, 4, 8 columns</a:t>
            </a:r>
            <a:endParaRPr lang="en-US" sz="1400" dirty="0"/>
          </a:p>
        </p:txBody>
      </p:sp>
      <p:sp>
        <p:nvSpPr>
          <p:cNvPr id="112" name="panel"/>
          <p:cNvSpPr/>
          <p:nvPr/>
        </p:nvSpPr>
        <p:spPr>
          <a:xfrm>
            <a:off x="5852160" y="3483864"/>
            <a:ext cx="5852160" cy="475488"/>
          </a:xfrm>
          <a:prstGeom prst="roundRect">
            <a:avLst>
              <a:gd name="adj" fmla="val 15385"/>
            </a:avLst>
          </a:prstGeom>
          <a:solidFill>
            <a:srgbClr val="FFFFFF"/>
          </a:solidFill>
          <a:ln/>
        </p:spPr>
      </p:sp>
      <p:sp>
        <p:nvSpPr>
          <p:cNvPr id="113" name="Text 110"/>
          <p:cNvSpPr txBox="1"/>
          <p:nvPr/>
        </p:nvSpPr>
        <p:spPr>
          <a:xfrm>
            <a:off x="5989320" y="3483864"/>
            <a:ext cx="2011680" cy="475488"/>
          </a:xfrm>
          <a:prstGeom prst="rect">
            <a:avLst/>
          </a:prstGeom>
          <a:noFill/>
          <a:ln/>
        </p:spPr>
        <p:txBody>
          <a:bodyPr wrap="square" lIns="0" tIns="0" rIns="0" bIns="0" rtlCol="0" anchor="ctr"/>
          <a:lstStyle/>
          <a:p>
            <a:pPr indent="0" marL="0">
              <a:buNone/>
            </a:pPr>
            <a:r>
              <a:rPr lang="en-US" sz="1500" b="1" dirty="0">
                <a:solidFill>
                  <a:srgbClr val="1E2A32"/>
                </a:solidFill>
                <a:latin typeface="Calibri" pitchFamily="34" charset="0"/>
                <a:ea typeface="Calibri" pitchFamily="34" charset="-122"/>
                <a:cs typeface="Calibri" pitchFamily="34" charset="-120"/>
              </a:rPr>
              <a:t>t₃ t₄ → i₁ i₂</a:t>
            </a:r>
            <a:endParaRPr lang="en-US" sz="1500" dirty="0"/>
          </a:p>
        </p:txBody>
      </p:sp>
      <p:sp>
        <p:nvSpPr>
          <p:cNvPr id="114" name="Text 111"/>
          <p:cNvSpPr txBox="1"/>
          <p:nvPr/>
        </p:nvSpPr>
        <p:spPr>
          <a:xfrm>
            <a:off x="8001000" y="3483864"/>
            <a:ext cx="3657600" cy="475488"/>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4 thread-rows down: steps of 2, 4 rows</a:t>
            </a:r>
            <a:endParaRPr lang="en-US" sz="1400" dirty="0"/>
          </a:p>
        </p:txBody>
      </p:sp>
      <p:sp>
        <p:nvSpPr>
          <p:cNvPr id="115" name="panel"/>
          <p:cNvSpPr/>
          <p:nvPr/>
        </p:nvSpPr>
        <p:spPr>
          <a:xfrm>
            <a:off x="5852160" y="4050792"/>
            <a:ext cx="5852160" cy="475488"/>
          </a:xfrm>
          <a:prstGeom prst="roundRect">
            <a:avLst>
              <a:gd name="adj" fmla="val 15385"/>
            </a:avLst>
          </a:prstGeom>
          <a:solidFill>
            <a:srgbClr val="F3F6F7"/>
          </a:solidFill>
          <a:ln/>
        </p:spPr>
      </p:sp>
      <p:sp>
        <p:nvSpPr>
          <p:cNvPr id="116" name="Text 113"/>
          <p:cNvSpPr txBox="1"/>
          <p:nvPr/>
        </p:nvSpPr>
        <p:spPr>
          <a:xfrm>
            <a:off x="5989320" y="4050792"/>
            <a:ext cx="2011680" cy="475488"/>
          </a:xfrm>
          <a:prstGeom prst="rect">
            <a:avLst/>
          </a:prstGeom>
          <a:noFill/>
          <a:ln/>
        </p:spPr>
        <p:txBody>
          <a:bodyPr wrap="square" lIns="0" tIns="0" rIns="0" bIns="0" rtlCol="0" anchor="ctr"/>
          <a:lstStyle/>
          <a:p>
            <a:pPr indent="0" marL="0">
              <a:buNone/>
            </a:pPr>
            <a:r>
              <a:rPr lang="en-US" sz="1500" b="1" dirty="0">
                <a:solidFill>
                  <a:srgbClr val="1E2A32"/>
                </a:solidFill>
                <a:latin typeface="Calibri" pitchFamily="34" charset="0"/>
                <a:ea typeface="Calibri" pitchFamily="34" charset="-122"/>
                <a:cs typeface="Calibri" pitchFamily="34" charset="-120"/>
              </a:rPr>
              <a:t>w → i₃</a:t>
            </a:r>
            <a:endParaRPr lang="en-US" sz="1500" dirty="0"/>
          </a:p>
        </p:txBody>
      </p:sp>
      <p:sp>
        <p:nvSpPr>
          <p:cNvPr id="117" name="Text 114"/>
          <p:cNvSpPr txBox="1"/>
          <p:nvPr/>
        </p:nvSpPr>
        <p:spPr>
          <a:xfrm>
            <a:off x="8001000" y="4050792"/>
            <a:ext cx="3657600" cy="475488"/>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warp 1 sits 8 rows below warp 0</a:t>
            </a:r>
            <a:endParaRPr lang="en-US" sz="1400" dirty="0"/>
          </a:p>
        </p:txBody>
      </p:sp>
      <p:sp>
        <p:nvSpPr>
          <p:cNvPr id="118" name="callout"/>
          <p:cNvSpPr/>
          <p:nvPr/>
        </p:nvSpPr>
        <p:spPr>
          <a:xfrm>
            <a:off x="5852160" y="4754880"/>
            <a:ext cx="5852160" cy="777240"/>
          </a:xfrm>
          <a:prstGeom prst="roundRect">
            <a:avLst>
              <a:gd name="adj" fmla="val 9412"/>
            </a:avLst>
          </a:prstGeom>
          <a:solidFill>
            <a:srgbClr val="DDEFF1"/>
          </a:solidFill>
          <a:ln/>
        </p:spPr>
      </p:sp>
      <p:sp>
        <p:nvSpPr>
          <p:cNvPr id="119" name="callout-text"/>
          <p:cNvSpPr txBox="1"/>
          <p:nvPr/>
        </p:nvSpPr>
        <p:spPr>
          <a:xfrm>
            <a:off x="5989320" y="4809744"/>
            <a:ext cx="5577840" cy="66751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Exactly one 1 in every column and every row → A is a </a:t>
            </a:r>
            <a:r>
              <a:rPr lang="en-US" sz="1500" b="1" dirty="0">
                <a:solidFill>
                  <a:srgbClr val="0A4F58"/>
                </a:solidFill>
                <a:latin typeface="Calibri" pitchFamily="34" charset="0"/>
                <a:ea typeface="Calibri" pitchFamily="34" charset="-122"/>
                <a:cs typeface="Calibri" pitchFamily="34" charset="-120"/>
              </a:rPr>
              <a:t>permutation matrix</a:t>
            </a:r>
            <a:r>
              <a:rPr lang="en-US" sz="1500" dirty="0">
                <a:solidFill>
                  <a:srgbClr val="0A4F58"/>
                </a:solidFill>
                <a:latin typeface="Calibri" pitchFamily="34" charset="0"/>
                <a:ea typeface="Calibri" pitchFamily="34" charset="-122"/>
                <a:cs typeface="Calibri" pitchFamily="34" charset="-120"/>
              </a:rPr>
              <a:t> (under this bit ordering).</a:t>
            </a:r>
            <a:endParaRPr lang="en-US" sz="15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§4.1 · WORKED EXAMPLE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Trace: register r₁ of thread t₉ in warp w₀</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§4.1 and Table 1, p. 136</a:t>
            </a:r>
            <a:endParaRPr lang="en-US" sz="1000" dirty="0"/>
          </a:p>
        </p:txBody>
      </p:sp>
      <p:sp>
        <p:nvSpPr>
          <p:cNvPr id="6" name="mcol"/>
          <p:cNvSpPr/>
          <p:nvPr/>
        </p:nvSpPr>
        <p:spPr>
          <a:xfrm>
            <a:off x="1234440" y="1874520"/>
            <a:ext cx="384048" cy="3072384"/>
          </a:xfrm>
          <a:prstGeom prst="rect">
            <a:avLst/>
          </a:prstGeom>
          <a:solidFill>
            <a:srgbClr val="FFF0CC"/>
          </a:solidFill>
          <a:ln/>
        </p:spPr>
      </p:sp>
      <p:sp>
        <p:nvSpPr>
          <p:cNvPr id="7" name="mcol"/>
          <p:cNvSpPr/>
          <p:nvPr/>
        </p:nvSpPr>
        <p:spPr>
          <a:xfrm>
            <a:off x="2002536" y="1874520"/>
            <a:ext cx="384048" cy="3072384"/>
          </a:xfrm>
          <a:prstGeom prst="rect">
            <a:avLst/>
          </a:prstGeom>
          <a:solidFill>
            <a:srgbClr val="FFF0CC"/>
          </a:solidFill>
          <a:ln/>
        </p:spPr>
      </p:sp>
      <p:sp>
        <p:nvSpPr>
          <p:cNvPr id="8" name="mcol"/>
          <p:cNvSpPr/>
          <p:nvPr/>
        </p:nvSpPr>
        <p:spPr>
          <a:xfrm>
            <a:off x="3154680" y="1874520"/>
            <a:ext cx="384048" cy="3072384"/>
          </a:xfrm>
          <a:prstGeom prst="rect">
            <a:avLst/>
          </a:prstGeom>
          <a:solidFill>
            <a:srgbClr val="FFF0CC"/>
          </a:solidFill>
          <a:ln/>
        </p:spPr>
      </p:sp>
      <p:sp>
        <p:nvSpPr>
          <p:cNvPr id="9" name="mcell"/>
          <p:cNvSpPr txBox="1"/>
          <p:nvPr/>
        </p:nvSpPr>
        <p:spPr>
          <a:xfrm>
            <a:off x="1234440" y="187452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 name="mcell"/>
          <p:cNvSpPr txBox="1"/>
          <p:nvPr/>
        </p:nvSpPr>
        <p:spPr>
          <a:xfrm>
            <a:off x="1618488"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2002536"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2" name="mcell"/>
          <p:cNvSpPr txBox="1"/>
          <p:nvPr/>
        </p:nvSpPr>
        <p:spPr>
          <a:xfrm>
            <a:off x="2386584"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 name="mcell"/>
          <p:cNvSpPr txBox="1"/>
          <p:nvPr/>
        </p:nvSpPr>
        <p:spPr>
          <a:xfrm>
            <a:off x="2770632"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4" name="mcell"/>
          <p:cNvSpPr txBox="1"/>
          <p:nvPr/>
        </p:nvSpPr>
        <p:spPr>
          <a:xfrm>
            <a:off x="3154680"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5" name="mcell"/>
          <p:cNvSpPr txBox="1"/>
          <p:nvPr/>
        </p:nvSpPr>
        <p:spPr>
          <a:xfrm>
            <a:off x="3538728"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3922776" y="18745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1234440"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1618488"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2002536" y="225856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0" name="mcell"/>
          <p:cNvSpPr txBox="1"/>
          <p:nvPr/>
        </p:nvSpPr>
        <p:spPr>
          <a:xfrm>
            <a:off x="2386584"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2770632"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2" name="mcell"/>
          <p:cNvSpPr txBox="1"/>
          <p:nvPr/>
        </p:nvSpPr>
        <p:spPr>
          <a:xfrm>
            <a:off x="3154680"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3" name="mcell"/>
          <p:cNvSpPr txBox="1"/>
          <p:nvPr/>
        </p:nvSpPr>
        <p:spPr>
          <a:xfrm>
            <a:off x="3538728"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4" name="mcell"/>
          <p:cNvSpPr txBox="1"/>
          <p:nvPr/>
        </p:nvSpPr>
        <p:spPr>
          <a:xfrm>
            <a:off x="3922776"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5" name="mcell"/>
          <p:cNvSpPr txBox="1"/>
          <p:nvPr/>
        </p:nvSpPr>
        <p:spPr>
          <a:xfrm>
            <a:off x="1234440"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6" name="mcell"/>
          <p:cNvSpPr txBox="1"/>
          <p:nvPr/>
        </p:nvSpPr>
        <p:spPr>
          <a:xfrm>
            <a:off x="1618488"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7" name="mcell"/>
          <p:cNvSpPr txBox="1"/>
          <p:nvPr/>
        </p:nvSpPr>
        <p:spPr>
          <a:xfrm>
            <a:off x="2002536"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8" name="mcell"/>
          <p:cNvSpPr txBox="1"/>
          <p:nvPr/>
        </p:nvSpPr>
        <p:spPr>
          <a:xfrm>
            <a:off x="2386584" y="264261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9" name="mcell"/>
          <p:cNvSpPr txBox="1"/>
          <p:nvPr/>
        </p:nvSpPr>
        <p:spPr>
          <a:xfrm>
            <a:off x="2770632"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0" name="mcell"/>
          <p:cNvSpPr txBox="1"/>
          <p:nvPr/>
        </p:nvSpPr>
        <p:spPr>
          <a:xfrm>
            <a:off x="3154680"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1" name="mcell"/>
          <p:cNvSpPr txBox="1"/>
          <p:nvPr/>
        </p:nvSpPr>
        <p:spPr>
          <a:xfrm>
            <a:off x="3538728"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2" name="mcell"/>
          <p:cNvSpPr txBox="1"/>
          <p:nvPr/>
        </p:nvSpPr>
        <p:spPr>
          <a:xfrm>
            <a:off x="3922776"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3" name="mcell"/>
          <p:cNvSpPr txBox="1"/>
          <p:nvPr/>
        </p:nvSpPr>
        <p:spPr>
          <a:xfrm>
            <a:off x="1234440"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4" name="mcell"/>
          <p:cNvSpPr txBox="1"/>
          <p:nvPr/>
        </p:nvSpPr>
        <p:spPr>
          <a:xfrm>
            <a:off x="1618488"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5" name="mcell"/>
          <p:cNvSpPr txBox="1"/>
          <p:nvPr/>
        </p:nvSpPr>
        <p:spPr>
          <a:xfrm>
            <a:off x="2002536"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6" name="mcell"/>
          <p:cNvSpPr txBox="1"/>
          <p:nvPr/>
        </p:nvSpPr>
        <p:spPr>
          <a:xfrm>
            <a:off x="2386584"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7" name="mcell"/>
          <p:cNvSpPr txBox="1"/>
          <p:nvPr/>
        </p:nvSpPr>
        <p:spPr>
          <a:xfrm>
            <a:off x="2770632" y="302666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8" name="mcell"/>
          <p:cNvSpPr txBox="1"/>
          <p:nvPr/>
        </p:nvSpPr>
        <p:spPr>
          <a:xfrm>
            <a:off x="3154680"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9" name="mcell"/>
          <p:cNvSpPr txBox="1"/>
          <p:nvPr/>
        </p:nvSpPr>
        <p:spPr>
          <a:xfrm>
            <a:off x="3538728"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0" name="mcell"/>
          <p:cNvSpPr txBox="1"/>
          <p:nvPr/>
        </p:nvSpPr>
        <p:spPr>
          <a:xfrm>
            <a:off x="3922776"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1" name="mcell"/>
          <p:cNvSpPr txBox="1"/>
          <p:nvPr/>
        </p:nvSpPr>
        <p:spPr>
          <a:xfrm>
            <a:off x="1234440"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2" name="mcell"/>
          <p:cNvSpPr txBox="1"/>
          <p:nvPr/>
        </p:nvSpPr>
        <p:spPr>
          <a:xfrm>
            <a:off x="1618488" y="3410712"/>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3" name="mcell"/>
          <p:cNvSpPr txBox="1"/>
          <p:nvPr/>
        </p:nvSpPr>
        <p:spPr>
          <a:xfrm>
            <a:off x="2002536"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4" name="mcell"/>
          <p:cNvSpPr txBox="1"/>
          <p:nvPr/>
        </p:nvSpPr>
        <p:spPr>
          <a:xfrm>
            <a:off x="2386584"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5" name="mcell"/>
          <p:cNvSpPr txBox="1"/>
          <p:nvPr/>
        </p:nvSpPr>
        <p:spPr>
          <a:xfrm>
            <a:off x="2770632"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6" name="mcell"/>
          <p:cNvSpPr txBox="1"/>
          <p:nvPr/>
        </p:nvSpPr>
        <p:spPr>
          <a:xfrm>
            <a:off x="3154680"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7" name="mcell"/>
          <p:cNvSpPr txBox="1"/>
          <p:nvPr/>
        </p:nvSpPr>
        <p:spPr>
          <a:xfrm>
            <a:off x="3538728"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8" name="mcell"/>
          <p:cNvSpPr txBox="1"/>
          <p:nvPr/>
        </p:nvSpPr>
        <p:spPr>
          <a:xfrm>
            <a:off x="3922776"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9" name="mcell"/>
          <p:cNvSpPr txBox="1"/>
          <p:nvPr/>
        </p:nvSpPr>
        <p:spPr>
          <a:xfrm>
            <a:off x="1234440"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1618488"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1" name="mcell"/>
          <p:cNvSpPr txBox="1"/>
          <p:nvPr/>
        </p:nvSpPr>
        <p:spPr>
          <a:xfrm>
            <a:off x="2002536"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2" name="mcell"/>
          <p:cNvSpPr txBox="1"/>
          <p:nvPr/>
        </p:nvSpPr>
        <p:spPr>
          <a:xfrm>
            <a:off x="2386584"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3" name="mcell"/>
          <p:cNvSpPr txBox="1"/>
          <p:nvPr/>
        </p:nvSpPr>
        <p:spPr>
          <a:xfrm>
            <a:off x="2770632"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4" name="mcell"/>
          <p:cNvSpPr txBox="1"/>
          <p:nvPr/>
        </p:nvSpPr>
        <p:spPr>
          <a:xfrm>
            <a:off x="3154680" y="379476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5" name="mcell"/>
          <p:cNvSpPr txBox="1"/>
          <p:nvPr/>
        </p:nvSpPr>
        <p:spPr>
          <a:xfrm>
            <a:off x="3538728"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6" name="mcell"/>
          <p:cNvSpPr txBox="1"/>
          <p:nvPr/>
        </p:nvSpPr>
        <p:spPr>
          <a:xfrm>
            <a:off x="3922776" y="379476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7" name="mcell"/>
          <p:cNvSpPr txBox="1"/>
          <p:nvPr/>
        </p:nvSpPr>
        <p:spPr>
          <a:xfrm>
            <a:off x="1234440"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8" name="mcell"/>
          <p:cNvSpPr txBox="1"/>
          <p:nvPr/>
        </p:nvSpPr>
        <p:spPr>
          <a:xfrm>
            <a:off x="1618488"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9" name="mcell"/>
          <p:cNvSpPr txBox="1"/>
          <p:nvPr/>
        </p:nvSpPr>
        <p:spPr>
          <a:xfrm>
            <a:off x="2002536"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0" name="mcell"/>
          <p:cNvSpPr txBox="1"/>
          <p:nvPr/>
        </p:nvSpPr>
        <p:spPr>
          <a:xfrm>
            <a:off x="2386584"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1" name="mcell"/>
          <p:cNvSpPr txBox="1"/>
          <p:nvPr/>
        </p:nvSpPr>
        <p:spPr>
          <a:xfrm>
            <a:off x="2770632"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2" name="mcell"/>
          <p:cNvSpPr txBox="1"/>
          <p:nvPr/>
        </p:nvSpPr>
        <p:spPr>
          <a:xfrm>
            <a:off x="3154680"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3" name="mcell"/>
          <p:cNvSpPr txBox="1"/>
          <p:nvPr/>
        </p:nvSpPr>
        <p:spPr>
          <a:xfrm>
            <a:off x="3538728" y="417880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64" name="mcell"/>
          <p:cNvSpPr txBox="1"/>
          <p:nvPr/>
        </p:nvSpPr>
        <p:spPr>
          <a:xfrm>
            <a:off x="3922776"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5" name="mcell"/>
          <p:cNvSpPr txBox="1"/>
          <p:nvPr/>
        </p:nvSpPr>
        <p:spPr>
          <a:xfrm>
            <a:off x="1234440"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6" name="mcell"/>
          <p:cNvSpPr txBox="1"/>
          <p:nvPr/>
        </p:nvSpPr>
        <p:spPr>
          <a:xfrm>
            <a:off x="1618488"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7" name="mcell"/>
          <p:cNvSpPr txBox="1"/>
          <p:nvPr/>
        </p:nvSpPr>
        <p:spPr>
          <a:xfrm>
            <a:off x="2002536"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8" name="mcell"/>
          <p:cNvSpPr txBox="1"/>
          <p:nvPr/>
        </p:nvSpPr>
        <p:spPr>
          <a:xfrm>
            <a:off x="2386584"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9" name="mcell"/>
          <p:cNvSpPr txBox="1"/>
          <p:nvPr/>
        </p:nvSpPr>
        <p:spPr>
          <a:xfrm>
            <a:off x="2770632"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0" name="mcell"/>
          <p:cNvSpPr txBox="1"/>
          <p:nvPr/>
        </p:nvSpPr>
        <p:spPr>
          <a:xfrm>
            <a:off x="3154680"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1" name="mcell"/>
          <p:cNvSpPr txBox="1"/>
          <p:nvPr/>
        </p:nvSpPr>
        <p:spPr>
          <a:xfrm>
            <a:off x="3538728"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2" name="mcell"/>
          <p:cNvSpPr txBox="1"/>
          <p:nvPr/>
        </p:nvSpPr>
        <p:spPr>
          <a:xfrm>
            <a:off x="3922776" y="456285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3" name="msep"/>
          <p:cNvSpPr/>
          <p:nvPr/>
        </p:nvSpPr>
        <p:spPr>
          <a:xfrm>
            <a:off x="2002536" y="1892808"/>
            <a:ext cx="0" cy="3035808"/>
          </a:xfrm>
          <a:prstGeom prst="line">
            <a:avLst/>
          </a:prstGeom>
          <a:noFill/>
          <a:ln w="9525">
            <a:solidFill>
              <a:srgbClr val="5B6770"/>
            </a:solidFill>
            <a:prstDash val="dash"/>
          </a:ln>
        </p:spPr>
      </p:sp>
      <p:sp>
        <p:nvSpPr>
          <p:cNvPr id="74" name="msep"/>
          <p:cNvSpPr/>
          <p:nvPr/>
        </p:nvSpPr>
        <p:spPr>
          <a:xfrm>
            <a:off x="3922776" y="1892808"/>
            <a:ext cx="0" cy="3035808"/>
          </a:xfrm>
          <a:prstGeom prst="line">
            <a:avLst/>
          </a:prstGeom>
          <a:noFill/>
          <a:ln w="9525">
            <a:solidFill>
              <a:srgbClr val="5B6770"/>
            </a:solidFill>
            <a:prstDash val="dash"/>
          </a:ln>
        </p:spPr>
      </p:sp>
      <p:sp>
        <p:nvSpPr>
          <p:cNvPr id="75" name="msep"/>
          <p:cNvSpPr/>
          <p:nvPr/>
        </p:nvSpPr>
        <p:spPr>
          <a:xfrm>
            <a:off x="1252728" y="3410712"/>
            <a:ext cx="3035808" cy="0"/>
          </a:xfrm>
          <a:prstGeom prst="line">
            <a:avLst/>
          </a:prstGeom>
          <a:noFill/>
          <a:ln w="9525">
            <a:solidFill>
              <a:srgbClr val="5B6770"/>
            </a:solidFill>
            <a:prstDash val="dash"/>
          </a:ln>
        </p:spPr>
      </p:sp>
      <p:sp>
        <p:nvSpPr>
          <p:cNvPr id="76" name="mbr"/>
          <p:cNvSpPr/>
          <p:nvPr/>
        </p:nvSpPr>
        <p:spPr>
          <a:xfrm>
            <a:off x="1207008" y="1847088"/>
            <a:ext cx="0" cy="3127248"/>
          </a:xfrm>
          <a:prstGeom prst="line">
            <a:avLst/>
          </a:prstGeom>
          <a:noFill/>
          <a:ln w="15875">
            <a:solidFill>
              <a:srgbClr val="1E2A32"/>
            </a:solidFill>
            <a:prstDash val="solid"/>
          </a:ln>
        </p:spPr>
      </p:sp>
      <p:sp>
        <p:nvSpPr>
          <p:cNvPr id="77" name="mbr"/>
          <p:cNvSpPr/>
          <p:nvPr/>
        </p:nvSpPr>
        <p:spPr>
          <a:xfrm>
            <a:off x="1207008" y="1847088"/>
            <a:ext cx="73152" cy="0"/>
          </a:xfrm>
          <a:prstGeom prst="line">
            <a:avLst/>
          </a:prstGeom>
          <a:noFill/>
          <a:ln w="15875">
            <a:solidFill>
              <a:srgbClr val="1E2A32"/>
            </a:solidFill>
            <a:prstDash val="solid"/>
          </a:ln>
        </p:spPr>
      </p:sp>
      <p:sp>
        <p:nvSpPr>
          <p:cNvPr id="78" name="mbr"/>
          <p:cNvSpPr/>
          <p:nvPr/>
        </p:nvSpPr>
        <p:spPr>
          <a:xfrm>
            <a:off x="1207008" y="4974336"/>
            <a:ext cx="73152" cy="0"/>
          </a:xfrm>
          <a:prstGeom prst="line">
            <a:avLst/>
          </a:prstGeom>
          <a:noFill/>
          <a:ln w="15875">
            <a:solidFill>
              <a:srgbClr val="1E2A32"/>
            </a:solidFill>
            <a:prstDash val="solid"/>
          </a:ln>
        </p:spPr>
      </p:sp>
      <p:sp>
        <p:nvSpPr>
          <p:cNvPr id="79" name="mbr"/>
          <p:cNvSpPr/>
          <p:nvPr/>
        </p:nvSpPr>
        <p:spPr>
          <a:xfrm>
            <a:off x="4334256" y="1847088"/>
            <a:ext cx="0" cy="3127248"/>
          </a:xfrm>
          <a:prstGeom prst="line">
            <a:avLst/>
          </a:prstGeom>
          <a:noFill/>
          <a:ln w="15875">
            <a:solidFill>
              <a:srgbClr val="1E2A32"/>
            </a:solidFill>
            <a:prstDash val="solid"/>
          </a:ln>
        </p:spPr>
      </p:sp>
      <p:sp>
        <p:nvSpPr>
          <p:cNvPr id="80" name="mbr"/>
          <p:cNvSpPr/>
          <p:nvPr/>
        </p:nvSpPr>
        <p:spPr>
          <a:xfrm>
            <a:off x="4261104" y="1847088"/>
            <a:ext cx="73152" cy="0"/>
          </a:xfrm>
          <a:prstGeom prst="line">
            <a:avLst/>
          </a:prstGeom>
          <a:noFill/>
          <a:ln w="15875">
            <a:solidFill>
              <a:srgbClr val="1E2A32"/>
            </a:solidFill>
            <a:prstDash val="solid"/>
          </a:ln>
        </p:spPr>
      </p:sp>
      <p:sp>
        <p:nvSpPr>
          <p:cNvPr id="81" name="mbr"/>
          <p:cNvSpPr/>
          <p:nvPr/>
        </p:nvSpPr>
        <p:spPr>
          <a:xfrm>
            <a:off x="4261104" y="4974336"/>
            <a:ext cx="73152" cy="0"/>
          </a:xfrm>
          <a:prstGeom prst="line">
            <a:avLst/>
          </a:prstGeom>
          <a:noFill/>
          <a:ln w="15875">
            <a:solidFill>
              <a:srgbClr val="1E2A32"/>
            </a:solidFill>
            <a:prstDash val="solid"/>
          </a:ln>
        </p:spPr>
      </p:sp>
      <p:sp>
        <p:nvSpPr>
          <p:cNvPr id="82" name="mlab"/>
          <p:cNvSpPr txBox="1"/>
          <p:nvPr/>
        </p:nvSpPr>
        <p:spPr>
          <a:xfrm>
            <a:off x="1188720"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q₀</a:t>
            </a:r>
            <a:endParaRPr lang="en-US" sz="1200" dirty="0"/>
          </a:p>
        </p:txBody>
      </p:sp>
      <p:sp>
        <p:nvSpPr>
          <p:cNvPr id="83" name="mlab"/>
          <p:cNvSpPr txBox="1"/>
          <p:nvPr/>
        </p:nvSpPr>
        <p:spPr>
          <a:xfrm>
            <a:off x="1572768"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q₁</a:t>
            </a:r>
            <a:endParaRPr lang="en-US" sz="1200" dirty="0"/>
          </a:p>
        </p:txBody>
      </p:sp>
      <p:sp>
        <p:nvSpPr>
          <p:cNvPr id="84" name="mlab"/>
          <p:cNvSpPr txBox="1"/>
          <p:nvPr/>
        </p:nvSpPr>
        <p:spPr>
          <a:xfrm>
            <a:off x="1956816"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85" name="mlab"/>
          <p:cNvSpPr txBox="1"/>
          <p:nvPr/>
        </p:nvSpPr>
        <p:spPr>
          <a:xfrm>
            <a:off x="2340864"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86" name="mlab"/>
          <p:cNvSpPr txBox="1"/>
          <p:nvPr/>
        </p:nvSpPr>
        <p:spPr>
          <a:xfrm>
            <a:off x="2724912"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t₂</a:t>
            </a:r>
            <a:endParaRPr lang="en-US" sz="1200" dirty="0"/>
          </a:p>
        </p:txBody>
      </p:sp>
      <p:sp>
        <p:nvSpPr>
          <p:cNvPr id="87" name="mlab"/>
          <p:cNvSpPr txBox="1"/>
          <p:nvPr/>
        </p:nvSpPr>
        <p:spPr>
          <a:xfrm>
            <a:off x="3108960"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t₃</a:t>
            </a:r>
            <a:endParaRPr lang="en-US" sz="1200" dirty="0"/>
          </a:p>
        </p:txBody>
      </p:sp>
      <p:sp>
        <p:nvSpPr>
          <p:cNvPr id="88" name="mlab"/>
          <p:cNvSpPr txBox="1"/>
          <p:nvPr/>
        </p:nvSpPr>
        <p:spPr>
          <a:xfrm>
            <a:off x="3493008"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t₄</a:t>
            </a:r>
            <a:endParaRPr lang="en-US" sz="1200" dirty="0"/>
          </a:p>
        </p:txBody>
      </p:sp>
      <p:sp>
        <p:nvSpPr>
          <p:cNvPr id="89" name="mlab"/>
          <p:cNvSpPr txBox="1"/>
          <p:nvPr/>
        </p:nvSpPr>
        <p:spPr>
          <a:xfrm>
            <a:off x="3877056" y="16367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w</a:t>
            </a:r>
            <a:endParaRPr lang="en-US" sz="1200" dirty="0"/>
          </a:p>
        </p:txBody>
      </p:sp>
      <p:sp>
        <p:nvSpPr>
          <p:cNvPr id="90" name="mgrp"/>
          <p:cNvSpPr txBox="1"/>
          <p:nvPr/>
        </p:nvSpPr>
        <p:spPr>
          <a:xfrm>
            <a:off x="1234440" y="139903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91" name="mgrp"/>
          <p:cNvSpPr txBox="1"/>
          <p:nvPr/>
        </p:nvSpPr>
        <p:spPr>
          <a:xfrm>
            <a:off x="2002536" y="1399032"/>
            <a:ext cx="1920240"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92" name="mgrp"/>
          <p:cNvSpPr txBox="1"/>
          <p:nvPr/>
        </p:nvSpPr>
        <p:spPr>
          <a:xfrm>
            <a:off x="3922776" y="1399032"/>
            <a:ext cx="384048"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Wrp</a:t>
            </a:r>
            <a:endParaRPr lang="en-US" sz="1200" dirty="0"/>
          </a:p>
        </p:txBody>
      </p:sp>
      <p:sp>
        <p:nvSpPr>
          <p:cNvPr id="93" name="mlab"/>
          <p:cNvSpPr txBox="1"/>
          <p:nvPr/>
        </p:nvSpPr>
        <p:spPr>
          <a:xfrm>
            <a:off x="832104" y="187452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94" name="mlab"/>
          <p:cNvSpPr txBox="1"/>
          <p:nvPr/>
        </p:nvSpPr>
        <p:spPr>
          <a:xfrm>
            <a:off x="832104" y="225856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95" name="mlab"/>
          <p:cNvSpPr txBox="1"/>
          <p:nvPr/>
        </p:nvSpPr>
        <p:spPr>
          <a:xfrm>
            <a:off x="832104" y="264261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j₂</a:t>
            </a:r>
            <a:endParaRPr lang="en-US" sz="1200" dirty="0"/>
          </a:p>
        </p:txBody>
      </p:sp>
      <p:sp>
        <p:nvSpPr>
          <p:cNvPr id="96" name="mlab"/>
          <p:cNvSpPr txBox="1"/>
          <p:nvPr/>
        </p:nvSpPr>
        <p:spPr>
          <a:xfrm>
            <a:off x="832104" y="302666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j₃</a:t>
            </a:r>
            <a:endParaRPr lang="en-US" sz="1200" dirty="0"/>
          </a:p>
        </p:txBody>
      </p:sp>
      <p:sp>
        <p:nvSpPr>
          <p:cNvPr id="97" name="mlab"/>
          <p:cNvSpPr txBox="1"/>
          <p:nvPr/>
        </p:nvSpPr>
        <p:spPr>
          <a:xfrm>
            <a:off x="832104" y="3410712"/>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98" name="mlab"/>
          <p:cNvSpPr txBox="1"/>
          <p:nvPr/>
        </p:nvSpPr>
        <p:spPr>
          <a:xfrm>
            <a:off x="832104" y="379476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99" name="mlab"/>
          <p:cNvSpPr txBox="1"/>
          <p:nvPr/>
        </p:nvSpPr>
        <p:spPr>
          <a:xfrm>
            <a:off x="832104" y="417880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i₂</a:t>
            </a:r>
            <a:endParaRPr lang="en-US" sz="1200" dirty="0"/>
          </a:p>
        </p:txBody>
      </p:sp>
      <p:sp>
        <p:nvSpPr>
          <p:cNvPr id="100" name="mlab"/>
          <p:cNvSpPr txBox="1"/>
          <p:nvPr/>
        </p:nvSpPr>
        <p:spPr>
          <a:xfrm>
            <a:off x="832104" y="456285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i₃</a:t>
            </a:r>
            <a:endParaRPr lang="en-US" sz="1200" dirty="0"/>
          </a:p>
        </p:txBody>
      </p:sp>
      <p:sp>
        <p:nvSpPr>
          <p:cNvPr id="101" name="mgrp"/>
          <p:cNvSpPr txBox="1"/>
          <p:nvPr/>
        </p:nvSpPr>
        <p:spPr>
          <a:xfrm>
            <a:off x="502920" y="1874520"/>
            <a:ext cx="310896" cy="1536192"/>
          </a:xfrm>
          <a:prstGeom prst="rect">
            <a:avLst/>
          </a:prstGeom>
          <a:noFill/>
          <a:ln/>
        </p:spPr>
        <p:txBody>
          <a:bodyPr wrap="square" lIns="0" tIns="0" rIns="0" bIns="0" rtlCol="0" anchor="ctr"/>
          <a:lstStyle/>
          <a:p>
            <a:pPr algn="r" indent="0" marL="0">
              <a:buNone/>
            </a:pPr>
            <a:r>
              <a:rPr lang="en-US" sz="1200" b="1" dirty="0">
                <a:solidFill>
                  <a:srgbClr val="0A4F58"/>
                </a:solidFill>
                <a:latin typeface="Calibri" pitchFamily="34" charset="0"/>
                <a:ea typeface="Calibri" pitchFamily="34" charset="-122"/>
                <a:cs typeface="Calibri" pitchFamily="34" charset="-120"/>
              </a:rPr>
              <a:t>j</a:t>
            </a:r>
            <a:endParaRPr lang="en-US" sz="1200" dirty="0"/>
          </a:p>
        </p:txBody>
      </p:sp>
      <p:sp>
        <p:nvSpPr>
          <p:cNvPr id="102" name="mgrp"/>
          <p:cNvSpPr txBox="1"/>
          <p:nvPr/>
        </p:nvSpPr>
        <p:spPr>
          <a:xfrm>
            <a:off x="502920" y="3410712"/>
            <a:ext cx="310896" cy="1536192"/>
          </a:xfrm>
          <a:prstGeom prst="rect">
            <a:avLst/>
          </a:prstGeom>
          <a:noFill/>
          <a:ln/>
        </p:spPr>
        <p:txBody>
          <a:bodyPr wrap="square" lIns="0" tIns="0" rIns="0" bIns="0" rtlCol="0" anchor="ctr"/>
          <a:lstStyle/>
          <a:p>
            <a:pPr algn="r" indent="0" marL="0">
              <a:buNone/>
            </a:pPr>
            <a:r>
              <a:rPr lang="en-US" sz="1200" b="1" dirty="0">
                <a:solidFill>
                  <a:srgbClr val="0A4F58"/>
                </a:solidFill>
                <a:latin typeface="Calibri" pitchFamily="34" charset="0"/>
                <a:ea typeface="Calibri" pitchFamily="34" charset="-122"/>
                <a:cs typeface="Calibri" pitchFamily="34" charset="-120"/>
              </a:rPr>
              <a:t>i</a:t>
            </a:r>
            <a:endParaRPr lang="en-US" sz="1200" dirty="0"/>
          </a:p>
        </p:txBody>
      </p:sp>
      <p:sp>
        <p:nvSpPr>
          <p:cNvPr id="103" name="mname"/>
          <p:cNvSpPr txBox="1"/>
          <p:nvPr/>
        </p:nvSpPr>
        <p:spPr>
          <a:xfrm>
            <a:off x="960120" y="5001768"/>
            <a:ext cx="36210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a:t>
            </a:r>
            <a:endParaRPr lang="en-US" sz="1300" dirty="0"/>
          </a:p>
        </p:txBody>
      </p:sp>
      <p:sp>
        <p:nvSpPr>
          <p:cNvPr id="104" name="op"/>
          <p:cNvSpPr txBox="1"/>
          <p:nvPr/>
        </p:nvSpPr>
        <p:spPr>
          <a:xfrm>
            <a:off x="4370832" y="3182112"/>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05" name="mcell"/>
          <p:cNvSpPr txBox="1"/>
          <p:nvPr/>
        </p:nvSpPr>
        <p:spPr>
          <a:xfrm>
            <a:off x="4901184" y="1874520"/>
            <a:ext cx="384048" cy="384048"/>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6" name="mcell"/>
          <p:cNvSpPr txBox="1"/>
          <p:nvPr/>
        </p:nvSpPr>
        <p:spPr>
          <a:xfrm>
            <a:off x="4901184" y="22585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7" name="mcell"/>
          <p:cNvSpPr txBox="1"/>
          <p:nvPr/>
        </p:nvSpPr>
        <p:spPr>
          <a:xfrm>
            <a:off x="4901184" y="2642616"/>
            <a:ext cx="384048" cy="384048"/>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8" name="mcell"/>
          <p:cNvSpPr txBox="1"/>
          <p:nvPr/>
        </p:nvSpPr>
        <p:spPr>
          <a:xfrm>
            <a:off x="4901184"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9" name="mcell"/>
          <p:cNvSpPr txBox="1"/>
          <p:nvPr/>
        </p:nvSpPr>
        <p:spPr>
          <a:xfrm>
            <a:off x="4901184"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0" name="mcell"/>
          <p:cNvSpPr txBox="1"/>
          <p:nvPr/>
        </p:nvSpPr>
        <p:spPr>
          <a:xfrm>
            <a:off x="4901184" y="3794760"/>
            <a:ext cx="384048" cy="384048"/>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11" name="mcell"/>
          <p:cNvSpPr txBox="1"/>
          <p:nvPr/>
        </p:nvSpPr>
        <p:spPr>
          <a:xfrm>
            <a:off x="4901184"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2" name="mcell"/>
          <p:cNvSpPr txBox="1"/>
          <p:nvPr/>
        </p:nvSpPr>
        <p:spPr>
          <a:xfrm>
            <a:off x="4901184"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3" name="msep"/>
          <p:cNvSpPr/>
          <p:nvPr/>
        </p:nvSpPr>
        <p:spPr>
          <a:xfrm>
            <a:off x="4919472" y="2642616"/>
            <a:ext cx="347472" cy="0"/>
          </a:xfrm>
          <a:prstGeom prst="line">
            <a:avLst/>
          </a:prstGeom>
          <a:noFill/>
          <a:ln w="9525">
            <a:solidFill>
              <a:srgbClr val="5B6770"/>
            </a:solidFill>
            <a:prstDash val="dash"/>
          </a:ln>
        </p:spPr>
      </p:sp>
      <p:sp>
        <p:nvSpPr>
          <p:cNvPr id="114" name="msep"/>
          <p:cNvSpPr/>
          <p:nvPr/>
        </p:nvSpPr>
        <p:spPr>
          <a:xfrm>
            <a:off x="4919472" y="4562856"/>
            <a:ext cx="347472" cy="0"/>
          </a:xfrm>
          <a:prstGeom prst="line">
            <a:avLst/>
          </a:prstGeom>
          <a:noFill/>
          <a:ln w="9525">
            <a:solidFill>
              <a:srgbClr val="5B6770"/>
            </a:solidFill>
            <a:prstDash val="dash"/>
          </a:ln>
        </p:spPr>
      </p:sp>
      <p:sp>
        <p:nvSpPr>
          <p:cNvPr id="115" name="mbr"/>
          <p:cNvSpPr/>
          <p:nvPr/>
        </p:nvSpPr>
        <p:spPr>
          <a:xfrm>
            <a:off x="4873752" y="1847088"/>
            <a:ext cx="0" cy="3127248"/>
          </a:xfrm>
          <a:prstGeom prst="line">
            <a:avLst/>
          </a:prstGeom>
          <a:noFill/>
          <a:ln w="15875">
            <a:solidFill>
              <a:srgbClr val="1E2A32"/>
            </a:solidFill>
            <a:prstDash val="solid"/>
          </a:ln>
        </p:spPr>
      </p:sp>
      <p:sp>
        <p:nvSpPr>
          <p:cNvPr id="116" name="mbr"/>
          <p:cNvSpPr/>
          <p:nvPr/>
        </p:nvSpPr>
        <p:spPr>
          <a:xfrm>
            <a:off x="4873752" y="1847088"/>
            <a:ext cx="73152" cy="0"/>
          </a:xfrm>
          <a:prstGeom prst="line">
            <a:avLst/>
          </a:prstGeom>
          <a:noFill/>
          <a:ln w="15875">
            <a:solidFill>
              <a:srgbClr val="1E2A32"/>
            </a:solidFill>
            <a:prstDash val="solid"/>
          </a:ln>
        </p:spPr>
      </p:sp>
      <p:sp>
        <p:nvSpPr>
          <p:cNvPr id="117" name="mbr"/>
          <p:cNvSpPr/>
          <p:nvPr/>
        </p:nvSpPr>
        <p:spPr>
          <a:xfrm>
            <a:off x="4873752" y="4974336"/>
            <a:ext cx="73152" cy="0"/>
          </a:xfrm>
          <a:prstGeom prst="line">
            <a:avLst/>
          </a:prstGeom>
          <a:noFill/>
          <a:ln w="15875">
            <a:solidFill>
              <a:srgbClr val="1E2A32"/>
            </a:solidFill>
            <a:prstDash val="solid"/>
          </a:ln>
        </p:spPr>
      </p:sp>
      <p:sp>
        <p:nvSpPr>
          <p:cNvPr id="118" name="mbr"/>
          <p:cNvSpPr/>
          <p:nvPr/>
        </p:nvSpPr>
        <p:spPr>
          <a:xfrm>
            <a:off x="5312664" y="1847088"/>
            <a:ext cx="0" cy="3127248"/>
          </a:xfrm>
          <a:prstGeom prst="line">
            <a:avLst/>
          </a:prstGeom>
          <a:noFill/>
          <a:ln w="15875">
            <a:solidFill>
              <a:srgbClr val="1E2A32"/>
            </a:solidFill>
            <a:prstDash val="solid"/>
          </a:ln>
        </p:spPr>
      </p:sp>
      <p:sp>
        <p:nvSpPr>
          <p:cNvPr id="119" name="mbr"/>
          <p:cNvSpPr/>
          <p:nvPr/>
        </p:nvSpPr>
        <p:spPr>
          <a:xfrm>
            <a:off x="5239512" y="1847088"/>
            <a:ext cx="73152" cy="0"/>
          </a:xfrm>
          <a:prstGeom prst="line">
            <a:avLst/>
          </a:prstGeom>
          <a:noFill/>
          <a:ln w="15875">
            <a:solidFill>
              <a:srgbClr val="1E2A32"/>
            </a:solidFill>
            <a:prstDash val="solid"/>
          </a:ln>
        </p:spPr>
      </p:sp>
      <p:sp>
        <p:nvSpPr>
          <p:cNvPr id="120" name="mbr"/>
          <p:cNvSpPr/>
          <p:nvPr/>
        </p:nvSpPr>
        <p:spPr>
          <a:xfrm>
            <a:off x="5239512" y="4974336"/>
            <a:ext cx="73152" cy="0"/>
          </a:xfrm>
          <a:prstGeom prst="line">
            <a:avLst/>
          </a:prstGeom>
          <a:noFill/>
          <a:ln w="15875">
            <a:solidFill>
              <a:srgbClr val="1E2A32"/>
            </a:solidFill>
            <a:prstDash val="solid"/>
          </a:ln>
        </p:spPr>
      </p:sp>
      <p:sp>
        <p:nvSpPr>
          <p:cNvPr id="121" name="mname"/>
          <p:cNvSpPr txBox="1"/>
          <p:nvPr/>
        </p:nvSpPr>
        <p:spPr>
          <a:xfrm>
            <a:off x="4544568" y="5001768"/>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x</a:t>
            </a:r>
            <a:endParaRPr lang="en-US" sz="1300" dirty="0"/>
          </a:p>
        </p:txBody>
      </p:sp>
      <p:sp>
        <p:nvSpPr>
          <p:cNvPr id="122" name="op"/>
          <p:cNvSpPr txBox="1"/>
          <p:nvPr/>
        </p:nvSpPr>
        <p:spPr>
          <a:xfrm>
            <a:off x="5349240" y="3182112"/>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23" name="mrow"/>
          <p:cNvSpPr/>
          <p:nvPr/>
        </p:nvSpPr>
        <p:spPr>
          <a:xfrm>
            <a:off x="5879592" y="1874520"/>
            <a:ext cx="384048" cy="384048"/>
          </a:xfrm>
          <a:prstGeom prst="rect">
            <a:avLst/>
          </a:prstGeom>
          <a:solidFill>
            <a:srgbClr val="DDEFF1"/>
          </a:solidFill>
          <a:ln/>
        </p:spPr>
      </p:sp>
      <p:sp>
        <p:nvSpPr>
          <p:cNvPr id="124" name="mrow"/>
          <p:cNvSpPr/>
          <p:nvPr/>
        </p:nvSpPr>
        <p:spPr>
          <a:xfrm>
            <a:off x="5879592" y="2258568"/>
            <a:ext cx="384048" cy="384048"/>
          </a:xfrm>
          <a:prstGeom prst="rect">
            <a:avLst/>
          </a:prstGeom>
          <a:solidFill>
            <a:srgbClr val="DDEFF1"/>
          </a:solidFill>
          <a:ln/>
        </p:spPr>
      </p:sp>
      <p:sp>
        <p:nvSpPr>
          <p:cNvPr id="125" name="mrow"/>
          <p:cNvSpPr/>
          <p:nvPr/>
        </p:nvSpPr>
        <p:spPr>
          <a:xfrm>
            <a:off x="5879592" y="3794760"/>
            <a:ext cx="384048" cy="384048"/>
          </a:xfrm>
          <a:prstGeom prst="rect">
            <a:avLst/>
          </a:prstGeom>
          <a:solidFill>
            <a:srgbClr val="DDEFF1"/>
          </a:solidFill>
          <a:ln/>
        </p:spPr>
      </p:sp>
      <p:sp>
        <p:nvSpPr>
          <p:cNvPr id="126" name="mcell"/>
          <p:cNvSpPr txBox="1"/>
          <p:nvPr/>
        </p:nvSpPr>
        <p:spPr>
          <a:xfrm>
            <a:off x="5879592" y="187452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27" name="mcell"/>
          <p:cNvSpPr txBox="1"/>
          <p:nvPr/>
        </p:nvSpPr>
        <p:spPr>
          <a:xfrm>
            <a:off x="5879592" y="225856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28" name="mcell"/>
          <p:cNvSpPr txBox="1"/>
          <p:nvPr/>
        </p:nvSpPr>
        <p:spPr>
          <a:xfrm>
            <a:off x="5879592" y="26426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29" name="mcell"/>
          <p:cNvSpPr txBox="1"/>
          <p:nvPr/>
        </p:nvSpPr>
        <p:spPr>
          <a:xfrm>
            <a:off x="5879592" y="30266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0" name="mcell"/>
          <p:cNvSpPr txBox="1"/>
          <p:nvPr/>
        </p:nvSpPr>
        <p:spPr>
          <a:xfrm>
            <a:off x="5879592" y="341071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1" name="mcell"/>
          <p:cNvSpPr txBox="1"/>
          <p:nvPr/>
        </p:nvSpPr>
        <p:spPr>
          <a:xfrm>
            <a:off x="5879592" y="379476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32" name="mcell"/>
          <p:cNvSpPr txBox="1"/>
          <p:nvPr/>
        </p:nvSpPr>
        <p:spPr>
          <a:xfrm>
            <a:off x="5879592" y="417880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3" name="mcell"/>
          <p:cNvSpPr txBox="1"/>
          <p:nvPr/>
        </p:nvSpPr>
        <p:spPr>
          <a:xfrm>
            <a:off x="5879592" y="456285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4" name="msep"/>
          <p:cNvSpPr/>
          <p:nvPr/>
        </p:nvSpPr>
        <p:spPr>
          <a:xfrm>
            <a:off x="5897880" y="3410712"/>
            <a:ext cx="347472" cy="0"/>
          </a:xfrm>
          <a:prstGeom prst="line">
            <a:avLst/>
          </a:prstGeom>
          <a:noFill/>
          <a:ln w="9525">
            <a:solidFill>
              <a:srgbClr val="5B6770"/>
            </a:solidFill>
            <a:prstDash val="dash"/>
          </a:ln>
        </p:spPr>
      </p:sp>
      <p:sp>
        <p:nvSpPr>
          <p:cNvPr id="135" name="mbr"/>
          <p:cNvSpPr/>
          <p:nvPr/>
        </p:nvSpPr>
        <p:spPr>
          <a:xfrm>
            <a:off x="5852160" y="1847088"/>
            <a:ext cx="0" cy="3127248"/>
          </a:xfrm>
          <a:prstGeom prst="line">
            <a:avLst/>
          </a:prstGeom>
          <a:noFill/>
          <a:ln w="15875">
            <a:solidFill>
              <a:srgbClr val="1E2A32"/>
            </a:solidFill>
            <a:prstDash val="solid"/>
          </a:ln>
        </p:spPr>
      </p:sp>
      <p:sp>
        <p:nvSpPr>
          <p:cNvPr id="136" name="mbr"/>
          <p:cNvSpPr/>
          <p:nvPr/>
        </p:nvSpPr>
        <p:spPr>
          <a:xfrm>
            <a:off x="5852160" y="1847088"/>
            <a:ext cx="73152" cy="0"/>
          </a:xfrm>
          <a:prstGeom prst="line">
            <a:avLst/>
          </a:prstGeom>
          <a:noFill/>
          <a:ln w="15875">
            <a:solidFill>
              <a:srgbClr val="1E2A32"/>
            </a:solidFill>
            <a:prstDash val="solid"/>
          </a:ln>
        </p:spPr>
      </p:sp>
      <p:sp>
        <p:nvSpPr>
          <p:cNvPr id="137" name="mbr"/>
          <p:cNvSpPr/>
          <p:nvPr/>
        </p:nvSpPr>
        <p:spPr>
          <a:xfrm>
            <a:off x="5852160" y="4974336"/>
            <a:ext cx="73152" cy="0"/>
          </a:xfrm>
          <a:prstGeom prst="line">
            <a:avLst/>
          </a:prstGeom>
          <a:noFill/>
          <a:ln w="15875">
            <a:solidFill>
              <a:srgbClr val="1E2A32"/>
            </a:solidFill>
            <a:prstDash val="solid"/>
          </a:ln>
        </p:spPr>
      </p:sp>
      <p:sp>
        <p:nvSpPr>
          <p:cNvPr id="138" name="mbr"/>
          <p:cNvSpPr/>
          <p:nvPr/>
        </p:nvSpPr>
        <p:spPr>
          <a:xfrm>
            <a:off x="6291072" y="1847088"/>
            <a:ext cx="0" cy="3127248"/>
          </a:xfrm>
          <a:prstGeom prst="line">
            <a:avLst/>
          </a:prstGeom>
          <a:noFill/>
          <a:ln w="15875">
            <a:solidFill>
              <a:srgbClr val="1E2A32"/>
            </a:solidFill>
            <a:prstDash val="solid"/>
          </a:ln>
        </p:spPr>
      </p:sp>
      <p:sp>
        <p:nvSpPr>
          <p:cNvPr id="139" name="mbr"/>
          <p:cNvSpPr/>
          <p:nvPr/>
        </p:nvSpPr>
        <p:spPr>
          <a:xfrm>
            <a:off x="6217920" y="1847088"/>
            <a:ext cx="73152" cy="0"/>
          </a:xfrm>
          <a:prstGeom prst="line">
            <a:avLst/>
          </a:prstGeom>
          <a:noFill/>
          <a:ln w="15875">
            <a:solidFill>
              <a:srgbClr val="1E2A32"/>
            </a:solidFill>
            <a:prstDash val="solid"/>
          </a:ln>
        </p:spPr>
      </p:sp>
      <p:sp>
        <p:nvSpPr>
          <p:cNvPr id="140" name="mbr"/>
          <p:cNvSpPr/>
          <p:nvPr/>
        </p:nvSpPr>
        <p:spPr>
          <a:xfrm>
            <a:off x="6217920" y="4974336"/>
            <a:ext cx="73152" cy="0"/>
          </a:xfrm>
          <a:prstGeom prst="line">
            <a:avLst/>
          </a:prstGeom>
          <a:noFill/>
          <a:ln w="15875">
            <a:solidFill>
              <a:srgbClr val="1E2A32"/>
            </a:solidFill>
            <a:prstDash val="solid"/>
          </a:ln>
        </p:spPr>
      </p:sp>
      <p:sp>
        <p:nvSpPr>
          <p:cNvPr id="141" name="mname"/>
          <p:cNvSpPr txBox="1"/>
          <p:nvPr/>
        </p:nvSpPr>
        <p:spPr>
          <a:xfrm>
            <a:off x="5522976" y="5001768"/>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y</a:t>
            </a:r>
            <a:endParaRPr lang="en-US" sz="1300" dirty="0"/>
          </a:p>
        </p:txBody>
      </p:sp>
      <p:sp>
        <p:nvSpPr>
          <p:cNvPr id="142" name="panel"/>
          <p:cNvSpPr/>
          <p:nvPr/>
        </p:nvSpPr>
        <p:spPr>
          <a:xfrm>
            <a:off x="7086600" y="1325880"/>
            <a:ext cx="4617720" cy="1965960"/>
          </a:xfrm>
          <a:prstGeom prst="roundRect">
            <a:avLst>
              <a:gd name="adj" fmla="val 3721"/>
            </a:avLst>
          </a:prstGeom>
          <a:solidFill>
            <a:srgbClr val="F3F6F7"/>
          </a:solidFill>
          <a:ln/>
        </p:spPr>
      </p:sp>
      <p:sp>
        <p:nvSpPr>
          <p:cNvPr id="143" name="Text 140"/>
          <p:cNvSpPr txBox="1"/>
          <p:nvPr/>
        </p:nvSpPr>
        <p:spPr>
          <a:xfrm>
            <a:off x="7223760" y="1389888"/>
            <a:ext cx="438912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① Encode hardware location (LSB first)</a:t>
            </a:r>
            <a:endParaRPr lang="en-US" sz="1400" dirty="0"/>
          </a:p>
        </p:txBody>
      </p:sp>
      <p:sp>
        <p:nvSpPr>
          <p:cNvPr id="144" name="Text 141"/>
          <p:cNvSpPr txBox="1"/>
          <p:nvPr/>
        </p:nvSpPr>
        <p:spPr>
          <a:xfrm>
            <a:off x="7223760" y="1719072"/>
            <a:ext cx="4389120" cy="150876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r₁ = 0b01  →  [q₀,q₁] = [1,0]</a:t>
            </a:r>
            <a:endParaRPr lang="en-US" sz="1500" dirty="0"/>
          </a:p>
          <a:p>
            <a:pPr indent="0" marL="0">
              <a:buNone/>
            </a:pPr>
            <a:r>
              <a:rPr lang="en-US" sz="1500" dirty="0">
                <a:solidFill>
                  <a:srgbClr val="1E2A32"/>
                </a:solidFill>
                <a:latin typeface="Calibri" pitchFamily="34" charset="0"/>
                <a:ea typeface="Calibri" pitchFamily="34" charset="-122"/>
                <a:cs typeface="Calibri" pitchFamily="34" charset="-120"/>
              </a:rPr>
              <a:t>t₉ = 0b01001  →  [t₀…t₄] = [1,0,0,1,0]</a:t>
            </a:r>
            <a:endParaRPr lang="en-US" sz="1500" dirty="0"/>
          </a:p>
          <a:p>
            <a:pPr indent="0" marL="0">
              <a:buNone/>
            </a:pPr>
            <a:r>
              <a:rPr lang="en-US" sz="1500" dirty="0">
                <a:solidFill>
                  <a:srgbClr val="1E2A32"/>
                </a:solidFill>
                <a:latin typeface="Calibri" pitchFamily="34" charset="0"/>
                <a:ea typeface="Calibri" pitchFamily="34" charset="-122"/>
                <a:cs typeface="Calibri" pitchFamily="34" charset="-120"/>
              </a:rPr>
              <a:t>w₀ = 0  →  [w] = [0]</a:t>
            </a:r>
            <a:endParaRPr lang="en-US" sz="1500" dirty="0"/>
          </a:p>
          <a:p>
            <a:pPr indent="0" marL="0">
              <a:buNone/>
            </a:pPr>
            <a:r>
              <a:rPr lang="en-US" sz="1500" b="1" dirty="0">
                <a:solidFill>
                  <a:srgbClr val="1E2A32"/>
                </a:solidFill>
                <a:latin typeface="Calibri" pitchFamily="34" charset="0"/>
                <a:ea typeface="Calibri" pitchFamily="34" charset="-122"/>
                <a:cs typeface="Calibri" pitchFamily="34" charset="-120"/>
              </a:rPr>
              <a:t>x = [1,0 | 1,0,0,1,0 | 0]ᵀ</a:t>
            </a:r>
            <a:endParaRPr lang="en-US" sz="1500" dirty="0"/>
          </a:p>
        </p:txBody>
      </p:sp>
      <p:sp>
        <p:nvSpPr>
          <p:cNvPr id="145" name="panel"/>
          <p:cNvSpPr/>
          <p:nvPr/>
        </p:nvSpPr>
        <p:spPr>
          <a:xfrm>
            <a:off x="7086600" y="3429000"/>
            <a:ext cx="4617720" cy="914400"/>
          </a:xfrm>
          <a:prstGeom prst="roundRect">
            <a:avLst>
              <a:gd name="adj" fmla="val 8000"/>
            </a:avLst>
          </a:prstGeom>
          <a:solidFill>
            <a:srgbClr val="FFF0CC"/>
          </a:solidFill>
          <a:ln/>
        </p:spPr>
      </p:sp>
      <p:sp>
        <p:nvSpPr>
          <p:cNvPr id="146" name="Text 143"/>
          <p:cNvSpPr txBox="1"/>
          <p:nvPr/>
        </p:nvSpPr>
        <p:spPr>
          <a:xfrm>
            <a:off x="7223760" y="3474720"/>
            <a:ext cx="4389120" cy="274320"/>
          </a:xfrm>
          <a:prstGeom prst="rect">
            <a:avLst/>
          </a:prstGeom>
          <a:noFill/>
          <a:ln/>
        </p:spPr>
        <p:txBody>
          <a:bodyPr wrap="square" lIns="0" tIns="0" rIns="0" bIns="0" rtlCol="0" anchor="t"/>
          <a:lstStyle/>
          <a:p>
            <a:pPr indent="0" marL="0">
              <a:buNone/>
            </a:pPr>
            <a:r>
              <a:rPr lang="en-US" sz="1400" b="1" dirty="0">
                <a:solidFill>
                  <a:srgbClr val="6B4100"/>
                </a:solidFill>
                <a:latin typeface="Calibri" pitchFamily="34" charset="0"/>
                <a:ea typeface="Calibri" pitchFamily="34" charset="-122"/>
                <a:cs typeface="Calibri" pitchFamily="34" charset="-120"/>
              </a:rPr>
              <a:t>② Multiply = XOR the highlighted columns</a:t>
            </a:r>
            <a:endParaRPr lang="en-US" sz="1400" dirty="0"/>
          </a:p>
        </p:txBody>
      </p:sp>
      <p:sp>
        <p:nvSpPr>
          <p:cNvPr id="147" name="Text 144"/>
          <p:cNvSpPr txBox="1"/>
          <p:nvPr/>
        </p:nvSpPr>
        <p:spPr>
          <a:xfrm>
            <a:off x="7223760" y="3794760"/>
            <a:ext cx="4389120" cy="45720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y = col(q₀) ⊕ col(t₀) ⊕ col(t₃)  →  rows j₀, j₁, i₁ set</a:t>
            </a:r>
            <a:endParaRPr lang="en-US" sz="1500" dirty="0"/>
          </a:p>
        </p:txBody>
      </p:sp>
      <p:sp>
        <p:nvSpPr>
          <p:cNvPr id="148" name="panel"/>
          <p:cNvSpPr/>
          <p:nvPr/>
        </p:nvSpPr>
        <p:spPr>
          <a:xfrm>
            <a:off x="7086600" y="4480560"/>
            <a:ext cx="4617720" cy="1417320"/>
          </a:xfrm>
          <a:prstGeom prst="roundRect">
            <a:avLst>
              <a:gd name="adj" fmla="val 5161"/>
            </a:avLst>
          </a:prstGeom>
          <a:solidFill>
            <a:srgbClr val="DDEFF1"/>
          </a:solidFill>
          <a:ln/>
        </p:spPr>
      </p:sp>
      <p:sp>
        <p:nvSpPr>
          <p:cNvPr id="149" name="Text 146"/>
          <p:cNvSpPr txBox="1"/>
          <p:nvPr/>
        </p:nvSpPr>
        <p:spPr>
          <a:xfrm>
            <a:off x="7223760" y="4526280"/>
            <a:ext cx="4389120" cy="274320"/>
          </a:xfrm>
          <a:prstGeom prst="rect">
            <a:avLst/>
          </a:prstGeom>
          <a:noFill/>
          <a:ln/>
        </p:spPr>
        <p:txBody>
          <a:bodyPr wrap="square" lIns="0" tIns="0" rIns="0" bIns="0" rtlCol="0" anchor="t"/>
          <a:lstStyle/>
          <a:p>
            <a:pPr indent="0" marL="0">
              <a:buNone/>
            </a:pPr>
            <a:r>
              <a:rPr lang="en-US" sz="1400" b="1" dirty="0">
                <a:solidFill>
                  <a:srgbClr val="0A4F58"/>
                </a:solidFill>
                <a:latin typeface="Calibri" pitchFamily="34" charset="0"/>
                <a:ea typeface="Calibri" pitchFamily="34" charset="-122"/>
                <a:cs typeface="Calibri" pitchFamily="34" charset="-120"/>
              </a:rPr>
              <a:t>③ Decode output bits</a:t>
            </a:r>
            <a:endParaRPr lang="en-US" sz="1400" dirty="0"/>
          </a:p>
        </p:txBody>
      </p:sp>
      <p:sp>
        <p:nvSpPr>
          <p:cNvPr id="150" name="Text 147"/>
          <p:cNvSpPr txBox="1"/>
          <p:nvPr/>
        </p:nvSpPr>
        <p:spPr>
          <a:xfrm>
            <a:off x="7223760" y="4828032"/>
            <a:ext cx="4389120" cy="105156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[j₀…j₃] = [1,1,0,0] = 0b0011 → j = 3</a:t>
            </a:r>
            <a:endParaRPr lang="en-US" sz="1500" dirty="0"/>
          </a:p>
          <a:p>
            <a:pPr indent="0" marL="0">
              <a:buNone/>
            </a:pPr>
            <a:r>
              <a:rPr lang="en-US" sz="1500" dirty="0">
                <a:solidFill>
                  <a:srgbClr val="1E2A32"/>
                </a:solidFill>
                <a:latin typeface="Calibri" pitchFamily="34" charset="0"/>
                <a:ea typeface="Calibri" pitchFamily="34" charset="-122"/>
                <a:cs typeface="Calibri" pitchFamily="34" charset="-120"/>
              </a:rPr>
              <a:t>[i₀…i₃] = [0,1,0,0] = 0b0010 → i = 2</a:t>
            </a:r>
            <a:endParaRPr lang="en-US" sz="1500" dirty="0"/>
          </a:p>
          <a:p>
            <a:pPr indent="0" marL="0">
              <a:buNone/>
            </a:pPr>
            <a:r>
              <a:rPr lang="en-US" sz="1500" b="1" dirty="0">
                <a:solidFill>
                  <a:srgbClr val="1E2A32"/>
                </a:solidFill>
                <a:latin typeface="Calibri" pitchFamily="34" charset="0"/>
                <a:ea typeface="Calibri" pitchFamily="34" charset="-122"/>
                <a:cs typeface="Calibri" pitchFamily="34" charset="-120"/>
              </a:rPr>
              <a:t>L(r₁, t₉, w₀) = (i, j) = (2, 3)  ✓ Table 1</a:t>
            </a:r>
            <a:endParaRPr lang="en-US" sz="1500" dirty="0"/>
          </a:p>
        </p:txBody>
      </p:sp>
      <p:sp>
        <p:nvSpPr>
          <p:cNvPr id="151" name="tag"/>
          <p:cNvSpPr txBox="1"/>
          <p:nvPr/>
        </p:nvSpPr>
        <p:spPr>
          <a:xfrm>
            <a:off x="914400" y="5385816"/>
            <a:ext cx="137160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Paper’s example</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§4.1 · COLUMN VIEW</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Columns = hierarchical offsets: loc_reg ⊕ loc_thr ⊕ loc_warp</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§4.1 (register → loc_thread, thread → loc_warp, warp → loc), p. 136</a:t>
            </a:r>
            <a:endParaRPr lang="en-US" sz="1000" dirty="0"/>
          </a:p>
        </p:txBody>
      </p:sp>
      <p:sp>
        <p:nvSpPr>
          <p:cNvPr id="6" name="Text 3"/>
          <p:cNvSpPr txBox="1"/>
          <p:nvPr/>
        </p:nvSpPr>
        <p:spPr>
          <a:xfrm>
            <a:off x="502920" y="1280160"/>
            <a:ext cx="5486400" cy="274320"/>
          </a:xfrm>
          <a:prstGeom prst="rect">
            <a:avLst/>
          </a:prstGeom>
          <a:noFill/>
          <a:ln/>
        </p:spPr>
        <p:txBody>
          <a:bodyPr wrap="square" lIns="0" tIns="0" rIns="0" bIns="0" rtlCol="0" anchor="t"/>
          <a:lstStyle/>
          <a:p>
            <a:pPr indent="0" marL="0">
              <a:buNone/>
            </a:pPr>
            <a:r>
              <a:rPr lang="en-US" sz="1600" b="1" dirty="0">
                <a:solidFill>
                  <a:srgbClr val="0E6E7A"/>
                </a:solidFill>
                <a:latin typeface="Calibri" pitchFamily="34" charset="0"/>
                <a:ea typeface="Calibri" pitchFamily="34" charset="-122"/>
                <a:cs typeface="Calibri" pitchFamily="34" charset="-120"/>
              </a:rPr>
              <a:t>Paper’s example: r₁, t₉, w₀</a:t>
            </a:r>
            <a:endParaRPr lang="en-US" sz="1600" dirty="0"/>
          </a:p>
        </p:txBody>
      </p:sp>
      <p:sp>
        <p:nvSpPr>
          <p:cNvPr id="7" name="mcell"/>
          <p:cNvSpPr txBox="1"/>
          <p:nvPr/>
        </p:nvSpPr>
        <p:spPr>
          <a:xfrm>
            <a:off x="1143000" y="1965960"/>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 name="mcell"/>
          <p:cNvSpPr txBox="1"/>
          <p:nvPr/>
        </p:nvSpPr>
        <p:spPr>
          <a:xfrm>
            <a:off x="1143000" y="229514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 name="mcell"/>
          <p:cNvSpPr txBox="1"/>
          <p:nvPr/>
        </p:nvSpPr>
        <p:spPr>
          <a:xfrm>
            <a:off x="1143000" y="262432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 name="mcell"/>
          <p:cNvSpPr txBox="1"/>
          <p:nvPr/>
        </p:nvSpPr>
        <p:spPr>
          <a:xfrm>
            <a:off x="1143000" y="295351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 name="mcell"/>
          <p:cNvSpPr txBox="1"/>
          <p:nvPr/>
        </p:nvSpPr>
        <p:spPr>
          <a:xfrm>
            <a:off x="1143000" y="328269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 name="mcell"/>
          <p:cNvSpPr txBox="1"/>
          <p:nvPr/>
        </p:nvSpPr>
        <p:spPr>
          <a:xfrm>
            <a:off x="1143000" y="3611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 name="mcell"/>
          <p:cNvSpPr txBox="1"/>
          <p:nvPr/>
        </p:nvSpPr>
        <p:spPr>
          <a:xfrm>
            <a:off x="1143000" y="3941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 name="mcell"/>
          <p:cNvSpPr txBox="1"/>
          <p:nvPr/>
        </p:nvSpPr>
        <p:spPr>
          <a:xfrm>
            <a:off x="1143000" y="4270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 name="msep"/>
          <p:cNvSpPr/>
          <p:nvPr/>
        </p:nvSpPr>
        <p:spPr>
          <a:xfrm>
            <a:off x="1161288" y="3282696"/>
            <a:ext cx="292608" cy="0"/>
          </a:xfrm>
          <a:prstGeom prst="line">
            <a:avLst/>
          </a:prstGeom>
          <a:noFill/>
          <a:ln w="9525">
            <a:solidFill>
              <a:srgbClr val="5B6770"/>
            </a:solidFill>
            <a:prstDash val="dash"/>
          </a:ln>
        </p:spPr>
      </p:sp>
      <p:sp>
        <p:nvSpPr>
          <p:cNvPr id="16" name="mbr"/>
          <p:cNvSpPr/>
          <p:nvPr/>
        </p:nvSpPr>
        <p:spPr>
          <a:xfrm>
            <a:off x="1115568" y="1938528"/>
            <a:ext cx="0" cy="2688336"/>
          </a:xfrm>
          <a:prstGeom prst="line">
            <a:avLst/>
          </a:prstGeom>
          <a:noFill/>
          <a:ln w="15875">
            <a:solidFill>
              <a:srgbClr val="1E2A32"/>
            </a:solidFill>
            <a:prstDash val="solid"/>
          </a:ln>
        </p:spPr>
      </p:sp>
      <p:sp>
        <p:nvSpPr>
          <p:cNvPr id="17" name="mbr"/>
          <p:cNvSpPr/>
          <p:nvPr/>
        </p:nvSpPr>
        <p:spPr>
          <a:xfrm>
            <a:off x="1115568" y="1938528"/>
            <a:ext cx="73152" cy="0"/>
          </a:xfrm>
          <a:prstGeom prst="line">
            <a:avLst/>
          </a:prstGeom>
          <a:noFill/>
          <a:ln w="15875">
            <a:solidFill>
              <a:srgbClr val="1E2A32"/>
            </a:solidFill>
            <a:prstDash val="solid"/>
          </a:ln>
        </p:spPr>
      </p:sp>
      <p:sp>
        <p:nvSpPr>
          <p:cNvPr id="18" name="mbr"/>
          <p:cNvSpPr/>
          <p:nvPr/>
        </p:nvSpPr>
        <p:spPr>
          <a:xfrm>
            <a:off x="1115568" y="4626864"/>
            <a:ext cx="73152" cy="0"/>
          </a:xfrm>
          <a:prstGeom prst="line">
            <a:avLst/>
          </a:prstGeom>
          <a:noFill/>
          <a:ln w="15875">
            <a:solidFill>
              <a:srgbClr val="1E2A32"/>
            </a:solidFill>
            <a:prstDash val="solid"/>
          </a:ln>
        </p:spPr>
      </p:sp>
      <p:sp>
        <p:nvSpPr>
          <p:cNvPr id="19" name="mbr"/>
          <p:cNvSpPr/>
          <p:nvPr/>
        </p:nvSpPr>
        <p:spPr>
          <a:xfrm>
            <a:off x="1499616" y="1938528"/>
            <a:ext cx="0" cy="2688336"/>
          </a:xfrm>
          <a:prstGeom prst="line">
            <a:avLst/>
          </a:prstGeom>
          <a:noFill/>
          <a:ln w="15875">
            <a:solidFill>
              <a:srgbClr val="1E2A32"/>
            </a:solidFill>
            <a:prstDash val="solid"/>
          </a:ln>
        </p:spPr>
      </p:sp>
      <p:sp>
        <p:nvSpPr>
          <p:cNvPr id="20" name="mbr"/>
          <p:cNvSpPr/>
          <p:nvPr/>
        </p:nvSpPr>
        <p:spPr>
          <a:xfrm>
            <a:off x="1426464" y="1938528"/>
            <a:ext cx="73152" cy="0"/>
          </a:xfrm>
          <a:prstGeom prst="line">
            <a:avLst/>
          </a:prstGeom>
          <a:noFill/>
          <a:ln w="15875">
            <a:solidFill>
              <a:srgbClr val="1E2A32"/>
            </a:solidFill>
            <a:prstDash val="solid"/>
          </a:ln>
        </p:spPr>
      </p:sp>
      <p:sp>
        <p:nvSpPr>
          <p:cNvPr id="21" name="mbr"/>
          <p:cNvSpPr/>
          <p:nvPr/>
        </p:nvSpPr>
        <p:spPr>
          <a:xfrm>
            <a:off x="1426464" y="4626864"/>
            <a:ext cx="73152" cy="0"/>
          </a:xfrm>
          <a:prstGeom prst="line">
            <a:avLst/>
          </a:prstGeom>
          <a:noFill/>
          <a:ln w="15875">
            <a:solidFill>
              <a:srgbClr val="1E2A32"/>
            </a:solidFill>
            <a:prstDash val="solid"/>
          </a:ln>
        </p:spPr>
      </p:sp>
      <p:sp>
        <p:nvSpPr>
          <p:cNvPr id="22" name="mlab"/>
          <p:cNvSpPr txBox="1"/>
          <p:nvPr/>
        </p:nvSpPr>
        <p:spPr>
          <a:xfrm>
            <a:off x="740664" y="196596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23" name="mlab"/>
          <p:cNvSpPr txBox="1"/>
          <p:nvPr/>
        </p:nvSpPr>
        <p:spPr>
          <a:xfrm>
            <a:off x="740664" y="229514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24" name="mlab"/>
          <p:cNvSpPr txBox="1"/>
          <p:nvPr/>
        </p:nvSpPr>
        <p:spPr>
          <a:xfrm>
            <a:off x="740664" y="262432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25" name="mlab"/>
          <p:cNvSpPr txBox="1"/>
          <p:nvPr/>
        </p:nvSpPr>
        <p:spPr>
          <a:xfrm>
            <a:off x="740664" y="2953512"/>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26" name="mlab"/>
          <p:cNvSpPr txBox="1"/>
          <p:nvPr/>
        </p:nvSpPr>
        <p:spPr>
          <a:xfrm>
            <a:off x="740664" y="3282696"/>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27" name="mlab"/>
          <p:cNvSpPr txBox="1"/>
          <p:nvPr/>
        </p:nvSpPr>
        <p:spPr>
          <a:xfrm>
            <a:off x="740664" y="361188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28" name="mlab"/>
          <p:cNvSpPr txBox="1"/>
          <p:nvPr/>
        </p:nvSpPr>
        <p:spPr>
          <a:xfrm>
            <a:off x="740664" y="394106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29" name="mlab"/>
          <p:cNvSpPr txBox="1"/>
          <p:nvPr/>
        </p:nvSpPr>
        <p:spPr>
          <a:xfrm>
            <a:off x="740664" y="427024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30" name="mname"/>
          <p:cNvSpPr txBox="1"/>
          <p:nvPr/>
        </p:nvSpPr>
        <p:spPr>
          <a:xfrm>
            <a:off x="758952" y="4654296"/>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loc_r₁</a:t>
            </a:r>
            <a:endParaRPr lang="en-US" sz="1300" dirty="0"/>
          </a:p>
        </p:txBody>
      </p:sp>
      <p:sp>
        <p:nvSpPr>
          <p:cNvPr id="31" name="Text 28"/>
          <p:cNvSpPr txBox="1"/>
          <p:nvPr/>
        </p:nvSpPr>
        <p:spPr>
          <a:xfrm>
            <a:off x="868680" y="4928616"/>
            <a:ext cx="877824" cy="2743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(0, 1)</a:t>
            </a:r>
            <a:endParaRPr lang="en-US" sz="1300" dirty="0"/>
          </a:p>
        </p:txBody>
      </p:sp>
      <p:sp>
        <p:nvSpPr>
          <p:cNvPr id="32" name="op"/>
          <p:cNvSpPr txBox="1"/>
          <p:nvPr/>
        </p:nvSpPr>
        <p:spPr>
          <a:xfrm>
            <a:off x="1545336" y="305409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33" name="mcell"/>
          <p:cNvSpPr txBox="1"/>
          <p:nvPr/>
        </p:nvSpPr>
        <p:spPr>
          <a:xfrm>
            <a:off x="2093976" y="196596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4" name="mcell"/>
          <p:cNvSpPr txBox="1"/>
          <p:nvPr/>
        </p:nvSpPr>
        <p:spPr>
          <a:xfrm>
            <a:off x="2093976" y="2295144"/>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5" name="mcell"/>
          <p:cNvSpPr txBox="1"/>
          <p:nvPr/>
        </p:nvSpPr>
        <p:spPr>
          <a:xfrm>
            <a:off x="2093976" y="262432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6" name="mcell"/>
          <p:cNvSpPr txBox="1"/>
          <p:nvPr/>
        </p:nvSpPr>
        <p:spPr>
          <a:xfrm>
            <a:off x="2093976" y="295351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7" name="mcell"/>
          <p:cNvSpPr txBox="1"/>
          <p:nvPr/>
        </p:nvSpPr>
        <p:spPr>
          <a:xfrm>
            <a:off x="2093976" y="328269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8" name="mcell"/>
          <p:cNvSpPr txBox="1"/>
          <p:nvPr/>
        </p:nvSpPr>
        <p:spPr>
          <a:xfrm>
            <a:off x="2093976" y="3611880"/>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9" name="mcell"/>
          <p:cNvSpPr txBox="1"/>
          <p:nvPr/>
        </p:nvSpPr>
        <p:spPr>
          <a:xfrm>
            <a:off x="2093976" y="3941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0" name="mcell"/>
          <p:cNvSpPr txBox="1"/>
          <p:nvPr/>
        </p:nvSpPr>
        <p:spPr>
          <a:xfrm>
            <a:off x="2093976" y="4270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1" name="msep"/>
          <p:cNvSpPr/>
          <p:nvPr/>
        </p:nvSpPr>
        <p:spPr>
          <a:xfrm>
            <a:off x="2112264" y="3282696"/>
            <a:ext cx="292608" cy="0"/>
          </a:xfrm>
          <a:prstGeom prst="line">
            <a:avLst/>
          </a:prstGeom>
          <a:noFill/>
          <a:ln w="9525">
            <a:solidFill>
              <a:srgbClr val="5B6770"/>
            </a:solidFill>
            <a:prstDash val="dash"/>
          </a:ln>
        </p:spPr>
      </p:sp>
      <p:sp>
        <p:nvSpPr>
          <p:cNvPr id="42" name="mbr"/>
          <p:cNvSpPr/>
          <p:nvPr/>
        </p:nvSpPr>
        <p:spPr>
          <a:xfrm>
            <a:off x="2066544" y="1938528"/>
            <a:ext cx="0" cy="2688336"/>
          </a:xfrm>
          <a:prstGeom prst="line">
            <a:avLst/>
          </a:prstGeom>
          <a:noFill/>
          <a:ln w="15875">
            <a:solidFill>
              <a:srgbClr val="1E2A32"/>
            </a:solidFill>
            <a:prstDash val="solid"/>
          </a:ln>
        </p:spPr>
      </p:sp>
      <p:sp>
        <p:nvSpPr>
          <p:cNvPr id="43" name="mbr"/>
          <p:cNvSpPr/>
          <p:nvPr/>
        </p:nvSpPr>
        <p:spPr>
          <a:xfrm>
            <a:off x="2066544" y="1938528"/>
            <a:ext cx="73152" cy="0"/>
          </a:xfrm>
          <a:prstGeom prst="line">
            <a:avLst/>
          </a:prstGeom>
          <a:noFill/>
          <a:ln w="15875">
            <a:solidFill>
              <a:srgbClr val="1E2A32"/>
            </a:solidFill>
            <a:prstDash val="solid"/>
          </a:ln>
        </p:spPr>
      </p:sp>
      <p:sp>
        <p:nvSpPr>
          <p:cNvPr id="44" name="mbr"/>
          <p:cNvSpPr/>
          <p:nvPr/>
        </p:nvSpPr>
        <p:spPr>
          <a:xfrm>
            <a:off x="2066544" y="4626864"/>
            <a:ext cx="73152" cy="0"/>
          </a:xfrm>
          <a:prstGeom prst="line">
            <a:avLst/>
          </a:prstGeom>
          <a:noFill/>
          <a:ln w="15875">
            <a:solidFill>
              <a:srgbClr val="1E2A32"/>
            </a:solidFill>
            <a:prstDash val="solid"/>
          </a:ln>
        </p:spPr>
      </p:sp>
      <p:sp>
        <p:nvSpPr>
          <p:cNvPr id="45" name="mbr"/>
          <p:cNvSpPr/>
          <p:nvPr/>
        </p:nvSpPr>
        <p:spPr>
          <a:xfrm>
            <a:off x="2450592" y="1938528"/>
            <a:ext cx="0" cy="2688336"/>
          </a:xfrm>
          <a:prstGeom prst="line">
            <a:avLst/>
          </a:prstGeom>
          <a:noFill/>
          <a:ln w="15875">
            <a:solidFill>
              <a:srgbClr val="1E2A32"/>
            </a:solidFill>
            <a:prstDash val="solid"/>
          </a:ln>
        </p:spPr>
      </p:sp>
      <p:sp>
        <p:nvSpPr>
          <p:cNvPr id="46" name="mbr"/>
          <p:cNvSpPr/>
          <p:nvPr/>
        </p:nvSpPr>
        <p:spPr>
          <a:xfrm>
            <a:off x="2377440" y="1938528"/>
            <a:ext cx="73152" cy="0"/>
          </a:xfrm>
          <a:prstGeom prst="line">
            <a:avLst/>
          </a:prstGeom>
          <a:noFill/>
          <a:ln w="15875">
            <a:solidFill>
              <a:srgbClr val="1E2A32"/>
            </a:solidFill>
            <a:prstDash val="solid"/>
          </a:ln>
        </p:spPr>
      </p:sp>
      <p:sp>
        <p:nvSpPr>
          <p:cNvPr id="47" name="mbr"/>
          <p:cNvSpPr/>
          <p:nvPr/>
        </p:nvSpPr>
        <p:spPr>
          <a:xfrm>
            <a:off x="2377440" y="4626864"/>
            <a:ext cx="73152" cy="0"/>
          </a:xfrm>
          <a:prstGeom prst="line">
            <a:avLst/>
          </a:prstGeom>
          <a:noFill/>
          <a:ln w="15875">
            <a:solidFill>
              <a:srgbClr val="1E2A32"/>
            </a:solidFill>
            <a:prstDash val="solid"/>
          </a:ln>
        </p:spPr>
      </p:sp>
      <p:sp>
        <p:nvSpPr>
          <p:cNvPr id="48" name="mname"/>
          <p:cNvSpPr txBox="1"/>
          <p:nvPr/>
        </p:nvSpPr>
        <p:spPr>
          <a:xfrm>
            <a:off x="1709928" y="4654296"/>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loc_t₉</a:t>
            </a:r>
            <a:endParaRPr lang="en-US" sz="1300" dirty="0"/>
          </a:p>
        </p:txBody>
      </p:sp>
      <p:sp>
        <p:nvSpPr>
          <p:cNvPr id="49" name="Text 46"/>
          <p:cNvSpPr txBox="1"/>
          <p:nvPr/>
        </p:nvSpPr>
        <p:spPr>
          <a:xfrm>
            <a:off x="1819656" y="4928616"/>
            <a:ext cx="877824" cy="2743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(2, 2)</a:t>
            </a:r>
            <a:endParaRPr lang="en-US" sz="1300" dirty="0"/>
          </a:p>
        </p:txBody>
      </p:sp>
      <p:sp>
        <p:nvSpPr>
          <p:cNvPr id="50" name="op"/>
          <p:cNvSpPr txBox="1"/>
          <p:nvPr/>
        </p:nvSpPr>
        <p:spPr>
          <a:xfrm>
            <a:off x="2496312" y="305409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51" name="mcell"/>
          <p:cNvSpPr txBox="1"/>
          <p:nvPr/>
        </p:nvSpPr>
        <p:spPr>
          <a:xfrm>
            <a:off x="3044952" y="196596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2" name="mcell"/>
          <p:cNvSpPr txBox="1"/>
          <p:nvPr/>
        </p:nvSpPr>
        <p:spPr>
          <a:xfrm>
            <a:off x="3044952" y="229514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3" name="mcell"/>
          <p:cNvSpPr txBox="1"/>
          <p:nvPr/>
        </p:nvSpPr>
        <p:spPr>
          <a:xfrm>
            <a:off x="3044952" y="262432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4" name="mcell"/>
          <p:cNvSpPr txBox="1"/>
          <p:nvPr/>
        </p:nvSpPr>
        <p:spPr>
          <a:xfrm>
            <a:off x="3044952" y="295351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5" name="mcell"/>
          <p:cNvSpPr txBox="1"/>
          <p:nvPr/>
        </p:nvSpPr>
        <p:spPr>
          <a:xfrm>
            <a:off x="3044952" y="328269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6" name="mcell"/>
          <p:cNvSpPr txBox="1"/>
          <p:nvPr/>
        </p:nvSpPr>
        <p:spPr>
          <a:xfrm>
            <a:off x="3044952" y="3611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7" name="mcell"/>
          <p:cNvSpPr txBox="1"/>
          <p:nvPr/>
        </p:nvSpPr>
        <p:spPr>
          <a:xfrm>
            <a:off x="3044952" y="3941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8" name="mcell"/>
          <p:cNvSpPr txBox="1"/>
          <p:nvPr/>
        </p:nvSpPr>
        <p:spPr>
          <a:xfrm>
            <a:off x="3044952" y="4270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9" name="msep"/>
          <p:cNvSpPr/>
          <p:nvPr/>
        </p:nvSpPr>
        <p:spPr>
          <a:xfrm>
            <a:off x="3063240" y="3282696"/>
            <a:ext cx="292608" cy="0"/>
          </a:xfrm>
          <a:prstGeom prst="line">
            <a:avLst/>
          </a:prstGeom>
          <a:noFill/>
          <a:ln w="9525">
            <a:solidFill>
              <a:srgbClr val="5B6770"/>
            </a:solidFill>
            <a:prstDash val="dash"/>
          </a:ln>
        </p:spPr>
      </p:sp>
      <p:sp>
        <p:nvSpPr>
          <p:cNvPr id="60" name="mbr"/>
          <p:cNvSpPr/>
          <p:nvPr/>
        </p:nvSpPr>
        <p:spPr>
          <a:xfrm>
            <a:off x="3017520" y="1938528"/>
            <a:ext cx="0" cy="2688336"/>
          </a:xfrm>
          <a:prstGeom prst="line">
            <a:avLst/>
          </a:prstGeom>
          <a:noFill/>
          <a:ln w="15875">
            <a:solidFill>
              <a:srgbClr val="1E2A32"/>
            </a:solidFill>
            <a:prstDash val="solid"/>
          </a:ln>
        </p:spPr>
      </p:sp>
      <p:sp>
        <p:nvSpPr>
          <p:cNvPr id="61" name="mbr"/>
          <p:cNvSpPr/>
          <p:nvPr/>
        </p:nvSpPr>
        <p:spPr>
          <a:xfrm>
            <a:off x="3017520" y="1938528"/>
            <a:ext cx="73152" cy="0"/>
          </a:xfrm>
          <a:prstGeom prst="line">
            <a:avLst/>
          </a:prstGeom>
          <a:noFill/>
          <a:ln w="15875">
            <a:solidFill>
              <a:srgbClr val="1E2A32"/>
            </a:solidFill>
            <a:prstDash val="solid"/>
          </a:ln>
        </p:spPr>
      </p:sp>
      <p:sp>
        <p:nvSpPr>
          <p:cNvPr id="62" name="mbr"/>
          <p:cNvSpPr/>
          <p:nvPr/>
        </p:nvSpPr>
        <p:spPr>
          <a:xfrm>
            <a:off x="3017520" y="4626864"/>
            <a:ext cx="73152" cy="0"/>
          </a:xfrm>
          <a:prstGeom prst="line">
            <a:avLst/>
          </a:prstGeom>
          <a:noFill/>
          <a:ln w="15875">
            <a:solidFill>
              <a:srgbClr val="1E2A32"/>
            </a:solidFill>
            <a:prstDash val="solid"/>
          </a:ln>
        </p:spPr>
      </p:sp>
      <p:sp>
        <p:nvSpPr>
          <p:cNvPr id="63" name="mbr"/>
          <p:cNvSpPr/>
          <p:nvPr/>
        </p:nvSpPr>
        <p:spPr>
          <a:xfrm>
            <a:off x="3401568" y="1938528"/>
            <a:ext cx="0" cy="2688336"/>
          </a:xfrm>
          <a:prstGeom prst="line">
            <a:avLst/>
          </a:prstGeom>
          <a:noFill/>
          <a:ln w="15875">
            <a:solidFill>
              <a:srgbClr val="1E2A32"/>
            </a:solidFill>
            <a:prstDash val="solid"/>
          </a:ln>
        </p:spPr>
      </p:sp>
      <p:sp>
        <p:nvSpPr>
          <p:cNvPr id="64" name="mbr"/>
          <p:cNvSpPr/>
          <p:nvPr/>
        </p:nvSpPr>
        <p:spPr>
          <a:xfrm>
            <a:off x="3328416" y="1938528"/>
            <a:ext cx="73152" cy="0"/>
          </a:xfrm>
          <a:prstGeom prst="line">
            <a:avLst/>
          </a:prstGeom>
          <a:noFill/>
          <a:ln w="15875">
            <a:solidFill>
              <a:srgbClr val="1E2A32"/>
            </a:solidFill>
            <a:prstDash val="solid"/>
          </a:ln>
        </p:spPr>
      </p:sp>
      <p:sp>
        <p:nvSpPr>
          <p:cNvPr id="65" name="mbr"/>
          <p:cNvSpPr/>
          <p:nvPr/>
        </p:nvSpPr>
        <p:spPr>
          <a:xfrm>
            <a:off x="3328416" y="4626864"/>
            <a:ext cx="73152" cy="0"/>
          </a:xfrm>
          <a:prstGeom prst="line">
            <a:avLst/>
          </a:prstGeom>
          <a:noFill/>
          <a:ln w="15875">
            <a:solidFill>
              <a:srgbClr val="1E2A32"/>
            </a:solidFill>
            <a:prstDash val="solid"/>
          </a:ln>
        </p:spPr>
      </p:sp>
      <p:sp>
        <p:nvSpPr>
          <p:cNvPr id="66" name="mname"/>
          <p:cNvSpPr txBox="1"/>
          <p:nvPr/>
        </p:nvSpPr>
        <p:spPr>
          <a:xfrm>
            <a:off x="2660904" y="4654296"/>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loc_w₀</a:t>
            </a:r>
            <a:endParaRPr lang="en-US" sz="1300" dirty="0"/>
          </a:p>
        </p:txBody>
      </p:sp>
      <p:sp>
        <p:nvSpPr>
          <p:cNvPr id="67" name="Text 64"/>
          <p:cNvSpPr txBox="1"/>
          <p:nvPr/>
        </p:nvSpPr>
        <p:spPr>
          <a:xfrm>
            <a:off x="2770632" y="4928616"/>
            <a:ext cx="877824" cy="2743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(0, 0)</a:t>
            </a:r>
            <a:endParaRPr lang="en-US" sz="1300" dirty="0"/>
          </a:p>
        </p:txBody>
      </p:sp>
      <p:sp>
        <p:nvSpPr>
          <p:cNvPr id="68" name="op"/>
          <p:cNvSpPr txBox="1"/>
          <p:nvPr/>
        </p:nvSpPr>
        <p:spPr>
          <a:xfrm>
            <a:off x="3447288" y="305409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9" name="mcell"/>
          <p:cNvSpPr txBox="1"/>
          <p:nvPr/>
        </p:nvSpPr>
        <p:spPr>
          <a:xfrm>
            <a:off x="3995928" y="1965960"/>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0" name="mcell"/>
          <p:cNvSpPr txBox="1"/>
          <p:nvPr/>
        </p:nvSpPr>
        <p:spPr>
          <a:xfrm>
            <a:off x="3995928" y="2295144"/>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1" name="mcell"/>
          <p:cNvSpPr txBox="1"/>
          <p:nvPr/>
        </p:nvSpPr>
        <p:spPr>
          <a:xfrm>
            <a:off x="3995928" y="262432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2" name="mcell"/>
          <p:cNvSpPr txBox="1"/>
          <p:nvPr/>
        </p:nvSpPr>
        <p:spPr>
          <a:xfrm>
            <a:off x="3995928" y="295351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3" name="mcell"/>
          <p:cNvSpPr txBox="1"/>
          <p:nvPr/>
        </p:nvSpPr>
        <p:spPr>
          <a:xfrm>
            <a:off x="3995928" y="328269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4" name="mcell"/>
          <p:cNvSpPr txBox="1"/>
          <p:nvPr/>
        </p:nvSpPr>
        <p:spPr>
          <a:xfrm>
            <a:off x="3995928" y="3611880"/>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5" name="mcell"/>
          <p:cNvSpPr txBox="1"/>
          <p:nvPr/>
        </p:nvSpPr>
        <p:spPr>
          <a:xfrm>
            <a:off x="3995928" y="3941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6" name="mcell"/>
          <p:cNvSpPr txBox="1"/>
          <p:nvPr/>
        </p:nvSpPr>
        <p:spPr>
          <a:xfrm>
            <a:off x="3995928" y="4270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7" name="msep"/>
          <p:cNvSpPr/>
          <p:nvPr/>
        </p:nvSpPr>
        <p:spPr>
          <a:xfrm>
            <a:off x="4014216" y="3282696"/>
            <a:ext cx="292608" cy="0"/>
          </a:xfrm>
          <a:prstGeom prst="line">
            <a:avLst/>
          </a:prstGeom>
          <a:noFill/>
          <a:ln w="9525">
            <a:solidFill>
              <a:srgbClr val="5B6770"/>
            </a:solidFill>
            <a:prstDash val="dash"/>
          </a:ln>
        </p:spPr>
      </p:sp>
      <p:sp>
        <p:nvSpPr>
          <p:cNvPr id="78" name="mbr"/>
          <p:cNvSpPr/>
          <p:nvPr/>
        </p:nvSpPr>
        <p:spPr>
          <a:xfrm>
            <a:off x="3968496" y="1938528"/>
            <a:ext cx="0" cy="2688336"/>
          </a:xfrm>
          <a:prstGeom prst="line">
            <a:avLst/>
          </a:prstGeom>
          <a:noFill/>
          <a:ln w="15875">
            <a:solidFill>
              <a:srgbClr val="1E2A32"/>
            </a:solidFill>
            <a:prstDash val="solid"/>
          </a:ln>
        </p:spPr>
      </p:sp>
      <p:sp>
        <p:nvSpPr>
          <p:cNvPr id="79" name="mbr"/>
          <p:cNvSpPr/>
          <p:nvPr/>
        </p:nvSpPr>
        <p:spPr>
          <a:xfrm>
            <a:off x="3968496" y="1938528"/>
            <a:ext cx="73152" cy="0"/>
          </a:xfrm>
          <a:prstGeom prst="line">
            <a:avLst/>
          </a:prstGeom>
          <a:noFill/>
          <a:ln w="15875">
            <a:solidFill>
              <a:srgbClr val="1E2A32"/>
            </a:solidFill>
            <a:prstDash val="solid"/>
          </a:ln>
        </p:spPr>
      </p:sp>
      <p:sp>
        <p:nvSpPr>
          <p:cNvPr id="80" name="mbr"/>
          <p:cNvSpPr/>
          <p:nvPr/>
        </p:nvSpPr>
        <p:spPr>
          <a:xfrm>
            <a:off x="3968496" y="4626864"/>
            <a:ext cx="73152" cy="0"/>
          </a:xfrm>
          <a:prstGeom prst="line">
            <a:avLst/>
          </a:prstGeom>
          <a:noFill/>
          <a:ln w="15875">
            <a:solidFill>
              <a:srgbClr val="1E2A32"/>
            </a:solidFill>
            <a:prstDash val="solid"/>
          </a:ln>
        </p:spPr>
      </p:sp>
      <p:sp>
        <p:nvSpPr>
          <p:cNvPr id="81" name="mbr"/>
          <p:cNvSpPr/>
          <p:nvPr/>
        </p:nvSpPr>
        <p:spPr>
          <a:xfrm>
            <a:off x="4352544" y="1938528"/>
            <a:ext cx="0" cy="2688336"/>
          </a:xfrm>
          <a:prstGeom prst="line">
            <a:avLst/>
          </a:prstGeom>
          <a:noFill/>
          <a:ln w="15875">
            <a:solidFill>
              <a:srgbClr val="1E2A32"/>
            </a:solidFill>
            <a:prstDash val="solid"/>
          </a:ln>
        </p:spPr>
      </p:sp>
      <p:sp>
        <p:nvSpPr>
          <p:cNvPr id="82" name="mbr"/>
          <p:cNvSpPr/>
          <p:nvPr/>
        </p:nvSpPr>
        <p:spPr>
          <a:xfrm>
            <a:off x="4279392" y="1938528"/>
            <a:ext cx="73152" cy="0"/>
          </a:xfrm>
          <a:prstGeom prst="line">
            <a:avLst/>
          </a:prstGeom>
          <a:noFill/>
          <a:ln w="15875">
            <a:solidFill>
              <a:srgbClr val="1E2A32"/>
            </a:solidFill>
            <a:prstDash val="solid"/>
          </a:ln>
        </p:spPr>
      </p:sp>
      <p:sp>
        <p:nvSpPr>
          <p:cNvPr id="83" name="mbr"/>
          <p:cNvSpPr/>
          <p:nvPr/>
        </p:nvSpPr>
        <p:spPr>
          <a:xfrm>
            <a:off x="4279392" y="4626864"/>
            <a:ext cx="73152" cy="0"/>
          </a:xfrm>
          <a:prstGeom prst="line">
            <a:avLst/>
          </a:prstGeom>
          <a:noFill/>
          <a:ln w="15875">
            <a:solidFill>
              <a:srgbClr val="1E2A32"/>
            </a:solidFill>
            <a:prstDash val="solid"/>
          </a:ln>
        </p:spPr>
      </p:sp>
      <p:sp>
        <p:nvSpPr>
          <p:cNvPr id="84" name="mname"/>
          <p:cNvSpPr txBox="1"/>
          <p:nvPr/>
        </p:nvSpPr>
        <p:spPr>
          <a:xfrm>
            <a:off x="3611880" y="4654296"/>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y</a:t>
            </a:r>
            <a:endParaRPr lang="en-US" sz="1300" dirty="0"/>
          </a:p>
        </p:txBody>
      </p:sp>
      <p:sp>
        <p:nvSpPr>
          <p:cNvPr id="85" name="Text 82"/>
          <p:cNvSpPr txBox="1"/>
          <p:nvPr/>
        </p:nvSpPr>
        <p:spPr>
          <a:xfrm>
            <a:off x="3721608" y="4928616"/>
            <a:ext cx="8778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(2, 3)</a:t>
            </a:r>
            <a:endParaRPr lang="en-US" sz="1300" dirty="0"/>
          </a:p>
        </p:txBody>
      </p:sp>
      <p:sp>
        <p:nvSpPr>
          <p:cNvPr id="86" name="Text 83"/>
          <p:cNvSpPr txBox="1"/>
          <p:nvPr/>
        </p:nvSpPr>
        <p:spPr>
          <a:xfrm>
            <a:off x="6309360" y="1280160"/>
            <a:ext cx="5486400" cy="274320"/>
          </a:xfrm>
          <a:prstGeom prst="rect">
            <a:avLst/>
          </a:prstGeom>
          <a:noFill/>
          <a:ln/>
        </p:spPr>
        <p:txBody>
          <a:bodyPr wrap="square" lIns="0" tIns="0" rIns="0" bIns="0" rtlCol="0" anchor="t"/>
          <a:lstStyle/>
          <a:p>
            <a:pPr indent="0" marL="0">
              <a:buNone/>
            </a:pPr>
            <a:r>
              <a:rPr lang="en-US" sz="1600" b="1" dirty="0">
                <a:solidFill>
                  <a:srgbClr val="0E6E7A"/>
                </a:solidFill>
                <a:latin typeface="Calibri" pitchFamily="34" charset="0"/>
                <a:ea typeface="Calibri" pitchFamily="34" charset="-122"/>
                <a:cs typeface="Calibri" pitchFamily="34" charset="-120"/>
              </a:rPr>
              <a:t>Practice: r₃, t₁₄, w₁</a:t>
            </a:r>
            <a:endParaRPr lang="en-US" sz="1600" dirty="0"/>
          </a:p>
        </p:txBody>
      </p:sp>
      <p:sp>
        <p:nvSpPr>
          <p:cNvPr id="87" name="Text 84"/>
          <p:cNvSpPr txBox="1"/>
          <p:nvPr/>
        </p:nvSpPr>
        <p:spPr>
          <a:xfrm>
            <a:off x="6309360" y="1627632"/>
            <a:ext cx="5394960" cy="274320"/>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r₃ = 0b11 → q₀ = q₁ = 1;   t₁₄ = 0b01110 → t₁, t₂, t₃ = 1;   w = 1</a:t>
            </a:r>
            <a:endParaRPr lang="en-US" sz="14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6309360" y="2057400"/>
          <a:ext cx="5394960" cy="914400"/>
        </p:xfrm>
        <a:graphic>
          <a:graphicData uri="http://schemas.openxmlformats.org/drawingml/2006/table">
            <a:tbl>
              <a:tblPr/>
              <a:tblGrid>
                <a:gridCol w="1097280"/>
                <a:gridCol w="2651760"/>
                <a:gridCol w="822960"/>
                <a:gridCol w="822960"/>
              </a:tblGrid>
              <a:tr h="310896">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active bit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column of A (j₀..j₃ | i₀..i₃)</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q₀</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1000 | 0000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q₁</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0000 | 1000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t₁</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0010 | 0000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t₂</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0001 | 0000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t₃</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0000 | 0100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w</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0000 | 0001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10896">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XOR</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1011 | 1101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r>
            </a:tbl>
          </a:graphicData>
        </a:graphic>
      </p:graphicFrame>
      <p:sp>
        <p:nvSpPr>
          <p:cNvPr id="89" name="callout"/>
          <p:cNvSpPr/>
          <p:nvPr/>
        </p:nvSpPr>
        <p:spPr>
          <a:xfrm>
            <a:off x="6309360" y="4709160"/>
            <a:ext cx="5394960" cy="868680"/>
          </a:xfrm>
          <a:prstGeom prst="roundRect">
            <a:avLst>
              <a:gd name="adj" fmla="val 8421"/>
            </a:avLst>
          </a:prstGeom>
          <a:solidFill>
            <a:srgbClr val="DDEFF1"/>
          </a:solidFill>
          <a:ln/>
        </p:spPr>
      </p:sp>
      <p:sp>
        <p:nvSpPr>
          <p:cNvPr id="90" name="callout-text"/>
          <p:cNvSpPr txBox="1"/>
          <p:nvPr/>
        </p:nvSpPr>
        <p:spPr>
          <a:xfrm>
            <a:off x="6446520" y="4764024"/>
            <a:ext cx="5120640" cy="75895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Check with Figure 1: t₁₄ is thread-row 1, thread-col 6 → rows 2–3, cols 12–13; warp 1 adds 8 rows; r₃ = bottom-right → </a:t>
            </a:r>
            <a:r>
              <a:rPr lang="en-US" sz="1400" b="1" dirty="0">
                <a:solidFill>
                  <a:srgbClr val="0A4F58"/>
                </a:solidFill>
                <a:latin typeface="Calibri" pitchFamily="34" charset="0"/>
                <a:ea typeface="Calibri" pitchFamily="34" charset="-122"/>
                <a:cs typeface="Calibri" pitchFamily="34" charset="-120"/>
              </a:rPr>
              <a:t>(11, 13)</a:t>
            </a:r>
            <a:r>
              <a:rPr lang="en-US" sz="1400" dirty="0">
                <a:solidFill>
                  <a:srgbClr val="0A4F58"/>
                </a:solidFill>
                <a:latin typeface="Calibri" pitchFamily="34" charset="0"/>
                <a:ea typeface="Calibri" pitchFamily="34" charset="-122"/>
                <a:cs typeface="Calibri" pitchFamily="34" charset="-120"/>
              </a:rPr>
              <a:t> ✓</a:t>
            </a:r>
            <a:endParaRPr lang="en-US" sz="1400" dirty="0"/>
          </a:p>
        </p:txBody>
      </p:sp>
      <p:sp>
        <p:nvSpPr>
          <p:cNvPr id="91" name="callout"/>
          <p:cNvSpPr/>
          <p:nvPr/>
        </p:nvSpPr>
        <p:spPr>
          <a:xfrm>
            <a:off x="502920" y="5394960"/>
            <a:ext cx="5394960" cy="548640"/>
          </a:xfrm>
          <a:prstGeom prst="roundRect">
            <a:avLst>
              <a:gd name="adj" fmla="val 13333"/>
            </a:avLst>
          </a:prstGeom>
          <a:solidFill>
            <a:srgbClr val="F3F6F7"/>
          </a:solidFill>
          <a:ln/>
        </p:spPr>
      </p:sp>
      <p:sp>
        <p:nvSpPr>
          <p:cNvPr id="92" name="callout-text"/>
          <p:cNvSpPr txBox="1"/>
          <p:nvPr/>
        </p:nvSpPr>
        <p:spPr>
          <a:xfrm>
            <a:off x="640080" y="5449824"/>
            <a:ext cx="5120640" cy="438912"/>
          </a:xfrm>
          <a:prstGeom prst="rect">
            <a:avLst/>
          </a:prstGeom>
          <a:noFill/>
          <a:ln/>
        </p:spPr>
        <p:txBody>
          <a:bodyPr wrap="square" lIns="0" tIns="0" rIns="0" bIns="0" rtlCol="0" anchor="ctr"/>
          <a:lstStyle/>
          <a:p>
            <a:pPr algn="l" indent="0" marL="0">
              <a:buNone/>
            </a:pPr>
            <a:r>
              <a:rPr lang="en-US" sz="1400" dirty="0">
                <a:solidFill>
                  <a:srgbClr val="1E2A32"/>
                </a:solidFill>
                <a:latin typeface="Calibri" pitchFamily="34" charset="0"/>
                <a:ea typeface="Calibri" pitchFamily="34" charset="-122"/>
                <a:cs typeface="Calibri" pitchFamily="34" charset="-120"/>
              </a:rPr>
              <a:t>Bits never overlap here, so XOR = +. The matrix is the hierarchy written in one place.</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DEFINITION 4.2</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Composition: L₂ ∘ L₁ is the matrix product M₂M₁</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4.2, p. 136</a:t>
            </a:r>
            <a:endParaRPr lang="en-US" sz="1000" dirty="0"/>
          </a:p>
        </p:txBody>
      </p:sp>
      <p:sp>
        <p:nvSpPr>
          <p:cNvPr id="6" name="callout"/>
          <p:cNvSpPr/>
          <p:nvPr/>
        </p:nvSpPr>
        <p:spPr>
          <a:xfrm>
            <a:off x="502920" y="1234440"/>
            <a:ext cx="11201400" cy="594360"/>
          </a:xfrm>
          <a:prstGeom prst="roundRect">
            <a:avLst>
              <a:gd name="adj" fmla="val 12308"/>
            </a:avLst>
          </a:prstGeom>
          <a:solidFill>
            <a:srgbClr val="DDEFF1"/>
          </a:solidFill>
          <a:ln/>
        </p:spPr>
      </p:sp>
      <p:sp>
        <p:nvSpPr>
          <p:cNvPr id="7" name="callout-text"/>
          <p:cNvSpPr txBox="1"/>
          <p:nvPr/>
        </p:nvSpPr>
        <p:spPr>
          <a:xfrm>
            <a:off x="640080" y="1289304"/>
            <a:ext cx="10927080" cy="484632"/>
          </a:xfrm>
          <a:prstGeom prst="rect">
            <a:avLst/>
          </a:prstGeom>
          <a:noFill/>
          <a:ln/>
        </p:spPr>
        <p:txBody>
          <a:bodyPr wrap="square" lIns="0" tIns="0" rIns="0" bIns="0" rtlCol="0" anchor="ctr"/>
          <a:lstStyle/>
          <a:p>
            <a:pPr algn="l" indent="0" marL="0">
              <a:buNone/>
            </a:pPr>
            <a:r>
              <a:rPr lang="en-US" sz="1600" b="1" dirty="0">
                <a:solidFill>
                  <a:srgbClr val="0A4F58"/>
                </a:solidFill>
                <a:latin typeface="Calibri" pitchFamily="34" charset="0"/>
                <a:ea typeface="Calibri" pitchFamily="34" charset="-122"/>
                <a:cs typeface="Calibri" pitchFamily="34" charset="-120"/>
              </a:rPr>
              <a:t>Definition 4.2.</a:t>
            </a:r>
            <a:r>
              <a:rPr lang="en-US" sz="1600" dirty="0">
                <a:solidFill>
                  <a:srgbClr val="0A4F58"/>
                </a:solidFill>
                <a:latin typeface="Calibri" pitchFamily="34" charset="0"/>
                <a:ea typeface="Calibri" pitchFamily="34" charset="-122"/>
                <a:cs typeface="Calibri" pitchFamily="34" charset="-120"/>
              </a:rPr>
              <a:t> L₁: U → V, L₂: V → W.  (L₂ ∘ L₁)(u) = L₂(L₁(u)).  Matrix: </a:t>
            </a:r>
            <a:r>
              <a:rPr lang="en-US" sz="1600" b="1" dirty="0">
                <a:solidFill>
                  <a:srgbClr val="0A4F58"/>
                </a:solidFill>
                <a:latin typeface="Calibri" pitchFamily="34" charset="0"/>
                <a:ea typeface="Calibri" pitchFamily="34" charset="-122"/>
                <a:cs typeface="Calibri" pitchFamily="34" charset="-120"/>
              </a:rPr>
              <a:t>M₂ M₁</a:t>
            </a:r>
            <a:r>
              <a:rPr lang="en-US" sz="1600" dirty="0">
                <a:solidFill>
                  <a:srgbClr val="0A4F58"/>
                </a:solidFill>
                <a:latin typeface="Calibri" pitchFamily="34" charset="0"/>
                <a:ea typeface="Calibri" pitchFamily="34" charset="-122"/>
                <a:cs typeface="Calibri" pitchFamily="34" charset="-120"/>
              </a:rPr>
              <a:t> over F₂ (label-wise).</a:t>
            </a:r>
            <a:endParaRPr lang="en-US" sz="1600" dirty="0"/>
          </a:p>
        </p:txBody>
      </p:sp>
      <p:sp>
        <p:nvSpPr>
          <p:cNvPr id="8" name="mrow"/>
          <p:cNvSpPr/>
          <p:nvPr/>
        </p:nvSpPr>
        <p:spPr>
          <a:xfrm>
            <a:off x="1234440" y="2743200"/>
            <a:ext cx="1755648" cy="438912"/>
          </a:xfrm>
          <a:prstGeom prst="rect">
            <a:avLst/>
          </a:prstGeom>
          <a:solidFill>
            <a:srgbClr val="DDEFF1"/>
          </a:solidFill>
          <a:ln/>
        </p:spPr>
      </p:sp>
      <p:sp>
        <p:nvSpPr>
          <p:cNvPr id="9" name="mcell"/>
          <p:cNvSpPr txBox="1"/>
          <p:nvPr/>
        </p:nvSpPr>
        <p:spPr>
          <a:xfrm>
            <a:off x="1234440"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0" name="mcell"/>
          <p:cNvSpPr txBox="1"/>
          <p:nvPr/>
        </p:nvSpPr>
        <p:spPr>
          <a:xfrm>
            <a:off x="1673352"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1" name="mcell"/>
          <p:cNvSpPr txBox="1"/>
          <p:nvPr/>
        </p:nvSpPr>
        <p:spPr>
          <a:xfrm>
            <a:off x="2112264" y="2743200"/>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2" name="mcell"/>
          <p:cNvSpPr txBox="1"/>
          <p:nvPr/>
        </p:nvSpPr>
        <p:spPr>
          <a:xfrm>
            <a:off x="2551176"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3" name="mcell"/>
          <p:cNvSpPr txBox="1"/>
          <p:nvPr/>
        </p:nvSpPr>
        <p:spPr>
          <a:xfrm>
            <a:off x="1234440"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4" name="mcell"/>
          <p:cNvSpPr txBox="1"/>
          <p:nvPr/>
        </p:nvSpPr>
        <p:spPr>
          <a:xfrm>
            <a:off x="1673352"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5" name="mcell"/>
          <p:cNvSpPr txBox="1"/>
          <p:nvPr/>
        </p:nvSpPr>
        <p:spPr>
          <a:xfrm>
            <a:off x="2112264"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6" name="mcell"/>
          <p:cNvSpPr txBox="1"/>
          <p:nvPr/>
        </p:nvSpPr>
        <p:spPr>
          <a:xfrm>
            <a:off x="2551176" y="3182112"/>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7" name="mcell"/>
          <p:cNvSpPr txBox="1"/>
          <p:nvPr/>
        </p:nvSpPr>
        <p:spPr>
          <a:xfrm>
            <a:off x="1234440" y="3621024"/>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8" name="mcell"/>
          <p:cNvSpPr txBox="1"/>
          <p:nvPr/>
        </p:nvSpPr>
        <p:spPr>
          <a:xfrm>
            <a:off x="1673352"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9" name="mcell"/>
          <p:cNvSpPr txBox="1"/>
          <p:nvPr/>
        </p:nvSpPr>
        <p:spPr>
          <a:xfrm>
            <a:off x="2112264"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0" name="mcell"/>
          <p:cNvSpPr txBox="1"/>
          <p:nvPr/>
        </p:nvSpPr>
        <p:spPr>
          <a:xfrm>
            <a:off x="2551176"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1" name="mcell"/>
          <p:cNvSpPr txBox="1"/>
          <p:nvPr/>
        </p:nvSpPr>
        <p:spPr>
          <a:xfrm>
            <a:off x="1234440"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2" name="mcell"/>
          <p:cNvSpPr txBox="1"/>
          <p:nvPr/>
        </p:nvSpPr>
        <p:spPr>
          <a:xfrm>
            <a:off x="1673352" y="4059936"/>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23" name="mcell"/>
          <p:cNvSpPr txBox="1"/>
          <p:nvPr/>
        </p:nvSpPr>
        <p:spPr>
          <a:xfrm>
            <a:off x="2112264"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4" name="mcell"/>
          <p:cNvSpPr txBox="1"/>
          <p:nvPr/>
        </p:nvSpPr>
        <p:spPr>
          <a:xfrm>
            <a:off x="2551176"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5" name="msep"/>
          <p:cNvSpPr/>
          <p:nvPr/>
        </p:nvSpPr>
        <p:spPr>
          <a:xfrm>
            <a:off x="2112264" y="2761488"/>
            <a:ext cx="0" cy="1719072"/>
          </a:xfrm>
          <a:prstGeom prst="line">
            <a:avLst/>
          </a:prstGeom>
          <a:noFill/>
          <a:ln w="9525">
            <a:solidFill>
              <a:srgbClr val="5B6770"/>
            </a:solidFill>
            <a:prstDash val="dash"/>
          </a:ln>
        </p:spPr>
      </p:sp>
      <p:sp>
        <p:nvSpPr>
          <p:cNvPr id="26" name="msep"/>
          <p:cNvSpPr/>
          <p:nvPr/>
        </p:nvSpPr>
        <p:spPr>
          <a:xfrm>
            <a:off x="1252728" y="3621024"/>
            <a:ext cx="1719072" cy="0"/>
          </a:xfrm>
          <a:prstGeom prst="line">
            <a:avLst/>
          </a:prstGeom>
          <a:noFill/>
          <a:ln w="9525">
            <a:solidFill>
              <a:srgbClr val="5B6770"/>
            </a:solidFill>
            <a:prstDash val="dash"/>
          </a:ln>
        </p:spPr>
      </p:sp>
      <p:sp>
        <p:nvSpPr>
          <p:cNvPr id="27" name="mbr"/>
          <p:cNvSpPr/>
          <p:nvPr/>
        </p:nvSpPr>
        <p:spPr>
          <a:xfrm>
            <a:off x="1207008" y="2715768"/>
            <a:ext cx="0" cy="1810512"/>
          </a:xfrm>
          <a:prstGeom prst="line">
            <a:avLst/>
          </a:prstGeom>
          <a:noFill/>
          <a:ln w="15875">
            <a:solidFill>
              <a:srgbClr val="1E2A32"/>
            </a:solidFill>
            <a:prstDash val="solid"/>
          </a:ln>
        </p:spPr>
      </p:sp>
      <p:sp>
        <p:nvSpPr>
          <p:cNvPr id="28" name="mbr"/>
          <p:cNvSpPr/>
          <p:nvPr/>
        </p:nvSpPr>
        <p:spPr>
          <a:xfrm>
            <a:off x="1207008" y="2715768"/>
            <a:ext cx="73152" cy="0"/>
          </a:xfrm>
          <a:prstGeom prst="line">
            <a:avLst/>
          </a:prstGeom>
          <a:noFill/>
          <a:ln w="15875">
            <a:solidFill>
              <a:srgbClr val="1E2A32"/>
            </a:solidFill>
            <a:prstDash val="solid"/>
          </a:ln>
        </p:spPr>
      </p:sp>
      <p:sp>
        <p:nvSpPr>
          <p:cNvPr id="29" name="mbr"/>
          <p:cNvSpPr/>
          <p:nvPr/>
        </p:nvSpPr>
        <p:spPr>
          <a:xfrm>
            <a:off x="1207008" y="4526280"/>
            <a:ext cx="73152" cy="0"/>
          </a:xfrm>
          <a:prstGeom prst="line">
            <a:avLst/>
          </a:prstGeom>
          <a:noFill/>
          <a:ln w="15875">
            <a:solidFill>
              <a:srgbClr val="1E2A32"/>
            </a:solidFill>
            <a:prstDash val="solid"/>
          </a:ln>
        </p:spPr>
      </p:sp>
      <p:sp>
        <p:nvSpPr>
          <p:cNvPr id="30" name="mbr"/>
          <p:cNvSpPr/>
          <p:nvPr/>
        </p:nvSpPr>
        <p:spPr>
          <a:xfrm>
            <a:off x="3017520" y="2715768"/>
            <a:ext cx="0" cy="1810512"/>
          </a:xfrm>
          <a:prstGeom prst="line">
            <a:avLst/>
          </a:prstGeom>
          <a:noFill/>
          <a:ln w="15875">
            <a:solidFill>
              <a:srgbClr val="1E2A32"/>
            </a:solidFill>
            <a:prstDash val="solid"/>
          </a:ln>
        </p:spPr>
      </p:sp>
      <p:sp>
        <p:nvSpPr>
          <p:cNvPr id="31" name="mbr"/>
          <p:cNvSpPr/>
          <p:nvPr/>
        </p:nvSpPr>
        <p:spPr>
          <a:xfrm>
            <a:off x="2944368" y="2715768"/>
            <a:ext cx="73152" cy="0"/>
          </a:xfrm>
          <a:prstGeom prst="line">
            <a:avLst/>
          </a:prstGeom>
          <a:noFill/>
          <a:ln w="15875">
            <a:solidFill>
              <a:srgbClr val="1E2A32"/>
            </a:solidFill>
            <a:prstDash val="solid"/>
          </a:ln>
        </p:spPr>
      </p:sp>
      <p:sp>
        <p:nvSpPr>
          <p:cNvPr id="32" name="mbr"/>
          <p:cNvSpPr/>
          <p:nvPr/>
        </p:nvSpPr>
        <p:spPr>
          <a:xfrm>
            <a:off x="2944368" y="4526280"/>
            <a:ext cx="73152" cy="0"/>
          </a:xfrm>
          <a:prstGeom prst="line">
            <a:avLst/>
          </a:prstGeom>
          <a:noFill/>
          <a:ln w="15875">
            <a:solidFill>
              <a:srgbClr val="1E2A32"/>
            </a:solidFill>
            <a:prstDash val="solid"/>
          </a:ln>
        </p:spPr>
      </p:sp>
      <p:sp>
        <p:nvSpPr>
          <p:cNvPr id="33" name="mlab"/>
          <p:cNvSpPr txBox="1"/>
          <p:nvPr/>
        </p:nvSpPr>
        <p:spPr>
          <a:xfrm>
            <a:off x="1188720"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34" name="mlab"/>
          <p:cNvSpPr txBox="1"/>
          <p:nvPr/>
        </p:nvSpPr>
        <p:spPr>
          <a:xfrm>
            <a:off x="1627632"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35" name="mlab"/>
          <p:cNvSpPr txBox="1"/>
          <p:nvPr/>
        </p:nvSpPr>
        <p:spPr>
          <a:xfrm>
            <a:off x="2066544"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i₀</a:t>
            </a:r>
            <a:endParaRPr lang="en-US" sz="1400" dirty="0"/>
          </a:p>
        </p:txBody>
      </p:sp>
      <p:sp>
        <p:nvSpPr>
          <p:cNvPr id="36" name="mlab"/>
          <p:cNvSpPr txBox="1"/>
          <p:nvPr/>
        </p:nvSpPr>
        <p:spPr>
          <a:xfrm>
            <a:off x="2505456"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i₁</a:t>
            </a:r>
            <a:endParaRPr lang="en-US" sz="1400" dirty="0"/>
          </a:p>
        </p:txBody>
      </p:sp>
      <p:sp>
        <p:nvSpPr>
          <p:cNvPr id="37" name="mlab"/>
          <p:cNvSpPr txBox="1"/>
          <p:nvPr/>
        </p:nvSpPr>
        <p:spPr>
          <a:xfrm>
            <a:off x="832104" y="2743200"/>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38" name="mlab"/>
          <p:cNvSpPr txBox="1"/>
          <p:nvPr/>
        </p:nvSpPr>
        <p:spPr>
          <a:xfrm>
            <a:off x="832104" y="3182112"/>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39" name="mlab"/>
          <p:cNvSpPr txBox="1"/>
          <p:nvPr/>
        </p:nvSpPr>
        <p:spPr>
          <a:xfrm>
            <a:off x="832104" y="3621024"/>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i₀′</a:t>
            </a:r>
            <a:endParaRPr lang="en-US" sz="1400" dirty="0"/>
          </a:p>
        </p:txBody>
      </p:sp>
      <p:sp>
        <p:nvSpPr>
          <p:cNvPr id="40" name="mlab"/>
          <p:cNvSpPr txBox="1"/>
          <p:nvPr/>
        </p:nvSpPr>
        <p:spPr>
          <a:xfrm>
            <a:off x="832104" y="4059936"/>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i₁′</a:t>
            </a:r>
            <a:endParaRPr lang="en-US" sz="1400" dirty="0"/>
          </a:p>
        </p:txBody>
      </p:sp>
      <p:sp>
        <p:nvSpPr>
          <p:cNvPr id="41" name="mname"/>
          <p:cNvSpPr txBox="1"/>
          <p:nvPr/>
        </p:nvSpPr>
        <p:spPr>
          <a:xfrm>
            <a:off x="960120" y="4553712"/>
            <a:ext cx="230428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M₂ = P (transpose i↔j)</a:t>
            </a:r>
            <a:endParaRPr lang="en-US" sz="1300" dirty="0"/>
          </a:p>
        </p:txBody>
      </p:sp>
      <p:sp>
        <p:nvSpPr>
          <p:cNvPr id="42" name="op"/>
          <p:cNvSpPr txBox="1"/>
          <p:nvPr/>
        </p:nvSpPr>
        <p:spPr>
          <a:xfrm>
            <a:off x="3081528" y="3392424"/>
            <a:ext cx="457200" cy="457200"/>
          </a:xfrm>
          <a:prstGeom prst="rect">
            <a:avLst/>
          </a:prstGeom>
          <a:noFill/>
          <a:ln/>
        </p:spPr>
        <p:txBody>
          <a:bodyPr wrap="square" lIns="0" tIns="0" rIns="0" bIns="0" rtlCol="0" anchor="ctr"/>
          <a:lstStyle/>
          <a:p>
            <a:pPr algn="ctr" indent="0" marL="0">
              <a:buNone/>
            </a:pPr>
            <a:r>
              <a:rPr lang="en-US" sz="3000" dirty="0">
                <a:solidFill>
                  <a:srgbClr val="5B6770"/>
                </a:solidFill>
                <a:latin typeface="Calibri" pitchFamily="34" charset="0"/>
                <a:ea typeface="Calibri" pitchFamily="34" charset="-122"/>
                <a:cs typeface="Calibri" pitchFamily="34" charset="-120"/>
              </a:rPr>
              <a:t>·</a:t>
            </a:r>
            <a:endParaRPr lang="en-US" sz="3000" dirty="0"/>
          </a:p>
        </p:txBody>
      </p:sp>
      <p:sp>
        <p:nvSpPr>
          <p:cNvPr id="43" name="mcol"/>
          <p:cNvSpPr/>
          <p:nvPr/>
        </p:nvSpPr>
        <p:spPr>
          <a:xfrm>
            <a:off x="4480560" y="2743200"/>
            <a:ext cx="438912" cy="1755648"/>
          </a:xfrm>
          <a:prstGeom prst="rect">
            <a:avLst/>
          </a:prstGeom>
          <a:solidFill>
            <a:srgbClr val="FFF0CC"/>
          </a:solidFill>
          <a:ln/>
        </p:spPr>
      </p:sp>
      <p:sp>
        <p:nvSpPr>
          <p:cNvPr id="44" name="mcell"/>
          <p:cNvSpPr txBox="1"/>
          <p:nvPr/>
        </p:nvSpPr>
        <p:spPr>
          <a:xfrm>
            <a:off x="4041648" y="2743200"/>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45" name="mcell"/>
          <p:cNvSpPr txBox="1"/>
          <p:nvPr/>
        </p:nvSpPr>
        <p:spPr>
          <a:xfrm>
            <a:off x="4480560"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46" name="mcell"/>
          <p:cNvSpPr txBox="1"/>
          <p:nvPr/>
        </p:nvSpPr>
        <p:spPr>
          <a:xfrm>
            <a:off x="4919472"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47" name="mcell"/>
          <p:cNvSpPr txBox="1"/>
          <p:nvPr/>
        </p:nvSpPr>
        <p:spPr>
          <a:xfrm>
            <a:off x="5358384"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48" name="mcell"/>
          <p:cNvSpPr txBox="1"/>
          <p:nvPr/>
        </p:nvSpPr>
        <p:spPr>
          <a:xfrm>
            <a:off x="4041648"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49" name="mcell"/>
          <p:cNvSpPr txBox="1"/>
          <p:nvPr/>
        </p:nvSpPr>
        <p:spPr>
          <a:xfrm>
            <a:off x="4480560"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0" name="mcell"/>
          <p:cNvSpPr txBox="1"/>
          <p:nvPr/>
        </p:nvSpPr>
        <p:spPr>
          <a:xfrm>
            <a:off x="4919472" y="3182112"/>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51" name="mcell"/>
          <p:cNvSpPr txBox="1"/>
          <p:nvPr/>
        </p:nvSpPr>
        <p:spPr>
          <a:xfrm>
            <a:off x="5358384"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2" name="mcell"/>
          <p:cNvSpPr txBox="1"/>
          <p:nvPr/>
        </p:nvSpPr>
        <p:spPr>
          <a:xfrm>
            <a:off x="4041648"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3" name="mcell"/>
          <p:cNvSpPr txBox="1"/>
          <p:nvPr/>
        </p:nvSpPr>
        <p:spPr>
          <a:xfrm>
            <a:off x="4480560" y="3621024"/>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54" name="mcell"/>
          <p:cNvSpPr txBox="1"/>
          <p:nvPr/>
        </p:nvSpPr>
        <p:spPr>
          <a:xfrm>
            <a:off x="4919472"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5" name="mcell"/>
          <p:cNvSpPr txBox="1"/>
          <p:nvPr/>
        </p:nvSpPr>
        <p:spPr>
          <a:xfrm>
            <a:off x="5358384"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6" name="mcell"/>
          <p:cNvSpPr txBox="1"/>
          <p:nvPr/>
        </p:nvSpPr>
        <p:spPr>
          <a:xfrm>
            <a:off x="4041648"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7" name="mcell"/>
          <p:cNvSpPr txBox="1"/>
          <p:nvPr/>
        </p:nvSpPr>
        <p:spPr>
          <a:xfrm>
            <a:off x="4480560"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8" name="mcell"/>
          <p:cNvSpPr txBox="1"/>
          <p:nvPr/>
        </p:nvSpPr>
        <p:spPr>
          <a:xfrm>
            <a:off x="4919472"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9" name="mcell"/>
          <p:cNvSpPr txBox="1"/>
          <p:nvPr/>
        </p:nvSpPr>
        <p:spPr>
          <a:xfrm>
            <a:off x="5358384" y="4059936"/>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60" name="msep"/>
          <p:cNvSpPr/>
          <p:nvPr/>
        </p:nvSpPr>
        <p:spPr>
          <a:xfrm>
            <a:off x="4919472" y="2761488"/>
            <a:ext cx="0" cy="1719072"/>
          </a:xfrm>
          <a:prstGeom prst="line">
            <a:avLst/>
          </a:prstGeom>
          <a:noFill/>
          <a:ln w="9525">
            <a:solidFill>
              <a:srgbClr val="5B6770"/>
            </a:solidFill>
            <a:prstDash val="dash"/>
          </a:ln>
        </p:spPr>
      </p:sp>
      <p:sp>
        <p:nvSpPr>
          <p:cNvPr id="61" name="msep"/>
          <p:cNvSpPr/>
          <p:nvPr/>
        </p:nvSpPr>
        <p:spPr>
          <a:xfrm>
            <a:off x="4059936" y="3621024"/>
            <a:ext cx="1719072" cy="0"/>
          </a:xfrm>
          <a:prstGeom prst="line">
            <a:avLst/>
          </a:prstGeom>
          <a:noFill/>
          <a:ln w="9525">
            <a:solidFill>
              <a:srgbClr val="5B6770"/>
            </a:solidFill>
            <a:prstDash val="dash"/>
          </a:ln>
        </p:spPr>
      </p:sp>
      <p:sp>
        <p:nvSpPr>
          <p:cNvPr id="62" name="mbr"/>
          <p:cNvSpPr/>
          <p:nvPr/>
        </p:nvSpPr>
        <p:spPr>
          <a:xfrm>
            <a:off x="4014216" y="2715768"/>
            <a:ext cx="0" cy="1810512"/>
          </a:xfrm>
          <a:prstGeom prst="line">
            <a:avLst/>
          </a:prstGeom>
          <a:noFill/>
          <a:ln w="15875">
            <a:solidFill>
              <a:srgbClr val="1E2A32"/>
            </a:solidFill>
            <a:prstDash val="solid"/>
          </a:ln>
        </p:spPr>
      </p:sp>
      <p:sp>
        <p:nvSpPr>
          <p:cNvPr id="63" name="mbr"/>
          <p:cNvSpPr/>
          <p:nvPr/>
        </p:nvSpPr>
        <p:spPr>
          <a:xfrm>
            <a:off x="4014216" y="2715768"/>
            <a:ext cx="73152" cy="0"/>
          </a:xfrm>
          <a:prstGeom prst="line">
            <a:avLst/>
          </a:prstGeom>
          <a:noFill/>
          <a:ln w="15875">
            <a:solidFill>
              <a:srgbClr val="1E2A32"/>
            </a:solidFill>
            <a:prstDash val="solid"/>
          </a:ln>
        </p:spPr>
      </p:sp>
      <p:sp>
        <p:nvSpPr>
          <p:cNvPr id="64" name="mbr"/>
          <p:cNvSpPr/>
          <p:nvPr/>
        </p:nvSpPr>
        <p:spPr>
          <a:xfrm>
            <a:off x="4014216" y="4526280"/>
            <a:ext cx="73152" cy="0"/>
          </a:xfrm>
          <a:prstGeom prst="line">
            <a:avLst/>
          </a:prstGeom>
          <a:noFill/>
          <a:ln w="15875">
            <a:solidFill>
              <a:srgbClr val="1E2A32"/>
            </a:solidFill>
            <a:prstDash val="solid"/>
          </a:ln>
        </p:spPr>
      </p:sp>
      <p:sp>
        <p:nvSpPr>
          <p:cNvPr id="65" name="mbr"/>
          <p:cNvSpPr/>
          <p:nvPr/>
        </p:nvSpPr>
        <p:spPr>
          <a:xfrm>
            <a:off x="5824728" y="2715768"/>
            <a:ext cx="0" cy="1810512"/>
          </a:xfrm>
          <a:prstGeom prst="line">
            <a:avLst/>
          </a:prstGeom>
          <a:noFill/>
          <a:ln w="15875">
            <a:solidFill>
              <a:srgbClr val="1E2A32"/>
            </a:solidFill>
            <a:prstDash val="solid"/>
          </a:ln>
        </p:spPr>
      </p:sp>
      <p:sp>
        <p:nvSpPr>
          <p:cNvPr id="66" name="mbr"/>
          <p:cNvSpPr/>
          <p:nvPr/>
        </p:nvSpPr>
        <p:spPr>
          <a:xfrm>
            <a:off x="5751576" y="2715768"/>
            <a:ext cx="73152" cy="0"/>
          </a:xfrm>
          <a:prstGeom prst="line">
            <a:avLst/>
          </a:prstGeom>
          <a:noFill/>
          <a:ln w="15875">
            <a:solidFill>
              <a:srgbClr val="1E2A32"/>
            </a:solidFill>
            <a:prstDash val="solid"/>
          </a:ln>
        </p:spPr>
      </p:sp>
      <p:sp>
        <p:nvSpPr>
          <p:cNvPr id="67" name="mbr"/>
          <p:cNvSpPr/>
          <p:nvPr/>
        </p:nvSpPr>
        <p:spPr>
          <a:xfrm>
            <a:off x="5751576" y="4526280"/>
            <a:ext cx="73152" cy="0"/>
          </a:xfrm>
          <a:prstGeom prst="line">
            <a:avLst/>
          </a:prstGeom>
          <a:noFill/>
          <a:ln w="15875">
            <a:solidFill>
              <a:srgbClr val="1E2A32"/>
            </a:solidFill>
            <a:prstDash val="solid"/>
          </a:ln>
        </p:spPr>
      </p:sp>
      <p:sp>
        <p:nvSpPr>
          <p:cNvPr id="68" name="mlab"/>
          <p:cNvSpPr txBox="1"/>
          <p:nvPr/>
        </p:nvSpPr>
        <p:spPr>
          <a:xfrm>
            <a:off x="3995928"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r₀</a:t>
            </a:r>
            <a:endParaRPr lang="en-US" sz="1400" dirty="0"/>
          </a:p>
        </p:txBody>
      </p:sp>
      <p:sp>
        <p:nvSpPr>
          <p:cNvPr id="69" name="mlab"/>
          <p:cNvSpPr txBox="1"/>
          <p:nvPr/>
        </p:nvSpPr>
        <p:spPr>
          <a:xfrm>
            <a:off x="4434840"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r₁</a:t>
            </a:r>
            <a:endParaRPr lang="en-US" sz="1400" dirty="0"/>
          </a:p>
        </p:txBody>
      </p:sp>
      <p:sp>
        <p:nvSpPr>
          <p:cNvPr id="70" name="mlab"/>
          <p:cNvSpPr txBox="1"/>
          <p:nvPr/>
        </p:nvSpPr>
        <p:spPr>
          <a:xfrm>
            <a:off x="4873752"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71" name="mlab"/>
          <p:cNvSpPr txBox="1"/>
          <p:nvPr/>
        </p:nvSpPr>
        <p:spPr>
          <a:xfrm>
            <a:off x="5312664"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72" name="mgrp"/>
          <p:cNvSpPr txBox="1"/>
          <p:nvPr/>
        </p:nvSpPr>
        <p:spPr>
          <a:xfrm>
            <a:off x="4041648" y="226771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73" name="mgrp"/>
          <p:cNvSpPr txBox="1"/>
          <p:nvPr/>
        </p:nvSpPr>
        <p:spPr>
          <a:xfrm>
            <a:off x="4919472" y="226771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74" name="mlab"/>
          <p:cNvSpPr txBox="1"/>
          <p:nvPr/>
        </p:nvSpPr>
        <p:spPr>
          <a:xfrm>
            <a:off x="3639312" y="2743200"/>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75" name="mlab"/>
          <p:cNvSpPr txBox="1"/>
          <p:nvPr/>
        </p:nvSpPr>
        <p:spPr>
          <a:xfrm>
            <a:off x="3639312" y="3182112"/>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76" name="mlab"/>
          <p:cNvSpPr txBox="1"/>
          <p:nvPr/>
        </p:nvSpPr>
        <p:spPr>
          <a:xfrm>
            <a:off x="3639312" y="3621024"/>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i₀</a:t>
            </a:r>
            <a:endParaRPr lang="en-US" sz="1400" dirty="0"/>
          </a:p>
        </p:txBody>
      </p:sp>
      <p:sp>
        <p:nvSpPr>
          <p:cNvPr id="77" name="mlab"/>
          <p:cNvSpPr txBox="1"/>
          <p:nvPr/>
        </p:nvSpPr>
        <p:spPr>
          <a:xfrm>
            <a:off x="3639312" y="4059936"/>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i₁</a:t>
            </a:r>
            <a:endParaRPr lang="en-US" sz="1400" dirty="0"/>
          </a:p>
        </p:txBody>
      </p:sp>
      <p:sp>
        <p:nvSpPr>
          <p:cNvPr id="78" name="mname"/>
          <p:cNvSpPr txBox="1"/>
          <p:nvPr/>
        </p:nvSpPr>
        <p:spPr>
          <a:xfrm>
            <a:off x="3767328" y="4553712"/>
            <a:ext cx="230428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M₁ = L₁</a:t>
            </a:r>
            <a:endParaRPr lang="en-US" sz="1300" dirty="0"/>
          </a:p>
        </p:txBody>
      </p:sp>
      <p:sp>
        <p:nvSpPr>
          <p:cNvPr id="79" name="op"/>
          <p:cNvSpPr txBox="1"/>
          <p:nvPr/>
        </p:nvSpPr>
        <p:spPr>
          <a:xfrm>
            <a:off x="5888736" y="3392424"/>
            <a:ext cx="457200" cy="457200"/>
          </a:xfrm>
          <a:prstGeom prst="rect">
            <a:avLst/>
          </a:prstGeom>
          <a:noFill/>
          <a:ln/>
        </p:spPr>
        <p:txBody>
          <a:bodyPr wrap="square" lIns="0" tIns="0" rIns="0" bIns="0" rtlCol="0" anchor="ctr"/>
          <a:lstStyle/>
          <a:p>
            <a:pPr algn="ctr" indent="0" marL="0">
              <a:buNone/>
            </a:pPr>
            <a:r>
              <a:rPr lang="en-US" sz="2600" dirty="0">
                <a:solidFill>
                  <a:srgbClr val="5B6770"/>
                </a:solidFill>
                <a:latin typeface="Calibri" pitchFamily="34" charset="0"/>
                <a:ea typeface="Calibri" pitchFamily="34" charset="-122"/>
                <a:cs typeface="Calibri" pitchFamily="34" charset="-120"/>
              </a:rPr>
              <a:t>=</a:t>
            </a:r>
            <a:endParaRPr lang="en-US" sz="2600" dirty="0"/>
          </a:p>
        </p:txBody>
      </p:sp>
      <p:sp>
        <p:nvSpPr>
          <p:cNvPr id="80" name="mcell"/>
          <p:cNvSpPr txBox="1"/>
          <p:nvPr/>
        </p:nvSpPr>
        <p:spPr>
          <a:xfrm>
            <a:off x="6848856"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1" name="mcell"/>
          <p:cNvSpPr txBox="1"/>
          <p:nvPr/>
        </p:nvSpPr>
        <p:spPr>
          <a:xfrm>
            <a:off x="7287768" y="2743200"/>
            <a:ext cx="438912" cy="438912"/>
          </a:xfrm>
          <a:prstGeom prst="rect">
            <a:avLst/>
          </a:prstGeom>
          <a:solidFill>
            <a:srgbClr val="FFF0CC"/>
          </a:solid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82" name="mcell"/>
          <p:cNvSpPr txBox="1"/>
          <p:nvPr/>
        </p:nvSpPr>
        <p:spPr>
          <a:xfrm>
            <a:off x="7726680"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3" name="mcell"/>
          <p:cNvSpPr txBox="1"/>
          <p:nvPr/>
        </p:nvSpPr>
        <p:spPr>
          <a:xfrm>
            <a:off x="8165592" y="274320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4" name="mcell"/>
          <p:cNvSpPr txBox="1"/>
          <p:nvPr/>
        </p:nvSpPr>
        <p:spPr>
          <a:xfrm>
            <a:off x="6848856"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5" name="mcell"/>
          <p:cNvSpPr txBox="1"/>
          <p:nvPr/>
        </p:nvSpPr>
        <p:spPr>
          <a:xfrm>
            <a:off x="7287768"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6" name="mcell"/>
          <p:cNvSpPr txBox="1"/>
          <p:nvPr/>
        </p:nvSpPr>
        <p:spPr>
          <a:xfrm>
            <a:off x="7726680" y="318211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7" name="mcell"/>
          <p:cNvSpPr txBox="1"/>
          <p:nvPr/>
        </p:nvSpPr>
        <p:spPr>
          <a:xfrm>
            <a:off x="8165592" y="3182112"/>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88" name="mcell"/>
          <p:cNvSpPr txBox="1"/>
          <p:nvPr/>
        </p:nvSpPr>
        <p:spPr>
          <a:xfrm>
            <a:off x="6848856" y="3621024"/>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89" name="mcell"/>
          <p:cNvSpPr txBox="1"/>
          <p:nvPr/>
        </p:nvSpPr>
        <p:spPr>
          <a:xfrm>
            <a:off x="7287768"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90" name="mcell"/>
          <p:cNvSpPr txBox="1"/>
          <p:nvPr/>
        </p:nvSpPr>
        <p:spPr>
          <a:xfrm>
            <a:off x="7726680"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91" name="mcell"/>
          <p:cNvSpPr txBox="1"/>
          <p:nvPr/>
        </p:nvSpPr>
        <p:spPr>
          <a:xfrm>
            <a:off x="8165592" y="3621024"/>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92" name="mcell"/>
          <p:cNvSpPr txBox="1"/>
          <p:nvPr/>
        </p:nvSpPr>
        <p:spPr>
          <a:xfrm>
            <a:off x="6848856"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93" name="mcell"/>
          <p:cNvSpPr txBox="1"/>
          <p:nvPr/>
        </p:nvSpPr>
        <p:spPr>
          <a:xfrm>
            <a:off x="7287768"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94" name="mcell"/>
          <p:cNvSpPr txBox="1"/>
          <p:nvPr/>
        </p:nvSpPr>
        <p:spPr>
          <a:xfrm>
            <a:off x="7726680" y="4059936"/>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95" name="mcell"/>
          <p:cNvSpPr txBox="1"/>
          <p:nvPr/>
        </p:nvSpPr>
        <p:spPr>
          <a:xfrm>
            <a:off x="8165592" y="4059936"/>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96" name="msep"/>
          <p:cNvSpPr/>
          <p:nvPr/>
        </p:nvSpPr>
        <p:spPr>
          <a:xfrm>
            <a:off x="7726680" y="2761488"/>
            <a:ext cx="0" cy="1719072"/>
          </a:xfrm>
          <a:prstGeom prst="line">
            <a:avLst/>
          </a:prstGeom>
          <a:noFill/>
          <a:ln w="9525">
            <a:solidFill>
              <a:srgbClr val="5B6770"/>
            </a:solidFill>
            <a:prstDash val="dash"/>
          </a:ln>
        </p:spPr>
      </p:sp>
      <p:sp>
        <p:nvSpPr>
          <p:cNvPr id="97" name="msep"/>
          <p:cNvSpPr/>
          <p:nvPr/>
        </p:nvSpPr>
        <p:spPr>
          <a:xfrm>
            <a:off x="6867144" y="3621024"/>
            <a:ext cx="1719072" cy="0"/>
          </a:xfrm>
          <a:prstGeom prst="line">
            <a:avLst/>
          </a:prstGeom>
          <a:noFill/>
          <a:ln w="9525">
            <a:solidFill>
              <a:srgbClr val="5B6770"/>
            </a:solidFill>
            <a:prstDash val="dash"/>
          </a:ln>
        </p:spPr>
      </p:sp>
      <p:sp>
        <p:nvSpPr>
          <p:cNvPr id="98" name="mbr"/>
          <p:cNvSpPr/>
          <p:nvPr/>
        </p:nvSpPr>
        <p:spPr>
          <a:xfrm>
            <a:off x="6821424" y="2715768"/>
            <a:ext cx="0" cy="1810512"/>
          </a:xfrm>
          <a:prstGeom prst="line">
            <a:avLst/>
          </a:prstGeom>
          <a:noFill/>
          <a:ln w="15875">
            <a:solidFill>
              <a:srgbClr val="1E2A32"/>
            </a:solidFill>
            <a:prstDash val="solid"/>
          </a:ln>
        </p:spPr>
      </p:sp>
      <p:sp>
        <p:nvSpPr>
          <p:cNvPr id="99" name="mbr"/>
          <p:cNvSpPr/>
          <p:nvPr/>
        </p:nvSpPr>
        <p:spPr>
          <a:xfrm>
            <a:off x="6821424" y="2715768"/>
            <a:ext cx="73152" cy="0"/>
          </a:xfrm>
          <a:prstGeom prst="line">
            <a:avLst/>
          </a:prstGeom>
          <a:noFill/>
          <a:ln w="15875">
            <a:solidFill>
              <a:srgbClr val="1E2A32"/>
            </a:solidFill>
            <a:prstDash val="solid"/>
          </a:ln>
        </p:spPr>
      </p:sp>
      <p:sp>
        <p:nvSpPr>
          <p:cNvPr id="100" name="mbr"/>
          <p:cNvSpPr/>
          <p:nvPr/>
        </p:nvSpPr>
        <p:spPr>
          <a:xfrm>
            <a:off x="6821424" y="4526280"/>
            <a:ext cx="73152" cy="0"/>
          </a:xfrm>
          <a:prstGeom prst="line">
            <a:avLst/>
          </a:prstGeom>
          <a:noFill/>
          <a:ln w="15875">
            <a:solidFill>
              <a:srgbClr val="1E2A32"/>
            </a:solidFill>
            <a:prstDash val="solid"/>
          </a:ln>
        </p:spPr>
      </p:sp>
      <p:sp>
        <p:nvSpPr>
          <p:cNvPr id="101" name="mbr"/>
          <p:cNvSpPr/>
          <p:nvPr/>
        </p:nvSpPr>
        <p:spPr>
          <a:xfrm>
            <a:off x="8631936" y="2715768"/>
            <a:ext cx="0" cy="1810512"/>
          </a:xfrm>
          <a:prstGeom prst="line">
            <a:avLst/>
          </a:prstGeom>
          <a:noFill/>
          <a:ln w="15875">
            <a:solidFill>
              <a:srgbClr val="1E2A32"/>
            </a:solidFill>
            <a:prstDash val="solid"/>
          </a:ln>
        </p:spPr>
      </p:sp>
      <p:sp>
        <p:nvSpPr>
          <p:cNvPr id="102" name="mbr"/>
          <p:cNvSpPr/>
          <p:nvPr/>
        </p:nvSpPr>
        <p:spPr>
          <a:xfrm>
            <a:off x="8558784" y="2715768"/>
            <a:ext cx="73152" cy="0"/>
          </a:xfrm>
          <a:prstGeom prst="line">
            <a:avLst/>
          </a:prstGeom>
          <a:noFill/>
          <a:ln w="15875">
            <a:solidFill>
              <a:srgbClr val="1E2A32"/>
            </a:solidFill>
            <a:prstDash val="solid"/>
          </a:ln>
        </p:spPr>
      </p:sp>
      <p:sp>
        <p:nvSpPr>
          <p:cNvPr id="103" name="mbr"/>
          <p:cNvSpPr/>
          <p:nvPr/>
        </p:nvSpPr>
        <p:spPr>
          <a:xfrm>
            <a:off x="8558784" y="4526280"/>
            <a:ext cx="73152" cy="0"/>
          </a:xfrm>
          <a:prstGeom prst="line">
            <a:avLst/>
          </a:prstGeom>
          <a:noFill/>
          <a:ln w="15875">
            <a:solidFill>
              <a:srgbClr val="1E2A32"/>
            </a:solidFill>
            <a:prstDash val="solid"/>
          </a:ln>
        </p:spPr>
      </p:sp>
      <p:sp>
        <p:nvSpPr>
          <p:cNvPr id="104" name="mlab"/>
          <p:cNvSpPr txBox="1"/>
          <p:nvPr/>
        </p:nvSpPr>
        <p:spPr>
          <a:xfrm>
            <a:off x="6803136"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r₀</a:t>
            </a:r>
            <a:endParaRPr lang="en-US" sz="1400" dirty="0"/>
          </a:p>
        </p:txBody>
      </p:sp>
      <p:sp>
        <p:nvSpPr>
          <p:cNvPr id="105" name="mlab"/>
          <p:cNvSpPr txBox="1"/>
          <p:nvPr/>
        </p:nvSpPr>
        <p:spPr>
          <a:xfrm>
            <a:off x="7242048"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r₁</a:t>
            </a:r>
            <a:endParaRPr lang="en-US" sz="1400" dirty="0"/>
          </a:p>
        </p:txBody>
      </p:sp>
      <p:sp>
        <p:nvSpPr>
          <p:cNvPr id="106" name="mlab"/>
          <p:cNvSpPr txBox="1"/>
          <p:nvPr/>
        </p:nvSpPr>
        <p:spPr>
          <a:xfrm>
            <a:off x="7680960"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107" name="mlab"/>
          <p:cNvSpPr txBox="1"/>
          <p:nvPr/>
        </p:nvSpPr>
        <p:spPr>
          <a:xfrm>
            <a:off x="8119872" y="250545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108" name="mgrp"/>
          <p:cNvSpPr txBox="1"/>
          <p:nvPr/>
        </p:nvSpPr>
        <p:spPr>
          <a:xfrm>
            <a:off x="6848856" y="226771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109" name="mgrp"/>
          <p:cNvSpPr txBox="1"/>
          <p:nvPr/>
        </p:nvSpPr>
        <p:spPr>
          <a:xfrm>
            <a:off x="7726680" y="226771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110" name="mlab"/>
          <p:cNvSpPr txBox="1"/>
          <p:nvPr/>
        </p:nvSpPr>
        <p:spPr>
          <a:xfrm>
            <a:off x="6446520" y="2743200"/>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111" name="mlab"/>
          <p:cNvSpPr txBox="1"/>
          <p:nvPr/>
        </p:nvSpPr>
        <p:spPr>
          <a:xfrm>
            <a:off x="6446520" y="3182112"/>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112" name="mlab"/>
          <p:cNvSpPr txBox="1"/>
          <p:nvPr/>
        </p:nvSpPr>
        <p:spPr>
          <a:xfrm>
            <a:off x="6446520" y="3621024"/>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i₀′</a:t>
            </a:r>
            <a:endParaRPr lang="en-US" sz="1400" dirty="0"/>
          </a:p>
        </p:txBody>
      </p:sp>
      <p:sp>
        <p:nvSpPr>
          <p:cNvPr id="113" name="mlab"/>
          <p:cNvSpPr txBox="1"/>
          <p:nvPr/>
        </p:nvSpPr>
        <p:spPr>
          <a:xfrm>
            <a:off x="6446520" y="4059936"/>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i₁′</a:t>
            </a:r>
            <a:endParaRPr lang="en-US" sz="1400" dirty="0"/>
          </a:p>
        </p:txBody>
      </p:sp>
      <p:sp>
        <p:nvSpPr>
          <p:cNvPr id="114" name="mname"/>
          <p:cNvSpPr txBox="1"/>
          <p:nvPr/>
        </p:nvSpPr>
        <p:spPr>
          <a:xfrm>
            <a:off x="6574536" y="4553712"/>
            <a:ext cx="230428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M₂M₁</a:t>
            </a:r>
            <a:endParaRPr lang="en-US" sz="1300" dirty="0"/>
          </a:p>
        </p:txBody>
      </p:sp>
      <p:sp>
        <p:nvSpPr>
          <p:cNvPr id="115" name="Text 112"/>
          <p:cNvSpPr txBox="1"/>
          <p:nvPr/>
        </p:nvSpPr>
        <p:spPr>
          <a:xfrm>
            <a:off x="685800" y="4983480"/>
            <a:ext cx="6766560" cy="320040"/>
          </a:xfrm>
          <a:prstGeom prst="rect">
            <a:avLst/>
          </a:prstGeom>
          <a:noFill/>
          <a:ln/>
        </p:spPr>
        <p:txBody>
          <a:bodyPr wrap="square" lIns="0" tIns="0" rIns="0" bIns="0" rtlCol="0" anchor="t"/>
          <a:lstStyle/>
          <a:p>
            <a:pPr indent="0" marL="0">
              <a:buNone/>
            </a:pPr>
            <a:r>
              <a:rPr lang="en-US" sz="1400" dirty="0">
                <a:solidFill>
                  <a:srgbClr val="6B4100"/>
                </a:solidFill>
                <a:latin typeface="Calibri" pitchFamily="34" charset="0"/>
                <a:ea typeface="Calibri" pitchFamily="34" charset="-122"/>
                <a:cs typeface="Calibri" pitchFamily="34" charset="-120"/>
              </a:rPr>
              <a:t>Entry (j₀′, r₁) = row j₀′ of P · col r₁ of L₁ = [0,0,1,0]·[0,0,1,0] = 1</a:t>
            </a:r>
            <a:endParaRPr lang="en-US" sz="1400" dirty="0"/>
          </a:p>
        </p:txBody>
      </p:sp>
      <p:sp>
        <p:nvSpPr>
          <p:cNvPr id="116" name="gcell"/>
          <p:cNvSpPr txBox="1"/>
          <p:nvPr/>
        </p:nvSpPr>
        <p:spPr>
          <a:xfrm>
            <a:off x="9646920" y="2468880"/>
            <a:ext cx="502920" cy="384048"/>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t0r0</a:t>
            </a:r>
            <a:endParaRPr lang="en-US" sz="1100" dirty="0"/>
          </a:p>
        </p:txBody>
      </p:sp>
      <p:sp>
        <p:nvSpPr>
          <p:cNvPr id="117" name="gcell"/>
          <p:cNvSpPr txBox="1"/>
          <p:nvPr/>
        </p:nvSpPr>
        <p:spPr>
          <a:xfrm>
            <a:off x="10149840" y="2468880"/>
            <a:ext cx="502920" cy="384048"/>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t0r1</a:t>
            </a:r>
            <a:endParaRPr lang="en-US" sz="1100" dirty="0"/>
          </a:p>
        </p:txBody>
      </p:sp>
      <p:sp>
        <p:nvSpPr>
          <p:cNvPr id="118" name="gcell"/>
          <p:cNvSpPr txBox="1"/>
          <p:nvPr/>
        </p:nvSpPr>
        <p:spPr>
          <a:xfrm>
            <a:off x="10652760" y="2468880"/>
            <a:ext cx="502920" cy="384048"/>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t1r0</a:t>
            </a:r>
            <a:endParaRPr lang="en-US" sz="1100" dirty="0"/>
          </a:p>
        </p:txBody>
      </p:sp>
      <p:sp>
        <p:nvSpPr>
          <p:cNvPr id="119" name="gcell"/>
          <p:cNvSpPr txBox="1"/>
          <p:nvPr/>
        </p:nvSpPr>
        <p:spPr>
          <a:xfrm>
            <a:off x="11155680" y="2468880"/>
            <a:ext cx="502920" cy="384048"/>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t1r1</a:t>
            </a:r>
            <a:endParaRPr lang="en-US" sz="1100" dirty="0"/>
          </a:p>
        </p:txBody>
      </p:sp>
      <p:sp>
        <p:nvSpPr>
          <p:cNvPr id="120" name="gcell"/>
          <p:cNvSpPr txBox="1"/>
          <p:nvPr/>
        </p:nvSpPr>
        <p:spPr>
          <a:xfrm>
            <a:off x="9646920" y="2852928"/>
            <a:ext cx="502920" cy="384048"/>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t0r2</a:t>
            </a:r>
            <a:endParaRPr lang="en-US" sz="1100" dirty="0"/>
          </a:p>
        </p:txBody>
      </p:sp>
      <p:sp>
        <p:nvSpPr>
          <p:cNvPr id="121" name="gcell"/>
          <p:cNvSpPr txBox="1"/>
          <p:nvPr/>
        </p:nvSpPr>
        <p:spPr>
          <a:xfrm>
            <a:off x="10149840" y="2852928"/>
            <a:ext cx="502920" cy="384048"/>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t0r3</a:t>
            </a:r>
            <a:endParaRPr lang="en-US" sz="1100" dirty="0"/>
          </a:p>
        </p:txBody>
      </p:sp>
      <p:sp>
        <p:nvSpPr>
          <p:cNvPr id="122" name="gcell"/>
          <p:cNvSpPr txBox="1"/>
          <p:nvPr/>
        </p:nvSpPr>
        <p:spPr>
          <a:xfrm>
            <a:off x="10652760" y="2852928"/>
            <a:ext cx="502920" cy="384048"/>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t1r2</a:t>
            </a:r>
            <a:endParaRPr lang="en-US" sz="1100" dirty="0"/>
          </a:p>
        </p:txBody>
      </p:sp>
      <p:sp>
        <p:nvSpPr>
          <p:cNvPr id="123" name="gcell"/>
          <p:cNvSpPr txBox="1"/>
          <p:nvPr/>
        </p:nvSpPr>
        <p:spPr>
          <a:xfrm>
            <a:off x="11155680" y="2852928"/>
            <a:ext cx="502920" cy="384048"/>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t1r3</a:t>
            </a:r>
            <a:endParaRPr lang="en-US" sz="1100" dirty="0"/>
          </a:p>
        </p:txBody>
      </p:sp>
      <p:sp>
        <p:nvSpPr>
          <p:cNvPr id="124" name="gcell"/>
          <p:cNvSpPr txBox="1"/>
          <p:nvPr/>
        </p:nvSpPr>
        <p:spPr>
          <a:xfrm>
            <a:off x="9646920" y="3236976"/>
            <a:ext cx="502920" cy="384048"/>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t2r0</a:t>
            </a:r>
            <a:endParaRPr lang="en-US" sz="1100" dirty="0"/>
          </a:p>
        </p:txBody>
      </p:sp>
      <p:sp>
        <p:nvSpPr>
          <p:cNvPr id="125" name="gcell"/>
          <p:cNvSpPr txBox="1"/>
          <p:nvPr/>
        </p:nvSpPr>
        <p:spPr>
          <a:xfrm>
            <a:off x="10149840" y="3236976"/>
            <a:ext cx="502920" cy="384048"/>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t2r1</a:t>
            </a:r>
            <a:endParaRPr lang="en-US" sz="1100" dirty="0"/>
          </a:p>
        </p:txBody>
      </p:sp>
      <p:sp>
        <p:nvSpPr>
          <p:cNvPr id="126" name="gcell"/>
          <p:cNvSpPr txBox="1"/>
          <p:nvPr/>
        </p:nvSpPr>
        <p:spPr>
          <a:xfrm>
            <a:off x="10652760" y="3236976"/>
            <a:ext cx="502920" cy="384048"/>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t3r0</a:t>
            </a:r>
            <a:endParaRPr lang="en-US" sz="1100" dirty="0"/>
          </a:p>
        </p:txBody>
      </p:sp>
      <p:sp>
        <p:nvSpPr>
          <p:cNvPr id="127" name="gcell"/>
          <p:cNvSpPr txBox="1"/>
          <p:nvPr/>
        </p:nvSpPr>
        <p:spPr>
          <a:xfrm>
            <a:off x="11155680" y="3236976"/>
            <a:ext cx="502920" cy="384048"/>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t3r1</a:t>
            </a:r>
            <a:endParaRPr lang="en-US" sz="1100" dirty="0"/>
          </a:p>
        </p:txBody>
      </p:sp>
      <p:sp>
        <p:nvSpPr>
          <p:cNvPr id="128" name="gcell"/>
          <p:cNvSpPr txBox="1"/>
          <p:nvPr/>
        </p:nvSpPr>
        <p:spPr>
          <a:xfrm>
            <a:off x="9646920" y="3621024"/>
            <a:ext cx="502920" cy="384048"/>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t2r2</a:t>
            </a:r>
            <a:endParaRPr lang="en-US" sz="1100" dirty="0"/>
          </a:p>
        </p:txBody>
      </p:sp>
      <p:sp>
        <p:nvSpPr>
          <p:cNvPr id="129" name="gcell"/>
          <p:cNvSpPr txBox="1"/>
          <p:nvPr/>
        </p:nvSpPr>
        <p:spPr>
          <a:xfrm>
            <a:off x="10149840" y="3621024"/>
            <a:ext cx="502920" cy="384048"/>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t2r3</a:t>
            </a:r>
            <a:endParaRPr lang="en-US" sz="1100" dirty="0"/>
          </a:p>
        </p:txBody>
      </p:sp>
      <p:sp>
        <p:nvSpPr>
          <p:cNvPr id="130" name="gcell"/>
          <p:cNvSpPr txBox="1"/>
          <p:nvPr/>
        </p:nvSpPr>
        <p:spPr>
          <a:xfrm>
            <a:off x="10652760" y="3621024"/>
            <a:ext cx="502920" cy="384048"/>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t3r2</a:t>
            </a:r>
            <a:endParaRPr lang="en-US" sz="1100" dirty="0"/>
          </a:p>
        </p:txBody>
      </p:sp>
      <p:sp>
        <p:nvSpPr>
          <p:cNvPr id="131" name="gcell"/>
          <p:cNvSpPr txBox="1"/>
          <p:nvPr/>
        </p:nvSpPr>
        <p:spPr>
          <a:xfrm>
            <a:off x="11155680" y="3621024"/>
            <a:ext cx="502920" cy="384048"/>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100" dirty="0">
                <a:solidFill>
                  <a:srgbClr val="1E2A32"/>
                </a:solidFill>
                <a:latin typeface="Calibri" pitchFamily="34" charset="0"/>
                <a:ea typeface="Calibri" pitchFamily="34" charset="-122"/>
                <a:cs typeface="Calibri" pitchFamily="34" charset="-120"/>
              </a:rPr>
              <a:t>t3r3</a:t>
            </a:r>
            <a:endParaRPr lang="en-US" sz="1100" dirty="0"/>
          </a:p>
        </p:txBody>
      </p:sp>
      <p:sp>
        <p:nvSpPr>
          <p:cNvPr id="132" name="glab"/>
          <p:cNvSpPr txBox="1"/>
          <p:nvPr/>
        </p:nvSpPr>
        <p:spPr>
          <a:xfrm>
            <a:off x="9601200" y="2231136"/>
            <a:ext cx="5943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j=0</a:t>
            </a:r>
            <a:endParaRPr lang="en-US" sz="1000" dirty="0"/>
          </a:p>
        </p:txBody>
      </p:sp>
      <p:sp>
        <p:nvSpPr>
          <p:cNvPr id="133" name="glab"/>
          <p:cNvSpPr txBox="1"/>
          <p:nvPr/>
        </p:nvSpPr>
        <p:spPr>
          <a:xfrm>
            <a:off x="10104120" y="2231136"/>
            <a:ext cx="5943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1</a:t>
            </a:r>
            <a:endParaRPr lang="en-US" sz="1000" dirty="0"/>
          </a:p>
        </p:txBody>
      </p:sp>
      <p:sp>
        <p:nvSpPr>
          <p:cNvPr id="134" name="glab"/>
          <p:cNvSpPr txBox="1"/>
          <p:nvPr/>
        </p:nvSpPr>
        <p:spPr>
          <a:xfrm>
            <a:off x="10607040" y="2231136"/>
            <a:ext cx="5943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2</a:t>
            </a:r>
            <a:endParaRPr lang="en-US" sz="1000" dirty="0"/>
          </a:p>
        </p:txBody>
      </p:sp>
      <p:sp>
        <p:nvSpPr>
          <p:cNvPr id="135" name="glab"/>
          <p:cNvSpPr txBox="1"/>
          <p:nvPr/>
        </p:nvSpPr>
        <p:spPr>
          <a:xfrm>
            <a:off x="11109960" y="2231136"/>
            <a:ext cx="5943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3</a:t>
            </a:r>
            <a:endParaRPr lang="en-US" sz="1000" dirty="0"/>
          </a:p>
        </p:txBody>
      </p:sp>
      <p:sp>
        <p:nvSpPr>
          <p:cNvPr id="136" name="glab"/>
          <p:cNvSpPr txBox="1"/>
          <p:nvPr/>
        </p:nvSpPr>
        <p:spPr>
          <a:xfrm>
            <a:off x="9189720" y="2468880"/>
            <a:ext cx="411480" cy="38404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i=0</a:t>
            </a:r>
            <a:endParaRPr lang="en-US" sz="1000" dirty="0"/>
          </a:p>
        </p:txBody>
      </p:sp>
      <p:sp>
        <p:nvSpPr>
          <p:cNvPr id="137" name="glab"/>
          <p:cNvSpPr txBox="1"/>
          <p:nvPr/>
        </p:nvSpPr>
        <p:spPr>
          <a:xfrm>
            <a:off x="9189720" y="2852928"/>
            <a:ext cx="411480" cy="38404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a:t>
            </a:r>
            <a:endParaRPr lang="en-US" sz="1000" dirty="0"/>
          </a:p>
        </p:txBody>
      </p:sp>
      <p:sp>
        <p:nvSpPr>
          <p:cNvPr id="138" name="glab"/>
          <p:cNvSpPr txBox="1"/>
          <p:nvPr/>
        </p:nvSpPr>
        <p:spPr>
          <a:xfrm>
            <a:off x="9189720" y="3236976"/>
            <a:ext cx="411480" cy="38404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2</a:t>
            </a:r>
            <a:endParaRPr lang="en-US" sz="1000" dirty="0"/>
          </a:p>
        </p:txBody>
      </p:sp>
      <p:sp>
        <p:nvSpPr>
          <p:cNvPr id="139" name="glab"/>
          <p:cNvSpPr txBox="1"/>
          <p:nvPr/>
        </p:nvSpPr>
        <p:spPr>
          <a:xfrm>
            <a:off x="9189720" y="3621024"/>
            <a:ext cx="411480" cy="38404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3</a:t>
            </a:r>
            <a:endParaRPr lang="en-US" sz="1000" dirty="0"/>
          </a:p>
        </p:txBody>
      </p:sp>
      <p:sp>
        <p:nvSpPr>
          <p:cNvPr id="140" name="gtitle"/>
          <p:cNvSpPr txBox="1"/>
          <p:nvPr/>
        </p:nvSpPr>
        <p:spPr>
          <a:xfrm>
            <a:off x="9464040" y="1956816"/>
            <a:ext cx="2377440" cy="256032"/>
          </a:xfrm>
          <a:prstGeom prst="rect">
            <a:avLst/>
          </a:prstGeom>
          <a:noFill/>
          <a:ln/>
        </p:spPr>
        <p:txBody>
          <a:bodyPr wrap="square" lIns="0" tIns="0" rIns="0" bIns="0" rtlCol="0" anchor="b"/>
          <a:lstStyle/>
          <a:p>
            <a:pPr algn="ctr" indent="0" marL="0">
              <a:buNone/>
            </a:pPr>
            <a:r>
              <a:rPr lang="en-US" sz="1200" b="1" dirty="0">
                <a:solidFill>
                  <a:srgbClr val="1E2A32"/>
                </a:solidFill>
                <a:latin typeface="Calibri" pitchFamily="34" charset="0"/>
                <a:ea typeface="Calibri" pitchFamily="34" charset="-122"/>
                <a:cs typeface="Calibri" pitchFamily="34" charset="-120"/>
              </a:rPr>
              <a:t>L₁: who owns (i, j)</a:t>
            </a:r>
            <a:endParaRPr lang="en-US" sz="1200" dirty="0"/>
          </a:p>
        </p:txBody>
      </p:sp>
      <p:sp>
        <p:nvSpPr>
          <p:cNvPr id="141" name="callout"/>
          <p:cNvSpPr/>
          <p:nvPr/>
        </p:nvSpPr>
        <p:spPr>
          <a:xfrm>
            <a:off x="7589520" y="4846320"/>
            <a:ext cx="4114800" cy="914400"/>
          </a:xfrm>
          <a:prstGeom prst="roundRect">
            <a:avLst>
              <a:gd name="adj" fmla="val 8000"/>
            </a:avLst>
          </a:prstGeom>
          <a:solidFill>
            <a:srgbClr val="DDEFF1"/>
          </a:solidFill>
          <a:ln/>
        </p:spPr>
      </p:sp>
      <p:sp>
        <p:nvSpPr>
          <p:cNvPr id="142" name="callout-text"/>
          <p:cNvSpPr txBox="1"/>
          <p:nvPr/>
        </p:nvSpPr>
        <p:spPr>
          <a:xfrm>
            <a:off x="7726680" y="4901184"/>
            <a:ext cx="3840480" cy="80467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Columns of M₂M₁: r₀→i₀′, r₁→j₀′, t₀→i₁′, t₁→j₁′ — the transposed tensor’s layout, </a:t>
            </a:r>
            <a:r>
              <a:rPr lang="en-US" sz="1400" b="1" dirty="0">
                <a:solidFill>
                  <a:srgbClr val="0A4F58"/>
                </a:solidFill>
                <a:latin typeface="Calibri" pitchFamily="34" charset="0"/>
                <a:ea typeface="Calibri" pitchFamily="34" charset="-122"/>
                <a:cs typeface="Calibri" pitchFamily="34" charset="-120"/>
              </a:rPr>
              <a:t>no data moved</a:t>
            </a:r>
            <a:r>
              <a:rPr lang="en-US" sz="1400" dirty="0">
                <a:solidFill>
                  <a:srgbClr val="0A4F58"/>
                </a:solidFill>
                <a:latin typeface="Calibri" pitchFamily="34" charset="0"/>
                <a:ea typeface="Calibri" pitchFamily="34" charset="-122"/>
                <a:cs typeface="Calibri" pitchFamily="34" charset="-120"/>
              </a:rPr>
              <a:t>.</a:t>
            </a:r>
            <a:endParaRPr lang="en-US" sz="1400" dirty="0"/>
          </a:p>
        </p:txBody>
      </p:sp>
      <p:sp>
        <p:nvSpPr>
          <p:cNvPr id="143" name="tag"/>
          <p:cNvSpPr txBox="1"/>
          <p:nvPr/>
        </p:nvSpPr>
        <p:spPr>
          <a:xfrm>
            <a:off x="502920" y="1965960"/>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WORKED EXAMPLE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Composition trace: two routes, one answer</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4.2, p. 136</a:t>
            </a:r>
            <a:endParaRPr lang="en-US" sz="1000" dirty="0"/>
          </a:p>
        </p:txBody>
      </p:sp>
      <p:sp>
        <p:nvSpPr>
          <p:cNvPr id="6" name="Text 3"/>
          <p:cNvSpPr txBox="1"/>
          <p:nvPr/>
        </p:nvSpPr>
        <p:spPr>
          <a:xfrm>
            <a:off x="502920" y="1280160"/>
            <a:ext cx="10972800" cy="320040"/>
          </a:xfrm>
          <a:prstGeom prst="rect">
            <a:avLst/>
          </a:prstGeom>
          <a:noFill/>
          <a:ln/>
        </p:spPr>
        <p:txBody>
          <a:bodyPr wrap="square" lIns="0" tIns="0" rIns="0" bIns="0" rtlCol="0" anchor="t"/>
          <a:lstStyle/>
          <a:p>
            <a:pPr indent="0" marL="0">
              <a:buNone/>
            </a:pPr>
            <a:r>
              <a:rPr lang="en-US" sz="1700" b="1" dirty="0">
                <a:solidFill>
                  <a:srgbClr val="1E2A32"/>
                </a:solidFill>
                <a:latin typeface="Calibri" pitchFamily="34" charset="0"/>
                <a:ea typeface="Calibri" pitchFamily="34" charset="-122"/>
                <a:cs typeface="Calibri" pitchFamily="34" charset="-120"/>
              </a:rPr>
              <a:t>x = register r₁, thread t₂  →  [r₀,r₁ | t₀,t₁] = [1,0 | 0,1]</a:t>
            </a:r>
            <a:endParaRPr lang="en-US" sz="1700" dirty="0"/>
          </a:p>
        </p:txBody>
      </p:sp>
      <p:sp>
        <p:nvSpPr>
          <p:cNvPr id="7" name="Text 4"/>
          <p:cNvSpPr txBox="1"/>
          <p:nvPr/>
        </p:nvSpPr>
        <p:spPr>
          <a:xfrm>
            <a:off x="502920" y="1828800"/>
            <a:ext cx="54864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Route 1: apply L₁, then P</a:t>
            </a:r>
            <a:endParaRPr lang="en-US" sz="1500" dirty="0"/>
          </a:p>
        </p:txBody>
      </p:sp>
      <p:sp>
        <p:nvSpPr>
          <p:cNvPr id="8" name="mcol"/>
          <p:cNvSpPr/>
          <p:nvPr/>
        </p:nvSpPr>
        <p:spPr>
          <a:xfrm>
            <a:off x="1097280" y="2377440"/>
            <a:ext cx="329184" cy="1316736"/>
          </a:xfrm>
          <a:prstGeom prst="rect">
            <a:avLst/>
          </a:prstGeom>
          <a:solidFill>
            <a:srgbClr val="FFF0CC"/>
          </a:solidFill>
          <a:ln/>
        </p:spPr>
      </p:sp>
      <p:sp>
        <p:nvSpPr>
          <p:cNvPr id="9" name="mcol"/>
          <p:cNvSpPr/>
          <p:nvPr/>
        </p:nvSpPr>
        <p:spPr>
          <a:xfrm>
            <a:off x="2084832" y="2377440"/>
            <a:ext cx="329184" cy="1316736"/>
          </a:xfrm>
          <a:prstGeom prst="rect">
            <a:avLst/>
          </a:prstGeom>
          <a:solidFill>
            <a:srgbClr val="FFF0CC"/>
          </a:solidFill>
          <a:ln/>
        </p:spPr>
      </p:sp>
      <p:sp>
        <p:nvSpPr>
          <p:cNvPr id="10" name="mcell"/>
          <p:cNvSpPr txBox="1"/>
          <p:nvPr/>
        </p:nvSpPr>
        <p:spPr>
          <a:xfrm>
            <a:off x="1097280" y="237744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1" name="mcell"/>
          <p:cNvSpPr txBox="1"/>
          <p:nvPr/>
        </p:nvSpPr>
        <p:spPr>
          <a:xfrm>
            <a:off x="1426464" y="23774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 name="mcell"/>
          <p:cNvSpPr txBox="1"/>
          <p:nvPr/>
        </p:nvSpPr>
        <p:spPr>
          <a:xfrm>
            <a:off x="1755648" y="23774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 name="mcell"/>
          <p:cNvSpPr txBox="1"/>
          <p:nvPr/>
        </p:nvSpPr>
        <p:spPr>
          <a:xfrm>
            <a:off x="2084832" y="23774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 name="mcell"/>
          <p:cNvSpPr txBox="1"/>
          <p:nvPr/>
        </p:nvSpPr>
        <p:spPr>
          <a:xfrm>
            <a:off x="1097280" y="27066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 name="mcell"/>
          <p:cNvSpPr txBox="1"/>
          <p:nvPr/>
        </p:nvSpPr>
        <p:spPr>
          <a:xfrm>
            <a:off x="1426464" y="27066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 name="mcell"/>
          <p:cNvSpPr txBox="1"/>
          <p:nvPr/>
        </p:nvSpPr>
        <p:spPr>
          <a:xfrm>
            <a:off x="1755648" y="2706624"/>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7" name="mcell"/>
          <p:cNvSpPr txBox="1"/>
          <p:nvPr/>
        </p:nvSpPr>
        <p:spPr>
          <a:xfrm>
            <a:off x="2084832" y="27066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8" name="mcell"/>
          <p:cNvSpPr txBox="1"/>
          <p:nvPr/>
        </p:nvSpPr>
        <p:spPr>
          <a:xfrm>
            <a:off x="1097280" y="30358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9" name="mcell"/>
          <p:cNvSpPr txBox="1"/>
          <p:nvPr/>
        </p:nvSpPr>
        <p:spPr>
          <a:xfrm>
            <a:off x="1426464" y="3035808"/>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20" name="mcell"/>
          <p:cNvSpPr txBox="1"/>
          <p:nvPr/>
        </p:nvSpPr>
        <p:spPr>
          <a:xfrm>
            <a:off x="1755648" y="30358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1" name="mcell"/>
          <p:cNvSpPr txBox="1"/>
          <p:nvPr/>
        </p:nvSpPr>
        <p:spPr>
          <a:xfrm>
            <a:off x="2084832" y="30358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2" name="mcell"/>
          <p:cNvSpPr txBox="1"/>
          <p:nvPr/>
        </p:nvSpPr>
        <p:spPr>
          <a:xfrm>
            <a:off x="1097280" y="33649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3" name="mcell"/>
          <p:cNvSpPr txBox="1"/>
          <p:nvPr/>
        </p:nvSpPr>
        <p:spPr>
          <a:xfrm>
            <a:off x="1426464" y="33649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4" name="mcell"/>
          <p:cNvSpPr txBox="1"/>
          <p:nvPr/>
        </p:nvSpPr>
        <p:spPr>
          <a:xfrm>
            <a:off x="1755648" y="33649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5" name="mcell"/>
          <p:cNvSpPr txBox="1"/>
          <p:nvPr/>
        </p:nvSpPr>
        <p:spPr>
          <a:xfrm>
            <a:off x="2084832" y="3364992"/>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26" name="mbr"/>
          <p:cNvSpPr/>
          <p:nvPr/>
        </p:nvSpPr>
        <p:spPr>
          <a:xfrm>
            <a:off x="1069848" y="2350008"/>
            <a:ext cx="0" cy="1371600"/>
          </a:xfrm>
          <a:prstGeom prst="line">
            <a:avLst/>
          </a:prstGeom>
          <a:noFill/>
          <a:ln w="15875">
            <a:solidFill>
              <a:srgbClr val="1E2A32"/>
            </a:solidFill>
            <a:prstDash val="solid"/>
          </a:ln>
        </p:spPr>
      </p:sp>
      <p:sp>
        <p:nvSpPr>
          <p:cNvPr id="27" name="mbr"/>
          <p:cNvSpPr/>
          <p:nvPr/>
        </p:nvSpPr>
        <p:spPr>
          <a:xfrm>
            <a:off x="1069848" y="2350008"/>
            <a:ext cx="73152" cy="0"/>
          </a:xfrm>
          <a:prstGeom prst="line">
            <a:avLst/>
          </a:prstGeom>
          <a:noFill/>
          <a:ln w="15875">
            <a:solidFill>
              <a:srgbClr val="1E2A32"/>
            </a:solidFill>
            <a:prstDash val="solid"/>
          </a:ln>
        </p:spPr>
      </p:sp>
      <p:sp>
        <p:nvSpPr>
          <p:cNvPr id="28" name="mbr"/>
          <p:cNvSpPr/>
          <p:nvPr/>
        </p:nvSpPr>
        <p:spPr>
          <a:xfrm>
            <a:off x="1069848" y="3721608"/>
            <a:ext cx="73152" cy="0"/>
          </a:xfrm>
          <a:prstGeom prst="line">
            <a:avLst/>
          </a:prstGeom>
          <a:noFill/>
          <a:ln w="15875">
            <a:solidFill>
              <a:srgbClr val="1E2A32"/>
            </a:solidFill>
            <a:prstDash val="solid"/>
          </a:ln>
        </p:spPr>
      </p:sp>
      <p:sp>
        <p:nvSpPr>
          <p:cNvPr id="29" name="mbr"/>
          <p:cNvSpPr/>
          <p:nvPr/>
        </p:nvSpPr>
        <p:spPr>
          <a:xfrm>
            <a:off x="2441448" y="2350008"/>
            <a:ext cx="0" cy="1371600"/>
          </a:xfrm>
          <a:prstGeom prst="line">
            <a:avLst/>
          </a:prstGeom>
          <a:noFill/>
          <a:ln w="15875">
            <a:solidFill>
              <a:srgbClr val="1E2A32"/>
            </a:solidFill>
            <a:prstDash val="solid"/>
          </a:ln>
        </p:spPr>
      </p:sp>
      <p:sp>
        <p:nvSpPr>
          <p:cNvPr id="30" name="mbr"/>
          <p:cNvSpPr/>
          <p:nvPr/>
        </p:nvSpPr>
        <p:spPr>
          <a:xfrm>
            <a:off x="2368296" y="2350008"/>
            <a:ext cx="73152" cy="0"/>
          </a:xfrm>
          <a:prstGeom prst="line">
            <a:avLst/>
          </a:prstGeom>
          <a:noFill/>
          <a:ln w="15875">
            <a:solidFill>
              <a:srgbClr val="1E2A32"/>
            </a:solidFill>
            <a:prstDash val="solid"/>
          </a:ln>
        </p:spPr>
      </p:sp>
      <p:sp>
        <p:nvSpPr>
          <p:cNvPr id="31" name="mbr"/>
          <p:cNvSpPr/>
          <p:nvPr/>
        </p:nvSpPr>
        <p:spPr>
          <a:xfrm>
            <a:off x="2368296" y="3721608"/>
            <a:ext cx="73152" cy="0"/>
          </a:xfrm>
          <a:prstGeom prst="line">
            <a:avLst/>
          </a:prstGeom>
          <a:noFill/>
          <a:ln w="15875">
            <a:solidFill>
              <a:srgbClr val="1E2A32"/>
            </a:solidFill>
            <a:prstDash val="solid"/>
          </a:ln>
        </p:spPr>
      </p:sp>
      <p:sp>
        <p:nvSpPr>
          <p:cNvPr id="32" name="mlab"/>
          <p:cNvSpPr txBox="1"/>
          <p:nvPr/>
        </p:nvSpPr>
        <p:spPr>
          <a:xfrm>
            <a:off x="1051560" y="21396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r₀</a:t>
            </a:r>
            <a:endParaRPr lang="en-US" sz="1100" dirty="0"/>
          </a:p>
        </p:txBody>
      </p:sp>
      <p:sp>
        <p:nvSpPr>
          <p:cNvPr id="33" name="mlab"/>
          <p:cNvSpPr txBox="1"/>
          <p:nvPr/>
        </p:nvSpPr>
        <p:spPr>
          <a:xfrm>
            <a:off x="1380744" y="21396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r₁</a:t>
            </a:r>
            <a:endParaRPr lang="en-US" sz="1100" dirty="0"/>
          </a:p>
        </p:txBody>
      </p:sp>
      <p:sp>
        <p:nvSpPr>
          <p:cNvPr id="34" name="mlab"/>
          <p:cNvSpPr txBox="1"/>
          <p:nvPr/>
        </p:nvSpPr>
        <p:spPr>
          <a:xfrm>
            <a:off x="1709928" y="21396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t₀</a:t>
            </a:r>
            <a:endParaRPr lang="en-US" sz="1100" dirty="0"/>
          </a:p>
        </p:txBody>
      </p:sp>
      <p:sp>
        <p:nvSpPr>
          <p:cNvPr id="35" name="mlab"/>
          <p:cNvSpPr txBox="1"/>
          <p:nvPr/>
        </p:nvSpPr>
        <p:spPr>
          <a:xfrm>
            <a:off x="2039112" y="21396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t₁</a:t>
            </a:r>
            <a:endParaRPr lang="en-US" sz="1100" dirty="0"/>
          </a:p>
        </p:txBody>
      </p:sp>
      <p:sp>
        <p:nvSpPr>
          <p:cNvPr id="36" name="mlab"/>
          <p:cNvSpPr txBox="1"/>
          <p:nvPr/>
        </p:nvSpPr>
        <p:spPr>
          <a:xfrm>
            <a:off x="694944" y="2377440"/>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j₀</a:t>
            </a:r>
            <a:endParaRPr lang="en-US" sz="1100" dirty="0"/>
          </a:p>
        </p:txBody>
      </p:sp>
      <p:sp>
        <p:nvSpPr>
          <p:cNvPr id="37" name="mlab"/>
          <p:cNvSpPr txBox="1"/>
          <p:nvPr/>
        </p:nvSpPr>
        <p:spPr>
          <a:xfrm>
            <a:off x="694944" y="2706624"/>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j₁</a:t>
            </a:r>
            <a:endParaRPr lang="en-US" sz="1100" dirty="0"/>
          </a:p>
        </p:txBody>
      </p:sp>
      <p:sp>
        <p:nvSpPr>
          <p:cNvPr id="38" name="mlab"/>
          <p:cNvSpPr txBox="1"/>
          <p:nvPr/>
        </p:nvSpPr>
        <p:spPr>
          <a:xfrm>
            <a:off x="694944" y="3035808"/>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i₀</a:t>
            </a:r>
            <a:endParaRPr lang="en-US" sz="1100" dirty="0"/>
          </a:p>
        </p:txBody>
      </p:sp>
      <p:sp>
        <p:nvSpPr>
          <p:cNvPr id="39" name="mlab"/>
          <p:cNvSpPr txBox="1"/>
          <p:nvPr/>
        </p:nvSpPr>
        <p:spPr>
          <a:xfrm>
            <a:off x="694944" y="3364992"/>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i₁</a:t>
            </a:r>
            <a:endParaRPr lang="en-US" sz="1100" dirty="0"/>
          </a:p>
        </p:txBody>
      </p:sp>
      <p:sp>
        <p:nvSpPr>
          <p:cNvPr id="40" name="mname"/>
          <p:cNvSpPr txBox="1"/>
          <p:nvPr/>
        </p:nvSpPr>
        <p:spPr>
          <a:xfrm>
            <a:off x="822960" y="3749040"/>
            <a:ext cx="186537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L₁</a:t>
            </a:r>
            <a:endParaRPr lang="en-US" sz="1300" dirty="0"/>
          </a:p>
        </p:txBody>
      </p:sp>
      <p:sp>
        <p:nvSpPr>
          <p:cNvPr id="41" name="op"/>
          <p:cNvSpPr txBox="1"/>
          <p:nvPr/>
        </p:nvSpPr>
        <p:spPr>
          <a:xfrm>
            <a:off x="2459736" y="2807208"/>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42" name="mcell"/>
          <p:cNvSpPr txBox="1"/>
          <p:nvPr/>
        </p:nvSpPr>
        <p:spPr>
          <a:xfrm>
            <a:off x="2962656" y="237744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3" name="mcell"/>
          <p:cNvSpPr txBox="1"/>
          <p:nvPr/>
        </p:nvSpPr>
        <p:spPr>
          <a:xfrm>
            <a:off x="2962656" y="27066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4" name="mcell"/>
          <p:cNvSpPr txBox="1"/>
          <p:nvPr/>
        </p:nvSpPr>
        <p:spPr>
          <a:xfrm>
            <a:off x="2962656" y="30358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5" name="mcell"/>
          <p:cNvSpPr txBox="1"/>
          <p:nvPr/>
        </p:nvSpPr>
        <p:spPr>
          <a:xfrm>
            <a:off x="2962656" y="3364992"/>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6" name="mbr"/>
          <p:cNvSpPr/>
          <p:nvPr/>
        </p:nvSpPr>
        <p:spPr>
          <a:xfrm>
            <a:off x="2935224" y="2350008"/>
            <a:ext cx="0" cy="1371600"/>
          </a:xfrm>
          <a:prstGeom prst="line">
            <a:avLst/>
          </a:prstGeom>
          <a:noFill/>
          <a:ln w="15875">
            <a:solidFill>
              <a:srgbClr val="1E2A32"/>
            </a:solidFill>
            <a:prstDash val="solid"/>
          </a:ln>
        </p:spPr>
      </p:sp>
      <p:sp>
        <p:nvSpPr>
          <p:cNvPr id="47" name="mbr"/>
          <p:cNvSpPr/>
          <p:nvPr/>
        </p:nvSpPr>
        <p:spPr>
          <a:xfrm>
            <a:off x="2935224" y="2350008"/>
            <a:ext cx="73152" cy="0"/>
          </a:xfrm>
          <a:prstGeom prst="line">
            <a:avLst/>
          </a:prstGeom>
          <a:noFill/>
          <a:ln w="15875">
            <a:solidFill>
              <a:srgbClr val="1E2A32"/>
            </a:solidFill>
            <a:prstDash val="solid"/>
          </a:ln>
        </p:spPr>
      </p:sp>
      <p:sp>
        <p:nvSpPr>
          <p:cNvPr id="48" name="mbr"/>
          <p:cNvSpPr/>
          <p:nvPr/>
        </p:nvSpPr>
        <p:spPr>
          <a:xfrm>
            <a:off x="2935224" y="3721608"/>
            <a:ext cx="73152" cy="0"/>
          </a:xfrm>
          <a:prstGeom prst="line">
            <a:avLst/>
          </a:prstGeom>
          <a:noFill/>
          <a:ln w="15875">
            <a:solidFill>
              <a:srgbClr val="1E2A32"/>
            </a:solidFill>
            <a:prstDash val="solid"/>
          </a:ln>
        </p:spPr>
      </p:sp>
      <p:sp>
        <p:nvSpPr>
          <p:cNvPr id="49" name="mbr"/>
          <p:cNvSpPr/>
          <p:nvPr/>
        </p:nvSpPr>
        <p:spPr>
          <a:xfrm>
            <a:off x="3319272" y="2350008"/>
            <a:ext cx="0" cy="1371600"/>
          </a:xfrm>
          <a:prstGeom prst="line">
            <a:avLst/>
          </a:prstGeom>
          <a:noFill/>
          <a:ln w="15875">
            <a:solidFill>
              <a:srgbClr val="1E2A32"/>
            </a:solidFill>
            <a:prstDash val="solid"/>
          </a:ln>
        </p:spPr>
      </p:sp>
      <p:sp>
        <p:nvSpPr>
          <p:cNvPr id="50" name="mbr"/>
          <p:cNvSpPr/>
          <p:nvPr/>
        </p:nvSpPr>
        <p:spPr>
          <a:xfrm>
            <a:off x="3246120" y="2350008"/>
            <a:ext cx="73152" cy="0"/>
          </a:xfrm>
          <a:prstGeom prst="line">
            <a:avLst/>
          </a:prstGeom>
          <a:noFill/>
          <a:ln w="15875">
            <a:solidFill>
              <a:srgbClr val="1E2A32"/>
            </a:solidFill>
            <a:prstDash val="solid"/>
          </a:ln>
        </p:spPr>
      </p:sp>
      <p:sp>
        <p:nvSpPr>
          <p:cNvPr id="51" name="mbr"/>
          <p:cNvSpPr/>
          <p:nvPr/>
        </p:nvSpPr>
        <p:spPr>
          <a:xfrm>
            <a:off x="3246120" y="3721608"/>
            <a:ext cx="73152" cy="0"/>
          </a:xfrm>
          <a:prstGeom prst="line">
            <a:avLst/>
          </a:prstGeom>
          <a:noFill/>
          <a:ln w="15875">
            <a:solidFill>
              <a:srgbClr val="1E2A32"/>
            </a:solidFill>
            <a:prstDash val="solid"/>
          </a:ln>
        </p:spPr>
      </p:sp>
      <p:sp>
        <p:nvSpPr>
          <p:cNvPr id="52" name="mname"/>
          <p:cNvSpPr txBox="1"/>
          <p:nvPr/>
        </p:nvSpPr>
        <p:spPr>
          <a:xfrm>
            <a:off x="2578608" y="374904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x</a:t>
            </a:r>
            <a:endParaRPr lang="en-US" sz="1300" dirty="0"/>
          </a:p>
        </p:txBody>
      </p:sp>
      <p:sp>
        <p:nvSpPr>
          <p:cNvPr id="53" name="op"/>
          <p:cNvSpPr txBox="1"/>
          <p:nvPr/>
        </p:nvSpPr>
        <p:spPr>
          <a:xfrm>
            <a:off x="3337560" y="2807208"/>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54" name="mcell"/>
          <p:cNvSpPr txBox="1"/>
          <p:nvPr/>
        </p:nvSpPr>
        <p:spPr>
          <a:xfrm>
            <a:off x="3840480" y="237744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5" name="mcell"/>
          <p:cNvSpPr txBox="1"/>
          <p:nvPr/>
        </p:nvSpPr>
        <p:spPr>
          <a:xfrm>
            <a:off x="3840480" y="27066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6" name="mcell"/>
          <p:cNvSpPr txBox="1"/>
          <p:nvPr/>
        </p:nvSpPr>
        <p:spPr>
          <a:xfrm>
            <a:off x="3840480" y="30358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7" name="mcell"/>
          <p:cNvSpPr txBox="1"/>
          <p:nvPr/>
        </p:nvSpPr>
        <p:spPr>
          <a:xfrm>
            <a:off x="3840480" y="3364992"/>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8" name="mbr"/>
          <p:cNvSpPr/>
          <p:nvPr/>
        </p:nvSpPr>
        <p:spPr>
          <a:xfrm>
            <a:off x="3813048" y="2350008"/>
            <a:ext cx="0" cy="1371600"/>
          </a:xfrm>
          <a:prstGeom prst="line">
            <a:avLst/>
          </a:prstGeom>
          <a:noFill/>
          <a:ln w="15875">
            <a:solidFill>
              <a:srgbClr val="1E2A32"/>
            </a:solidFill>
            <a:prstDash val="solid"/>
          </a:ln>
        </p:spPr>
      </p:sp>
      <p:sp>
        <p:nvSpPr>
          <p:cNvPr id="59" name="mbr"/>
          <p:cNvSpPr/>
          <p:nvPr/>
        </p:nvSpPr>
        <p:spPr>
          <a:xfrm>
            <a:off x="3813048" y="2350008"/>
            <a:ext cx="73152" cy="0"/>
          </a:xfrm>
          <a:prstGeom prst="line">
            <a:avLst/>
          </a:prstGeom>
          <a:noFill/>
          <a:ln w="15875">
            <a:solidFill>
              <a:srgbClr val="1E2A32"/>
            </a:solidFill>
            <a:prstDash val="solid"/>
          </a:ln>
        </p:spPr>
      </p:sp>
      <p:sp>
        <p:nvSpPr>
          <p:cNvPr id="60" name="mbr"/>
          <p:cNvSpPr/>
          <p:nvPr/>
        </p:nvSpPr>
        <p:spPr>
          <a:xfrm>
            <a:off x="3813048" y="3721608"/>
            <a:ext cx="73152" cy="0"/>
          </a:xfrm>
          <a:prstGeom prst="line">
            <a:avLst/>
          </a:prstGeom>
          <a:noFill/>
          <a:ln w="15875">
            <a:solidFill>
              <a:srgbClr val="1E2A32"/>
            </a:solidFill>
            <a:prstDash val="solid"/>
          </a:ln>
        </p:spPr>
      </p:sp>
      <p:sp>
        <p:nvSpPr>
          <p:cNvPr id="61" name="mbr"/>
          <p:cNvSpPr/>
          <p:nvPr/>
        </p:nvSpPr>
        <p:spPr>
          <a:xfrm>
            <a:off x="4197096" y="2350008"/>
            <a:ext cx="0" cy="1371600"/>
          </a:xfrm>
          <a:prstGeom prst="line">
            <a:avLst/>
          </a:prstGeom>
          <a:noFill/>
          <a:ln w="15875">
            <a:solidFill>
              <a:srgbClr val="1E2A32"/>
            </a:solidFill>
            <a:prstDash val="solid"/>
          </a:ln>
        </p:spPr>
      </p:sp>
      <p:sp>
        <p:nvSpPr>
          <p:cNvPr id="62" name="mbr"/>
          <p:cNvSpPr/>
          <p:nvPr/>
        </p:nvSpPr>
        <p:spPr>
          <a:xfrm>
            <a:off x="4123944" y="2350008"/>
            <a:ext cx="73152" cy="0"/>
          </a:xfrm>
          <a:prstGeom prst="line">
            <a:avLst/>
          </a:prstGeom>
          <a:noFill/>
          <a:ln w="15875">
            <a:solidFill>
              <a:srgbClr val="1E2A32"/>
            </a:solidFill>
            <a:prstDash val="solid"/>
          </a:ln>
        </p:spPr>
      </p:sp>
      <p:sp>
        <p:nvSpPr>
          <p:cNvPr id="63" name="mbr"/>
          <p:cNvSpPr/>
          <p:nvPr/>
        </p:nvSpPr>
        <p:spPr>
          <a:xfrm>
            <a:off x="4123944" y="3721608"/>
            <a:ext cx="73152" cy="0"/>
          </a:xfrm>
          <a:prstGeom prst="line">
            <a:avLst/>
          </a:prstGeom>
          <a:noFill/>
          <a:ln w="15875">
            <a:solidFill>
              <a:srgbClr val="1E2A32"/>
            </a:solidFill>
            <a:prstDash val="solid"/>
          </a:ln>
        </p:spPr>
      </p:sp>
      <p:sp>
        <p:nvSpPr>
          <p:cNvPr id="64" name="mname"/>
          <p:cNvSpPr txBox="1"/>
          <p:nvPr/>
        </p:nvSpPr>
        <p:spPr>
          <a:xfrm>
            <a:off x="3456432" y="374904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(2, 1)</a:t>
            </a:r>
            <a:endParaRPr lang="en-US" sz="1300" dirty="0"/>
          </a:p>
        </p:txBody>
      </p:sp>
      <p:sp>
        <p:nvSpPr>
          <p:cNvPr id="65" name="arrow"/>
          <p:cNvSpPr/>
          <p:nvPr/>
        </p:nvSpPr>
        <p:spPr>
          <a:xfrm>
            <a:off x="4306824" y="3035808"/>
            <a:ext cx="548640" cy="914"/>
          </a:xfrm>
          <a:prstGeom prst="line">
            <a:avLst/>
          </a:prstGeom>
          <a:noFill/>
          <a:ln w="15875">
            <a:solidFill>
              <a:srgbClr val="0E6E7A"/>
            </a:solidFill>
            <a:prstDash val="solid"/>
            <a:tailEnd type="triangle"/>
          </a:ln>
        </p:spPr>
      </p:sp>
      <p:sp>
        <p:nvSpPr>
          <p:cNvPr id="66" name="Text 63"/>
          <p:cNvSpPr txBox="1"/>
          <p:nvPr/>
        </p:nvSpPr>
        <p:spPr>
          <a:xfrm>
            <a:off x="4352544" y="2688336"/>
            <a:ext cx="457200" cy="274320"/>
          </a:xfrm>
          <a:prstGeom prst="rect">
            <a:avLst/>
          </a:prstGeom>
          <a:noFill/>
          <a:ln/>
        </p:spPr>
        <p:txBody>
          <a:bodyPr wrap="square" lIns="0" tIns="0" rIns="0" bIns="0" rtlCol="0" anchor="t"/>
          <a:lstStyle/>
          <a:p>
            <a:pPr algn="ctr" indent="0" marL="0">
              <a:buNone/>
            </a:pPr>
            <a:r>
              <a:rPr lang="en-US" sz="1400" b="1" dirty="0">
                <a:solidFill>
                  <a:srgbClr val="0E6E7A"/>
                </a:solidFill>
                <a:latin typeface="Calibri" pitchFamily="34" charset="0"/>
                <a:ea typeface="Calibri" pitchFamily="34" charset="-122"/>
                <a:cs typeface="Calibri" pitchFamily="34" charset="-120"/>
              </a:rPr>
              <a:t>P</a:t>
            </a:r>
            <a:endParaRPr lang="en-US" sz="1400" dirty="0"/>
          </a:p>
        </p:txBody>
      </p:sp>
      <p:sp>
        <p:nvSpPr>
          <p:cNvPr id="67" name="mcell"/>
          <p:cNvSpPr txBox="1"/>
          <p:nvPr/>
        </p:nvSpPr>
        <p:spPr>
          <a:xfrm>
            <a:off x="5038344" y="23774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8" name="mcell"/>
          <p:cNvSpPr txBox="1"/>
          <p:nvPr/>
        </p:nvSpPr>
        <p:spPr>
          <a:xfrm>
            <a:off x="5038344" y="2706624"/>
            <a:ext cx="329184" cy="329184"/>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69" name="mcell"/>
          <p:cNvSpPr txBox="1"/>
          <p:nvPr/>
        </p:nvSpPr>
        <p:spPr>
          <a:xfrm>
            <a:off x="5038344" y="3035808"/>
            <a:ext cx="329184" cy="329184"/>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70" name="mcell"/>
          <p:cNvSpPr txBox="1"/>
          <p:nvPr/>
        </p:nvSpPr>
        <p:spPr>
          <a:xfrm>
            <a:off x="5038344" y="33649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71" name="mbr"/>
          <p:cNvSpPr/>
          <p:nvPr/>
        </p:nvSpPr>
        <p:spPr>
          <a:xfrm>
            <a:off x="5010912" y="2350008"/>
            <a:ext cx="0" cy="1371600"/>
          </a:xfrm>
          <a:prstGeom prst="line">
            <a:avLst/>
          </a:prstGeom>
          <a:noFill/>
          <a:ln w="15875">
            <a:solidFill>
              <a:srgbClr val="1E2A32"/>
            </a:solidFill>
            <a:prstDash val="solid"/>
          </a:ln>
        </p:spPr>
      </p:sp>
      <p:sp>
        <p:nvSpPr>
          <p:cNvPr id="72" name="mbr"/>
          <p:cNvSpPr/>
          <p:nvPr/>
        </p:nvSpPr>
        <p:spPr>
          <a:xfrm>
            <a:off x="5010912" y="2350008"/>
            <a:ext cx="73152" cy="0"/>
          </a:xfrm>
          <a:prstGeom prst="line">
            <a:avLst/>
          </a:prstGeom>
          <a:noFill/>
          <a:ln w="15875">
            <a:solidFill>
              <a:srgbClr val="1E2A32"/>
            </a:solidFill>
            <a:prstDash val="solid"/>
          </a:ln>
        </p:spPr>
      </p:sp>
      <p:sp>
        <p:nvSpPr>
          <p:cNvPr id="73" name="mbr"/>
          <p:cNvSpPr/>
          <p:nvPr/>
        </p:nvSpPr>
        <p:spPr>
          <a:xfrm>
            <a:off x="5010912" y="3721608"/>
            <a:ext cx="73152" cy="0"/>
          </a:xfrm>
          <a:prstGeom prst="line">
            <a:avLst/>
          </a:prstGeom>
          <a:noFill/>
          <a:ln w="15875">
            <a:solidFill>
              <a:srgbClr val="1E2A32"/>
            </a:solidFill>
            <a:prstDash val="solid"/>
          </a:ln>
        </p:spPr>
      </p:sp>
      <p:sp>
        <p:nvSpPr>
          <p:cNvPr id="74" name="mbr"/>
          <p:cNvSpPr/>
          <p:nvPr/>
        </p:nvSpPr>
        <p:spPr>
          <a:xfrm>
            <a:off x="5394960" y="2350008"/>
            <a:ext cx="0" cy="1371600"/>
          </a:xfrm>
          <a:prstGeom prst="line">
            <a:avLst/>
          </a:prstGeom>
          <a:noFill/>
          <a:ln w="15875">
            <a:solidFill>
              <a:srgbClr val="1E2A32"/>
            </a:solidFill>
            <a:prstDash val="solid"/>
          </a:ln>
        </p:spPr>
      </p:sp>
      <p:sp>
        <p:nvSpPr>
          <p:cNvPr id="75" name="mbr"/>
          <p:cNvSpPr/>
          <p:nvPr/>
        </p:nvSpPr>
        <p:spPr>
          <a:xfrm>
            <a:off x="5321808" y="2350008"/>
            <a:ext cx="73152" cy="0"/>
          </a:xfrm>
          <a:prstGeom prst="line">
            <a:avLst/>
          </a:prstGeom>
          <a:noFill/>
          <a:ln w="15875">
            <a:solidFill>
              <a:srgbClr val="1E2A32"/>
            </a:solidFill>
            <a:prstDash val="solid"/>
          </a:ln>
        </p:spPr>
      </p:sp>
      <p:sp>
        <p:nvSpPr>
          <p:cNvPr id="76" name="mbr"/>
          <p:cNvSpPr/>
          <p:nvPr/>
        </p:nvSpPr>
        <p:spPr>
          <a:xfrm>
            <a:off x="5321808" y="3721608"/>
            <a:ext cx="73152" cy="0"/>
          </a:xfrm>
          <a:prstGeom prst="line">
            <a:avLst/>
          </a:prstGeom>
          <a:noFill/>
          <a:ln w="15875">
            <a:solidFill>
              <a:srgbClr val="1E2A32"/>
            </a:solidFill>
            <a:prstDash val="solid"/>
          </a:ln>
        </p:spPr>
      </p:sp>
      <p:sp>
        <p:nvSpPr>
          <p:cNvPr id="77" name="mlab"/>
          <p:cNvSpPr txBox="1"/>
          <p:nvPr/>
        </p:nvSpPr>
        <p:spPr>
          <a:xfrm>
            <a:off x="4636008" y="2377440"/>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j₀′</a:t>
            </a:r>
            <a:endParaRPr lang="en-US" sz="1100" dirty="0"/>
          </a:p>
        </p:txBody>
      </p:sp>
      <p:sp>
        <p:nvSpPr>
          <p:cNvPr id="78" name="mlab"/>
          <p:cNvSpPr txBox="1"/>
          <p:nvPr/>
        </p:nvSpPr>
        <p:spPr>
          <a:xfrm>
            <a:off x="4636008" y="2706624"/>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j₁′</a:t>
            </a:r>
            <a:endParaRPr lang="en-US" sz="1100" dirty="0"/>
          </a:p>
        </p:txBody>
      </p:sp>
      <p:sp>
        <p:nvSpPr>
          <p:cNvPr id="79" name="mlab"/>
          <p:cNvSpPr txBox="1"/>
          <p:nvPr/>
        </p:nvSpPr>
        <p:spPr>
          <a:xfrm>
            <a:off x="4636008" y="3035808"/>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i₀′</a:t>
            </a:r>
            <a:endParaRPr lang="en-US" sz="1100" dirty="0"/>
          </a:p>
        </p:txBody>
      </p:sp>
      <p:sp>
        <p:nvSpPr>
          <p:cNvPr id="80" name="mlab"/>
          <p:cNvSpPr txBox="1"/>
          <p:nvPr/>
        </p:nvSpPr>
        <p:spPr>
          <a:xfrm>
            <a:off x="4636008" y="3364992"/>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i₁′</a:t>
            </a:r>
            <a:endParaRPr lang="en-US" sz="1100" dirty="0"/>
          </a:p>
        </p:txBody>
      </p:sp>
      <p:sp>
        <p:nvSpPr>
          <p:cNvPr id="81" name="mname"/>
          <p:cNvSpPr txBox="1"/>
          <p:nvPr/>
        </p:nvSpPr>
        <p:spPr>
          <a:xfrm>
            <a:off x="4654296" y="374904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(1, 2)</a:t>
            </a:r>
            <a:endParaRPr lang="en-US" sz="1300" dirty="0"/>
          </a:p>
        </p:txBody>
      </p:sp>
      <p:sp>
        <p:nvSpPr>
          <p:cNvPr id="82" name="Text 79"/>
          <p:cNvSpPr txBox="1"/>
          <p:nvPr/>
        </p:nvSpPr>
        <p:spPr>
          <a:xfrm>
            <a:off x="502920" y="4069080"/>
            <a:ext cx="54864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Route 2: apply M₂M₁ directly</a:t>
            </a:r>
            <a:endParaRPr lang="en-US" sz="1500" dirty="0"/>
          </a:p>
        </p:txBody>
      </p:sp>
      <p:sp>
        <p:nvSpPr>
          <p:cNvPr id="83" name="mcol"/>
          <p:cNvSpPr/>
          <p:nvPr/>
        </p:nvSpPr>
        <p:spPr>
          <a:xfrm>
            <a:off x="1097280" y="4572000"/>
            <a:ext cx="274320" cy="1097280"/>
          </a:xfrm>
          <a:prstGeom prst="rect">
            <a:avLst/>
          </a:prstGeom>
          <a:solidFill>
            <a:srgbClr val="FFF0CC"/>
          </a:solidFill>
          <a:ln/>
        </p:spPr>
      </p:sp>
      <p:sp>
        <p:nvSpPr>
          <p:cNvPr id="84" name="mcol"/>
          <p:cNvSpPr/>
          <p:nvPr/>
        </p:nvSpPr>
        <p:spPr>
          <a:xfrm>
            <a:off x="1920240" y="4572000"/>
            <a:ext cx="274320" cy="1097280"/>
          </a:xfrm>
          <a:prstGeom prst="rect">
            <a:avLst/>
          </a:prstGeom>
          <a:solidFill>
            <a:srgbClr val="FFF0CC"/>
          </a:solidFill>
          <a:ln/>
        </p:spPr>
      </p:sp>
      <p:sp>
        <p:nvSpPr>
          <p:cNvPr id="85" name="mcell"/>
          <p:cNvSpPr txBox="1"/>
          <p:nvPr/>
        </p:nvSpPr>
        <p:spPr>
          <a:xfrm>
            <a:off x="1097280" y="45720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6" name="mcell"/>
          <p:cNvSpPr txBox="1"/>
          <p:nvPr/>
        </p:nvSpPr>
        <p:spPr>
          <a:xfrm>
            <a:off x="1371600" y="457200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7" name="mcell"/>
          <p:cNvSpPr txBox="1"/>
          <p:nvPr/>
        </p:nvSpPr>
        <p:spPr>
          <a:xfrm>
            <a:off x="1645920" y="45720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8" name="mcell"/>
          <p:cNvSpPr txBox="1"/>
          <p:nvPr/>
        </p:nvSpPr>
        <p:spPr>
          <a:xfrm>
            <a:off x="1920240" y="45720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9" name="mcell"/>
          <p:cNvSpPr txBox="1"/>
          <p:nvPr/>
        </p:nvSpPr>
        <p:spPr>
          <a:xfrm>
            <a:off x="1097280" y="48463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0" name="mcell"/>
          <p:cNvSpPr txBox="1"/>
          <p:nvPr/>
        </p:nvSpPr>
        <p:spPr>
          <a:xfrm>
            <a:off x="1371600" y="48463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1" name="mcell"/>
          <p:cNvSpPr txBox="1"/>
          <p:nvPr/>
        </p:nvSpPr>
        <p:spPr>
          <a:xfrm>
            <a:off x="1645920" y="48463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2" name="mcell"/>
          <p:cNvSpPr txBox="1"/>
          <p:nvPr/>
        </p:nvSpPr>
        <p:spPr>
          <a:xfrm>
            <a:off x="1920240" y="484632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3" name="mcell"/>
          <p:cNvSpPr txBox="1"/>
          <p:nvPr/>
        </p:nvSpPr>
        <p:spPr>
          <a:xfrm>
            <a:off x="1097280" y="512064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4" name="mcell"/>
          <p:cNvSpPr txBox="1"/>
          <p:nvPr/>
        </p:nvSpPr>
        <p:spPr>
          <a:xfrm>
            <a:off x="1371600" y="51206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5" name="mcell"/>
          <p:cNvSpPr txBox="1"/>
          <p:nvPr/>
        </p:nvSpPr>
        <p:spPr>
          <a:xfrm>
            <a:off x="1645920" y="51206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6" name="mcell"/>
          <p:cNvSpPr txBox="1"/>
          <p:nvPr/>
        </p:nvSpPr>
        <p:spPr>
          <a:xfrm>
            <a:off x="1920240" y="51206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7" name="mcell"/>
          <p:cNvSpPr txBox="1"/>
          <p:nvPr/>
        </p:nvSpPr>
        <p:spPr>
          <a:xfrm>
            <a:off x="1097280" y="539496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8" name="mcell"/>
          <p:cNvSpPr txBox="1"/>
          <p:nvPr/>
        </p:nvSpPr>
        <p:spPr>
          <a:xfrm>
            <a:off x="1371600" y="539496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9" name="mcell"/>
          <p:cNvSpPr txBox="1"/>
          <p:nvPr/>
        </p:nvSpPr>
        <p:spPr>
          <a:xfrm>
            <a:off x="1645920" y="539496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00" name="mcell"/>
          <p:cNvSpPr txBox="1"/>
          <p:nvPr/>
        </p:nvSpPr>
        <p:spPr>
          <a:xfrm>
            <a:off x="1920240" y="539496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1" name="mbr"/>
          <p:cNvSpPr/>
          <p:nvPr/>
        </p:nvSpPr>
        <p:spPr>
          <a:xfrm>
            <a:off x="1069848" y="4544568"/>
            <a:ext cx="0" cy="1152144"/>
          </a:xfrm>
          <a:prstGeom prst="line">
            <a:avLst/>
          </a:prstGeom>
          <a:noFill/>
          <a:ln w="15875">
            <a:solidFill>
              <a:srgbClr val="1E2A32"/>
            </a:solidFill>
            <a:prstDash val="solid"/>
          </a:ln>
        </p:spPr>
      </p:sp>
      <p:sp>
        <p:nvSpPr>
          <p:cNvPr id="102" name="mbr"/>
          <p:cNvSpPr/>
          <p:nvPr/>
        </p:nvSpPr>
        <p:spPr>
          <a:xfrm>
            <a:off x="1069848" y="4544568"/>
            <a:ext cx="73152" cy="0"/>
          </a:xfrm>
          <a:prstGeom prst="line">
            <a:avLst/>
          </a:prstGeom>
          <a:noFill/>
          <a:ln w="15875">
            <a:solidFill>
              <a:srgbClr val="1E2A32"/>
            </a:solidFill>
            <a:prstDash val="solid"/>
          </a:ln>
        </p:spPr>
      </p:sp>
      <p:sp>
        <p:nvSpPr>
          <p:cNvPr id="103" name="mbr"/>
          <p:cNvSpPr/>
          <p:nvPr/>
        </p:nvSpPr>
        <p:spPr>
          <a:xfrm>
            <a:off x="1069848" y="5696712"/>
            <a:ext cx="73152" cy="0"/>
          </a:xfrm>
          <a:prstGeom prst="line">
            <a:avLst/>
          </a:prstGeom>
          <a:noFill/>
          <a:ln w="15875">
            <a:solidFill>
              <a:srgbClr val="1E2A32"/>
            </a:solidFill>
            <a:prstDash val="solid"/>
          </a:ln>
        </p:spPr>
      </p:sp>
      <p:sp>
        <p:nvSpPr>
          <p:cNvPr id="104" name="mbr"/>
          <p:cNvSpPr/>
          <p:nvPr/>
        </p:nvSpPr>
        <p:spPr>
          <a:xfrm>
            <a:off x="2221992" y="4544568"/>
            <a:ext cx="0" cy="1152144"/>
          </a:xfrm>
          <a:prstGeom prst="line">
            <a:avLst/>
          </a:prstGeom>
          <a:noFill/>
          <a:ln w="15875">
            <a:solidFill>
              <a:srgbClr val="1E2A32"/>
            </a:solidFill>
            <a:prstDash val="solid"/>
          </a:ln>
        </p:spPr>
      </p:sp>
      <p:sp>
        <p:nvSpPr>
          <p:cNvPr id="105" name="mbr"/>
          <p:cNvSpPr/>
          <p:nvPr/>
        </p:nvSpPr>
        <p:spPr>
          <a:xfrm>
            <a:off x="2148840" y="4544568"/>
            <a:ext cx="73152" cy="0"/>
          </a:xfrm>
          <a:prstGeom prst="line">
            <a:avLst/>
          </a:prstGeom>
          <a:noFill/>
          <a:ln w="15875">
            <a:solidFill>
              <a:srgbClr val="1E2A32"/>
            </a:solidFill>
            <a:prstDash val="solid"/>
          </a:ln>
        </p:spPr>
      </p:sp>
      <p:sp>
        <p:nvSpPr>
          <p:cNvPr id="106" name="mbr"/>
          <p:cNvSpPr/>
          <p:nvPr/>
        </p:nvSpPr>
        <p:spPr>
          <a:xfrm>
            <a:off x="2148840" y="5696712"/>
            <a:ext cx="73152" cy="0"/>
          </a:xfrm>
          <a:prstGeom prst="line">
            <a:avLst/>
          </a:prstGeom>
          <a:noFill/>
          <a:ln w="15875">
            <a:solidFill>
              <a:srgbClr val="1E2A32"/>
            </a:solidFill>
            <a:prstDash val="solid"/>
          </a:ln>
        </p:spPr>
      </p:sp>
      <p:sp>
        <p:nvSpPr>
          <p:cNvPr id="107" name="mlab"/>
          <p:cNvSpPr txBox="1"/>
          <p:nvPr/>
        </p:nvSpPr>
        <p:spPr>
          <a:xfrm>
            <a:off x="1051560" y="433425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108" name="mlab"/>
          <p:cNvSpPr txBox="1"/>
          <p:nvPr/>
        </p:nvSpPr>
        <p:spPr>
          <a:xfrm>
            <a:off x="1325880" y="433425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109" name="mlab"/>
          <p:cNvSpPr txBox="1"/>
          <p:nvPr/>
        </p:nvSpPr>
        <p:spPr>
          <a:xfrm>
            <a:off x="1600200" y="433425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10" name="mlab"/>
          <p:cNvSpPr txBox="1"/>
          <p:nvPr/>
        </p:nvSpPr>
        <p:spPr>
          <a:xfrm>
            <a:off x="1874520" y="433425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11" name="mname"/>
          <p:cNvSpPr txBox="1"/>
          <p:nvPr/>
        </p:nvSpPr>
        <p:spPr>
          <a:xfrm>
            <a:off x="822960" y="5724144"/>
            <a:ext cx="16459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M₂M₁</a:t>
            </a:r>
            <a:endParaRPr lang="en-US" sz="1300" dirty="0"/>
          </a:p>
        </p:txBody>
      </p:sp>
      <p:sp>
        <p:nvSpPr>
          <p:cNvPr id="112" name="op"/>
          <p:cNvSpPr txBox="1"/>
          <p:nvPr/>
        </p:nvSpPr>
        <p:spPr>
          <a:xfrm>
            <a:off x="2240280" y="489204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13" name="mcell"/>
          <p:cNvSpPr txBox="1"/>
          <p:nvPr/>
        </p:nvSpPr>
        <p:spPr>
          <a:xfrm>
            <a:off x="2743200" y="457200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4" name="mcell"/>
          <p:cNvSpPr txBox="1"/>
          <p:nvPr/>
        </p:nvSpPr>
        <p:spPr>
          <a:xfrm>
            <a:off x="2743200" y="48463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5" name="mcell"/>
          <p:cNvSpPr txBox="1"/>
          <p:nvPr/>
        </p:nvSpPr>
        <p:spPr>
          <a:xfrm>
            <a:off x="2743200" y="51206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6" name="mcell"/>
          <p:cNvSpPr txBox="1"/>
          <p:nvPr/>
        </p:nvSpPr>
        <p:spPr>
          <a:xfrm>
            <a:off x="2743200" y="539496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7" name="mbr"/>
          <p:cNvSpPr/>
          <p:nvPr/>
        </p:nvSpPr>
        <p:spPr>
          <a:xfrm>
            <a:off x="2715768" y="4544568"/>
            <a:ext cx="0" cy="1152144"/>
          </a:xfrm>
          <a:prstGeom prst="line">
            <a:avLst/>
          </a:prstGeom>
          <a:noFill/>
          <a:ln w="15875">
            <a:solidFill>
              <a:srgbClr val="1E2A32"/>
            </a:solidFill>
            <a:prstDash val="solid"/>
          </a:ln>
        </p:spPr>
      </p:sp>
      <p:sp>
        <p:nvSpPr>
          <p:cNvPr id="118" name="mbr"/>
          <p:cNvSpPr/>
          <p:nvPr/>
        </p:nvSpPr>
        <p:spPr>
          <a:xfrm>
            <a:off x="2715768" y="4544568"/>
            <a:ext cx="73152" cy="0"/>
          </a:xfrm>
          <a:prstGeom prst="line">
            <a:avLst/>
          </a:prstGeom>
          <a:noFill/>
          <a:ln w="15875">
            <a:solidFill>
              <a:srgbClr val="1E2A32"/>
            </a:solidFill>
            <a:prstDash val="solid"/>
          </a:ln>
        </p:spPr>
      </p:sp>
      <p:sp>
        <p:nvSpPr>
          <p:cNvPr id="119" name="mbr"/>
          <p:cNvSpPr/>
          <p:nvPr/>
        </p:nvSpPr>
        <p:spPr>
          <a:xfrm>
            <a:off x="2715768" y="5696712"/>
            <a:ext cx="73152" cy="0"/>
          </a:xfrm>
          <a:prstGeom prst="line">
            <a:avLst/>
          </a:prstGeom>
          <a:noFill/>
          <a:ln w="15875">
            <a:solidFill>
              <a:srgbClr val="1E2A32"/>
            </a:solidFill>
            <a:prstDash val="solid"/>
          </a:ln>
        </p:spPr>
      </p:sp>
      <p:sp>
        <p:nvSpPr>
          <p:cNvPr id="120" name="mbr"/>
          <p:cNvSpPr/>
          <p:nvPr/>
        </p:nvSpPr>
        <p:spPr>
          <a:xfrm>
            <a:off x="3044952" y="4544568"/>
            <a:ext cx="0" cy="1152144"/>
          </a:xfrm>
          <a:prstGeom prst="line">
            <a:avLst/>
          </a:prstGeom>
          <a:noFill/>
          <a:ln w="15875">
            <a:solidFill>
              <a:srgbClr val="1E2A32"/>
            </a:solidFill>
            <a:prstDash val="solid"/>
          </a:ln>
        </p:spPr>
      </p:sp>
      <p:sp>
        <p:nvSpPr>
          <p:cNvPr id="121" name="mbr"/>
          <p:cNvSpPr/>
          <p:nvPr/>
        </p:nvSpPr>
        <p:spPr>
          <a:xfrm>
            <a:off x="2971800" y="4544568"/>
            <a:ext cx="73152" cy="0"/>
          </a:xfrm>
          <a:prstGeom prst="line">
            <a:avLst/>
          </a:prstGeom>
          <a:noFill/>
          <a:ln w="15875">
            <a:solidFill>
              <a:srgbClr val="1E2A32"/>
            </a:solidFill>
            <a:prstDash val="solid"/>
          </a:ln>
        </p:spPr>
      </p:sp>
      <p:sp>
        <p:nvSpPr>
          <p:cNvPr id="122" name="mbr"/>
          <p:cNvSpPr/>
          <p:nvPr/>
        </p:nvSpPr>
        <p:spPr>
          <a:xfrm>
            <a:off x="2971800" y="5696712"/>
            <a:ext cx="73152" cy="0"/>
          </a:xfrm>
          <a:prstGeom prst="line">
            <a:avLst/>
          </a:prstGeom>
          <a:noFill/>
          <a:ln w="15875">
            <a:solidFill>
              <a:srgbClr val="1E2A32"/>
            </a:solidFill>
            <a:prstDash val="solid"/>
          </a:ln>
        </p:spPr>
      </p:sp>
      <p:sp>
        <p:nvSpPr>
          <p:cNvPr id="123" name="mname"/>
          <p:cNvSpPr txBox="1"/>
          <p:nvPr/>
        </p:nvSpPr>
        <p:spPr>
          <a:xfrm>
            <a:off x="2331720" y="5724144"/>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x</a:t>
            </a:r>
            <a:endParaRPr lang="en-US" sz="1300" dirty="0"/>
          </a:p>
        </p:txBody>
      </p:sp>
      <p:sp>
        <p:nvSpPr>
          <p:cNvPr id="124" name="op"/>
          <p:cNvSpPr txBox="1"/>
          <p:nvPr/>
        </p:nvSpPr>
        <p:spPr>
          <a:xfrm>
            <a:off x="3063240" y="489204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25" name="mcell"/>
          <p:cNvSpPr txBox="1"/>
          <p:nvPr/>
        </p:nvSpPr>
        <p:spPr>
          <a:xfrm>
            <a:off x="3566160" y="45720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6" name="mcell"/>
          <p:cNvSpPr txBox="1"/>
          <p:nvPr/>
        </p:nvSpPr>
        <p:spPr>
          <a:xfrm>
            <a:off x="3566160" y="4846320"/>
            <a:ext cx="274320" cy="274320"/>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7" name="mcell"/>
          <p:cNvSpPr txBox="1"/>
          <p:nvPr/>
        </p:nvSpPr>
        <p:spPr>
          <a:xfrm>
            <a:off x="3566160" y="5120640"/>
            <a:ext cx="274320" cy="274320"/>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8" name="mcell"/>
          <p:cNvSpPr txBox="1"/>
          <p:nvPr/>
        </p:nvSpPr>
        <p:spPr>
          <a:xfrm>
            <a:off x="3566160" y="539496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9" name="mbr"/>
          <p:cNvSpPr/>
          <p:nvPr/>
        </p:nvSpPr>
        <p:spPr>
          <a:xfrm>
            <a:off x="3538728" y="4544568"/>
            <a:ext cx="0" cy="1152144"/>
          </a:xfrm>
          <a:prstGeom prst="line">
            <a:avLst/>
          </a:prstGeom>
          <a:noFill/>
          <a:ln w="15875">
            <a:solidFill>
              <a:srgbClr val="1E2A32"/>
            </a:solidFill>
            <a:prstDash val="solid"/>
          </a:ln>
        </p:spPr>
      </p:sp>
      <p:sp>
        <p:nvSpPr>
          <p:cNvPr id="130" name="mbr"/>
          <p:cNvSpPr/>
          <p:nvPr/>
        </p:nvSpPr>
        <p:spPr>
          <a:xfrm>
            <a:off x="3538728" y="4544568"/>
            <a:ext cx="73152" cy="0"/>
          </a:xfrm>
          <a:prstGeom prst="line">
            <a:avLst/>
          </a:prstGeom>
          <a:noFill/>
          <a:ln w="15875">
            <a:solidFill>
              <a:srgbClr val="1E2A32"/>
            </a:solidFill>
            <a:prstDash val="solid"/>
          </a:ln>
        </p:spPr>
      </p:sp>
      <p:sp>
        <p:nvSpPr>
          <p:cNvPr id="131" name="mbr"/>
          <p:cNvSpPr/>
          <p:nvPr/>
        </p:nvSpPr>
        <p:spPr>
          <a:xfrm>
            <a:off x="3538728" y="5696712"/>
            <a:ext cx="73152" cy="0"/>
          </a:xfrm>
          <a:prstGeom prst="line">
            <a:avLst/>
          </a:prstGeom>
          <a:noFill/>
          <a:ln w="15875">
            <a:solidFill>
              <a:srgbClr val="1E2A32"/>
            </a:solidFill>
            <a:prstDash val="solid"/>
          </a:ln>
        </p:spPr>
      </p:sp>
      <p:sp>
        <p:nvSpPr>
          <p:cNvPr id="132" name="mbr"/>
          <p:cNvSpPr/>
          <p:nvPr/>
        </p:nvSpPr>
        <p:spPr>
          <a:xfrm>
            <a:off x="3867912" y="4544568"/>
            <a:ext cx="0" cy="1152144"/>
          </a:xfrm>
          <a:prstGeom prst="line">
            <a:avLst/>
          </a:prstGeom>
          <a:noFill/>
          <a:ln w="15875">
            <a:solidFill>
              <a:srgbClr val="1E2A32"/>
            </a:solidFill>
            <a:prstDash val="solid"/>
          </a:ln>
        </p:spPr>
      </p:sp>
      <p:sp>
        <p:nvSpPr>
          <p:cNvPr id="133" name="mbr"/>
          <p:cNvSpPr/>
          <p:nvPr/>
        </p:nvSpPr>
        <p:spPr>
          <a:xfrm>
            <a:off x="3794760" y="4544568"/>
            <a:ext cx="73152" cy="0"/>
          </a:xfrm>
          <a:prstGeom prst="line">
            <a:avLst/>
          </a:prstGeom>
          <a:noFill/>
          <a:ln w="15875">
            <a:solidFill>
              <a:srgbClr val="1E2A32"/>
            </a:solidFill>
            <a:prstDash val="solid"/>
          </a:ln>
        </p:spPr>
      </p:sp>
      <p:sp>
        <p:nvSpPr>
          <p:cNvPr id="134" name="mbr"/>
          <p:cNvSpPr/>
          <p:nvPr/>
        </p:nvSpPr>
        <p:spPr>
          <a:xfrm>
            <a:off x="3794760" y="5696712"/>
            <a:ext cx="73152" cy="0"/>
          </a:xfrm>
          <a:prstGeom prst="line">
            <a:avLst/>
          </a:prstGeom>
          <a:noFill/>
          <a:ln w="15875">
            <a:solidFill>
              <a:srgbClr val="1E2A32"/>
            </a:solidFill>
            <a:prstDash val="solid"/>
          </a:ln>
        </p:spPr>
      </p:sp>
      <p:sp>
        <p:nvSpPr>
          <p:cNvPr id="135" name="mname"/>
          <p:cNvSpPr txBox="1"/>
          <p:nvPr/>
        </p:nvSpPr>
        <p:spPr>
          <a:xfrm>
            <a:off x="3154680" y="5724144"/>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(1, 2) ✓</a:t>
            </a:r>
            <a:endParaRPr lang="en-US" sz="1300" dirty="0"/>
          </a:p>
        </p:txBody>
      </p:sp>
      <p:sp>
        <p:nvSpPr>
          <p:cNvPr id="136" name="callout"/>
          <p:cNvSpPr/>
          <p:nvPr/>
        </p:nvSpPr>
        <p:spPr>
          <a:xfrm>
            <a:off x="7772400" y="4206240"/>
            <a:ext cx="3931920" cy="1371600"/>
          </a:xfrm>
          <a:prstGeom prst="roundRect">
            <a:avLst>
              <a:gd name="adj" fmla="val 5333"/>
            </a:avLst>
          </a:prstGeom>
          <a:solidFill>
            <a:srgbClr val="DDEFF1"/>
          </a:solidFill>
          <a:ln/>
        </p:spPr>
      </p:sp>
      <p:sp>
        <p:nvSpPr>
          <p:cNvPr id="137" name="callout-text"/>
          <p:cNvSpPr txBox="1"/>
          <p:nvPr/>
        </p:nvSpPr>
        <p:spPr>
          <a:xfrm>
            <a:off x="7909560" y="4261104"/>
            <a:ext cx="3657600" cy="126187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Chaining maps = multiplying matrices </a:t>
            </a:r>
            <a:r>
              <a:rPr lang="en-US" sz="1500" b="1" dirty="0">
                <a:solidFill>
                  <a:srgbClr val="0A4F58"/>
                </a:solidFill>
                <a:latin typeface="Calibri" pitchFamily="34" charset="0"/>
                <a:ea typeface="Calibri" pitchFamily="34" charset="-122"/>
                <a:cs typeface="Calibri" pitchFamily="34" charset="-120"/>
              </a:rPr>
              <a:t>once, at compile time</a:t>
            </a:r>
            <a:r>
              <a:rPr lang="en-US" sz="1500" dirty="0">
                <a:solidFill>
                  <a:srgbClr val="0A4F58"/>
                </a:solidFill>
                <a:latin typeface="Calibri" pitchFamily="34" charset="0"/>
                <a:ea typeface="Calibri" pitchFamily="34" charset="-122"/>
                <a:cs typeface="Calibri" pitchFamily="34" charset="-120"/>
              </a:rPr>
              <a:t>. Layout conversion later is just another composition: </a:t>
            </a:r>
            <a:r>
              <a:rPr lang="en-US" sz="1500" b="1" dirty="0">
                <a:solidFill>
                  <a:srgbClr val="0A4F58"/>
                </a:solidFill>
                <a:latin typeface="Calibri" pitchFamily="34" charset="0"/>
                <a:ea typeface="Calibri" pitchFamily="34" charset="-122"/>
                <a:cs typeface="Calibri" pitchFamily="34" charset="-120"/>
              </a:rPr>
              <a:t>B⁻¹ ∘ A</a:t>
            </a:r>
            <a:r>
              <a:rPr lang="en-US" sz="1500" dirty="0">
                <a:solidFill>
                  <a:srgbClr val="0A4F58"/>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DEFINITION 4.3</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Product: independent pieces give a block-diagonal matrix</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4.3, p. 136; BlockedEncodingAttr::toLinearLayout in LinearLayoutConversions.cpp (upstream)</a:t>
            </a:r>
            <a:endParaRPr lang="en-US" sz="1000" dirty="0"/>
          </a:p>
        </p:txBody>
      </p:sp>
      <p:sp>
        <p:nvSpPr>
          <p:cNvPr id="6" name="callout"/>
          <p:cNvSpPr/>
          <p:nvPr/>
        </p:nvSpPr>
        <p:spPr>
          <a:xfrm>
            <a:off x="502920" y="1234440"/>
            <a:ext cx="11201400" cy="594360"/>
          </a:xfrm>
          <a:prstGeom prst="roundRect">
            <a:avLst>
              <a:gd name="adj" fmla="val 12308"/>
            </a:avLst>
          </a:prstGeom>
          <a:solidFill>
            <a:srgbClr val="DDEFF1"/>
          </a:solidFill>
          <a:ln/>
        </p:spPr>
      </p:sp>
      <p:sp>
        <p:nvSpPr>
          <p:cNvPr id="7" name="callout-text"/>
          <p:cNvSpPr txBox="1"/>
          <p:nvPr/>
        </p:nvSpPr>
        <p:spPr>
          <a:xfrm>
            <a:off x="640080" y="1289304"/>
            <a:ext cx="10927080" cy="484632"/>
          </a:xfrm>
          <a:prstGeom prst="rect">
            <a:avLst/>
          </a:prstGeom>
          <a:noFill/>
          <a:ln/>
        </p:spPr>
        <p:txBody>
          <a:bodyPr wrap="square" lIns="0" tIns="0" rIns="0" bIns="0" rtlCol="0" anchor="ctr"/>
          <a:lstStyle/>
          <a:p>
            <a:pPr algn="l" indent="0" marL="0">
              <a:buNone/>
            </a:pPr>
            <a:r>
              <a:rPr lang="en-US" sz="1600" b="1" dirty="0">
                <a:solidFill>
                  <a:srgbClr val="0A4F58"/>
                </a:solidFill>
                <a:latin typeface="Calibri" pitchFamily="34" charset="0"/>
                <a:ea typeface="Calibri" pitchFamily="34" charset="-122"/>
                <a:cs typeface="Calibri" pitchFamily="34" charset="-120"/>
              </a:rPr>
              <a:t>Definition 4.3.</a:t>
            </a:r>
            <a:r>
              <a:rPr lang="en-US" sz="1600" dirty="0">
                <a:solidFill>
                  <a:srgbClr val="0A4F58"/>
                </a:solidFill>
                <a:latin typeface="Calibri" pitchFamily="34" charset="0"/>
                <a:ea typeface="Calibri" pitchFamily="34" charset="-122"/>
                <a:cs typeface="Calibri" pitchFamily="34" charset="-120"/>
              </a:rPr>
              <a:t> (L₁ × L₂)(u₁, u₂) = (L₁(u₁), L₂(u₂)).   Matrix = </a:t>
            </a:r>
            <a:r>
              <a:rPr lang="en-US" sz="1600" b="1" dirty="0">
                <a:solidFill>
                  <a:srgbClr val="0A4F58"/>
                </a:solidFill>
                <a:latin typeface="Calibri" pitchFamily="34" charset="0"/>
                <a:ea typeface="Calibri" pitchFamily="34" charset="-122"/>
                <a:cs typeface="Calibri" pitchFamily="34" charset="-120"/>
              </a:rPr>
              <a:t>diag(M₁, M₂)</a:t>
            </a:r>
            <a:r>
              <a:rPr lang="en-US" sz="1600" dirty="0">
                <a:solidFill>
                  <a:srgbClr val="0A4F58"/>
                </a:solidFill>
                <a:latin typeface="Calibri" pitchFamily="34" charset="0"/>
                <a:ea typeface="Calibri" pitchFamily="34" charset="-122"/>
                <a:cs typeface="Calibri" pitchFamily="34" charset="-120"/>
              </a:rPr>
              <a:t> — block diagonal.</a:t>
            </a:r>
            <a:endParaRPr lang="en-US" sz="1600" dirty="0"/>
          </a:p>
        </p:txBody>
      </p:sp>
      <p:sp>
        <p:nvSpPr>
          <p:cNvPr id="8" name="mcell"/>
          <p:cNvSpPr txBox="1"/>
          <p:nvPr/>
        </p:nvSpPr>
        <p:spPr>
          <a:xfrm>
            <a:off x="960120" y="251460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 name="mcell"/>
          <p:cNvSpPr txBox="1"/>
          <p:nvPr/>
        </p:nvSpPr>
        <p:spPr>
          <a:xfrm>
            <a:off x="1271016" y="251460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 name="mcell"/>
          <p:cNvSpPr txBox="1"/>
          <p:nvPr/>
        </p:nvSpPr>
        <p:spPr>
          <a:xfrm>
            <a:off x="960120" y="282549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 name="mcell"/>
          <p:cNvSpPr txBox="1"/>
          <p:nvPr/>
        </p:nvSpPr>
        <p:spPr>
          <a:xfrm>
            <a:off x="1271016" y="282549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 name="mbr"/>
          <p:cNvSpPr/>
          <p:nvPr/>
        </p:nvSpPr>
        <p:spPr>
          <a:xfrm>
            <a:off x="932688" y="2487168"/>
            <a:ext cx="0" cy="676656"/>
          </a:xfrm>
          <a:prstGeom prst="line">
            <a:avLst/>
          </a:prstGeom>
          <a:noFill/>
          <a:ln w="15875">
            <a:solidFill>
              <a:srgbClr val="1E2A32"/>
            </a:solidFill>
            <a:prstDash val="solid"/>
          </a:ln>
        </p:spPr>
      </p:sp>
      <p:sp>
        <p:nvSpPr>
          <p:cNvPr id="13" name="mbr"/>
          <p:cNvSpPr/>
          <p:nvPr/>
        </p:nvSpPr>
        <p:spPr>
          <a:xfrm>
            <a:off x="932688" y="2487168"/>
            <a:ext cx="73152" cy="0"/>
          </a:xfrm>
          <a:prstGeom prst="line">
            <a:avLst/>
          </a:prstGeom>
          <a:noFill/>
          <a:ln w="15875">
            <a:solidFill>
              <a:srgbClr val="1E2A32"/>
            </a:solidFill>
            <a:prstDash val="solid"/>
          </a:ln>
        </p:spPr>
      </p:sp>
      <p:sp>
        <p:nvSpPr>
          <p:cNvPr id="14" name="mbr"/>
          <p:cNvSpPr/>
          <p:nvPr/>
        </p:nvSpPr>
        <p:spPr>
          <a:xfrm>
            <a:off x="932688" y="3163824"/>
            <a:ext cx="73152" cy="0"/>
          </a:xfrm>
          <a:prstGeom prst="line">
            <a:avLst/>
          </a:prstGeom>
          <a:noFill/>
          <a:ln w="15875">
            <a:solidFill>
              <a:srgbClr val="1E2A32"/>
            </a:solidFill>
            <a:prstDash val="solid"/>
          </a:ln>
        </p:spPr>
      </p:sp>
      <p:sp>
        <p:nvSpPr>
          <p:cNvPr id="15" name="mbr"/>
          <p:cNvSpPr/>
          <p:nvPr/>
        </p:nvSpPr>
        <p:spPr>
          <a:xfrm>
            <a:off x="1609344" y="2487168"/>
            <a:ext cx="0" cy="676656"/>
          </a:xfrm>
          <a:prstGeom prst="line">
            <a:avLst/>
          </a:prstGeom>
          <a:noFill/>
          <a:ln w="15875">
            <a:solidFill>
              <a:srgbClr val="1E2A32"/>
            </a:solidFill>
            <a:prstDash val="solid"/>
          </a:ln>
        </p:spPr>
      </p:sp>
      <p:sp>
        <p:nvSpPr>
          <p:cNvPr id="16" name="mbr"/>
          <p:cNvSpPr/>
          <p:nvPr/>
        </p:nvSpPr>
        <p:spPr>
          <a:xfrm>
            <a:off x="1536192" y="2487168"/>
            <a:ext cx="73152" cy="0"/>
          </a:xfrm>
          <a:prstGeom prst="line">
            <a:avLst/>
          </a:prstGeom>
          <a:noFill/>
          <a:ln w="15875">
            <a:solidFill>
              <a:srgbClr val="1E2A32"/>
            </a:solidFill>
            <a:prstDash val="solid"/>
          </a:ln>
        </p:spPr>
      </p:sp>
      <p:sp>
        <p:nvSpPr>
          <p:cNvPr id="17" name="mbr"/>
          <p:cNvSpPr/>
          <p:nvPr/>
        </p:nvSpPr>
        <p:spPr>
          <a:xfrm>
            <a:off x="1536192" y="3163824"/>
            <a:ext cx="73152" cy="0"/>
          </a:xfrm>
          <a:prstGeom prst="line">
            <a:avLst/>
          </a:prstGeom>
          <a:noFill/>
          <a:ln w="15875">
            <a:solidFill>
              <a:srgbClr val="1E2A32"/>
            </a:solidFill>
            <a:prstDash val="solid"/>
          </a:ln>
        </p:spPr>
      </p:sp>
      <p:sp>
        <p:nvSpPr>
          <p:cNvPr id="18" name="mlab"/>
          <p:cNvSpPr txBox="1"/>
          <p:nvPr/>
        </p:nvSpPr>
        <p:spPr>
          <a:xfrm>
            <a:off x="914400"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19" name="mlab"/>
          <p:cNvSpPr txBox="1"/>
          <p:nvPr/>
        </p:nvSpPr>
        <p:spPr>
          <a:xfrm>
            <a:off x="1225296"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20" name="mlab"/>
          <p:cNvSpPr txBox="1"/>
          <p:nvPr/>
        </p:nvSpPr>
        <p:spPr>
          <a:xfrm>
            <a:off x="630936" y="2514600"/>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21" name="mlab"/>
          <p:cNvSpPr txBox="1"/>
          <p:nvPr/>
        </p:nvSpPr>
        <p:spPr>
          <a:xfrm>
            <a:off x="630936" y="2825496"/>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22" name="mname"/>
          <p:cNvSpPr txBox="1"/>
          <p:nvPr/>
        </p:nvSpPr>
        <p:spPr>
          <a:xfrm>
            <a:off x="685800" y="3191256"/>
            <a:ext cx="11704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L_Reg</a:t>
            </a:r>
            <a:endParaRPr lang="en-US" sz="1300" dirty="0"/>
          </a:p>
        </p:txBody>
      </p:sp>
      <p:sp>
        <p:nvSpPr>
          <p:cNvPr id="23" name="Text 20"/>
          <p:cNvSpPr txBox="1"/>
          <p:nvPr/>
        </p:nvSpPr>
        <p:spPr>
          <a:xfrm>
            <a:off x="502920" y="3465576"/>
            <a:ext cx="1536192" cy="274320"/>
          </a:xfrm>
          <a:prstGeom prst="rect">
            <a:avLst/>
          </a:prstGeom>
          <a:noFill/>
          <a:ln/>
        </p:spPr>
        <p:txBody>
          <a:bodyPr wrap="square" lIns="0" tIns="0" rIns="0" bIns="0" rtlCol="0" anchor="t"/>
          <a:lstStyle/>
          <a:p>
            <a:pPr algn="ctr" indent="0" marL="0">
              <a:buNone/>
            </a:pPr>
            <a:r>
              <a:rPr lang="en-US" sz="1100" i="1" dirty="0">
                <a:solidFill>
                  <a:srgbClr val="5B6770"/>
                </a:solidFill>
                <a:latin typeface="Calibri" pitchFamily="34" charset="0"/>
                <a:ea typeface="Calibri" pitchFamily="34" charset="-122"/>
                <a:cs typeface="Calibri" pitchFamily="34" charset="-120"/>
              </a:rPr>
              <a:t>2×2 tile per thread</a:t>
            </a:r>
            <a:endParaRPr lang="en-US" sz="1100" dirty="0"/>
          </a:p>
        </p:txBody>
      </p:sp>
      <p:sp>
        <p:nvSpPr>
          <p:cNvPr id="24" name="op"/>
          <p:cNvSpPr txBox="1"/>
          <p:nvPr/>
        </p:nvSpPr>
        <p:spPr>
          <a:xfrm>
            <a:off x="1673352" y="259689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25" name="mcell"/>
          <p:cNvSpPr txBox="1"/>
          <p:nvPr/>
        </p:nvSpPr>
        <p:spPr>
          <a:xfrm>
            <a:off x="2542032" y="251460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26" name="mcell"/>
          <p:cNvSpPr txBox="1"/>
          <p:nvPr/>
        </p:nvSpPr>
        <p:spPr>
          <a:xfrm>
            <a:off x="2852928" y="251460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7" name="mcell"/>
          <p:cNvSpPr txBox="1"/>
          <p:nvPr/>
        </p:nvSpPr>
        <p:spPr>
          <a:xfrm>
            <a:off x="3163824" y="251460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8" name="mcell"/>
          <p:cNvSpPr txBox="1"/>
          <p:nvPr/>
        </p:nvSpPr>
        <p:spPr>
          <a:xfrm>
            <a:off x="3474720" y="251460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9" name="mcell"/>
          <p:cNvSpPr txBox="1"/>
          <p:nvPr/>
        </p:nvSpPr>
        <p:spPr>
          <a:xfrm>
            <a:off x="3785616" y="251460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0" name="mcell"/>
          <p:cNvSpPr txBox="1"/>
          <p:nvPr/>
        </p:nvSpPr>
        <p:spPr>
          <a:xfrm>
            <a:off x="2542032" y="282549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1" name="mcell"/>
          <p:cNvSpPr txBox="1"/>
          <p:nvPr/>
        </p:nvSpPr>
        <p:spPr>
          <a:xfrm>
            <a:off x="2852928" y="282549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2" name="mcell"/>
          <p:cNvSpPr txBox="1"/>
          <p:nvPr/>
        </p:nvSpPr>
        <p:spPr>
          <a:xfrm>
            <a:off x="3163824" y="282549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3" name="mcell"/>
          <p:cNvSpPr txBox="1"/>
          <p:nvPr/>
        </p:nvSpPr>
        <p:spPr>
          <a:xfrm>
            <a:off x="3474720" y="282549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4" name="mcell"/>
          <p:cNvSpPr txBox="1"/>
          <p:nvPr/>
        </p:nvSpPr>
        <p:spPr>
          <a:xfrm>
            <a:off x="3785616" y="282549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5" name="mcell"/>
          <p:cNvSpPr txBox="1"/>
          <p:nvPr/>
        </p:nvSpPr>
        <p:spPr>
          <a:xfrm>
            <a:off x="2542032" y="313639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6" name="mcell"/>
          <p:cNvSpPr txBox="1"/>
          <p:nvPr/>
        </p:nvSpPr>
        <p:spPr>
          <a:xfrm>
            <a:off x="2852928" y="313639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7" name="mcell"/>
          <p:cNvSpPr txBox="1"/>
          <p:nvPr/>
        </p:nvSpPr>
        <p:spPr>
          <a:xfrm>
            <a:off x="3163824" y="3136392"/>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8" name="mcell"/>
          <p:cNvSpPr txBox="1"/>
          <p:nvPr/>
        </p:nvSpPr>
        <p:spPr>
          <a:xfrm>
            <a:off x="3474720" y="313639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9" name="mcell"/>
          <p:cNvSpPr txBox="1"/>
          <p:nvPr/>
        </p:nvSpPr>
        <p:spPr>
          <a:xfrm>
            <a:off x="3785616" y="313639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0" name="mcell"/>
          <p:cNvSpPr txBox="1"/>
          <p:nvPr/>
        </p:nvSpPr>
        <p:spPr>
          <a:xfrm>
            <a:off x="2542032" y="344728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1" name="mcell"/>
          <p:cNvSpPr txBox="1"/>
          <p:nvPr/>
        </p:nvSpPr>
        <p:spPr>
          <a:xfrm>
            <a:off x="2852928" y="344728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2" name="mcell"/>
          <p:cNvSpPr txBox="1"/>
          <p:nvPr/>
        </p:nvSpPr>
        <p:spPr>
          <a:xfrm>
            <a:off x="3163824" y="344728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3" name="mcell"/>
          <p:cNvSpPr txBox="1"/>
          <p:nvPr/>
        </p:nvSpPr>
        <p:spPr>
          <a:xfrm>
            <a:off x="3474720" y="3447288"/>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4" name="mcell"/>
          <p:cNvSpPr txBox="1"/>
          <p:nvPr/>
        </p:nvSpPr>
        <p:spPr>
          <a:xfrm>
            <a:off x="3785616" y="344728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5" name="mcell"/>
          <p:cNvSpPr txBox="1"/>
          <p:nvPr/>
        </p:nvSpPr>
        <p:spPr>
          <a:xfrm>
            <a:off x="2542032" y="375818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6" name="mcell"/>
          <p:cNvSpPr txBox="1"/>
          <p:nvPr/>
        </p:nvSpPr>
        <p:spPr>
          <a:xfrm>
            <a:off x="2852928" y="375818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7" name="mcell"/>
          <p:cNvSpPr txBox="1"/>
          <p:nvPr/>
        </p:nvSpPr>
        <p:spPr>
          <a:xfrm>
            <a:off x="3163824" y="375818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8" name="mcell"/>
          <p:cNvSpPr txBox="1"/>
          <p:nvPr/>
        </p:nvSpPr>
        <p:spPr>
          <a:xfrm>
            <a:off x="3474720" y="375818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9" name="mcell"/>
          <p:cNvSpPr txBox="1"/>
          <p:nvPr/>
        </p:nvSpPr>
        <p:spPr>
          <a:xfrm>
            <a:off x="3785616" y="3758184"/>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0" name="mbr"/>
          <p:cNvSpPr/>
          <p:nvPr/>
        </p:nvSpPr>
        <p:spPr>
          <a:xfrm>
            <a:off x="2514600" y="2487168"/>
            <a:ext cx="0" cy="1609344"/>
          </a:xfrm>
          <a:prstGeom prst="line">
            <a:avLst/>
          </a:prstGeom>
          <a:noFill/>
          <a:ln w="15875">
            <a:solidFill>
              <a:srgbClr val="1E2A32"/>
            </a:solidFill>
            <a:prstDash val="solid"/>
          </a:ln>
        </p:spPr>
      </p:sp>
      <p:sp>
        <p:nvSpPr>
          <p:cNvPr id="51" name="mbr"/>
          <p:cNvSpPr/>
          <p:nvPr/>
        </p:nvSpPr>
        <p:spPr>
          <a:xfrm>
            <a:off x="2514600" y="2487168"/>
            <a:ext cx="73152" cy="0"/>
          </a:xfrm>
          <a:prstGeom prst="line">
            <a:avLst/>
          </a:prstGeom>
          <a:noFill/>
          <a:ln w="15875">
            <a:solidFill>
              <a:srgbClr val="1E2A32"/>
            </a:solidFill>
            <a:prstDash val="solid"/>
          </a:ln>
        </p:spPr>
      </p:sp>
      <p:sp>
        <p:nvSpPr>
          <p:cNvPr id="52" name="mbr"/>
          <p:cNvSpPr/>
          <p:nvPr/>
        </p:nvSpPr>
        <p:spPr>
          <a:xfrm>
            <a:off x="2514600" y="4096512"/>
            <a:ext cx="73152" cy="0"/>
          </a:xfrm>
          <a:prstGeom prst="line">
            <a:avLst/>
          </a:prstGeom>
          <a:noFill/>
          <a:ln w="15875">
            <a:solidFill>
              <a:srgbClr val="1E2A32"/>
            </a:solidFill>
            <a:prstDash val="solid"/>
          </a:ln>
        </p:spPr>
      </p:sp>
      <p:sp>
        <p:nvSpPr>
          <p:cNvPr id="53" name="mbr"/>
          <p:cNvSpPr/>
          <p:nvPr/>
        </p:nvSpPr>
        <p:spPr>
          <a:xfrm>
            <a:off x="4123944" y="2487168"/>
            <a:ext cx="0" cy="1609344"/>
          </a:xfrm>
          <a:prstGeom prst="line">
            <a:avLst/>
          </a:prstGeom>
          <a:noFill/>
          <a:ln w="15875">
            <a:solidFill>
              <a:srgbClr val="1E2A32"/>
            </a:solidFill>
            <a:prstDash val="solid"/>
          </a:ln>
        </p:spPr>
      </p:sp>
      <p:sp>
        <p:nvSpPr>
          <p:cNvPr id="54" name="mbr"/>
          <p:cNvSpPr/>
          <p:nvPr/>
        </p:nvSpPr>
        <p:spPr>
          <a:xfrm>
            <a:off x="4050792" y="2487168"/>
            <a:ext cx="73152" cy="0"/>
          </a:xfrm>
          <a:prstGeom prst="line">
            <a:avLst/>
          </a:prstGeom>
          <a:noFill/>
          <a:ln w="15875">
            <a:solidFill>
              <a:srgbClr val="1E2A32"/>
            </a:solidFill>
            <a:prstDash val="solid"/>
          </a:ln>
        </p:spPr>
      </p:sp>
      <p:sp>
        <p:nvSpPr>
          <p:cNvPr id="55" name="mbr"/>
          <p:cNvSpPr/>
          <p:nvPr/>
        </p:nvSpPr>
        <p:spPr>
          <a:xfrm>
            <a:off x="4050792" y="4096512"/>
            <a:ext cx="73152" cy="0"/>
          </a:xfrm>
          <a:prstGeom prst="line">
            <a:avLst/>
          </a:prstGeom>
          <a:noFill/>
          <a:ln w="15875">
            <a:solidFill>
              <a:srgbClr val="1E2A32"/>
            </a:solidFill>
            <a:prstDash val="solid"/>
          </a:ln>
        </p:spPr>
      </p:sp>
      <p:sp>
        <p:nvSpPr>
          <p:cNvPr id="56" name="mlab"/>
          <p:cNvSpPr txBox="1"/>
          <p:nvPr/>
        </p:nvSpPr>
        <p:spPr>
          <a:xfrm>
            <a:off x="2496312"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57" name="mlab"/>
          <p:cNvSpPr txBox="1"/>
          <p:nvPr/>
        </p:nvSpPr>
        <p:spPr>
          <a:xfrm>
            <a:off x="2807208"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58" name="mlab"/>
          <p:cNvSpPr txBox="1"/>
          <p:nvPr/>
        </p:nvSpPr>
        <p:spPr>
          <a:xfrm>
            <a:off x="3118104"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59" name="mlab"/>
          <p:cNvSpPr txBox="1"/>
          <p:nvPr/>
        </p:nvSpPr>
        <p:spPr>
          <a:xfrm>
            <a:off x="3429000"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60" name="mlab"/>
          <p:cNvSpPr txBox="1"/>
          <p:nvPr/>
        </p:nvSpPr>
        <p:spPr>
          <a:xfrm>
            <a:off x="3739896"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61" name="mlab"/>
          <p:cNvSpPr txBox="1"/>
          <p:nvPr/>
        </p:nvSpPr>
        <p:spPr>
          <a:xfrm>
            <a:off x="2212848" y="2514600"/>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62" name="mlab"/>
          <p:cNvSpPr txBox="1"/>
          <p:nvPr/>
        </p:nvSpPr>
        <p:spPr>
          <a:xfrm>
            <a:off x="2212848" y="2825496"/>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63" name="mlab"/>
          <p:cNvSpPr txBox="1"/>
          <p:nvPr/>
        </p:nvSpPr>
        <p:spPr>
          <a:xfrm>
            <a:off x="2212848" y="3136392"/>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64" name="mlab"/>
          <p:cNvSpPr txBox="1"/>
          <p:nvPr/>
        </p:nvSpPr>
        <p:spPr>
          <a:xfrm>
            <a:off x="2212848" y="3447288"/>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65" name="mlab"/>
          <p:cNvSpPr txBox="1"/>
          <p:nvPr/>
        </p:nvSpPr>
        <p:spPr>
          <a:xfrm>
            <a:off x="2212848" y="3758184"/>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66" name="mname"/>
          <p:cNvSpPr txBox="1"/>
          <p:nvPr/>
        </p:nvSpPr>
        <p:spPr>
          <a:xfrm>
            <a:off x="2267712" y="4123944"/>
            <a:ext cx="21031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L_Thr</a:t>
            </a:r>
            <a:endParaRPr lang="en-US" sz="1300" dirty="0"/>
          </a:p>
        </p:txBody>
      </p:sp>
      <p:sp>
        <p:nvSpPr>
          <p:cNvPr id="67" name="Text 64"/>
          <p:cNvSpPr txBox="1"/>
          <p:nvPr/>
        </p:nvSpPr>
        <p:spPr>
          <a:xfrm>
            <a:off x="2084832" y="4398264"/>
            <a:ext cx="2468880" cy="274320"/>
          </a:xfrm>
          <a:prstGeom prst="rect">
            <a:avLst/>
          </a:prstGeom>
          <a:noFill/>
          <a:ln/>
        </p:spPr>
        <p:txBody>
          <a:bodyPr wrap="square" lIns="0" tIns="0" rIns="0" bIns="0" rtlCol="0" anchor="t"/>
          <a:lstStyle/>
          <a:p>
            <a:pPr algn="ctr" indent="0" marL="0">
              <a:buNone/>
            </a:pPr>
            <a:r>
              <a:rPr lang="en-US" sz="1100" i="1" dirty="0">
                <a:solidFill>
                  <a:srgbClr val="5B6770"/>
                </a:solidFill>
                <a:latin typeface="Calibri" pitchFamily="34" charset="0"/>
                <a:ea typeface="Calibri" pitchFamily="34" charset="-122"/>
                <a:cs typeface="Calibri" pitchFamily="34" charset="-120"/>
              </a:rPr>
              <a:t>4×8 threads per warp</a:t>
            </a:r>
            <a:endParaRPr lang="en-US" sz="1100" dirty="0"/>
          </a:p>
        </p:txBody>
      </p:sp>
      <p:sp>
        <p:nvSpPr>
          <p:cNvPr id="68" name="op"/>
          <p:cNvSpPr txBox="1"/>
          <p:nvPr/>
        </p:nvSpPr>
        <p:spPr>
          <a:xfrm>
            <a:off x="4187952" y="306324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9" name="mcell"/>
          <p:cNvSpPr txBox="1"/>
          <p:nvPr/>
        </p:nvSpPr>
        <p:spPr>
          <a:xfrm>
            <a:off x="5056632" y="251460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0" name="mbr"/>
          <p:cNvSpPr/>
          <p:nvPr/>
        </p:nvSpPr>
        <p:spPr>
          <a:xfrm>
            <a:off x="5029200" y="2487168"/>
            <a:ext cx="0" cy="365760"/>
          </a:xfrm>
          <a:prstGeom prst="line">
            <a:avLst/>
          </a:prstGeom>
          <a:noFill/>
          <a:ln w="15875">
            <a:solidFill>
              <a:srgbClr val="1E2A32"/>
            </a:solidFill>
            <a:prstDash val="solid"/>
          </a:ln>
        </p:spPr>
      </p:sp>
      <p:sp>
        <p:nvSpPr>
          <p:cNvPr id="71" name="mbr"/>
          <p:cNvSpPr/>
          <p:nvPr/>
        </p:nvSpPr>
        <p:spPr>
          <a:xfrm>
            <a:off x="5029200" y="2487168"/>
            <a:ext cx="73152" cy="0"/>
          </a:xfrm>
          <a:prstGeom prst="line">
            <a:avLst/>
          </a:prstGeom>
          <a:noFill/>
          <a:ln w="15875">
            <a:solidFill>
              <a:srgbClr val="1E2A32"/>
            </a:solidFill>
            <a:prstDash val="solid"/>
          </a:ln>
        </p:spPr>
      </p:sp>
      <p:sp>
        <p:nvSpPr>
          <p:cNvPr id="72" name="mbr"/>
          <p:cNvSpPr/>
          <p:nvPr/>
        </p:nvSpPr>
        <p:spPr>
          <a:xfrm>
            <a:off x="5029200" y="2852928"/>
            <a:ext cx="73152" cy="0"/>
          </a:xfrm>
          <a:prstGeom prst="line">
            <a:avLst/>
          </a:prstGeom>
          <a:noFill/>
          <a:ln w="15875">
            <a:solidFill>
              <a:srgbClr val="1E2A32"/>
            </a:solidFill>
            <a:prstDash val="solid"/>
          </a:ln>
        </p:spPr>
      </p:sp>
      <p:sp>
        <p:nvSpPr>
          <p:cNvPr id="73" name="mbr"/>
          <p:cNvSpPr/>
          <p:nvPr/>
        </p:nvSpPr>
        <p:spPr>
          <a:xfrm>
            <a:off x="5394960" y="2487168"/>
            <a:ext cx="0" cy="365760"/>
          </a:xfrm>
          <a:prstGeom prst="line">
            <a:avLst/>
          </a:prstGeom>
          <a:noFill/>
          <a:ln w="15875">
            <a:solidFill>
              <a:srgbClr val="1E2A32"/>
            </a:solidFill>
            <a:prstDash val="solid"/>
          </a:ln>
        </p:spPr>
      </p:sp>
      <p:sp>
        <p:nvSpPr>
          <p:cNvPr id="74" name="mbr"/>
          <p:cNvSpPr/>
          <p:nvPr/>
        </p:nvSpPr>
        <p:spPr>
          <a:xfrm>
            <a:off x="5321808" y="2487168"/>
            <a:ext cx="73152" cy="0"/>
          </a:xfrm>
          <a:prstGeom prst="line">
            <a:avLst/>
          </a:prstGeom>
          <a:noFill/>
          <a:ln w="15875">
            <a:solidFill>
              <a:srgbClr val="1E2A32"/>
            </a:solidFill>
            <a:prstDash val="solid"/>
          </a:ln>
        </p:spPr>
      </p:sp>
      <p:sp>
        <p:nvSpPr>
          <p:cNvPr id="75" name="mbr"/>
          <p:cNvSpPr/>
          <p:nvPr/>
        </p:nvSpPr>
        <p:spPr>
          <a:xfrm>
            <a:off x="5321808" y="2852928"/>
            <a:ext cx="73152" cy="0"/>
          </a:xfrm>
          <a:prstGeom prst="line">
            <a:avLst/>
          </a:prstGeom>
          <a:noFill/>
          <a:ln w="15875">
            <a:solidFill>
              <a:srgbClr val="1E2A32"/>
            </a:solidFill>
            <a:prstDash val="solid"/>
          </a:ln>
        </p:spPr>
      </p:sp>
      <p:sp>
        <p:nvSpPr>
          <p:cNvPr id="76" name="mlab"/>
          <p:cNvSpPr txBox="1"/>
          <p:nvPr/>
        </p:nvSpPr>
        <p:spPr>
          <a:xfrm>
            <a:off x="5010912" y="227685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77" name="mlab"/>
          <p:cNvSpPr txBox="1"/>
          <p:nvPr/>
        </p:nvSpPr>
        <p:spPr>
          <a:xfrm>
            <a:off x="4727448" y="2514600"/>
            <a:ext cx="274320"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78" name="mname"/>
          <p:cNvSpPr txBox="1"/>
          <p:nvPr/>
        </p:nvSpPr>
        <p:spPr>
          <a:xfrm>
            <a:off x="4663440" y="2880360"/>
            <a:ext cx="10972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L_Wrp</a:t>
            </a:r>
            <a:endParaRPr lang="en-US" sz="1300" dirty="0"/>
          </a:p>
        </p:txBody>
      </p:sp>
      <p:sp>
        <p:nvSpPr>
          <p:cNvPr id="79" name="Text 76"/>
          <p:cNvSpPr txBox="1"/>
          <p:nvPr/>
        </p:nvSpPr>
        <p:spPr>
          <a:xfrm>
            <a:off x="4599432" y="3154680"/>
            <a:ext cx="1225296" cy="274320"/>
          </a:xfrm>
          <a:prstGeom prst="rect">
            <a:avLst/>
          </a:prstGeom>
          <a:noFill/>
          <a:ln/>
        </p:spPr>
        <p:txBody>
          <a:bodyPr wrap="square" lIns="0" tIns="0" rIns="0" bIns="0" rtlCol="0" anchor="t"/>
          <a:lstStyle/>
          <a:p>
            <a:pPr algn="ctr" indent="0" marL="0">
              <a:buNone/>
            </a:pPr>
            <a:r>
              <a:rPr lang="en-US" sz="1100" i="1" dirty="0">
                <a:solidFill>
                  <a:srgbClr val="5B6770"/>
                </a:solidFill>
                <a:latin typeface="Calibri" pitchFamily="34" charset="0"/>
                <a:ea typeface="Calibri" pitchFamily="34" charset="-122"/>
                <a:cs typeface="Calibri" pitchFamily="34" charset="-120"/>
              </a:rPr>
              <a:t>2×1 warps</a:t>
            </a:r>
            <a:endParaRPr lang="en-US" sz="1100" dirty="0"/>
          </a:p>
        </p:txBody>
      </p:sp>
      <p:sp>
        <p:nvSpPr>
          <p:cNvPr id="80" name="op"/>
          <p:cNvSpPr txBox="1"/>
          <p:nvPr/>
        </p:nvSpPr>
        <p:spPr>
          <a:xfrm>
            <a:off x="6675120" y="3520440"/>
            <a:ext cx="457200" cy="457200"/>
          </a:xfrm>
          <a:prstGeom prst="rect">
            <a:avLst/>
          </a:prstGeom>
          <a:noFill/>
          <a:ln/>
        </p:spPr>
        <p:txBody>
          <a:bodyPr wrap="square" lIns="0" tIns="0" rIns="0" bIns="0" rtlCol="0" anchor="ctr"/>
          <a:lstStyle/>
          <a:p>
            <a:pPr algn="ctr" indent="0" marL="0">
              <a:buNone/>
            </a:pPr>
            <a:r>
              <a:rPr lang="en-US" sz="2600" dirty="0">
                <a:solidFill>
                  <a:srgbClr val="5B6770"/>
                </a:solidFill>
                <a:latin typeface="Calibri" pitchFamily="34" charset="0"/>
                <a:ea typeface="Calibri" pitchFamily="34" charset="-122"/>
                <a:cs typeface="Calibri" pitchFamily="34" charset="-120"/>
              </a:rPr>
              <a:t>=</a:t>
            </a:r>
            <a:endParaRPr lang="en-US" sz="2600" dirty="0"/>
          </a:p>
        </p:txBody>
      </p:sp>
      <p:sp>
        <p:nvSpPr>
          <p:cNvPr id="81" name="mcell"/>
          <p:cNvSpPr txBox="1"/>
          <p:nvPr/>
        </p:nvSpPr>
        <p:spPr>
          <a:xfrm>
            <a:off x="7818120" y="2468880"/>
            <a:ext cx="329184" cy="329184"/>
          </a:xfrm>
          <a:prstGeom prst="rect">
            <a:avLst/>
          </a:prstGeom>
          <a:solidFill>
            <a:srgbClr val="DDEFF1"/>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2" name="mcell"/>
          <p:cNvSpPr txBox="1"/>
          <p:nvPr/>
        </p:nvSpPr>
        <p:spPr>
          <a:xfrm>
            <a:off x="8147304" y="2468880"/>
            <a:ext cx="329184" cy="329184"/>
          </a:xfrm>
          <a:prstGeom prst="rect">
            <a:avLst/>
          </a:prstGeom>
          <a:solidFill>
            <a:srgbClr val="DDEFF1"/>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83" name="mcell"/>
          <p:cNvSpPr txBox="1"/>
          <p:nvPr/>
        </p:nvSpPr>
        <p:spPr>
          <a:xfrm>
            <a:off x="8476488" y="2468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4" name="mcell"/>
          <p:cNvSpPr txBox="1"/>
          <p:nvPr/>
        </p:nvSpPr>
        <p:spPr>
          <a:xfrm>
            <a:off x="8805672" y="2468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5" name="mcell"/>
          <p:cNvSpPr txBox="1"/>
          <p:nvPr/>
        </p:nvSpPr>
        <p:spPr>
          <a:xfrm>
            <a:off x="9134856" y="2468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6" name="mcell"/>
          <p:cNvSpPr txBox="1"/>
          <p:nvPr/>
        </p:nvSpPr>
        <p:spPr>
          <a:xfrm>
            <a:off x="9464040" y="2468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7" name="mcell"/>
          <p:cNvSpPr txBox="1"/>
          <p:nvPr/>
        </p:nvSpPr>
        <p:spPr>
          <a:xfrm>
            <a:off x="9793224" y="2468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8" name="mcell"/>
          <p:cNvSpPr txBox="1"/>
          <p:nvPr/>
        </p:nvSpPr>
        <p:spPr>
          <a:xfrm>
            <a:off x="10122408" y="246888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9" name="mcell"/>
          <p:cNvSpPr txBox="1"/>
          <p:nvPr/>
        </p:nvSpPr>
        <p:spPr>
          <a:xfrm>
            <a:off x="7818120" y="2798064"/>
            <a:ext cx="329184" cy="329184"/>
          </a:xfrm>
          <a:prstGeom prst="rect">
            <a:avLst/>
          </a:prstGeom>
          <a:solidFill>
            <a:srgbClr val="DDEFF1"/>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90" name="mcell"/>
          <p:cNvSpPr txBox="1"/>
          <p:nvPr/>
        </p:nvSpPr>
        <p:spPr>
          <a:xfrm>
            <a:off x="8147304" y="2798064"/>
            <a:ext cx="329184" cy="329184"/>
          </a:xfrm>
          <a:prstGeom prst="rect">
            <a:avLst/>
          </a:prstGeom>
          <a:solidFill>
            <a:srgbClr val="DDEFF1"/>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1" name="mcell"/>
          <p:cNvSpPr txBox="1"/>
          <p:nvPr/>
        </p:nvSpPr>
        <p:spPr>
          <a:xfrm>
            <a:off x="8476488" y="2798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2" name="mcell"/>
          <p:cNvSpPr txBox="1"/>
          <p:nvPr/>
        </p:nvSpPr>
        <p:spPr>
          <a:xfrm>
            <a:off x="8805672" y="2798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3" name="mcell"/>
          <p:cNvSpPr txBox="1"/>
          <p:nvPr/>
        </p:nvSpPr>
        <p:spPr>
          <a:xfrm>
            <a:off x="9134856" y="2798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4" name="mcell"/>
          <p:cNvSpPr txBox="1"/>
          <p:nvPr/>
        </p:nvSpPr>
        <p:spPr>
          <a:xfrm>
            <a:off x="9464040" y="2798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5" name="mcell"/>
          <p:cNvSpPr txBox="1"/>
          <p:nvPr/>
        </p:nvSpPr>
        <p:spPr>
          <a:xfrm>
            <a:off x="9793224" y="2798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6" name="mcell"/>
          <p:cNvSpPr txBox="1"/>
          <p:nvPr/>
        </p:nvSpPr>
        <p:spPr>
          <a:xfrm>
            <a:off x="10122408" y="279806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7" name="mcell"/>
          <p:cNvSpPr txBox="1"/>
          <p:nvPr/>
        </p:nvSpPr>
        <p:spPr>
          <a:xfrm>
            <a:off x="7818120" y="3127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8" name="mcell"/>
          <p:cNvSpPr txBox="1"/>
          <p:nvPr/>
        </p:nvSpPr>
        <p:spPr>
          <a:xfrm>
            <a:off x="8147304" y="3127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9" name="mcell"/>
          <p:cNvSpPr txBox="1"/>
          <p:nvPr/>
        </p:nvSpPr>
        <p:spPr>
          <a:xfrm>
            <a:off x="8476488" y="3127248"/>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00" name="mcell"/>
          <p:cNvSpPr txBox="1"/>
          <p:nvPr/>
        </p:nvSpPr>
        <p:spPr>
          <a:xfrm>
            <a:off x="8805672" y="3127248"/>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01" name="mcell"/>
          <p:cNvSpPr txBox="1"/>
          <p:nvPr/>
        </p:nvSpPr>
        <p:spPr>
          <a:xfrm>
            <a:off x="9134856" y="3127248"/>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02" name="mcell"/>
          <p:cNvSpPr txBox="1"/>
          <p:nvPr/>
        </p:nvSpPr>
        <p:spPr>
          <a:xfrm>
            <a:off x="9464040" y="3127248"/>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03" name="mcell"/>
          <p:cNvSpPr txBox="1"/>
          <p:nvPr/>
        </p:nvSpPr>
        <p:spPr>
          <a:xfrm>
            <a:off x="9793224" y="3127248"/>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04" name="mcell"/>
          <p:cNvSpPr txBox="1"/>
          <p:nvPr/>
        </p:nvSpPr>
        <p:spPr>
          <a:xfrm>
            <a:off x="10122408" y="312724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5" name="mcell"/>
          <p:cNvSpPr txBox="1"/>
          <p:nvPr/>
        </p:nvSpPr>
        <p:spPr>
          <a:xfrm>
            <a:off x="7818120" y="345643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6" name="mcell"/>
          <p:cNvSpPr txBox="1"/>
          <p:nvPr/>
        </p:nvSpPr>
        <p:spPr>
          <a:xfrm>
            <a:off x="8147304" y="345643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7" name="mcell"/>
          <p:cNvSpPr txBox="1"/>
          <p:nvPr/>
        </p:nvSpPr>
        <p:spPr>
          <a:xfrm>
            <a:off x="8476488" y="3456432"/>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08" name="mcell"/>
          <p:cNvSpPr txBox="1"/>
          <p:nvPr/>
        </p:nvSpPr>
        <p:spPr>
          <a:xfrm>
            <a:off x="8805672" y="3456432"/>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09" name="mcell"/>
          <p:cNvSpPr txBox="1"/>
          <p:nvPr/>
        </p:nvSpPr>
        <p:spPr>
          <a:xfrm>
            <a:off x="9134856" y="3456432"/>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0" name="mcell"/>
          <p:cNvSpPr txBox="1"/>
          <p:nvPr/>
        </p:nvSpPr>
        <p:spPr>
          <a:xfrm>
            <a:off x="9464040" y="3456432"/>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1" name="mcell"/>
          <p:cNvSpPr txBox="1"/>
          <p:nvPr/>
        </p:nvSpPr>
        <p:spPr>
          <a:xfrm>
            <a:off x="9793224" y="3456432"/>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2" name="mcell"/>
          <p:cNvSpPr txBox="1"/>
          <p:nvPr/>
        </p:nvSpPr>
        <p:spPr>
          <a:xfrm>
            <a:off x="10122408" y="345643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3" name="mcell"/>
          <p:cNvSpPr txBox="1"/>
          <p:nvPr/>
        </p:nvSpPr>
        <p:spPr>
          <a:xfrm>
            <a:off x="7818120" y="378561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4" name="mcell"/>
          <p:cNvSpPr txBox="1"/>
          <p:nvPr/>
        </p:nvSpPr>
        <p:spPr>
          <a:xfrm>
            <a:off x="8147304" y="378561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5" name="mcell"/>
          <p:cNvSpPr txBox="1"/>
          <p:nvPr/>
        </p:nvSpPr>
        <p:spPr>
          <a:xfrm>
            <a:off x="8476488" y="3785616"/>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6" name="mcell"/>
          <p:cNvSpPr txBox="1"/>
          <p:nvPr/>
        </p:nvSpPr>
        <p:spPr>
          <a:xfrm>
            <a:off x="8805672" y="3785616"/>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7" name="mcell"/>
          <p:cNvSpPr txBox="1"/>
          <p:nvPr/>
        </p:nvSpPr>
        <p:spPr>
          <a:xfrm>
            <a:off x="9134856" y="3785616"/>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8" name="mcell"/>
          <p:cNvSpPr txBox="1"/>
          <p:nvPr/>
        </p:nvSpPr>
        <p:spPr>
          <a:xfrm>
            <a:off x="9464040" y="3785616"/>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9" name="mcell"/>
          <p:cNvSpPr txBox="1"/>
          <p:nvPr/>
        </p:nvSpPr>
        <p:spPr>
          <a:xfrm>
            <a:off x="9793224" y="3785616"/>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20" name="mcell"/>
          <p:cNvSpPr txBox="1"/>
          <p:nvPr/>
        </p:nvSpPr>
        <p:spPr>
          <a:xfrm>
            <a:off x="10122408" y="378561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1" name="mcell"/>
          <p:cNvSpPr txBox="1"/>
          <p:nvPr/>
        </p:nvSpPr>
        <p:spPr>
          <a:xfrm>
            <a:off x="7818120" y="4114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2" name="mcell"/>
          <p:cNvSpPr txBox="1"/>
          <p:nvPr/>
        </p:nvSpPr>
        <p:spPr>
          <a:xfrm>
            <a:off x="8147304" y="4114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3" name="mcell"/>
          <p:cNvSpPr txBox="1"/>
          <p:nvPr/>
        </p:nvSpPr>
        <p:spPr>
          <a:xfrm>
            <a:off x="8476488" y="4114800"/>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24" name="mcell"/>
          <p:cNvSpPr txBox="1"/>
          <p:nvPr/>
        </p:nvSpPr>
        <p:spPr>
          <a:xfrm>
            <a:off x="8805672" y="4114800"/>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25" name="mcell"/>
          <p:cNvSpPr txBox="1"/>
          <p:nvPr/>
        </p:nvSpPr>
        <p:spPr>
          <a:xfrm>
            <a:off x="9134856" y="4114800"/>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26" name="mcell"/>
          <p:cNvSpPr txBox="1"/>
          <p:nvPr/>
        </p:nvSpPr>
        <p:spPr>
          <a:xfrm>
            <a:off x="9464040" y="4114800"/>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7" name="mcell"/>
          <p:cNvSpPr txBox="1"/>
          <p:nvPr/>
        </p:nvSpPr>
        <p:spPr>
          <a:xfrm>
            <a:off x="9793224" y="4114800"/>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28" name="mcell"/>
          <p:cNvSpPr txBox="1"/>
          <p:nvPr/>
        </p:nvSpPr>
        <p:spPr>
          <a:xfrm>
            <a:off x="10122408" y="4114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9" name="mcell"/>
          <p:cNvSpPr txBox="1"/>
          <p:nvPr/>
        </p:nvSpPr>
        <p:spPr>
          <a:xfrm>
            <a:off x="7818120" y="4443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0" name="mcell"/>
          <p:cNvSpPr txBox="1"/>
          <p:nvPr/>
        </p:nvSpPr>
        <p:spPr>
          <a:xfrm>
            <a:off x="8147304" y="4443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1" name="mcell"/>
          <p:cNvSpPr txBox="1"/>
          <p:nvPr/>
        </p:nvSpPr>
        <p:spPr>
          <a:xfrm>
            <a:off x="8476488" y="4443984"/>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32" name="mcell"/>
          <p:cNvSpPr txBox="1"/>
          <p:nvPr/>
        </p:nvSpPr>
        <p:spPr>
          <a:xfrm>
            <a:off x="8805672" y="4443984"/>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33" name="mcell"/>
          <p:cNvSpPr txBox="1"/>
          <p:nvPr/>
        </p:nvSpPr>
        <p:spPr>
          <a:xfrm>
            <a:off x="9134856" y="4443984"/>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34" name="mcell"/>
          <p:cNvSpPr txBox="1"/>
          <p:nvPr/>
        </p:nvSpPr>
        <p:spPr>
          <a:xfrm>
            <a:off x="9464040" y="4443984"/>
            <a:ext cx="329184" cy="329184"/>
          </a:xfrm>
          <a:prstGeom prst="rect">
            <a:avLst/>
          </a:prstGeom>
          <a:solidFill>
            <a:srgbClr val="FFF0CC"/>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35" name="mcell"/>
          <p:cNvSpPr txBox="1"/>
          <p:nvPr/>
        </p:nvSpPr>
        <p:spPr>
          <a:xfrm>
            <a:off x="9793224" y="4443984"/>
            <a:ext cx="329184" cy="329184"/>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36" name="mcell"/>
          <p:cNvSpPr txBox="1"/>
          <p:nvPr/>
        </p:nvSpPr>
        <p:spPr>
          <a:xfrm>
            <a:off x="10122408" y="4443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7" name="mcell"/>
          <p:cNvSpPr txBox="1"/>
          <p:nvPr/>
        </p:nvSpPr>
        <p:spPr>
          <a:xfrm>
            <a:off x="7818120"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8" name="mcell"/>
          <p:cNvSpPr txBox="1"/>
          <p:nvPr/>
        </p:nvSpPr>
        <p:spPr>
          <a:xfrm>
            <a:off x="8147304"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9" name="mcell"/>
          <p:cNvSpPr txBox="1"/>
          <p:nvPr/>
        </p:nvSpPr>
        <p:spPr>
          <a:xfrm>
            <a:off x="8476488"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0" name="mcell"/>
          <p:cNvSpPr txBox="1"/>
          <p:nvPr/>
        </p:nvSpPr>
        <p:spPr>
          <a:xfrm>
            <a:off x="8805672"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1" name="mcell"/>
          <p:cNvSpPr txBox="1"/>
          <p:nvPr/>
        </p:nvSpPr>
        <p:spPr>
          <a:xfrm>
            <a:off x="9134856"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2" name="mcell"/>
          <p:cNvSpPr txBox="1"/>
          <p:nvPr/>
        </p:nvSpPr>
        <p:spPr>
          <a:xfrm>
            <a:off x="9464040"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3" name="mcell"/>
          <p:cNvSpPr txBox="1"/>
          <p:nvPr/>
        </p:nvSpPr>
        <p:spPr>
          <a:xfrm>
            <a:off x="9793224" y="4773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4" name="mcell"/>
          <p:cNvSpPr txBox="1"/>
          <p:nvPr/>
        </p:nvSpPr>
        <p:spPr>
          <a:xfrm>
            <a:off x="10122408" y="4773168"/>
            <a:ext cx="329184" cy="329184"/>
          </a:xfrm>
          <a:prstGeom prst="rect">
            <a:avLst/>
          </a:prstGeom>
          <a:solidFill>
            <a:srgbClr val="E3F2E4"/>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45" name="msep"/>
          <p:cNvSpPr/>
          <p:nvPr/>
        </p:nvSpPr>
        <p:spPr>
          <a:xfrm>
            <a:off x="8476488" y="2487168"/>
            <a:ext cx="0" cy="2596896"/>
          </a:xfrm>
          <a:prstGeom prst="line">
            <a:avLst/>
          </a:prstGeom>
          <a:noFill/>
          <a:ln w="9525">
            <a:solidFill>
              <a:srgbClr val="5B6770"/>
            </a:solidFill>
            <a:prstDash val="dash"/>
          </a:ln>
        </p:spPr>
      </p:sp>
      <p:sp>
        <p:nvSpPr>
          <p:cNvPr id="146" name="msep"/>
          <p:cNvSpPr/>
          <p:nvPr/>
        </p:nvSpPr>
        <p:spPr>
          <a:xfrm>
            <a:off x="10122408" y="2487168"/>
            <a:ext cx="0" cy="2596896"/>
          </a:xfrm>
          <a:prstGeom prst="line">
            <a:avLst/>
          </a:prstGeom>
          <a:noFill/>
          <a:ln w="9525">
            <a:solidFill>
              <a:srgbClr val="5B6770"/>
            </a:solidFill>
            <a:prstDash val="dash"/>
          </a:ln>
        </p:spPr>
      </p:sp>
      <p:sp>
        <p:nvSpPr>
          <p:cNvPr id="147" name="msep"/>
          <p:cNvSpPr/>
          <p:nvPr/>
        </p:nvSpPr>
        <p:spPr>
          <a:xfrm>
            <a:off x="7836408" y="3127248"/>
            <a:ext cx="2596896" cy="0"/>
          </a:xfrm>
          <a:prstGeom prst="line">
            <a:avLst/>
          </a:prstGeom>
          <a:noFill/>
          <a:ln w="9525">
            <a:solidFill>
              <a:srgbClr val="5B6770"/>
            </a:solidFill>
            <a:prstDash val="dash"/>
          </a:ln>
        </p:spPr>
      </p:sp>
      <p:sp>
        <p:nvSpPr>
          <p:cNvPr id="148" name="msep"/>
          <p:cNvSpPr/>
          <p:nvPr/>
        </p:nvSpPr>
        <p:spPr>
          <a:xfrm>
            <a:off x="7836408" y="4773168"/>
            <a:ext cx="2596896" cy="0"/>
          </a:xfrm>
          <a:prstGeom prst="line">
            <a:avLst/>
          </a:prstGeom>
          <a:noFill/>
          <a:ln w="9525">
            <a:solidFill>
              <a:srgbClr val="5B6770"/>
            </a:solidFill>
            <a:prstDash val="dash"/>
          </a:ln>
        </p:spPr>
      </p:sp>
      <p:sp>
        <p:nvSpPr>
          <p:cNvPr id="149" name="mbr"/>
          <p:cNvSpPr/>
          <p:nvPr/>
        </p:nvSpPr>
        <p:spPr>
          <a:xfrm>
            <a:off x="7790688" y="2441448"/>
            <a:ext cx="0" cy="2688336"/>
          </a:xfrm>
          <a:prstGeom prst="line">
            <a:avLst/>
          </a:prstGeom>
          <a:noFill/>
          <a:ln w="15875">
            <a:solidFill>
              <a:srgbClr val="1E2A32"/>
            </a:solidFill>
            <a:prstDash val="solid"/>
          </a:ln>
        </p:spPr>
      </p:sp>
      <p:sp>
        <p:nvSpPr>
          <p:cNvPr id="150" name="mbr"/>
          <p:cNvSpPr/>
          <p:nvPr/>
        </p:nvSpPr>
        <p:spPr>
          <a:xfrm>
            <a:off x="7790688" y="2441448"/>
            <a:ext cx="73152" cy="0"/>
          </a:xfrm>
          <a:prstGeom prst="line">
            <a:avLst/>
          </a:prstGeom>
          <a:noFill/>
          <a:ln w="15875">
            <a:solidFill>
              <a:srgbClr val="1E2A32"/>
            </a:solidFill>
            <a:prstDash val="solid"/>
          </a:ln>
        </p:spPr>
      </p:sp>
      <p:sp>
        <p:nvSpPr>
          <p:cNvPr id="151" name="mbr"/>
          <p:cNvSpPr/>
          <p:nvPr/>
        </p:nvSpPr>
        <p:spPr>
          <a:xfrm>
            <a:off x="7790688" y="5129784"/>
            <a:ext cx="73152" cy="0"/>
          </a:xfrm>
          <a:prstGeom prst="line">
            <a:avLst/>
          </a:prstGeom>
          <a:noFill/>
          <a:ln w="15875">
            <a:solidFill>
              <a:srgbClr val="1E2A32"/>
            </a:solidFill>
            <a:prstDash val="solid"/>
          </a:ln>
        </p:spPr>
      </p:sp>
      <p:sp>
        <p:nvSpPr>
          <p:cNvPr id="152" name="mbr"/>
          <p:cNvSpPr/>
          <p:nvPr/>
        </p:nvSpPr>
        <p:spPr>
          <a:xfrm>
            <a:off x="10479024" y="2441448"/>
            <a:ext cx="0" cy="2688336"/>
          </a:xfrm>
          <a:prstGeom prst="line">
            <a:avLst/>
          </a:prstGeom>
          <a:noFill/>
          <a:ln w="15875">
            <a:solidFill>
              <a:srgbClr val="1E2A32"/>
            </a:solidFill>
            <a:prstDash val="solid"/>
          </a:ln>
        </p:spPr>
      </p:sp>
      <p:sp>
        <p:nvSpPr>
          <p:cNvPr id="153" name="mbr"/>
          <p:cNvSpPr/>
          <p:nvPr/>
        </p:nvSpPr>
        <p:spPr>
          <a:xfrm>
            <a:off x="10405872" y="2441448"/>
            <a:ext cx="73152" cy="0"/>
          </a:xfrm>
          <a:prstGeom prst="line">
            <a:avLst/>
          </a:prstGeom>
          <a:noFill/>
          <a:ln w="15875">
            <a:solidFill>
              <a:srgbClr val="1E2A32"/>
            </a:solidFill>
            <a:prstDash val="solid"/>
          </a:ln>
        </p:spPr>
      </p:sp>
      <p:sp>
        <p:nvSpPr>
          <p:cNvPr id="154" name="mbr"/>
          <p:cNvSpPr/>
          <p:nvPr/>
        </p:nvSpPr>
        <p:spPr>
          <a:xfrm>
            <a:off x="10405872" y="5129784"/>
            <a:ext cx="73152" cy="0"/>
          </a:xfrm>
          <a:prstGeom prst="line">
            <a:avLst/>
          </a:prstGeom>
          <a:noFill/>
          <a:ln w="15875">
            <a:solidFill>
              <a:srgbClr val="1E2A32"/>
            </a:solidFill>
            <a:prstDash val="solid"/>
          </a:ln>
        </p:spPr>
      </p:sp>
      <p:sp>
        <p:nvSpPr>
          <p:cNvPr id="155" name="mlab"/>
          <p:cNvSpPr txBox="1"/>
          <p:nvPr/>
        </p:nvSpPr>
        <p:spPr>
          <a:xfrm>
            <a:off x="7772400"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156" name="mlab"/>
          <p:cNvSpPr txBox="1"/>
          <p:nvPr/>
        </p:nvSpPr>
        <p:spPr>
          <a:xfrm>
            <a:off x="8101584"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157" name="mlab"/>
          <p:cNvSpPr txBox="1"/>
          <p:nvPr/>
        </p:nvSpPr>
        <p:spPr>
          <a:xfrm>
            <a:off x="8430768"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58" name="mlab"/>
          <p:cNvSpPr txBox="1"/>
          <p:nvPr/>
        </p:nvSpPr>
        <p:spPr>
          <a:xfrm>
            <a:off x="8759952"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59" name="mlab"/>
          <p:cNvSpPr txBox="1"/>
          <p:nvPr/>
        </p:nvSpPr>
        <p:spPr>
          <a:xfrm>
            <a:off x="9089136"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160" name="mlab"/>
          <p:cNvSpPr txBox="1"/>
          <p:nvPr/>
        </p:nvSpPr>
        <p:spPr>
          <a:xfrm>
            <a:off x="9418320"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161" name="mlab"/>
          <p:cNvSpPr txBox="1"/>
          <p:nvPr/>
        </p:nvSpPr>
        <p:spPr>
          <a:xfrm>
            <a:off x="9747504"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162" name="mlab"/>
          <p:cNvSpPr txBox="1"/>
          <p:nvPr/>
        </p:nvSpPr>
        <p:spPr>
          <a:xfrm>
            <a:off x="10076688" y="223113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163" name="mgrp"/>
          <p:cNvSpPr txBox="1"/>
          <p:nvPr/>
        </p:nvSpPr>
        <p:spPr>
          <a:xfrm>
            <a:off x="7818120" y="1993392"/>
            <a:ext cx="658368"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164" name="mgrp"/>
          <p:cNvSpPr txBox="1"/>
          <p:nvPr/>
        </p:nvSpPr>
        <p:spPr>
          <a:xfrm>
            <a:off x="8476488" y="1993392"/>
            <a:ext cx="164592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165" name="mgrp"/>
          <p:cNvSpPr txBox="1"/>
          <p:nvPr/>
        </p:nvSpPr>
        <p:spPr>
          <a:xfrm>
            <a:off x="10122408" y="1993392"/>
            <a:ext cx="329184"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166" name="mlab"/>
          <p:cNvSpPr txBox="1"/>
          <p:nvPr/>
        </p:nvSpPr>
        <p:spPr>
          <a:xfrm>
            <a:off x="7415784" y="246888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167" name="mlab"/>
          <p:cNvSpPr txBox="1"/>
          <p:nvPr/>
        </p:nvSpPr>
        <p:spPr>
          <a:xfrm>
            <a:off x="7415784" y="279806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168" name="mlab"/>
          <p:cNvSpPr txBox="1"/>
          <p:nvPr/>
        </p:nvSpPr>
        <p:spPr>
          <a:xfrm>
            <a:off x="7415784" y="312724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169" name="mlab"/>
          <p:cNvSpPr txBox="1"/>
          <p:nvPr/>
        </p:nvSpPr>
        <p:spPr>
          <a:xfrm>
            <a:off x="7415784" y="3456432"/>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170" name="mlab"/>
          <p:cNvSpPr txBox="1"/>
          <p:nvPr/>
        </p:nvSpPr>
        <p:spPr>
          <a:xfrm>
            <a:off x="7415784" y="3785616"/>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171" name="mlab"/>
          <p:cNvSpPr txBox="1"/>
          <p:nvPr/>
        </p:nvSpPr>
        <p:spPr>
          <a:xfrm>
            <a:off x="7415784" y="411480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172" name="mlab"/>
          <p:cNvSpPr txBox="1"/>
          <p:nvPr/>
        </p:nvSpPr>
        <p:spPr>
          <a:xfrm>
            <a:off x="7415784" y="444398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173" name="mlab"/>
          <p:cNvSpPr txBox="1"/>
          <p:nvPr/>
        </p:nvSpPr>
        <p:spPr>
          <a:xfrm>
            <a:off x="7415784" y="477316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174" name="mname"/>
          <p:cNvSpPr txBox="1"/>
          <p:nvPr/>
        </p:nvSpPr>
        <p:spPr>
          <a:xfrm>
            <a:off x="7543800" y="5157216"/>
            <a:ext cx="31821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M₀ = L_Reg × L_Thr × L_Wrp</a:t>
            </a:r>
            <a:endParaRPr lang="en-US" sz="1300" dirty="0"/>
          </a:p>
        </p:txBody>
      </p:sp>
      <p:sp>
        <p:nvSpPr>
          <p:cNvPr id="175" name="panel"/>
          <p:cNvSpPr/>
          <p:nvPr/>
        </p:nvSpPr>
        <p:spPr>
          <a:xfrm>
            <a:off x="502920" y="4754880"/>
            <a:ext cx="6126480" cy="1097280"/>
          </a:xfrm>
          <a:prstGeom prst="roundRect">
            <a:avLst>
              <a:gd name="adj" fmla="val 6667"/>
            </a:avLst>
          </a:prstGeom>
          <a:solidFill>
            <a:srgbClr val="F3F6F7"/>
          </a:solidFill>
          <a:ln/>
        </p:spPr>
      </p:sp>
      <p:sp>
        <p:nvSpPr>
          <p:cNvPr id="176" name="Text 173"/>
          <p:cNvSpPr txBox="1"/>
          <p:nvPr/>
        </p:nvSpPr>
        <p:spPr>
          <a:xfrm>
            <a:off x="640080" y="4818888"/>
            <a:ext cx="5852160" cy="27432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Current upstream Triton builds Blocked layouts exactly this way:</a:t>
            </a:r>
            <a:endParaRPr lang="en-US" sz="1300" dirty="0"/>
          </a:p>
        </p:txBody>
      </p:sp>
      <p:sp>
        <p:nvSpPr>
          <p:cNvPr id="177" name="Text 174"/>
          <p:cNvSpPr txBox="1"/>
          <p:nvPr/>
        </p:nvSpPr>
        <p:spPr>
          <a:xfrm>
            <a:off x="640080" y="5102352"/>
            <a:ext cx="5943600" cy="731520"/>
          </a:xfrm>
          <a:prstGeom prst="rect">
            <a:avLst/>
          </a:prstGeom>
          <a:noFill/>
          <a:ln/>
        </p:spPr>
        <p:txBody>
          <a:bodyPr wrap="square" lIns="0" tIns="0" rIns="0" bIns="0" rtlCol="0" anchor="t"/>
          <a:lstStyle/>
          <a:p>
            <a:pPr indent="0" marL="0">
              <a:buNone/>
            </a:pPr>
            <a:r>
              <a:rPr lang="en-US" sz="1100" dirty="0">
                <a:solidFill>
                  <a:srgbClr val="0A4F58"/>
                </a:solidFill>
                <a:latin typeface="Courier New" pitchFamily="34" charset="0"/>
                <a:ea typeface="Courier New" pitchFamily="34" charset="-122"/>
                <a:cs typeface="Courier New" pitchFamily="34" charset="-120"/>
              </a:rPr>
              <a:t>identityStandardND("register", sizePerThread, order) *</a:t>
            </a:r>
            <a:endParaRPr lang="en-US" sz="1100" dirty="0"/>
          </a:p>
          <a:p>
            <a:pPr indent="0" marL="0">
              <a:buNone/>
            </a:pPr>
            <a:r>
              <a:rPr lang="en-US" sz="1100" dirty="0">
                <a:solidFill>
                  <a:srgbClr val="0A4F58"/>
                </a:solidFill>
                <a:latin typeface="Courier New" pitchFamily="34" charset="0"/>
                <a:ea typeface="Courier New" pitchFamily="34" charset="-122"/>
                <a:cs typeface="Courier New" pitchFamily="34" charset="-120"/>
              </a:rPr>
              <a:t>identityStandardND("lane", threadsPerWarp, order) *</a:t>
            </a:r>
            <a:endParaRPr lang="en-US" sz="1100" dirty="0"/>
          </a:p>
          <a:p>
            <a:pPr indent="0" marL="0">
              <a:buNone/>
            </a:pPr>
            <a:r>
              <a:rPr lang="en-US" sz="1100" dirty="0">
                <a:solidFill>
                  <a:srgbClr val="0A4F58"/>
                </a:solidFill>
                <a:latin typeface="Courier New" pitchFamily="34" charset="0"/>
                <a:ea typeface="Courier New" pitchFamily="34" charset="-122"/>
                <a:cs typeface="Courier New" pitchFamily="34" charset="-120"/>
              </a:rPr>
              <a:t>identityStandardND("warp", warpsPerCTA, order)</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PRODUCT + COMPOSITION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Recover A: regroup the output bits by tensor dimension</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Definitions 4.2–4.3 and matrix A, p. 136 (pedagogical factorization)</a:t>
            </a:r>
            <a:endParaRPr lang="en-US" sz="1000" dirty="0"/>
          </a:p>
        </p:txBody>
      </p:sp>
      <p:sp>
        <p:nvSpPr>
          <p:cNvPr id="6" name="mcell"/>
          <p:cNvSpPr txBox="1"/>
          <p:nvPr/>
        </p:nvSpPr>
        <p:spPr>
          <a:xfrm>
            <a:off x="1097280" y="1828800"/>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 name="mcell"/>
          <p:cNvSpPr txBox="1"/>
          <p:nvPr/>
        </p:nvSpPr>
        <p:spPr>
          <a:xfrm>
            <a:off x="1426464"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 name="mcell"/>
          <p:cNvSpPr txBox="1"/>
          <p:nvPr/>
        </p:nvSpPr>
        <p:spPr>
          <a:xfrm>
            <a:off x="1755648"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 name="mcell"/>
          <p:cNvSpPr txBox="1"/>
          <p:nvPr/>
        </p:nvSpPr>
        <p:spPr>
          <a:xfrm>
            <a:off x="2084832"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 name="mcell"/>
          <p:cNvSpPr txBox="1"/>
          <p:nvPr/>
        </p:nvSpPr>
        <p:spPr>
          <a:xfrm>
            <a:off x="2414016"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 name="mcell"/>
          <p:cNvSpPr txBox="1"/>
          <p:nvPr/>
        </p:nvSpPr>
        <p:spPr>
          <a:xfrm>
            <a:off x="2743200"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 name="mcell"/>
          <p:cNvSpPr txBox="1"/>
          <p:nvPr/>
        </p:nvSpPr>
        <p:spPr>
          <a:xfrm>
            <a:off x="3072384"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 name="mcell"/>
          <p:cNvSpPr txBox="1"/>
          <p:nvPr/>
        </p:nvSpPr>
        <p:spPr>
          <a:xfrm>
            <a:off x="3401568"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 name="mcell"/>
          <p:cNvSpPr txBox="1"/>
          <p:nvPr/>
        </p:nvSpPr>
        <p:spPr>
          <a:xfrm>
            <a:off x="1097280"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 name="mcell"/>
          <p:cNvSpPr txBox="1"/>
          <p:nvPr/>
        </p:nvSpPr>
        <p:spPr>
          <a:xfrm>
            <a:off x="1426464" y="2157984"/>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6" name="mcell"/>
          <p:cNvSpPr txBox="1"/>
          <p:nvPr/>
        </p:nvSpPr>
        <p:spPr>
          <a:xfrm>
            <a:off x="1755648"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 name="mcell"/>
          <p:cNvSpPr txBox="1"/>
          <p:nvPr/>
        </p:nvSpPr>
        <p:spPr>
          <a:xfrm>
            <a:off x="2084832"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8" name="mcell"/>
          <p:cNvSpPr txBox="1"/>
          <p:nvPr/>
        </p:nvSpPr>
        <p:spPr>
          <a:xfrm>
            <a:off x="2414016"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9" name="mcell"/>
          <p:cNvSpPr txBox="1"/>
          <p:nvPr/>
        </p:nvSpPr>
        <p:spPr>
          <a:xfrm>
            <a:off x="2743200"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0" name="mcell"/>
          <p:cNvSpPr txBox="1"/>
          <p:nvPr/>
        </p:nvSpPr>
        <p:spPr>
          <a:xfrm>
            <a:off x="3072384"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1" name="mcell"/>
          <p:cNvSpPr txBox="1"/>
          <p:nvPr/>
        </p:nvSpPr>
        <p:spPr>
          <a:xfrm>
            <a:off x="3401568"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2" name="mcell"/>
          <p:cNvSpPr txBox="1"/>
          <p:nvPr/>
        </p:nvSpPr>
        <p:spPr>
          <a:xfrm>
            <a:off x="1097280"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3" name="mcell"/>
          <p:cNvSpPr txBox="1"/>
          <p:nvPr/>
        </p:nvSpPr>
        <p:spPr>
          <a:xfrm>
            <a:off x="1426464"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4" name="mcell"/>
          <p:cNvSpPr txBox="1"/>
          <p:nvPr/>
        </p:nvSpPr>
        <p:spPr>
          <a:xfrm>
            <a:off x="1755648" y="2487168"/>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25" name="mcell"/>
          <p:cNvSpPr txBox="1"/>
          <p:nvPr/>
        </p:nvSpPr>
        <p:spPr>
          <a:xfrm>
            <a:off x="2084832"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6" name="mcell"/>
          <p:cNvSpPr txBox="1"/>
          <p:nvPr/>
        </p:nvSpPr>
        <p:spPr>
          <a:xfrm>
            <a:off x="2414016"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7" name="mcell"/>
          <p:cNvSpPr txBox="1"/>
          <p:nvPr/>
        </p:nvSpPr>
        <p:spPr>
          <a:xfrm>
            <a:off x="2743200"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8" name="mcell"/>
          <p:cNvSpPr txBox="1"/>
          <p:nvPr/>
        </p:nvSpPr>
        <p:spPr>
          <a:xfrm>
            <a:off x="3072384"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9" name="mcell"/>
          <p:cNvSpPr txBox="1"/>
          <p:nvPr/>
        </p:nvSpPr>
        <p:spPr>
          <a:xfrm>
            <a:off x="3401568"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0" name="mcell"/>
          <p:cNvSpPr txBox="1"/>
          <p:nvPr/>
        </p:nvSpPr>
        <p:spPr>
          <a:xfrm>
            <a:off x="1097280"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1" name="mcell"/>
          <p:cNvSpPr txBox="1"/>
          <p:nvPr/>
        </p:nvSpPr>
        <p:spPr>
          <a:xfrm>
            <a:off x="1426464"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2" name="mcell"/>
          <p:cNvSpPr txBox="1"/>
          <p:nvPr/>
        </p:nvSpPr>
        <p:spPr>
          <a:xfrm>
            <a:off x="1755648"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3" name="mcell"/>
          <p:cNvSpPr txBox="1"/>
          <p:nvPr/>
        </p:nvSpPr>
        <p:spPr>
          <a:xfrm>
            <a:off x="2084832" y="2816352"/>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4" name="mcell"/>
          <p:cNvSpPr txBox="1"/>
          <p:nvPr/>
        </p:nvSpPr>
        <p:spPr>
          <a:xfrm>
            <a:off x="2414016"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5" name="mcell"/>
          <p:cNvSpPr txBox="1"/>
          <p:nvPr/>
        </p:nvSpPr>
        <p:spPr>
          <a:xfrm>
            <a:off x="2743200"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6" name="mcell"/>
          <p:cNvSpPr txBox="1"/>
          <p:nvPr/>
        </p:nvSpPr>
        <p:spPr>
          <a:xfrm>
            <a:off x="3072384"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7" name="mcell"/>
          <p:cNvSpPr txBox="1"/>
          <p:nvPr/>
        </p:nvSpPr>
        <p:spPr>
          <a:xfrm>
            <a:off x="3401568"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8" name="mcell"/>
          <p:cNvSpPr txBox="1"/>
          <p:nvPr/>
        </p:nvSpPr>
        <p:spPr>
          <a:xfrm>
            <a:off x="1097280"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9" name="mcell"/>
          <p:cNvSpPr txBox="1"/>
          <p:nvPr/>
        </p:nvSpPr>
        <p:spPr>
          <a:xfrm>
            <a:off x="1426464"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0" name="mcell"/>
          <p:cNvSpPr txBox="1"/>
          <p:nvPr/>
        </p:nvSpPr>
        <p:spPr>
          <a:xfrm>
            <a:off x="1755648"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1" name="mcell"/>
          <p:cNvSpPr txBox="1"/>
          <p:nvPr/>
        </p:nvSpPr>
        <p:spPr>
          <a:xfrm>
            <a:off x="2084832"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2" name="mcell"/>
          <p:cNvSpPr txBox="1"/>
          <p:nvPr/>
        </p:nvSpPr>
        <p:spPr>
          <a:xfrm>
            <a:off x="2414016" y="3145536"/>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3" name="mcell"/>
          <p:cNvSpPr txBox="1"/>
          <p:nvPr/>
        </p:nvSpPr>
        <p:spPr>
          <a:xfrm>
            <a:off x="2743200"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4" name="mcell"/>
          <p:cNvSpPr txBox="1"/>
          <p:nvPr/>
        </p:nvSpPr>
        <p:spPr>
          <a:xfrm>
            <a:off x="3072384"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5" name="mcell"/>
          <p:cNvSpPr txBox="1"/>
          <p:nvPr/>
        </p:nvSpPr>
        <p:spPr>
          <a:xfrm>
            <a:off x="3401568"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6" name="mcell"/>
          <p:cNvSpPr txBox="1"/>
          <p:nvPr/>
        </p:nvSpPr>
        <p:spPr>
          <a:xfrm>
            <a:off x="1097280"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7" name="mcell"/>
          <p:cNvSpPr txBox="1"/>
          <p:nvPr/>
        </p:nvSpPr>
        <p:spPr>
          <a:xfrm>
            <a:off x="1426464"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8" name="mcell"/>
          <p:cNvSpPr txBox="1"/>
          <p:nvPr/>
        </p:nvSpPr>
        <p:spPr>
          <a:xfrm>
            <a:off x="1755648"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9" name="mcell"/>
          <p:cNvSpPr txBox="1"/>
          <p:nvPr/>
        </p:nvSpPr>
        <p:spPr>
          <a:xfrm>
            <a:off x="2084832"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0" name="mcell"/>
          <p:cNvSpPr txBox="1"/>
          <p:nvPr/>
        </p:nvSpPr>
        <p:spPr>
          <a:xfrm>
            <a:off x="2414016"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1" name="mcell"/>
          <p:cNvSpPr txBox="1"/>
          <p:nvPr/>
        </p:nvSpPr>
        <p:spPr>
          <a:xfrm>
            <a:off x="2743200" y="3474720"/>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2" name="mcell"/>
          <p:cNvSpPr txBox="1"/>
          <p:nvPr/>
        </p:nvSpPr>
        <p:spPr>
          <a:xfrm>
            <a:off x="3072384"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3" name="mcell"/>
          <p:cNvSpPr txBox="1"/>
          <p:nvPr/>
        </p:nvSpPr>
        <p:spPr>
          <a:xfrm>
            <a:off x="3401568"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4" name="mcell"/>
          <p:cNvSpPr txBox="1"/>
          <p:nvPr/>
        </p:nvSpPr>
        <p:spPr>
          <a:xfrm>
            <a:off x="1097280"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5" name="mcell"/>
          <p:cNvSpPr txBox="1"/>
          <p:nvPr/>
        </p:nvSpPr>
        <p:spPr>
          <a:xfrm>
            <a:off x="1426464"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6" name="mcell"/>
          <p:cNvSpPr txBox="1"/>
          <p:nvPr/>
        </p:nvSpPr>
        <p:spPr>
          <a:xfrm>
            <a:off x="1755648"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7" name="mcell"/>
          <p:cNvSpPr txBox="1"/>
          <p:nvPr/>
        </p:nvSpPr>
        <p:spPr>
          <a:xfrm>
            <a:off x="2084832"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8" name="mcell"/>
          <p:cNvSpPr txBox="1"/>
          <p:nvPr/>
        </p:nvSpPr>
        <p:spPr>
          <a:xfrm>
            <a:off x="2414016"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9" name="mcell"/>
          <p:cNvSpPr txBox="1"/>
          <p:nvPr/>
        </p:nvSpPr>
        <p:spPr>
          <a:xfrm>
            <a:off x="2743200"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0" name="mcell"/>
          <p:cNvSpPr txBox="1"/>
          <p:nvPr/>
        </p:nvSpPr>
        <p:spPr>
          <a:xfrm>
            <a:off x="3072384" y="3803904"/>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1" name="mcell"/>
          <p:cNvSpPr txBox="1"/>
          <p:nvPr/>
        </p:nvSpPr>
        <p:spPr>
          <a:xfrm>
            <a:off x="3401568"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2" name="mcell"/>
          <p:cNvSpPr txBox="1"/>
          <p:nvPr/>
        </p:nvSpPr>
        <p:spPr>
          <a:xfrm>
            <a:off x="1097280"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3" name="mcell"/>
          <p:cNvSpPr txBox="1"/>
          <p:nvPr/>
        </p:nvSpPr>
        <p:spPr>
          <a:xfrm>
            <a:off x="1426464"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4" name="mcell"/>
          <p:cNvSpPr txBox="1"/>
          <p:nvPr/>
        </p:nvSpPr>
        <p:spPr>
          <a:xfrm>
            <a:off x="1755648"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5" name="mcell"/>
          <p:cNvSpPr txBox="1"/>
          <p:nvPr/>
        </p:nvSpPr>
        <p:spPr>
          <a:xfrm>
            <a:off x="2084832"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6" name="mcell"/>
          <p:cNvSpPr txBox="1"/>
          <p:nvPr/>
        </p:nvSpPr>
        <p:spPr>
          <a:xfrm>
            <a:off x="2414016"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7" name="mcell"/>
          <p:cNvSpPr txBox="1"/>
          <p:nvPr/>
        </p:nvSpPr>
        <p:spPr>
          <a:xfrm>
            <a:off x="2743200"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8" name="mcell"/>
          <p:cNvSpPr txBox="1"/>
          <p:nvPr/>
        </p:nvSpPr>
        <p:spPr>
          <a:xfrm>
            <a:off x="3072384"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9" name="mcell"/>
          <p:cNvSpPr txBox="1"/>
          <p:nvPr/>
        </p:nvSpPr>
        <p:spPr>
          <a:xfrm>
            <a:off x="3401568" y="4133088"/>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0" name="msep"/>
          <p:cNvSpPr/>
          <p:nvPr/>
        </p:nvSpPr>
        <p:spPr>
          <a:xfrm>
            <a:off x="1755648" y="1847088"/>
            <a:ext cx="0" cy="2596896"/>
          </a:xfrm>
          <a:prstGeom prst="line">
            <a:avLst/>
          </a:prstGeom>
          <a:noFill/>
          <a:ln w="9525">
            <a:solidFill>
              <a:srgbClr val="5B6770"/>
            </a:solidFill>
            <a:prstDash val="dash"/>
          </a:ln>
        </p:spPr>
      </p:sp>
      <p:sp>
        <p:nvSpPr>
          <p:cNvPr id="71" name="msep"/>
          <p:cNvSpPr/>
          <p:nvPr/>
        </p:nvSpPr>
        <p:spPr>
          <a:xfrm>
            <a:off x="3401568" y="1847088"/>
            <a:ext cx="0" cy="2596896"/>
          </a:xfrm>
          <a:prstGeom prst="line">
            <a:avLst/>
          </a:prstGeom>
          <a:noFill/>
          <a:ln w="9525">
            <a:solidFill>
              <a:srgbClr val="5B6770"/>
            </a:solidFill>
            <a:prstDash val="dash"/>
          </a:ln>
        </p:spPr>
      </p:sp>
      <p:sp>
        <p:nvSpPr>
          <p:cNvPr id="72" name="msep"/>
          <p:cNvSpPr/>
          <p:nvPr/>
        </p:nvSpPr>
        <p:spPr>
          <a:xfrm>
            <a:off x="1115568" y="2487168"/>
            <a:ext cx="2596896" cy="0"/>
          </a:xfrm>
          <a:prstGeom prst="line">
            <a:avLst/>
          </a:prstGeom>
          <a:noFill/>
          <a:ln w="9525">
            <a:solidFill>
              <a:srgbClr val="5B6770"/>
            </a:solidFill>
            <a:prstDash val="dash"/>
          </a:ln>
        </p:spPr>
      </p:sp>
      <p:sp>
        <p:nvSpPr>
          <p:cNvPr id="73" name="msep"/>
          <p:cNvSpPr/>
          <p:nvPr/>
        </p:nvSpPr>
        <p:spPr>
          <a:xfrm>
            <a:off x="1115568" y="4133088"/>
            <a:ext cx="2596896" cy="0"/>
          </a:xfrm>
          <a:prstGeom prst="line">
            <a:avLst/>
          </a:prstGeom>
          <a:noFill/>
          <a:ln w="9525">
            <a:solidFill>
              <a:srgbClr val="5B6770"/>
            </a:solidFill>
            <a:prstDash val="dash"/>
          </a:ln>
        </p:spPr>
      </p:sp>
      <p:sp>
        <p:nvSpPr>
          <p:cNvPr id="74" name="mbr"/>
          <p:cNvSpPr/>
          <p:nvPr/>
        </p:nvSpPr>
        <p:spPr>
          <a:xfrm>
            <a:off x="1069848" y="1801368"/>
            <a:ext cx="0" cy="2688336"/>
          </a:xfrm>
          <a:prstGeom prst="line">
            <a:avLst/>
          </a:prstGeom>
          <a:noFill/>
          <a:ln w="15875">
            <a:solidFill>
              <a:srgbClr val="1E2A32"/>
            </a:solidFill>
            <a:prstDash val="solid"/>
          </a:ln>
        </p:spPr>
      </p:sp>
      <p:sp>
        <p:nvSpPr>
          <p:cNvPr id="75" name="mbr"/>
          <p:cNvSpPr/>
          <p:nvPr/>
        </p:nvSpPr>
        <p:spPr>
          <a:xfrm>
            <a:off x="1069848" y="1801368"/>
            <a:ext cx="73152" cy="0"/>
          </a:xfrm>
          <a:prstGeom prst="line">
            <a:avLst/>
          </a:prstGeom>
          <a:noFill/>
          <a:ln w="15875">
            <a:solidFill>
              <a:srgbClr val="1E2A32"/>
            </a:solidFill>
            <a:prstDash val="solid"/>
          </a:ln>
        </p:spPr>
      </p:sp>
      <p:sp>
        <p:nvSpPr>
          <p:cNvPr id="76" name="mbr"/>
          <p:cNvSpPr/>
          <p:nvPr/>
        </p:nvSpPr>
        <p:spPr>
          <a:xfrm>
            <a:off x="1069848" y="4489704"/>
            <a:ext cx="73152" cy="0"/>
          </a:xfrm>
          <a:prstGeom prst="line">
            <a:avLst/>
          </a:prstGeom>
          <a:noFill/>
          <a:ln w="15875">
            <a:solidFill>
              <a:srgbClr val="1E2A32"/>
            </a:solidFill>
            <a:prstDash val="solid"/>
          </a:ln>
        </p:spPr>
      </p:sp>
      <p:sp>
        <p:nvSpPr>
          <p:cNvPr id="77" name="mbr"/>
          <p:cNvSpPr/>
          <p:nvPr/>
        </p:nvSpPr>
        <p:spPr>
          <a:xfrm>
            <a:off x="3758184" y="1801368"/>
            <a:ext cx="0" cy="2688336"/>
          </a:xfrm>
          <a:prstGeom prst="line">
            <a:avLst/>
          </a:prstGeom>
          <a:noFill/>
          <a:ln w="15875">
            <a:solidFill>
              <a:srgbClr val="1E2A32"/>
            </a:solidFill>
            <a:prstDash val="solid"/>
          </a:ln>
        </p:spPr>
      </p:sp>
      <p:sp>
        <p:nvSpPr>
          <p:cNvPr id="78" name="mbr"/>
          <p:cNvSpPr/>
          <p:nvPr/>
        </p:nvSpPr>
        <p:spPr>
          <a:xfrm>
            <a:off x="3685032" y="1801368"/>
            <a:ext cx="73152" cy="0"/>
          </a:xfrm>
          <a:prstGeom prst="line">
            <a:avLst/>
          </a:prstGeom>
          <a:noFill/>
          <a:ln w="15875">
            <a:solidFill>
              <a:srgbClr val="1E2A32"/>
            </a:solidFill>
            <a:prstDash val="solid"/>
          </a:ln>
        </p:spPr>
      </p:sp>
      <p:sp>
        <p:nvSpPr>
          <p:cNvPr id="79" name="mbr"/>
          <p:cNvSpPr/>
          <p:nvPr/>
        </p:nvSpPr>
        <p:spPr>
          <a:xfrm>
            <a:off x="3685032" y="4489704"/>
            <a:ext cx="73152" cy="0"/>
          </a:xfrm>
          <a:prstGeom prst="line">
            <a:avLst/>
          </a:prstGeom>
          <a:noFill/>
          <a:ln w="15875">
            <a:solidFill>
              <a:srgbClr val="1E2A32"/>
            </a:solidFill>
            <a:prstDash val="solid"/>
          </a:ln>
        </p:spPr>
      </p:sp>
      <p:sp>
        <p:nvSpPr>
          <p:cNvPr id="80" name="mlab"/>
          <p:cNvSpPr txBox="1"/>
          <p:nvPr/>
        </p:nvSpPr>
        <p:spPr>
          <a:xfrm>
            <a:off x="1051560"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81" name="mlab"/>
          <p:cNvSpPr txBox="1"/>
          <p:nvPr/>
        </p:nvSpPr>
        <p:spPr>
          <a:xfrm>
            <a:off x="1380744"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82" name="mlab"/>
          <p:cNvSpPr txBox="1"/>
          <p:nvPr/>
        </p:nvSpPr>
        <p:spPr>
          <a:xfrm>
            <a:off x="1709928"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83" name="mlab"/>
          <p:cNvSpPr txBox="1"/>
          <p:nvPr/>
        </p:nvSpPr>
        <p:spPr>
          <a:xfrm>
            <a:off x="2039112"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84" name="mlab"/>
          <p:cNvSpPr txBox="1"/>
          <p:nvPr/>
        </p:nvSpPr>
        <p:spPr>
          <a:xfrm>
            <a:off x="2368296"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85" name="mlab"/>
          <p:cNvSpPr txBox="1"/>
          <p:nvPr/>
        </p:nvSpPr>
        <p:spPr>
          <a:xfrm>
            <a:off x="2697480"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86" name="mlab"/>
          <p:cNvSpPr txBox="1"/>
          <p:nvPr/>
        </p:nvSpPr>
        <p:spPr>
          <a:xfrm>
            <a:off x="3026664"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87" name="mlab"/>
          <p:cNvSpPr txBox="1"/>
          <p:nvPr/>
        </p:nvSpPr>
        <p:spPr>
          <a:xfrm>
            <a:off x="3355848"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88" name="mgrp"/>
          <p:cNvSpPr txBox="1"/>
          <p:nvPr/>
        </p:nvSpPr>
        <p:spPr>
          <a:xfrm>
            <a:off x="1097280" y="1353312"/>
            <a:ext cx="658368"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89" name="mgrp"/>
          <p:cNvSpPr txBox="1"/>
          <p:nvPr/>
        </p:nvSpPr>
        <p:spPr>
          <a:xfrm>
            <a:off x="1755648" y="1353312"/>
            <a:ext cx="164592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90" name="mgrp"/>
          <p:cNvSpPr txBox="1"/>
          <p:nvPr/>
        </p:nvSpPr>
        <p:spPr>
          <a:xfrm>
            <a:off x="3401568" y="1353312"/>
            <a:ext cx="329184"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91" name="mlab"/>
          <p:cNvSpPr txBox="1"/>
          <p:nvPr/>
        </p:nvSpPr>
        <p:spPr>
          <a:xfrm>
            <a:off x="694944" y="182880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92" name="mlab"/>
          <p:cNvSpPr txBox="1"/>
          <p:nvPr/>
        </p:nvSpPr>
        <p:spPr>
          <a:xfrm>
            <a:off x="694944" y="215798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93" name="mlab"/>
          <p:cNvSpPr txBox="1"/>
          <p:nvPr/>
        </p:nvSpPr>
        <p:spPr>
          <a:xfrm>
            <a:off x="694944" y="248716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94" name="mlab"/>
          <p:cNvSpPr txBox="1"/>
          <p:nvPr/>
        </p:nvSpPr>
        <p:spPr>
          <a:xfrm>
            <a:off x="694944" y="2816352"/>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95" name="mlab"/>
          <p:cNvSpPr txBox="1"/>
          <p:nvPr/>
        </p:nvSpPr>
        <p:spPr>
          <a:xfrm>
            <a:off x="694944" y="3145536"/>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96" name="mlab"/>
          <p:cNvSpPr txBox="1"/>
          <p:nvPr/>
        </p:nvSpPr>
        <p:spPr>
          <a:xfrm>
            <a:off x="694944" y="347472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97" name="mlab"/>
          <p:cNvSpPr txBox="1"/>
          <p:nvPr/>
        </p:nvSpPr>
        <p:spPr>
          <a:xfrm>
            <a:off x="694944" y="380390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98" name="mlab"/>
          <p:cNvSpPr txBox="1"/>
          <p:nvPr/>
        </p:nvSpPr>
        <p:spPr>
          <a:xfrm>
            <a:off x="694944" y="413308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99" name="mname"/>
          <p:cNvSpPr txBox="1"/>
          <p:nvPr/>
        </p:nvSpPr>
        <p:spPr>
          <a:xfrm>
            <a:off x="822960" y="4517136"/>
            <a:ext cx="31821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M₀ (rows grouped by level)</a:t>
            </a:r>
            <a:endParaRPr lang="en-US" sz="1300" dirty="0"/>
          </a:p>
        </p:txBody>
      </p:sp>
      <p:sp>
        <p:nvSpPr>
          <p:cNvPr id="100" name="mcell"/>
          <p:cNvSpPr txBox="1"/>
          <p:nvPr/>
        </p:nvSpPr>
        <p:spPr>
          <a:xfrm>
            <a:off x="6949440" y="1828800"/>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01" name="mcell"/>
          <p:cNvSpPr txBox="1"/>
          <p:nvPr/>
        </p:nvSpPr>
        <p:spPr>
          <a:xfrm>
            <a:off x="7278624"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2" name="mcell"/>
          <p:cNvSpPr txBox="1"/>
          <p:nvPr/>
        </p:nvSpPr>
        <p:spPr>
          <a:xfrm>
            <a:off x="7607808"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3" name="mcell"/>
          <p:cNvSpPr txBox="1"/>
          <p:nvPr/>
        </p:nvSpPr>
        <p:spPr>
          <a:xfrm>
            <a:off x="7936992"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4" name="mcell"/>
          <p:cNvSpPr txBox="1"/>
          <p:nvPr/>
        </p:nvSpPr>
        <p:spPr>
          <a:xfrm>
            <a:off x="8266176"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5" name="mcell"/>
          <p:cNvSpPr txBox="1"/>
          <p:nvPr/>
        </p:nvSpPr>
        <p:spPr>
          <a:xfrm>
            <a:off x="8595360"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6" name="mcell"/>
          <p:cNvSpPr txBox="1"/>
          <p:nvPr/>
        </p:nvSpPr>
        <p:spPr>
          <a:xfrm>
            <a:off x="8924544"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7" name="mcell"/>
          <p:cNvSpPr txBox="1"/>
          <p:nvPr/>
        </p:nvSpPr>
        <p:spPr>
          <a:xfrm>
            <a:off x="9253728" y="182880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8" name="mcell"/>
          <p:cNvSpPr txBox="1"/>
          <p:nvPr/>
        </p:nvSpPr>
        <p:spPr>
          <a:xfrm>
            <a:off x="6949440"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9" name="mcell"/>
          <p:cNvSpPr txBox="1"/>
          <p:nvPr/>
        </p:nvSpPr>
        <p:spPr>
          <a:xfrm>
            <a:off x="7278624"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0" name="mcell"/>
          <p:cNvSpPr txBox="1"/>
          <p:nvPr/>
        </p:nvSpPr>
        <p:spPr>
          <a:xfrm>
            <a:off x="7607808" y="2157984"/>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1" name="mcell"/>
          <p:cNvSpPr txBox="1"/>
          <p:nvPr/>
        </p:nvSpPr>
        <p:spPr>
          <a:xfrm>
            <a:off x="7936992"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2" name="mcell"/>
          <p:cNvSpPr txBox="1"/>
          <p:nvPr/>
        </p:nvSpPr>
        <p:spPr>
          <a:xfrm>
            <a:off x="8266176"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3" name="mcell"/>
          <p:cNvSpPr txBox="1"/>
          <p:nvPr/>
        </p:nvSpPr>
        <p:spPr>
          <a:xfrm>
            <a:off x="8595360"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4" name="mcell"/>
          <p:cNvSpPr txBox="1"/>
          <p:nvPr/>
        </p:nvSpPr>
        <p:spPr>
          <a:xfrm>
            <a:off x="8924544"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5" name="mcell"/>
          <p:cNvSpPr txBox="1"/>
          <p:nvPr/>
        </p:nvSpPr>
        <p:spPr>
          <a:xfrm>
            <a:off x="9253728" y="215798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6" name="mcell"/>
          <p:cNvSpPr txBox="1"/>
          <p:nvPr/>
        </p:nvSpPr>
        <p:spPr>
          <a:xfrm>
            <a:off x="6949440"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7" name="mcell"/>
          <p:cNvSpPr txBox="1"/>
          <p:nvPr/>
        </p:nvSpPr>
        <p:spPr>
          <a:xfrm>
            <a:off x="7278624"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8" name="mcell"/>
          <p:cNvSpPr txBox="1"/>
          <p:nvPr/>
        </p:nvSpPr>
        <p:spPr>
          <a:xfrm>
            <a:off x="7607808"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9" name="mcell"/>
          <p:cNvSpPr txBox="1"/>
          <p:nvPr/>
        </p:nvSpPr>
        <p:spPr>
          <a:xfrm>
            <a:off x="7936992" y="2487168"/>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0" name="mcell"/>
          <p:cNvSpPr txBox="1"/>
          <p:nvPr/>
        </p:nvSpPr>
        <p:spPr>
          <a:xfrm>
            <a:off x="8266176"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1" name="mcell"/>
          <p:cNvSpPr txBox="1"/>
          <p:nvPr/>
        </p:nvSpPr>
        <p:spPr>
          <a:xfrm>
            <a:off x="8595360"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2" name="mcell"/>
          <p:cNvSpPr txBox="1"/>
          <p:nvPr/>
        </p:nvSpPr>
        <p:spPr>
          <a:xfrm>
            <a:off x="8924544"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3" name="mcell"/>
          <p:cNvSpPr txBox="1"/>
          <p:nvPr/>
        </p:nvSpPr>
        <p:spPr>
          <a:xfrm>
            <a:off x="9253728" y="248716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4" name="mcell"/>
          <p:cNvSpPr txBox="1"/>
          <p:nvPr/>
        </p:nvSpPr>
        <p:spPr>
          <a:xfrm>
            <a:off x="6949440"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5" name="mcell"/>
          <p:cNvSpPr txBox="1"/>
          <p:nvPr/>
        </p:nvSpPr>
        <p:spPr>
          <a:xfrm>
            <a:off x="7278624"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6" name="mcell"/>
          <p:cNvSpPr txBox="1"/>
          <p:nvPr/>
        </p:nvSpPr>
        <p:spPr>
          <a:xfrm>
            <a:off x="7607808"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7" name="mcell"/>
          <p:cNvSpPr txBox="1"/>
          <p:nvPr/>
        </p:nvSpPr>
        <p:spPr>
          <a:xfrm>
            <a:off x="7936992"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8" name="mcell"/>
          <p:cNvSpPr txBox="1"/>
          <p:nvPr/>
        </p:nvSpPr>
        <p:spPr>
          <a:xfrm>
            <a:off x="8266176" y="2816352"/>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9" name="mcell"/>
          <p:cNvSpPr txBox="1"/>
          <p:nvPr/>
        </p:nvSpPr>
        <p:spPr>
          <a:xfrm>
            <a:off x="8595360"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0" name="mcell"/>
          <p:cNvSpPr txBox="1"/>
          <p:nvPr/>
        </p:nvSpPr>
        <p:spPr>
          <a:xfrm>
            <a:off x="8924544"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1" name="mcell"/>
          <p:cNvSpPr txBox="1"/>
          <p:nvPr/>
        </p:nvSpPr>
        <p:spPr>
          <a:xfrm>
            <a:off x="9253728" y="2816352"/>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2" name="mcell"/>
          <p:cNvSpPr txBox="1"/>
          <p:nvPr/>
        </p:nvSpPr>
        <p:spPr>
          <a:xfrm>
            <a:off x="6949440"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3" name="mcell"/>
          <p:cNvSpPr txBox="1"/>
          <p:nvPr/>
        </p:nvSpPr>
        <p:spPr>
          <a:xfrm>
            <a:off x="7278624" y="3145536"/>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34" name="mcell"/>
          <p:cNvSpPr txBox="1"/>
          <p:nvPr/>
        </p:nvSpPr>
        <p:spPr>
          <a:xfrm>
            <a:off x="7607808"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5" name="mcell"/>
          <p:cNvSpPr txBox="1"/>
          <p:nvPr/>
        </p:nvSpPr>
        <p:spPr>
          <a:xfrm>
            <a:off x="7936992"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6" name="mcell"/>
          <p:cNvSpPr txBox="1"/>
          <p:nvPr/>
        </p:nvSpPr>
        <p:spPr>
          <a:xfrm>
            <a:off x="8266176"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7" name="mcell"/>
          <p:cNvSpPr txBox="1"/>
          <p:nvPr/>
        </p:nvSpPr>
        <p:spPr>
          <a:xfrm>
            <a:off x="8595360"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8" name="mcell"/>
          <p:cNvSpPr txBox="1"/>
          <p:nvPr/>
        </p:nvSpPr>
        <p:spPr>
          <a:xfrm>
            <a:off x="8924544"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9" name="mcell"/>
          <p:cNvSpPr txBox="1"/>
          <p:nvPr/>
        </p:nvSpPr>
        <p:spPr>
          <a:xfrm>
            <a:off x="9253728" y="3145536"/>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0" name="mcell"/>
          <p:cNvSpPr txBox="1"/>
          <p:nvPr/>
        </p:nvSpPr>
        <p:spPr>
          <a:xfrm>
            <a:off x="6949440"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1" name="mcell"/>
          <p:cNvSpPr txBox="1"/>
          <p:nvPr/>
        </p:nvSpPr>
        <p:spPr>
          <a:xfrm>
            <a:off x="7278624"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2" name="mcell"/>
          <p:cNvSpPr txBox="1"/>
          <p:nvPr/>
        </p:nvSpPr>
        <p:spPr>
          <a:xfrm>
            <a:off x="7607808"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3" name="mcell"/>
          <p:cNvSpPr txBox="1"/>
          <p:nvPr/>
        </p:nvSpPr>
        <p:spPr>
          <a:xfrm>
            <a:off x="7936992"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4" name="mcell"/>
          <p:cNvSpPr txBox="1"/>
          <p:nvPr/>
        </p:nvSpPr>
        <p:spPr>
          <a:xfrm>
            <a:off x="8266176"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5" name="mcell"/>
          <p:cNvSpPr txBox="1"/>
          <p:nvPr/>
        </p:nvSpPr>
        <p:spPr>
          <a:xfrm>
            <a:off x="8595360" y="3474720"/>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46" name="mcell"/>
          <p:cNvSpPr txBox="1"/>
          <p:nvPr/>
        </p:nvSpPr>
        <p:spPr>
          <a:xfrm>
            <a:off x="8924544"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7" name="mcell"/>
          <p:cNvSpPr txBox="1"/>
          <p:nvPr/>
        </p:nvSpPr>
        <p:spPr>
          <a:xfrm>
            <a:off x="9253728" y="3474720"/>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8" name="mcell"/>
          <p:cNvSpPr txBox="1"/>
          <p:nvPr/>
        </p:nvSpPr>
        <p:spPr>
          <a:xfrm>
            <a:off x="6949440"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9" name="mcell"/>
          <p:cNvSpPr txBox="1"/>
          <p:nvPr/>
        </p:nvSpPr>
        <p:spPr>
          <a:xfrm>
            <a:off x="7278624"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0" name="mcell"/>
          <p:cNvSpPr txBox="1"/>
          <p:nvPr/>
        </p:nvSpPr>
        <p:spPr>
          <a:xfrm>
            <a:off x="7607808"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1" name="mcell"/>
          <p:cNvSpPr txBox="1"/>
          <p:nvPr/>
        </p:nvSpPr>
        <p:spPr>
          <a:xfrm>
            <a:off x="7936992"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2" name="mcell"/>
          <p:cNvSpPr txBox="1"/>
          <p:nvPr/>
        </p:nvSpPr>
        <p:spPr>
          <a:xfrm>
            <a:off x="8266176"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3" name="mcell"/>
          <p:cNvSpPr txBox="1"/>
          <p:nvPr/>
        </p:nvSpPr>
        <p:spPr>
          <a:xfrm>
            <a:off x="8595360"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4" name="mcell"/>
          <p:cNvSpPr txBox="1"/>
          <p:nvPr/>
        </p:nvSpPr>
        <p:spPr>
          <a:xfrm>
            <a:off x="8924544" y="3803904"/>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55" name="mcell"/>
          <p:cNvSpPr txBox="1"/>
          <p:nvPr/>
        </p:nvSpPr>
        <p:spPr>
          <a:xfrm>
            <a:off x="9253728" y="3803904"/>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6" name="mcell"/>
          <p:cNvSpPr txBox="1"/>
          <p:nvPr/>
        </p:nvSpPr>
        <p:spPr>
          <a:xfrm>
            <a:off x="6949440"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7" name="mcell"/>
          <p:cNvSpPr txBox="1"/>
          <p:nvPr/>
        </p:nvSpPr>
        <p:spPr>
          <a:xfrm>
            <a:off x="7278624"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8" name="mcell"/>
          <p:cNvSpPr txBox="1"/>
          <p:nvPr/>
        </p:nvSpPr>
        <p:spPr>
          <a:xfrm>
            <a:off x="7607808"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9" name="mcell"/>
          <p:cNvSpPr txBox="1"/>
          <p:nvPr/>
        </p:nvSpPr>
        <p:spPr>
          <a:xfrm>
            <a:off x="7936992"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0" name="mcell"/>
          <p:cNvSpPr txBox="1"/>
          <p:nvPr/>
        </p:nvSpPr>
        <p:spPr>
          <a:xfrm>
            <a:off x="8266176"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1" name="mcell"/>
          <p:cNvSpPr txBox="1"/>
          <p:nvPr/>
        </p:nvSpPr>
        <p:spPr>
          <a:xfrm>
            <a:off x="8595360"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2" name="mcell"/>
          <p:cNvSpPr txBox="1"/>
          <p:nvPr/>
        </p:nvSpPr>
        <p:spPr>
          <a:xfrm>
            <a:off x="8924544" y="4133088"/>
            <a:ext cx="329184" cy="329184"/>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3" name="mcell"/>
          <p:cNvSpPr txBox="1"/>
          <p:nvPr/>
        </p:nvSpPr>
        <p:spPr>
          <a:xfrm>
            <a:off x="9253728" y="4133088"/>
            <a:ext cx="329184" cy="329184"/>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64" name="msep"/>
          <p:cNvSpPr/>
          <p:nvPr/>
        </p:nvSpPr>
        <p:spPr>
          <a:xfrm>
            <a:off x="7607808" y="1847088"/>
            <a:ext cx="0" cy="2596896"/>
          </a:xfrm>
          <a:prstGeom prst="line">
            <a:avLst/>
          </a:prstGeom>
          <a:noFill/>
          <a:ln w="9525">
            <a:solidFill>
              <a:srgbClr val="5B6770"/>
            </a:solidFill>
            <a:prstDash val="dash"/>
          </a:ln>
        </p:spPr>
      </p:sp>
      <p:sp>
        <p:nvSpPr>
          <p:cNvPr id="165" name="msep"/>
          <p:cNvSpPr/>
          <p:nvPr/>
        </p:nvSpPr>
        <p:spPr>
          <a:xfrm>
            <a:off x="9253728" y="1847088"/>
            <a:ext cx="0" cy="2596896"/>
          </a:xfrm>
          <a:prstGeom prst="line">
            <a:avLst/>
          </a:prstGeom>
          <a:noFill/>
          <a:ln w="9525">
            <a:solidFill>
              <a:srgbClr val="5B6770"/>
            </a:solidFill>
            <a:prstDash val="dash"/>
          </a:ln>
        </p:spPr>
      </p:sp>
      <p:sp>
        <p:nvSpPr>
          <p:cNvPr id="166" name="msep"/>
          <p:cNvSpPr/>
          <p:nvPr/>
        </p:nvSpPr>
        <p:spPr>
          <a:xfrm>
            <a:off x="6967728" y="3145536"/>
            <a:ext cx="2596896" cy="0"/>
          </a:xfrm>
          <a:prstGeom prst="line">
            <a:avLst/>
          </a:prstGeom>
          <a:noFill/>
          <a:ln w="9525">
            <a:solidFill>
              <a:srgbClr val="5B6770"/>
            </a:solidFill>
            <a:prstDash val="dash"/>
          </a:ln>
        </p:spPr>
      </p:sp>
      <p:sp>
        <p:nvSpPr>
          <p:cNvPr id="167" name="mbr"/>
          <p:cNvSpPr/>
          <p:nvPr/>
        </p:nvSpPr>
        <p:spPr>
          <a:xfrm>
            <a:off x="6922008" y="1801368"/>
            <a:ext cx="0" cy="2688336"/>
          </a:xfrm>
          <a:prstGeom prst="line">
            <a:avLst/>
          </a:prstGeom>
          <a:noFill/>
          <a:ln w="15875">
            <a:solidFill>
              <a:srgbClr val="1E2A32"/>
            </a:solidFill>
            <a:prstDash val="solid"/>
          </a:ln>
        </p:spPr>
      </p:sp>
      <p:sp>
        <p:nvSpPr>
          <p:cNvPr id="168" name="mbr"/>
          <p:cNvSpPr/>
          <p:nvPr/>
        </p:nvSpPr>
        <p:spPr>
          <a:xfrm>
            <a:off x="6922008" y="1801368"/>
            <a:ext cx="73152" cy="0"/>
          </a:xfrm>
          <a:prstGeom prst="line">
            <a:avLst/>
          </a:prstGeom>
          <a:noFill/>
          <a:ln w="15875">
            <a:solidFill>
              <a:srgbClr val="1E2A32"/>
            </a:solidFill>
            <a:prstDash val="solid"/>
          </a:ln>
        </p:spPr>
      </p:sp>
      <p:sp>
        <p:nvSpPr>
          <p:cNvPr id="169" name="mbr"/>
          <p:cNvSpPr/>
          <p:nvPr/>
        </p:nvSpPr>
        <p:spPr>
          <a:xfrm>
            <a:off x="6922008" y="4489704"/>
            <a:ext cx="73152" cy="0"/>
          </a:xfrm>
          <a:prstGeom prst="line">
            <a:avLst/>
          </a:prstGeom>
          <a:noFill/>
          <a:ln w="15875">
            <a:solidFill>
              <a:srgbClr val="1E2A32"/>
            </a:solidFill>
            <a:prstDash val="solid"/>
          </a:ln>
        </p:spPr>
      </p:sp>
      <p:sp>
        <p:nvSpPr>
          <p:cNvPr id="170" name="mbr"/>
          <p:cNvSpPr/>
          <p:nvPr/>
        </p:nvSpPr>
        <p:spPr>
          <a:xfrm>
            <a:off x="9610344" y="1801368"/>
            <a:ext cx="0" cy="2688336"/>
          </a:xfrm>
          <a:prstGeom prst="line">
            <a:avLst/>
          </a:prstGeom>
          <a:noFill/>
          <a:ln w="15875">
            <a:solidFill>
              <a:srgbClr val="1E2A32"/>
            </a:solidFill>
            <a:prstDash val="solid"/>
          </a:ln>
        </p:spPr>
      </p:sp>
      <p:sp>
        <p:nvSpPr>
          <p:cNvPr id="171" name="mbr"/>
          <p:cNvSpPr/>
          <p:nvPr/>
        </p:nvSpPr>
        <p:spPr>
          <a:xfrm>
            <a:off x="9537192" y="1801368"/>
            <a:ext cx="73152" cy="0"/>
          </a:xfrm>
          <a:prstGeom prst="line">
            <a:avLst/>
          </a:prstGeom>
          <a:noFill/>
          <a:ln w="15875">
            <a:solidFill>
              <a:srgbClr val="1E2A32"/>
            </a:solidFill>
            <a:prstDash val="solid"/>
          </a:ln>
        </p:spPr>
      </p:sp>
      <p:sp>
        <p:nvSpPr>
          <p:cNvPr id="172" name="mbr"/>
          <p:cNvSpPr/>
          <p:nvPr/>
        </p:nvSpPr>
        <p:spPr>
          <a:xfrm>
            <a:off x="9537192" y="4489704"/>
            <a:ext cx="73152" cy="0"/>
          </a:xfrm>
          <a:prstGeom prst="line">
            <a:avLst/>
          </a:prstGeom>
          <a:noFill/>
          <a:ln w="15875">
            <a:solidFill>
              <a:srgbClr val="1E2A32"/>
            </a:solidFill>
            <a:prstDash val="solid"/>
          </a:ln>
        </p:spPr>
      </p:sp>
      <p:sp>
        <p:nvSpPr>
          <p:cNvPr id="173" name="mlab"/>
          <p:cNvSpPr txBox="1"/>
          <p:nvPr/>
        </p:nvSpPr>
        <p:spPr>
          <a:xfrm>
            <a:off x="6903720"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174" name="mlab"/>
          <p:cNvSpPr txBox="1"/>
          <p:nvPr/>
        </p:nvSpPr>
        <p:spPr>
          <a:xfrm>
            <a:off x="7232904"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175" name="mlab"/>
          <p:cNvSpPr txBox="1"/>
          <p:nvPr/>
        </p:nvSpPr>
        <p:spPr>
          <a:xfrm>
            <a:off x="7562088"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76" name="mlab"/>
          <p:cNvSpPr txBox="1"/>
          <p:nvPr/>
        </p:nvSpPr>
        <p:spPr>
          <a:xfrm>
            <a:off x="7891272"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77" name="mlab"/>
          <p:cNvSpPr txBox="1"/>
          <p:nvPr/>
        </p:nvSpPr>
        <p:spPr>
          <a:xfrm>
            <a:off x="8220456"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178" name="mlab"/>
          <p:cNvSpPr txBox="1"/>
          <p:nvPr/>
        </p:nvSpPr>
        <p:spPr>
          <a:xfrm>
            <a:off x="8549640"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179" name="mlab"/>
          <p:cNvSpPr txBox="1"/>
          <p:nvPr/>
        </p:nvSpPr>
        <p:spPr>
          <a:xfrm>
            <a:off x="8878824"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180" name="mlab"/>
          <p:cNvSpPr txBox="1"/>
          <p:nvPr/>
        </p:nvSpPr>
        <p:spPr>
          <a:xfrm>
            <a:off x="9208008" y="1591056"/>
            <a:ext cx="42062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181" name="mgrp"/>
          <p:cNvSpPr txBox="1"/>
          <p:nvPr/>
        </p:nvSpPr>
        <p:spPr>
          <a:xfrm>
            <a:off x="6949440" y="1353312"/>
            <a:ext cx="658368"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182" name="mgrp"/>
          <p:cNvSpPr txBox="1"/>
          <p:nvPr/>
        </p:nvSpPr>
        <p:spPr>
          <a:xfrm>
            <a:off x="7607808" y="1353312"/>
            <a:ext cx="164592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183" name="mgrp"/>
          <p:cNvSpPr txBox="1"/>
          <p:nvPr/>
        </p:nvSpPr>
        <p:spPr>
          <a:xfrm>
            <a:off x="9253728" y="1353312"/>
            <a:ext cx="329184"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184" name="mlab"/>
          <p:cNvSpPr txBox="1"/>
          <p:nvPr/>
        </p:nvSpPr>
        <p:spPr>
          <a:xfrm>
            <a:off x="6547104" y="182880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185" name="mlab"/>
          <p:cNvSpPr txBox="1"/>
          <p:nvPr/>
        </p:nvSpPr>
        <p:spPr>
          <a:xfrm>
            <a:off x="6547104" y="215798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186" name="mlab"/>
          <p:cNvSpPr txBox="1"/>
          <p:nvPr/>
        </p:nvSpPr>
        <p:spPr>
          <a:xfrm>
            <a:off x="6547104" y="248716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187" name="mlab"/>
          <p:cNvSpPr txBox="1"/>
          <p:nvPr/>
        </p:nvSpPr>
        <p:spPr>
          <a:xfrm>
            <a:off x="6547104" y="2816352"/>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188" name="mlab"/>
          <p:cNvSpPr txBox="1"/>
          <p:nvPr/>
        </p:nvSpPr>
        <p:spPr>
          <a:xfrm>
            <a:off x="6547104" y="3145536"/>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189" name="mlab"/>
          <p:cNvSpPr txBox="1"/>
          <p:nvPr/>
        </p:nvSpPr>
        <p:spPr>
          <a:xfrm>
            <a:off x="6547104" y="3474720"/>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190" name="mlab"/>
          <p:cNvSpPr txBox="1"/>
          <p:nvPr/>
        </p:nvSpPr>
        <p:spPr>
          <a:xfrm>
            <a:off x="6547104" y="3803904"/>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191" name="mlab"/>
          <p:cNvSpPr txBox="1"/>
          <p:nvPr/>
        </p:nvSpPr>
        <p:spPr>
          <a:xfrm>
            <a:off x="6547104" y="4133088"/>
            <a:ext cx="347472" cy="32918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192" name="mname"/>
          <p:cNvSpPr txBox="1"/>
          <p:nvPr/>
        </p:nvSpPr>
        <p:spPr>
          <a:xfrm>
            <a:off x="6675120" y="4517136"/>
            <a:ext cx="31821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 = P · M₀  (paper’s matrix ✓)</a:t>
            </a:r>
            <a:endParaRPr lang="en-US" sz="1300" dirty="0"/>
          </a:p>
        </p:txBody>
      </p:sp>
      <p:sp>
        <p:nvSpPr>
          <p:cNvPr id="193" name="arrow"/>
          <p:cNvSpPr/>
          <p:nvPr/>
        </p:nvSpPr>
        <p:spPr>
          <a:xfrm>
            <a:off x="3840480" y="1993392"/>
            <a:ext cx="2633472" cy="914"/>
          </a:xfrm>
          <a:prstGeom prst="line">
            <a:avLst/>
          </a:prstGeom>
          <a:noFill/>
          <a:ln w="12700">
            <a:solidFill>
              <a:srgbClr val="B9C1C7"/>
            </a:solidFill>
            <a:prstDash val="solid"/>
            <a:tailEnd type="triangle"/>
          </a:ln>
        </p:spPr>
      </p:sp>
      <p:sp>
        <p:nvSpPr>
          <p:cNvPr id="194" name="arrow"/>
          <p:cNvSpPr/>
          <p:nvPr/>
        </p:nvSpPr>
        <p:spPr>
          <a:xfrm flipV="1">
            <a:off x="3840480" y="2322576"/>
            <a:ext cx="2633472" cy="329184"/>
          </a:xfrm>
          <a:prstGeom prst="line">
            <a:avLst/>
          </a:prstGeom>
          <a:noFill/>
          <a:ln w="12700">
            <a:solidFill>
              <a:srgbClr val="0E6E7A"/>
            </a:solidFill>
            <a:prstDash val="solid"/>
            <a:tailEnd type="triangle"/>
          </a:ln>
        </p:spPr>
      </p:sp>
      <p:sp>
        <p:nvSpPr>
          <p:cNvPr id="195" name="arrow"/>
          <p:cNvSpPr/>
          <p:nvPr/>
        </p:nvSpPr>
        <p:spPr>
          <a:xfrm flipV="1">
            <a:off x="3840480" y="2651760"/>
            <a:ext cx="2633472" cy="329184"/>
          </a:xfrm>
          <a:prstGeom prst="line">
            <a:avLst/>
          </a:prstGeom>
          <a:noFill/>
          <a:ln w="12700">
            <a:solidFill>
              <a:srgbClr val="0E6E7A"/>
            </a:solidFill>
            <a:prstDash val="solid"/>
            <a:tailEnd type="triangle"/>
          </a:ln>
        </p:spPr>
      </p:sp>
      <p:sp>
        <p:nvSpPr>
          <p:cNvPr id="196" name="arrow"/>
          <p:cNvSpPr/>
          <p:nvPr/>
        </p:nvSpPr>
        <p:spPr>
          <a:xfrm flipV="1">
            <a:off x="3840480" y="2980944"/>
            <a:ext cx="2633472" cy="329184"/>
          </a:xfrm>
          <a:prstGeom prst="line">
            <a:avLst/>
          </a:prstGeom>
          <a:noFill/>
          <a:ln w="12700">
            <a:solidFill>
              <a:srgbClr val="0E6E7A"/>
            </a:solidFill>
            <a:prstDash val="solid"/>
            <a:tailEnd type="triangle"/>
          </a:ln>
        </p:spPr>
      </p:sp>
      <p:sp>
        <p:nvSpPr>
          <p:cNvPr id="197" name="arrow"/>
          <p:cNvSpPr/>
          <p:nvPr/>
        </p:nvSpPr>
        <p:spPr>
          <a:xfrm>
            <a:off x="3840480" y="2322576"/>
            <a:ext cx="2633472" cy="987552"/>
          </a:xfrm>
          <a:prstGeom prst="line">
            <a:avLst/>
          </a:prstGeom>
          <a:noFill/>
          <a:ln w="12700">
            <a:solidFill>
              <a:srgbClr val="0E6E7A"/>
            </a:solidFill>
            <a:prstDash val="solid"/>
            <a:tailEnd type="triangle"/>
          </a:ln>
        </p:spPr>
      </p:sp>
      <p:sp>
        <p:nvSpPr>
          <p:cNvPr id="198" name="arrow"/>
          <p:cNvSpPr/>
          <p:nvPr/>
        </p:nvSpPr>
        <p:spPr>
          <a:xfrm>
            <a:off x="3840480" y="3639312"/>
            <a:ext cx="2633472" cy="914"/>
          </a:xfrm>
          <a:prstGeom prst="line">
            <a:avLst/>
          </a:prstGeom>
          <a:noFill/>
          <a:ln w="12700">
            <a:solidFill>
              <a:srgbClr val="B9C1C7"/>
            </a:solidFill>
            <a:prstDash val="solid"/>
            <a:tailEnd type="triangle"/>
          </a:ln>
        </p:spPr>
      </p:sp>
      <p:sp>
        <p:nvSpPr>
          <p:cNvPr id="199" name="arrow"/>
          <p:cNvSpPr/>
          <p:nvPr/>
        </p:nvSpPr>
        <p:spPr>
          <a:xfrm>
            <a:off x="3840480" y="3968496"/>
            <a:ext cx="2633472" cy="914"/>
          </a:xfrm>
          <a:prstGeom prst="line">
            <a:avLst/>
          </a:prstGeom>
          <a:noFill/>
          <a:ln w="12700">
            <a:solidFill>
              <a:srgbClr val="B9C1C7"/>
            </a:solidFill>
            <a:prstDash val="solid"/>
            <a:tailEnd type="triangle"/>
          </a:ln>
        </p:spPr>
      </p:sp>
      <p:sp>
        <p:nvSpPr>
          <p:cNvPr id="200" name="arrow"/>
          <p:cNvSpPr/>
          <p:nvPr/>
        </p:nvSpPr>
        <p:spPr>
          <a:xfrm>
            <a:off x="3840480" y="4297680"/>
            <a:ext cx="2633472" cy="914"/>
          </a:xfrm>
          <a:prstGeom prst="line">
            <a:avLst/>
          </a:prstGeom>
          <a:noFill/>
          <a:ln w="12700">
            <a:solidFill>
              <a:srgbClr val="B9C1C7"/>
            </a:solidFill>
            <a:prstDash val="solid"/>
            <a:tailEnd type="triangle"/>
          </a:ln>
        </p:spPr>
      </p:sp>
      <p:sp>
        <p:nvSpPr>
          <p:cNvPr id="201" name="Text 198"/>
          <p:cNvSpPr txBox="1"/>
          <p:nvPr/>
        </p:nvSpPr>
        <p:spPr>
          <a:xfrm>
            <a:off x="502920" y="4937760"/>
            <a:ext cx="11201400" cy="320040"/>
          </a:xfrm>
          <a:prstGeom prst="rect">
            <a:avLst/>
          </a:prstGeom>
          <a:noFill/>
          <a:ln/>
        </p:spPr>
        <p:txBody>
          <a:bodyPr wrap="square" lIns="0" tIns="0" rIns="0" bIns="0" rtlCol="0" anchor="t"/>
          <a:lstStyle/>
          <a:p>
            <a:pPr algn="ctr" indent="0" marL="0">
              <a:buNone/>
            </a:pPr>
            <a:r>
              <a:rPr lang="en-US" sz="1600" b="1" dirty="0">
                <a:solidFill>
                  <a:srgbClr val="1E2A32"/>
                </a:solidFill>
                <a:latin typeface="Calibri" pitchFamily="34" charset="0"/>
                <a:ea typeface="Calibri" pitchFamily="34" charset="-122"/>
                <a:cs typeface="Calibri" pitchFamily="34" charset="-120"/>
              </a:rPr>
              <a:t>P reorders rows: [j₀, i₀ | j₁ j₂ j₃ i₁ i₂ | i₃]  →  [j₀ j₁ j₂ j₃ | i₀ i₁ i₂ i₃]</a:t>
            </a:r>
            <a:endParaRPr lang="en-US" sz="1600" dirty="0"/>
          </a:p>
        </p:txBody>
      </p:sp>
      <p:sp>
        <p:nvSpPr>
          <p:cNvPr id="202" name="callout"/>
          <p:cNvSpPr/>
          <p:nvPr/>
        </p:nvSpPr>
        <p:spPr>
          <a:xfrm>
            <a:off x="502920" y="5349240"/>
            <a:ext cx="11201400" cy="685800"/>
          </a:xfrm>
          <a:prstGeom prst="roundRect">
            <a:avLst>
              <a:gd name="adj" fmla="val 10667"/>
            </a:avLst>
          </a:prstGeom>
          <a:solidFill>
            <a:srgbClr val="DDEFF1"/>
          </a:solidFill>
          <a:ln/>
        </p:spPr>
      </p:sp>
      <p:sp>
        <p:nvSpPr>
          <p:cNvPr id="203" name="callout-text"/>
          <p:cNvSpPr txBox="1"/>
          <p:nvPr/>
        </p:nvSpPr>
        <p:spPr>
          <a:xfrm>
            <a:off x="640080" y="5404104"/>
            <a:ext cx="10927080" cy="57607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Layout A = Blocked encoding: sizePerThread [2,2], threadsPerWarp [4,8], warpsPerCTA [2,1], order [1,0].  Product builds the levels; composition with a permutation arranges bits per dimension.</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DEFINITION 4.4</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Left division: does the layout contain a hardware tile?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4.4, p. 137; used by Theorem 5.1 (§5.3)</a:t>
            </a:r>
            <a:endParaRPr lang="en-US" sz="1000" dirty="0"/>
          </a:p>
        </p:txBody>
      </p:sp>
      <p:sp>
        <p:nvSpPr>
          <p:cNvPr id="6" name="callout"/>
          <p:cNvSpPr/>
          <p:nvPr/>
        </p:nvSpPr>
        <p:spPr>
          <a:xfrm>
            <a:off x="502920" y="1234440"/>
            <a:ext cx="11201400" cy="594360"/>
          </a:xfrm>
          <a:prstGeom prst="roundRect">
            <a:avLst>
              <a:gd name="adj" fmla="val 12308"/>
            </a:avLst>
          </a:prstGeom>
          <a:solidFill>
            <a:srgbClr val="DDEFF1"/>
          </a:solidFill>
          <a:ln/>
        </p:spPr>
      </p:sp>
      <p:sp>
        <p:nvSpPr>
          <p:cNvPr id="7" name="callout-text"/>
          <p:cNvSpPr txBox="1"/>
          <p:nvPr/>
        </p:nvSpPr>
        <p:spPr>
          <a:xfrm>
            <a:off x="640080" y="1289304"/>
            <a:ext cx="10927080" cy="484632"/>
          </a:xfrm>
          <a:prstGeom prst="rect">
            <a:avLst/>
          </a:prstGeom>
          <a:noFill/>
          <a:ln/>
        </p:spPr>
        <p:txBody>
          <a:bodyPr wrap="square" lIns="0" tIns="0" rIns="0" bIns="0" rtlCol="0" anchor="ctr"/>
          <a:lstStyle/>
          <a:p>
            <a:pPr algn="l" indent="0" marL="0">
              <a:buNone/>
            </a:pPr>
            <a:r>
              <a:rPr lang="en-US" sz="1600" b="1" dirty="0">
                <a:solidFill>
                  <a:srgbClr val="0A4F58"/>
                </a:solidFill>
                <a:latin typeface="Calibri" pitchFamily="34" charset="0"/>
                <a:ea typeface="Calibri" pitchFamily="34" charset="-122"/>
                <a:cs typeface="Calibri" pitchFamily="34" charset="-120"/>
              </a:rPr>
              <a:t>Definition 4.4.</a:t>
            </a:r>
            <a:r>
              <a:rPr lang="en-US" sz="1600" dirty="0">
                <a:solidFill>
                  <a:srgbClr val="0A4F58"/>
                </a:solidFill>
                <a:latin typeface="Calibri" pitchFamily="34" charset="0"/>
                <a:ea typeface="Calibri" pitchFamily="34" charset="-122"/>
                <a:cs typeface="Calibri" pitchFamily="34" charset="-120"/>
              </a:rPr>
              <a:t> M is left-divisible by M₁ if  M = [ M₁ 0 ; 0 M₂ ].  Then </a:t>
            </a:r>
            <a:r>
              <a:rPr lang="en-US" sz="1600" b="1" dirty="0">
                <a:solidFill>
                  <a:srgbClr val="0A4F58"/>
                </a:solidFill>
                <a:latin typeface="Calibri" pitchFamily="34" charset="0"/>
                <a:ea typeface="Calibri" pitchFamily="34" charset="-122"/>
                <a:cs typeface="Calibri" pitchFamily="34" charset="-120"/>
              </a:rPr>
              <a:t>M /ℓ M₁ = M₂</a:t>
            </a:r>
            <a:r>
              <a:rPr lang="en-US" sz="1600" dirty="0">
                <a:solidFill>
                  <a:srgbClr val="0A4F58"/>
                </a:solidFill>
                <a:latin typeface="Calibri" pitchFamily="34" charset="0"/>
                <a:ea typeface="Calibri" pitchFamily="34" charset="-122"/>
                <a:cs typeface="Calibri" pitchFamily="34" charset="-120"/>
              </a:rPr>
              <a:t> (label-wise).</a:t>
            </a:r>
            <a:endParaRPr lang="en-US" sz="1600" dirty="0"/>
          </a:p>
        </p:txBody>
      </p:sp>
      <p:sp>
        <p:nvSpPr>
          <p:cNvPr id="8" name="Text 5"/>
          <p:cNvSpPr txBox="1"/>
          <p:nvPr/>
        </p:nvSpPr>
        <p:spPr>
          <a:xfrm>
            <a:off x="502920" y="2011680"/>
            <a:ext cx="5486400" cy="274320"/>
          </a:xfrm>
          <a:prstGeom prst="rect">
            <a:avLst/>
          </a:prstGeom>
          <a:noFill/>
          <a:ln/>
        </p:spPr>
        <p:txBody>
          <a:bodyPr wrap="square" lIns="0" tIns="0" rIns="0" bIns="0" rtlCol="0" anchor="t"/>
          <a:lstStyle/>
          <a:p>
            <a:pPr indent="0" marL="0">
              <a:buNone/>
            </a:pPr>
            <a:r>
              <a:rPr lang="en-US" sz="1600" b="1" dirty="0">
                <a:solidFill>
                  <a:srgbClr val="2E7D32"/>
                </a:solidFill>
                <a:latin typeface="Calibri" pitchFamily="34" charset="0"/>
                <a:ea typeface="Calibri" pitchFamily="34" charset="-122"/>
                <a:cs typeface="Calibri" pitchFamily="34" charset="-120"/>
              </a:rPr>
              <a:t>Example 1 — divisible ✓</a:t>
            </a:r>
            <a:endParaRPr lang="en-US" sz="1600" dirty="0"/>
          </a:p>
        </p:txBody>
      </p:sp>
      <p:sp>
        <p:nvSpPr>
          <p:cNvPr id="9" name="mcell"/>
          <p:cNvSpPr txBox="1"/>
          <p:nvPr/>
        </p:nvSpPr>
        <p:spPr>
          <a:xfrm>
            <a:off x="1051560" y="2788920"/>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 name="mcell"/>
          <p:cNvSpPr txBox="1"/>
          <p:nvPr/>
        </p:nvSpPr>
        <p:spPr>
          <a:xfrm>
            <a:off x="1435608" y="2788920"/>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1819656" y="2788920"/>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2" name="mcell"/>
          <p:cNvSpPr txBox="1"/>
          <p:nvPr/>
        </p:nvSpPr>
        <p:spPr>
          <a:xfrm>
            <a:off x="2203704" y="2788920"/>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3" name="mcell"/>
          <p:cNvSpPr txBox="1"/>
          <p:nvPr/>
        </p:nvSpPr>
        <p:spPr>
          <a:xfrm>
            <a:off x="1051560" y="3172968"/>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4" name="mcell"/>
          <p:cNvSpPr txBox="1"/>
          <p:nvPr/>
        </p:nvSpPr>
        <p:spPr>
          <a:xfrm>
            <a:off x="1435608" y="3172968"/>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5" name="mcell"/>
          <p:cNvSpPr txBox="1"/>
          <p:nvPr/>
        </p:nvSpPr>
        <p:spPr>
          <a:xfrm>
            <a:off x="1819656" y="3172968"/>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2203704" y="3172968"/>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1051560" y="3557016"/>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1435608" y="3557016"/>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1819656" y="355701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0" name="mcell"/>
          <p:cNvSpPr txBox="1"/>
          <p:nvPr/>
        </p:nvSpPr>
        <p:spPr>
          <a:xfrm>
            <a:off x="2203704" y="35570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1051560" y="3941064"/>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22" name="mcell"/>
          <p:cNvSpPr txBox="1"/>
          <p:nvPr/>
        </p:nvSpPr>
        <p:spPr>
          <a:xfrm>
            <a:off x="1435608" y="3941064"/>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23" name="mcell"/>
          <p:cNvSpPr txBox="1"/>
          <p:nvPr/>
        </p:nvSpPr>
        <p:spPr>
          <a:xfrm>
            <a:off x="1819656" y="39410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4" name="mcell"/>
          <p:cNvSpPr txBox="1"/>
          <p:nvPr/>
        </p:nvSpPr>
        <p:spPr>
          <a:xfrm>
            <a:off x="2203704" y="394106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5" name="msep"/>
          <p:cNvSpPr/>
          <p:nvPr/>
        </p:nvSpPr>
        <p:spPr>
          <a:xfrm>
            <a:off x="1819656" y="2807208"/>
            <a:ext cx="0" cy="1499616"/>
          </a:xfrm>
          <a:prstGeom prst="line">
            <a:avLst/>
          </a:prstGeom>
          <a:noFill/>
          <a:ln w="9525">
            <a:solidFill>
              <a:srgbClr val="5B6770"/>
            </a:solidFill>
            <a:prstDash val="dash"/>
          </a:ln>
        </p:spPr>
      </p:sp>
      <p:sp>
        <p:nvSpPr>
          <p:cNvPr id="26" name="msep"/>
          <p:cNvSpPr/>
          <p:nvPr/>
        </p:nvSpPr>
        <p:spPr>
          <a:xfrm>
            <a:off x="1069848" y="3557016"/>
            <a:ext cx="1499616" cy="0"/>
          </a:xfrm>
          <a:prstGeom prst="line">
            <a:avLst/>
          </a:prstGeom>
          <a:noFill/>
          <a:ln w="9525">
            <a:solidFill>
              <a:srgbClr val="5B6770"/>
            </a:solidFill>
            <a:prstDash val="dash"/>
          </a:ln>
        </p:spPr>
      </p:sp>
      <p:sp>
        <p:nvSpPr>
          <p:cNvPr id="27" name="mbr"/>
          <p:cNvSpPr/>
          <p:nvPr/>
        </p:nvSpPr>
        <p:spPr>
          <a:xfrm>
            <a:off x="1024128" y="2761488"/>
            <a:ext cx="0" cy="1591056"/>
          </a:xfrm>
          <a:prstGeom prst="line">
            <a:avLst/>
          </a:prstGeom>
          <a:noFill/>
          <a:ln w="15875">
            <a:solidFill>
              <a:srgbClr val="1E2A32"/>
            </a:solidFill>
            <a:prstDash val="solid"/>
          </a:ln>
        </p:spPr>
      </p:sp>
      <p:sp>
        <p:nvSpPr>
          <p:cNvPr id="28" name="mbr"/>
          <p:cNvSpPr/>
          <p:nvPr/>
        </p:nvSpPr>
        <p:spPr>
          <a:xfrm>
            <a:off x="1024128" y="2761488"/>
            <a:ext cx="73152" cy="0"/>
          </a:xfrm>
          <a:prstGeom prst="line">
            <a:avLst/>
          </a:prstGeom>
          <a:noFill/>
          <a:ln w="15875">
            <a:solidFill>
              <a:srgbClr val="1E2A32"/>
            </a:solidFill>
            <a:prstDash val="solid"/>
          </a:ln>
        </p:spPr>
      </p:sp>
      <p:sp>
        <p:nvSpPr>
          <p:cNvPr id="29" name="mbr"/>
          <p:cNvSpPr/>
          <p:nvPr/>
        </p:nvSpPr>
        <p:spPr>
          <a:xfrm>
            <a:off x="1024128" y="4352544"/>
            <a:ext cx="73152" cy="0"/>
          </a:xfrm>
          <a:prstGeom prst="line">
            <a:avLst/>
          </a:prstGeom>
          <a:noFill/>
          <a:ln w="15875">
            <a:solidFill>
              <a:srgbClr val="1E2A32"/>
            </a:solidFill>
            <a:prstDash val="solid"/>
          </a:ln>
        </p:spPr>
      </p:sp>
      <p:sp>
        <p:nvSpPr>
          <p:cNvPr id="30" name="mbr"/>
          <p:cNvSpPr/>
          <p:nvPr/>
        </p:nvSpPr>
        <p:spPr>
          <a:xfrm>
            <a:off x="2615184" y="2761488"/>
            <a:ext cx="0" cy="1591056"/>
          </a:xfrm>
          <a:prstGeom prst="line">
            <a:avLst/>
          </a:prstGeom>
          <a:noFill/>
          <a:ln w="15875">
            <a:solidFill>
              <a:srgbClr val="1E2A32"/>
            </a:solidFill>
            <a:prstDash val="solid"/>
          </a:ln>
        </p:spPr>
      </p:sp>
      <p:sp>
        <p:nvSpPr>
          <p:cNvPr id="31" name="mbr"/>
          <p:cNvSpPr/>
          <p:nvPr/>
        </p:nvSpPr>
        <p:spPr>
          <a:xfrm>
            <a:off x="2542032" y="2761488"/>
            <a:ext cx="73152" cy="0"/>
          </a:xfrm>
          <a:prstGeom prst="line">
            <a:avLst/>
          </a:prstGeom>
          <a:noFill/>
          <a:ln w="15875">
            <a:solidFill>
              <a:srgbClr val="1E2A32"/>
            </a:solidFill>
            <a:prstDash val="solid"/>
          </a:ln>
        </p:spPr>
      </p:sp>
      <p:sp>
        <p:nvSpPr>
          <p:cNvPr id="32" name="mbr"/>
          <p:cNvSpPr/>
          <p:nvPr/>
        </p:nvSpPr>
        <p:spPr>
          <a:xfrm>
            <a:off x="2542032" y="4352544"/>
            <a:ext cx="73152" cy="0"/>
          </a:xfrm>
          <a:prstGeom prst="line">
            <a:avLst/>
          </a:prstGeom>
          <a:noFill/>
          <a:ln w="15875">
            <a:solidFill>
              <a:srgbClr val="1E2A32"/>
            </a:solidFill>
            <a:prstDash val="solid"/>
          </a:ln>
        </p:spPr>
      </p:sp>
      <p:sp>
        <p:nvSpPr>
          <p:cNvPr id="33" name="mlab"/>
          <p:cNvSpPr txBox="1"/>
          <p:nvPr/>
        </p:nvSpPr>
        <p:spPr>
          <a:xfrm>
            <a:off x="1005840"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34" name="mlab"/>
          <p:cNvSpPr txBox="1"/>
          <p:nvPr/>
        </p:nvSpPr>
        <p:spPr>
          <a:xfrm>
            <a:off x="1389888"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35" name="mlab"/>
          <p:cNvSpPr txBox="1"/>
          <p:nvPr/>
        </p:nvSpPr>
        <p:spPr>
          <a:xfrm>
            <a:off x="1773936"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36" name="mlab"/>
          <p:cNvSpPr txBox="1"/>
          <p:nvPr/>
        </p:nvSpPr>
        <p:spPr>
          <a:xfrm>
            <a:off x="2157984"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37" name="mgrp"/>
          <p:cNvSpPr txBox="1"/>
          <p:nvPr/>
        </p:nvSpPr>
        <p:spPr>
          <a:xfrm>
            <a:off x="1051560" y="231343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38" name="mgrp"/>
          <p:cNvSpPr txBox="1"/>
          <p:nvPr/>
        </p:nvSpPr>
        <p:spPr>
          <a:xfrm>
            <a:off x="1819656" y="231343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39" name="mlab"/>
          <p:cNvSpPr txBox="1"/>
          <p:nvPr/>
        </p:nvSpPr>
        <p:spPr>
          <a:xfrm>
            <a:off x="649224" y="278892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o₀</a:t>
            </a:r>
            <a:endParaRPr lang="en-US" sz="1200" dirty="0"/>
          </a:p>
        </p:txBody>
      </p:sp>
      <p:sp>
        <p:nvSpPr>
          <p:cNvPr id="40" name="mlab"/>
          <p:cNvSpPr txBox="1"/>
          <p:nvPr/>
        </p:nvSpPr>
        <p:spPr>
          <a:xfrm>
            <a:off x="649224" y="317296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o₁</a:t>
            </a:r>
            <a:endParaRPr lang="en-US" sz="1200" dirty="0"/>
          </a:p>
        </p:txBody>
      </p:sp>
      <p:sp>
        <p:nvSpPr>
          <p:cNvPr id="41" name="mlab"/>
          <p:cNvSpPr txBox="1"/>
          <p:nvPr/>
        </p:nvSpPr>
        <p:spPr>
          <a:xfrm>
            <a:off x="649224" y="355701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o₂</a:t>
            </a:r>
            <a:endParaRPr lang="en-US" sz="1200" dirty="0"/>
          </a:p>
        </p:txBody>
      </p:sp>
      <p:sp>
        <p:nvSpPr>
          <p:cNvPr id="42" name="mlab"/>
          <p:cNvSpPr txBox="1"/>
          <p:nvPr/>
        </p:nvSpPr>
        <p:spPr>
          <a:xfrm>
            <a:off x="649224" y="394106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o₃</a:t>
            </a:r>
            <a:endParaRPr lang="en-US" sz="1200" dirty="0"/>
          </a:p>
        </p:txBody>
      </p:sp>
      <p:sp>
        <p:nvSpPr>
          <p:cNvPr id="43" name="mname"/>
          <p:cNvSpPr txBox="1"/>
          <p:nvPr/>
        </p:nvSpPr>
        <p:spPr>
          <a:xfrm>
            <a:off x="777240" y="437997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(Reg,Thr) → Off</a:t>
            </a:r>
            <a:endParaRPr lang="en-US" sz="1300" dirty="0"/>
          </a:p>
        </p:txBody>
      </p:sp>
      <p:sp>
        <p:nvSpPr>
          <p:cNvPr id="44" name="op"/>
          <p:cNvSpPr txBox="1"/>
          <p:nvPr/>
        </p:nvSpPr>
        <p:spPr>
          <a:xfrm>
            <a:off x="2679192" y="332841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/ℓ</a:t>
            </a:r>
            <a:endParaRPr lang="en-US" sz="2200" dirty="0"/>
          </a:p>
        </p:txBody>
      </p:sp>
      <p:sp>
        <p:nvSpPr>
          <p:cNvPr id="45" name="mcell"/>
          <p:cNvSpPr txBox="1"/>
          <p:nvPr/>
        </p:nvSpPr>
        <p:spPr>
          <a:xfrm>
            <a:off x="3273552" y="3172968"/>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6" name="mcell"/>
          <p:cNvSpPr txBox="1"/>
          <p:nvPr/>
        </p:nvSpPr>
        <p:spPr>
          <a:xfrm>
            <a:off x="3657600" y="3172968"/>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47" name="mcell"/>
          <p:cNvSpPr txBox="1"/>
          <p:nvPr/>
        </p:nvSpPr>
        <p:spPr>
          <a:xfrm>
            <a:off x="3273552" y="3557016"/>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48" name="mcell"/>
          <p:cNvSpPr txBox="1"/>
          <p:nvPr/>
        </p:nvSpPr>
        <p:spPr>
          <a:xfrm>
            <a:off x="3657600" y="3557016"/>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9" name="mbr"/>
          <p:cNvSpPr/>
          <p:nvPr/>
        </p:nvSpPr>
        <p:spPr>
          <a:xfrm>
            <a:off x="3246120" y="3145536"/>
            <a:ext cx="0" cy="822960"/>
          </a:xfrm>
          <a:prstGeom prst="line">
            <a:avLst/>
          </a:prstGeom>
          <a:noFill/>
          <a:ln w="15875">
            <a:solidFill>
              <a:srgbClr val="1E2A32"/>
            </a:solidFill>
            <a:prstDash val="solid"/>
          </a:ln>
        </p:spPr>
      </p:sp>
      <p:sp>
        <p:nvSpPr>
          <p:cNvPr id="50" name="mbr"/>
          <p:cNvSpPr/>
          <p:nvPr/>
        </p:nvSpPr>
        <p:spPr>
          <a:xfrm>
            <a:off x="3246120" y="3145536"/>
            <a:ext cx="73152" cy="0"/>
          </a:xfrm>
          <a:prstGeom prst="line">
            <a:avLst/>
          </a:prstGeom>
          <a:noFill/>
          <a:ln w="15875">
            <a:solidFill>
              <a:srgbClr val="1E2A32"/>
            </a:solidFill>
            <a:prstDash val="solid"/>
          </a:ln>
        </p:spPr>
      </p:sp>
      <p:sp>
        <p:nvSpPr>
          <p:cNvPr id="51" name="mbr"/>
          <p:cNvSpPr/>
          <p:nvPr/>
        </p:nvSpPr>
        <p:spPr>
          <a:xfrm>
            <a:off x="3246120" y="3968496"/>
            <a:ext cx="73152" cy="0"/>
          </a:xfrm>
          <a:prstGeom prst="line">
            <a:avLst/>
          </a:prstGeom>
          <a:noFill/>
          <a:ln w="15875">
            <a:solidFill>
              <a:srgbClr val="1E2A32"/>
            </a:solidFill>
            <a:prstDash val="solid"/>
          </a:ln>
        </p:spPr>
      </p:sp>
      <p:sp>
        <p:nvSpPr>
          <p:cNvPr id="52" name="mbr"/>
          <p:cNvSpPr/>
          <p:nvPr/>
        </p:nvSpPr>
        <p:spPr>
          <a:xfrm>
            <a:off x="4069080" y="3145536"/>
            <a:ext cx="0" cy="822960"/>
          </a:xfrm>
          <a:prstGeom prst="line">
            <a:avLst/>
          </a:prstGeom>
          <a:noFill/>
          <a:ln w="15875">
            <a:solidFill>
              <a:srgbClr val="1E2A32"/>
            </a:solidFill>
            <a:prstDash val="solid"/>
          </a:ln>
        </p:spPr>
      </p:sp>
      <p:sp>
        <p:nvSpPr>
          <p:cNvPr id="53" name="mbr"/>
          <p:cNvSpPr/>
          <p:nvPr/>
        </p:nvSpPr>
        <p:spPr>
          <a:xfrm>
            <a:off x="3995928" y="3145536"/>
            <a:ext cx="73152" cy="0"/>
          </a:xfrm>
          <a:prstGeom prst="line">
            <a:avLst/>
          </a:prstGeom>
          <a:noFill/>
          <a:ln w="15875">
            <a:solidFill>
              <a:srgbClr val="1E2A32"/>
            </a:solidFill>
            <a:prstDash val="solid"/>
          </a:ln>
        </p:spPr>
      </p:sp>
      <p:sp>
        <p:nvSpPr>
          <p:cNvPr id="54" name="mbr"/>
          <p:cNvSpPr/>
          <p:nvPr/>
        </p:nvSpPr>
        <p:spPr>
          <a:xfrm>
            <a:off x="3995928" y="3968496"/>
            <a:ext cx="73152" cy="0"/>
          </a:xfrm>
          <a:prstGeom prst="line">
            <a:avLst/>
          </a:prstGeom>
          <a:noFill/>
          <a:ln w="15875">
            <a:solidFill>
              <a:srgbClr val="1E2A32"/>
            </a:solidFill>
            <a:prstDash val="solid"/>
          </a:ln>
        </p:spPr>
      </p:sp>
      <p:sp>
        <p:nvSpPr>
          <p:cNvPr id="55" name="mlab"/>
          <p:cNvSpPr txBox="1"/>
          <p:nvPr/>
        </p:nvSpPr>
        <p:spPr>
          <a:xfrm>
            <a:off x="3227832" y="2935224"/>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56" name="mlab"/>
          <p:cNvSpPr txBox="1"/>
          <p:nvPr/>
        </p:nvSpPr>
        <p:spPr>
          <a:xfrm>
            <a:off x="3611880" y="2935224"/>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57" name="mlab"/>
          <p:cNvSpPr txBox="1"/>
          <p:nvPr/>
        </p:nvSpPr>
        <p:spPr>
          <a:xfrm>
            <a:off x="2871216" y="317296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o₀</a:t>
            </a:r>
            <a:endParaRPr lang="en-US" sz="1200" dirty="0"/>
          </a:p>
        </p:txBody>
      </p:sp>
      <p:sp>
        <p:nvSpPr>
          <p:cNvPr id="58" name="mlab"/>
          <p:cNvSpPr txBox="1"/>
          <p:nvPr/>
        </p:nvSpPr>
        <p:spPr>
          <a:xfrm>
            <a:off x="2871216" y="355701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o₁</a:t>
            </a:r>
            <a:endParaRPr lang="en-US" sz="1200" dirty="0"/>
          </a:p>
        </p:txBody>
      </p:sp>
      <p:sp>
        <p:nvSpPr>
          <p:cNvPr id="59" name="mname"/>
          <p:cNvSpPr txBox="1"/>
          <p:nvPr/>
        </p:nvSpPr>
        <p:spPr>
          <a:xfrm>
            <a:off x="2999232" y="3995928"/>
            <a:ext cx="131673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T = id₂</a:t>
            </a:r>
            <a:endParaRPr lang="en-US" sz="1300" dirty="0"/>
          </a:p>
        </p:txBody>
      </p:sp>
      <p:sp>
        <p:nvSpPr>
          <p:cNvPr id="60" name="op"/>
          <p:cNvSpPr txBox="1"/>
          <p:nvPr/>
        </p:nvSpPr>
        <p:spPr>
          <a:xfrm>
            <a:off x="4087368" y="332841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1" name="mcell"/>
          <p:cNvSpPr txBox="1"/>
          <p:nvPr/>
        </p:nvSpPr>
        <p:spPr>
          <a:xfrm>
            <a:off x="4681728" y="317296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62" name="mcell"/>
          <p:cNvSpPr txBox="1"/>
          <p:nvPr/>
        </p:nvSpPr>
        <p:spPr>
          <a:xfrm>
            <a:off x="5065776" y="31729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3" name="mcell"/>
          <p:cNvSpPr txBox="1"/>
          <p:nvPr/>
        </p:nvSpPr>
        <p:spPr>
          <a:xfrm>
            <a:off x="4681728" y="35570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4" name="mcell"/>
          <p:cNvSpPr txBox="1"/>
          <p:nvPr/>
        </p:nvSpPr>
        <p:spPr>
          <a:xfrm>
            <a:off x="5065776" y="355701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65" name="mbr"/>
          <p:cNvSpPr/>
          <p:nvPr/>
        </p:nvSpPr>
        <p:spPr>
          <a:xfrm>
            <a:off x="4654296" y="3145536"/>
            <a:ext cx="0" cy="822960"/>
          </a:xfrm>
          <a:prstGeom prst="line">
            <a:avLst/>
          </a:prstGeom>
          <a:noFill/>
          <a:ln w="15875">
            <a:solidFill>
              <a:srgbClr val="1E2A32"/>
            </a:solidFill>
            <a:prstDash val="solid"/>
          </a:ln>
        </p:spPr>
      </p:sp>
      <p:sp>
        <p:nvSpPr>
          <p:cNvPr id="66" name="mbr"/>
          <p:cNvSpPr/>
          <p:nvPr/>
        </p:nvSpPr>
        <p:spPr>
          <a:xfrm>
            <a:off x="4654296" y="3145536"/>
            <a:ext cx="73152" cy="0"/>
          </a:xfrm>
          <a:prstGeom prst="line">
            <a:avLst/>
          </a:prstGeom>
          <a:noFill/>
          <a:ln w="15875">
            <a:solidFill>
              <a:srgbClr val="1E2A32"/>
            </a:solidFill>
            <a:prstDash val="solid"/>
          </a:ln>
        </p:spPr>
      </p:sp>
      <p:sp>
        <p:nvSpPr>
          <p:cNvPr id="67" name="mbr"/>
          <p:cNvSpPr/>
          <p:nvPr/>
        </p:nvSpPr>
        <p:spPr>
          <a:xfrm>
            <a:off x="4654296" y="3968496"/>
            <a:ext cx="73152" cy="0"/>
          </a:xfrm>
          <a:prstGeom prst="line">
            <a:avLst/>
          </a:prstGeom>
          <a:noFill/>
          <a:ln w="15875">
            <a:solidFill>
              <a:srgbClr val="1E2A32"/>
            </a:solidFill>
            <a:prstDash val="solid"/>
          </a:ln>
        </p:spPr>
      </p:sp>
      <p:sp>
        <p:nvSpPr>
          <p:cNvPr id="68" name="mbr"/>
          <p:cNvSpPr/>
          <p:nvPr/>
        </p:nvSpPr>
        <p:spPr>
          <a:xfrm>
            <a:off x="5477256" y="3145536"/>
            <a:ext cx="0" cy="822960"/>
          </a:xfrm>
          <a:prstGeom prst="line">
            <a:avLst/>
          </a:prstGeom>
          <a:noFill/>
          <a:ln w="15875">
            <a:solidFill>
              <a:srgbClr val="1E2A32"/>
            </a:solidFill>
            <a:prstDash val="solid"/>
          </a:ln>
        </p:spPr>
      </p:sp>
      <p:sp>
        <p:nvSpPr>
          <p:cNvPr id="69" name="mbr"/>
          <p:cNvSpPr/>
          <p:nvPr/>
        </p:nvSpPr>
        <p:spPr>
          <a:xfrm>
            <a:off x="5404104" y="3145536"/>
            <a:ext cx="73152" cy="0"/>
          </a:xfrm>
          <a:prstGeom prst="line">
            <a:avLst/>
          </a:prstGeom>
          <a:noFill/>
          <a:ln w="15875">
            <a:solidFill>
              <a:srgbClr val="1E2A32"/>
            </a:solidFill>
            <a:prstDash val="solid"/>
          </a:ln>
        </p:spPr>
      </p:sp>
      <p:sp>
        <p:nvSpPr>
          <p:cNvPr id="70" name="mbr"/>
          <p:cNvSpPr/>
          <p:nvPr/>
        </p:nvSpPr>
        <p:spPr>
          <a:xfrm>
            <a:off x="5404104" y="3968496"/>
            <a:ext cx="73152" cy="0"/>
          </a:xfrm>
          <a:prstGeom prst="line">
            <a:avLst/>
          </a:prstGeom>
          <a:noFill/>
          <a:ln w="15875">
            <a:solidFill>
              <a:srgbClr val="1E2A32"/>
            </a:solidFill>
            <a:prstDash val="solid"/>
          </a:ln>
        </p:spPr>
      </p:sp>
      <p:sp>
        <p:nvSpPr>
          <p:cNvPr id="71" name="mlab"/>
          <p:cNvSpPr txBox="1"/>
          <p:nvPr/>
        </p:nvSpPr>
        <p:spPr>
          <a:xfrm>
            <a:off x="4636008" y="2935224"/>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72" name="mlab"/>
          <p:cNvSpPr txBox="1"/>
          <p:nvPr/>
        </p:nvSpPr>
        <p:spPr>
          <a:xfrm>
            <a:off x="5020056" y="2935224"/>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73" name="mlab"/>
          <p:cNvSpPr txBox="1"/>
          <p:nvPr/>
        </p:nvSpPr>
        <p:spPr>
          <a:xfrm>
            <a:off x="4279392" y="317296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o₂</a:t>
            </a:r>
            <a:endParaRPr lang="en-US" sz="1200" dirty="0"/>
          </a:p>
        </p:txBody>
      </p:sp>
      <p:sp>
        <p:nvSpPr>
          <p:cNvPr id="74" name="mlab"/>
          <p:cNvSpPr txBox="1"/>
          <p:nvPr/>
        </p:nvSpPr>
        <p:spPr>
          <a:xfrm>
            <a:off x="4279392" y="355701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o₃</a:t>
            </a:r>
            <a:endParaRPr lang="en-US" sz="1200" dirty="0"/>
          </a:p>
        </p:txBody>
      </p:sp>
      <p:sp>
        <p:nvSpPr>
          <p:cNvPr id="75" name="mname"/>
          <p:cNvSpPr txBox="1"/>
          <p:nvPr/>
        </p:nvSpPr>
        <p:spPr>
          <a:xfrm>
            <a:off x="4407408" y="3995928"/>
            <a:ext cx="131673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/ℓ T</a:t>
            </a:r>
            <a:endParaRPr lang="en-US" sz="1300" dirty="0"/>
          </a:p>
        </p:txBody>
      </p:sp>
      <p:sp>
        <p:nvSpPr>
          <p:cNvPr id="76" name="Text 73"/>
          <p:cNvSpPr txBox="1"/>
          <p:nvPr/>
        </p:nvSpPr>
        <p:spPr>
          <a:xfrm>
            <a:off x="502920" y="4937760"/>
            <a:ext cx="5486400" cy="54864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Thread t’s registers → offsets 4t … 4t+3: one 128-bit vector store per thread.</a:t>
            </a:r>
            <a:endParaRPr lang="en-US" sz="1400" dirty="0"/>
          </a:p>
        </p:txBody>
      </p:sp>
      <p:sp>
        <p:nvSpPr>
          <p:cNvPr id="77" name="Text 74"/>
          <p:cNvSpPr txBox="1"/>
          <p:nvPr/>
        </p:nvSpPr>
        <p:spPr>
          <a:xfrm>
            <a:off x="6400800" y="2011680"/>
            <a:ext cx="5486400" cy="274320"/>
          </a:xfrm>
          <a:prstGeom prst="rect">
            <a:avLst/>
          </a:prstGeom>
          <a:noFill/>
          <a:ln/>
        </p:spPr>
        <p:txBody>
          <a:bodyPr wrap="square" lIns="0" tIns="0" rIns="0" bIns="0" rtlCol="0" anchor="t"/>
          <a:lstStyle/>
          <a:p>
            <a:pPr indent="0" marL="0">
              <a:buNone/>
            </a:pPr>
            <a:r>
              <a:rPr lang="en-US" sz="1600" b="1" dirty="0">
                <a:solidFill>
                  <a:srgbClr val="B3261E"/>
                </a:solidFill>
                <a:latin typeface="Calibri" pitchFamily="34" charset="0"/>
                <a:ea typeface="Calibri" pitchFamily="34" charset="-122"/>
                <a:cs typeface="Calibri" pitchFamily="34" charset="-120"/>
              </a:rPr>
              <a:t>Example 2 — not divisible ✗</a:t>
            </a:r>
            <a:endParaRPr lang="en-US" sz="1600" dirty="0"/>
          </a:p>
        </p:txBody>
      </p:sp>
      <p:sp>
        <p:nvSpPr>
          <p:cNvPr id="78" name="mcell"/>
          <p:cNvSpPr txBox="1"/>
          <p:nvPr/>
        </p:nvSpPr>
        <p:spPr>
          <a:xfrm>
            <a:off x="6995160" y="2788920"/>
            <a:ext cx="384048" cy="384048"/>
          </a:xfrm>
          <a:prstGeom prst="rect">
            <a:avLst/>
          </a:prstGeom>
          <a:solidFill>
            <a:srgbClr val="FBE3E1"/>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79" name="mcell"/>
          <p:cNvSpPr txBox="1"/>
          <p:nvPr/>
        </p:nvSpPr>
        <p:spPr>
          <a:xfrm>
            <a:off x="7379208" y="2788920"/>
            <a:ext cx="384048" cy="384048"/>
          </a:xfrm>
          <a:prstGeom prst="rect">
            <a:avLst/>
          </a:prstGeom>
          <a:solidFill>
            <a:srgbClr val="FBE3E1"/>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0" name="mcell"/>
          <p:cNvSpPr txBox="1"/>
          <p:nvPr/>
        </p:nvSpPr>
        <p:spPr>
          <a:xfrm>
            <a:off x="7763256" y="2788920"/>
            <a:ext cx="384048" cy="384048"/>
          </a:xfrm>
          <a:prstGeom prst="rect">
            <a:avLst/>
          </a:prstGeom>
          <a:solidFill>
            <a:srgbClr val="F3F6F7"/>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1" name="mcell"/>
          <p:cNvSpPr txBox="1"/>
          <p:nvPr/>
        </p:nvSpPr>
        <p:spPr>
          <a:xfrm>
            <a:off x="8147304" y="2788920"/>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2" name="mcell"/>
          <p:cNvSpPr txBox="1"/>
          <p:nvPr/>
        </p:nvSpPr>
        <p:spPr>
          <a:xfrm>
            <a:off x="6995160" y="3172968"/>
            <a:ext cx="384048" cy="384048"/>
          </a:xfrm>
          <a:prstGeom prst="rect">
            <a:avLst/>
          </a:prstGeom>
          <a:solidFill>
            <a:srgbClr val="FBE3E1"/>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3" name="mcell"/>
          <p:cNvSpPr txBox="1"/>
          <p:nvPr/>
        </p:nvSpPr>
        <p:spPr>
          <a:xfrm>
            <a:off x="7379208" y="3172968"/>
            <a:ext cx="384048" cy="384048"/>
          </a:xfrm>
          <a:prstGeom prst="rect">
            <a:avLst/>
          </a:prstGeom>
          <a:solidFill>
            <a:srgbClr val="FBE3E1"/>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4" name="mcell"/>
          <p:cNvSpPr txBox="1"/>
          <p:nvPr/>
        </p:nvSpPr>
        <p:spPr>
          <a:xfrm>
            <a:off x="7763256" y="3172968"/>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5" name="mcell"/>
          <p:cNvSpPr txBox="1"/>
          <p:nvPr/>
        </p:nvSpPr>
        <p:spPr>
          <a:xfrm>
            <a:off x="8147304" y="3172968"/>
            <a:ext cx="384048" cy="384048"/>
          </a:xfrm>
          <a:prstGeom prst="rect">
            <a:avLst/>
          </a:prstGeom>
          <a:solidFill>
            <a:srgbClr val="F3F6F7"/>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6" name="mcell"/>
          <p:cNvSpPr txBox="1"/>
          <p:nvPr/>
        </p:nvSpPr>
        <p:spPr>
          <a:xfrm>
            <a:off x="6995160" y="3557016"/>
            <a:ext cx="384048" cy="384048"/>
          </a:xfrm>
          <a:prstGeom prst="rect">
            <a:avLst/>
          </a:prstGeom>
          <a:solidFill>
            <a:srgbClr val="F3F6F7"/>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7" name="mcell"/>
          <p:cNvSpPr txBox="1"/>
          <p:nvPr/>
        </p:nvSpPr>
        <p:spPr>
          <a:xfrm>
            <a:off x="7379208" y="3557016"/>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8" name="mcell"/>
          <p:cNvSpPr txBox="1"/>
          <p:nvPr/>
        </p:nvSpPr>
        <p:spPr>
          <a:xfrm>
            <a:off x="7763256" y="35570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9" name="mcell"/>
          <p:cNvSpPr txBox="1"/>
          <p:nvPr/>
        </p:nvSpPr>
        <p:spPr>
          <a:xfrm>
            <a:off x="8147304" y="35570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0" name="mcell"/>
          <p:cNvSpPr txBox="1"/>
          <p:nvPr/>
        </p:nvSpPr>
        <p:spPr>
          <a:xfrm>
            <a:off x="6995160" y="3941064"/>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91" name="mcell"/>
          <p:cNvSpPr txBox="1"/>
          <p:nvPr/>
        </p:nvSpPr>
        <p:spPr>
          <a:xfrm>
            <a:off x="7379208" y="3941064"/>
            <a:ext cx="384048" cy="384048"/>
          </a:xfrm>
          <a:prstGeom prst="rect">
            <a:avLst/>
          </a:prstGeom>
          <a:solidFill>
            <a:srgbClr val="F3F6F7"/>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92" name="mcell"/>
          <p:cNvSpPr txBox="1"/>
          <p:nvPr/>
        </p:nvSpPr>
        <p:spPr>
          <a:xfrm>
            <a:off x="7763256" y="39410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3" name="mcell"/>
          <p:cNvSpPr txBox="1"/>
          <p:nvPr/>
        </p:nvSpPr>
        <p:spPr>
          <a:xfrm>
            <a:off x="8147304" y="394106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4" name="msep"/>
          <p:cNvSpPr/>
          <p:nvPr/>
        </p:nvSpPr>
        <p:spPr>
          <a:xfrm>
            <a:off x="7763256" y="2807208"/>
            <a:ext cx="0" cy="1499616"/>
          </a:xfrm>
          <a:prstGeom prst="line">
            <a:avLst/>
          </a:prstGeom>
          <a:noFill/>
          <a:ln w="9525">
            <a:solidFill>
              <a:srgbClr val="5B6770"/>
            </a:solidFill>
            <a:prstDash val="dash"/>
          </a:ln>
        </p:spPr>
      </p:sp>
      <p:sp>
        <p:nvSpPr>
          <p:cNvPr id="95" name="msep"/>
          <p:cNvSpPr/>
          <p:nvPr/>
        </p:nvSpPr>
        <p:spPr>
          <a:xfrm>
            <a:off x="7013448" y="3557016"/>
            <a:ext cx="1499616" cy="0"/>
          </a:xfrm>
          <a:prstGeom prst="line">
            <a:avLst/>
          </a:prstGeom>
          <a:noFill/>
          <a:ln w="9525">
            <a:solidFill>
              <a:srgbClr val="5B6770"/>
            </a:solidFill>
            <a:prstDash val="dash"/>
          </a:ln>
        </p:spPr>
      </p:sp>
      <p:sp>
        <p:nvSpPr>
          <p:cNvPr id="96" name="mbr"/>
          <p:cNvSpPr/>
          <p:nvPr/>
        </p:nvSpPr>
        <p:spPr>
          <a:xfrm>
            <a:off x="6967728" y="2761488"/>
            <a:ext cx="0" cy="1591056"/>
          </a:xfrm>
          <a:prstGeom prst="line">
            <a:avLst/>
          </a:prstGeom>
          <a:noFill/>
          <a:ln w="15875">
            <a:solidFill>
              <a:srgbClr val="1E2A32"/>
            </a:solidFill>
            <a:prstDash val="solid"/>
          </a:ln>
        </p:spPr>
      </p:sp>
      <p:sp>
        <p:nvSpPr>
          <p:cNvPr id="97" name="mbr"/>
          <p:cNvSpPr/>
          <p:nvPr/>
        </p:nvSpPr>
        <p:spPr>
          <a:xfrm>
            <a:off x="6967728" y="2761488"/>
            <a:ext cx="73152" cy="0"/>
          </a:xfrm>
          <a:prstGeom prst="line">
            <a:avLst/>
          </a:prstGeom>
          <a:noFill/>
          <a:ln w="15875">
            <a:solidFill>
              <a:srgbClr val="1E2A32"/>
            </a:solidFill>
            <a:prstDash val="solid"/>
          </a:ln>
        </p:spPr>
      </p:sp>
      <p:sp>
        <p:nvSpPr>
          <p:cNvPr id="98" name="mbr"/>
          <p:cNvSpPr/>
          <p:nvPr/>
        </p:nvSpPr>
        <p:spPr>
          <a:xfrm>
            <a:off x="6967728" y="4352544"/>
            <a:ext cx="73152" cy="0"/>
          </a:xfrm>
          <a:prstGeom prst="line">
            <a:avLst/>
          </a:prstGeom>
          <a:noFill/>
          <a:ln w="15875">
            <a:solidFill>
              <a:srgbClr val="1E2A32"/>
            </a:solidFill>
            <a:prstDash val="solid"/>
          </a:ln>
        </p:spPr>
      </p:sp>
      <p:sp>
        <p:nvSpPr>
          <p:cNvPr id="99" name="mbr"/>
          <p:cNvSpPr/>
          <p:nvPr/>
        </p:nvSpPr>
        <p:spPr>
          <a:xfrm>
            <a:off x="8558784" y="2761488"/>
            <a:ext cx="0" cy="1591056"/>
          </a:xfrm>
          <a:prstGeom prst="line">
            <a:avLst/>
          </a:prstGeom>
          <a:noFill/>
          <a:ln w="15875">
            <a:solidFill>
              <a:srgbClr val="1E2A32"/>
            </a:solidFill>
            <a:prstDash val="solid"/>
          </a:ln>
        </p:spPr>
      </p:sp>
      <p:sp>
        <p:nvSpPr>
          <p:cNvPr id="100" name="mbr"/>
          <p:cNvSpPr/>
          <p:nvPr/>
        </p:nvSpPr>
        <p:spPr>
          <a:xfrm>
            <a:off x="8485632" y="2761488"/>
            <a:ext cx="73152" cy="0"/>
          </a:xfrm>
          <a:prstGeom prst="line">
            <a:avLst/>
          </a:prstGeom>
          <a:noFill/>
          <a:ln w="15875">
            <a:solidFill>
              <a:srgbClr val="1E2A32"/>
            </a:solidFill>
            <a:prstDash val="solid"/>
          </a:ln>
        </p:spPr>
      </p:sp>
      <p:sp>
        <p:nvSpPr>
          <p:cNvPr id="101" name="mbr"/>
          <p:cNvSpPr/>
          <p:nvPr/>
        </p:nvSpPr>
        <p:spPr>
          <a:xfrm>
            <a:off x="8485632" y="4352544"/>
            <a:ext cx="73152" cy="0"/>
          </a:xfrm>
          <a:prstGeom prst="line">
            <a:avLst/>
          </a:prstGeom>
          <a:noFill/>
          <a:ln w="15875">
            <a:solidFill>
              <a:srgbClr val="1E2A32"/>
            </a:solidFill>
            <a:prstDash val="solid"/>
          </a:ln>
        </p:spPr>
      </p:sp>
      <p:sp>
        <p:nvSpPr>
          <p:cNvPr id="102" name="mlab"/>
          <p:cNvSpPr txBox="1"/>
          <p:nvPr/>
        </p:nvSpPr>
        <p:spPr>
          <a:xfrm>
            <a:off x="6949440"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103" name="mlab"/>
          <p:cNvSpPr txBox="1"/>
          <p:nvPr/>
        </p:nvSpPr>
        <p:spPr>
          <a:xfrm>
            <a:off x="7333488"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104" name="mlab"/>
          <p:cNvSpPr txBox="1"/>
          <p:nvPr/>
        </p:nvSpPr>
        <p:spPr>
          <a:xfrm>
            <a:off x="7717536"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105" name="mlab"/>
          <p:cNvSpPr txBox="1"/>
          <p:nvPr/>
        </p:nvSpPr>
        <p:spPr>
          <a:xfrm>
            <a:off x="8101584" y="255117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106" name="mgrp"/>
          <p:cNvSpPr txBox="1"/>
          <p:nvPr/>
        </p:nvSpPr>
        <p:spPr>
          <a:xfrm>
            <a:off x="6995160" y="231343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107" name="mgrp"/>
          <p:cNvSpPr txBox="1"/>
          <p:nvPr/>
        </p:nvSpPr>
        <p:spPr>
          <a:xfrm>
            <a:off x="7763256" y="231343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108" name="mlab"/>
          <p:cNvSpPr txBox="1"/>
          <p:nvPr/>
        </p:nvSpPr>
        <p:spPr>
          <a:xfrm>
            <a:off x="6592824" y="278892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o₀</a:t>
            </a:r>
            <a:endParaRPr lang="en-US" sz="1200" dirty="0"/>
          </a:p>
        </p:txBody>
      </p:sp>
      <p:sp>
        <p:nvSpPr>
          <p:cNvPr id="109" name="mlab"/>
          <p:cNvSpPr txBox="1"/>
          <p:nvPr/>
        </p:nvSpPr>
        <p:spPr>
          <a:xfrm>
            <a:off x="6592824" y="317296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o₁</a:t>
            </a:r>
            <a:endParaRPr lang="en-US" sz="1200" dirty="0"/>
          </a:p>
        </p:txBody>
      </p:sp>
      <p:sp>
        <p:nvSpPr>
          <p:cNvPr id="110" name="mlab"/>
          <p:cNvSpPr txBox="1"/>
          <p:nvPr/>
        </p:nvSpPr>
        <p:spPr>
          <a:xfrm>
            <a:off x="6592824" y="355701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o₂</a:t>
            </a:r>
            <a:endParaRPr lang="en-US" sz="1200" dirty="0"/>
          </a:p>
        </p:txBody>
      </p:sp>
      <p:sp>
        <p:nvSpPr>
          <p:cNvPr id="111" name="mlab"/>
          <p:cNvSpPr txBox="1"/>
          <p:nvPr/>
        </p:nvSpPr>
        <p:spPr>
          <a:xfrm>
            <a:off x="6592824" y="394106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o₃</a:t>
            </a:r>
            <a:endParaRPr lang="en-US" sz="1200" dirty="0"/>
          </a:p>
        </p:txBody>
      </p:sp>
      <p:sp>
        <p:nvSpPr>
          <p:cNvPr id="112" name="mname"/>
          <p:cNvSpPr txBox="1"/>
          <p:nvPr/>
        </p:nvSpPr>
        <p:spPr>
          <a:xfrm>
            <a:off x="6720840" y="437997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(Reg,Thr) → Off</a:t>
            </a:r>
            <a:endParaRPr lang="en-US" sz="1300" dirty="0"/>
          </a:p>
        </p:txBody>
      </p:sp>
      <p:sp>
        <p:nvSpPr>
          <p:cNvPr id="113" name="callout"/>
          <p:cNvSpPr/>
          <p:nvPr/>
        </p:nvSpPr>
        <p:spPr>
          <a:xfrm>
            <a:off x="8942832" y="2743200"/>
            <a:ext cx="2761488" cy="1600200"/>
          </a:xfrm>
          <a:prstGeom prst="roundRect">
            <a:avLst>
              <a:gd name="adj" fmla="val 4571"/>
            </a:avLst>
          </a:prstGeom>
          <a:solidFill>
            <a:srgbClr val="FBE3E1"/>
          </a:solidFill>
          <a:ln/>
        </p:spPr>
      </p:sp>
      <p:sp>
        <p:nvSpPr>
          <p:cNvPr id="114" name="callout-text"/>
          <p:cNvSpPr txBox="1"/>
          <p:nvPr/>
        </p:nvSpPr>
        <p:spPr>
          <a:xfrm>
            <a:off x="9079992" y="2798064"/>
            <a:ext cx="2487168" cy="1490472"/>
          </a:xfrm>
          <a:prstGeom prst="rect">
            <a:avLst/>
          </a:prstGeom>
          <a:noFill/>
          <a:ln/>
        </p:spPr>
        <p:txBody>
          <a:bodyPr wrap="square" lIns="0" tIns="0" rIns="0" bIns="0" rtlCol="0" anchor="ctr"/>
          <a:lstStyle/>
          <a:p>
            <a:pPr algn="l" indent="0" marL="0">
              <a:buNone/>
            </a:pPr>
            <a:r>
              <a:rPr lang="en-US" sz="1400" dirty="0">
                <a:solidFill>
                  <a:srgbClr val="B3261E"/>
                </a:solidFill>
                <a:latin typeface="Calibri" pitchFamily="34" charset="0"/>
                <a:ea typeface="Calibri" pitchFamily="34" charset="-122"/>
                <a:cs typeface="Calibri" pitchFamily="34" charset="-120"/>
              </a:rPr>
              <a:t>Top-left block (Reg → o₀,o₁) is </a:t>
            </a:r>
            <a:r>
              <a:rPr lang="en-US" sz="1400" b="1" dirty="0">
                <a:solidFill>
                  <a:srgbClr val="B3261E"/>
                </a:solidFill>
                <a:latin typeface="Calibri" pitchFamily="34" charset="0"/>
                <a:ea typeface="Calibri" pitchFamily="34" charset="-122"/>
                <a:cs typeface="Calibri" pitchFamily="34" charset="-120"/>
              </a:rPr>
              <a:t>0</a:t>
            </a:r>
            <a:r>
              <a:rPr lang="en-US" sz="1400" dirty="0">
                <a:solidFill>
                  <a:srgbClr val="B3261E"/>
                </a:solidFill>
                <a:latin typeface="Calibri" pitchFamily="34" charset="0"/>
                <a:ea typeface="Calibri" pitchFamily="34" charset="-122"/>
                <a:cs typeface="Calibri" pitchFamily="34" charset="-120"/>
              </a:rPr>
              <a:t>, not T.  A thread’s registers sit at offsets t, t+4, t+8, t+12 — no 4-wide vector access.</a:t>
            </a:r>
            <a:endParaRPr lang="en-US" sz="1400" dirty="0"/>
          </a:p>
        </p:txBody>
      </p:sp>
      <p:sp>
        <p:nvSpPr>
          <p:cNvPr id="115" name="tag"/>
          <p:cNvSpPr txBox="1"/>
          <p:nvPr/>
        </p:nvSpPr>
        <p:spPr>
          <a:xfrm>
            <a:off x="6400800" y="5029200"/>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§4.2 · DEFINITION 4.5</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Right inverse: from a logical element back to hardware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4.5, p. 137</a:t>
            </a:r>
            <a:endParaRPr lang="en-US" sz="1000" dirty="0"/>
          </a:p>
        </p:txBody>
      </p:sp>
      <p:sp>
        <p:nvSpPr>
          <p:cNvPr id="6" name="callout"/>
          <p:cNvSpPr/>
          <p:nvPr/>
        </p:nvSpPr>
        <p:spPr>
          <a:xfrm>
            <a:off x="502920" y="1234440"/>
            <a:ext cx="11201400" cy="640080"/>
          </a:xfrm>
          <a:prstGeom prst="roundRect">
            <a:avLst>
              <a:gd name="adj" fmla="val 11429"/>
            </a:avLst>
          </a:prstGeom>
          <a:solidFill>
            <a:srgbClr val="DDEFF1"/>
          </a:solidFill>
          <a:ln/>
        </p:spPr>
      </p:sp>
      <p:sp>
        <p:nvSpPr>
          <p:cNvPr id="7" name="callout-text"/>
          <p:cNvSpPr txBox="1"/>
          <p:nvPr/>
        </p:nvSpPr>
        <p:spPr>
          <a:xfrm>
            <a:off x="640080" y="1289304"/>
            <a:ext cx="10927080" cy="530352"/>
          </a:xfrm>
          <a:prstGeom prst="rect">
            <a:avLst/>
          </a:prstGeom>
          <a:noFill/>
          <a:ln/>
        </p:spPr>
        <p:txBody>
          <a:bodyPr wrap="square" lIns="0" tIns="0" rIns="0" bIns="0" rtlCol="0" anchor="ctr"/>
          <a:lstStyle/>
          <a:p>
            <a:pPr algn="l" indent="0" marL="0">
              <a:buNone/>
            </a:pPr>
            <a:r>
              <a:rPr lang="en-US" sz="1600" b="1" dirty="0">
                <a:solidFill>
                  <a:srgbClr val="0A4F58"/>
                </a:solidFill>
                <a:latin typeface="Calibri" pitchFamily="34" charset="0"/>
                <a:ea typeface="Calibri" pitchFamily="34" charset="-122"/>
                <a:cs typeface="Calibri" pitchFamily="34" charset="-120"/>
              </a:rPr>
              <a:t>Definition 4.5.</a:t>
            </a:r>
            <a:r>
              <a:rPr lang="en-US" sz="1600" dirty="0">
                <a:solidFill>
                  <a:srgbClr val="0A4F58"/>
                </a:solidFill>
                <a:latin typeface="Calibri" pitchFamily="34" charset="0"/>
                <a:ea typeface="Calibri" pitchFamily="34" charset="-122"/>
                <a:cs typeface="Calibri" pitchFamily="34" charset="-120"/>
              </a:rPr>
              <a:t> A surjective L: U → V has a right inverse: M⁻¹ is an n×m least-squares solution of </a:t>
            </a:r>
            <a:r>
              <a:rPr lang="en-US" sz="1600" b="1" dirty="0">
                <a:solidFill>
                  <a:srgbClr val="0A4F58"/>
                </a:solidFill>
                <a:latin typeface="Calibri" pitchFamily="34" charset="0"/>
                <a:ea typeface="Calibri" pitchFamily="34" charset="-122"/>
                <a:cs typeface="Calibri" pitchFamily="34" charset="-120"/>
              </a:rPr>
              <a:t>M X = Iₘ</a:t>
            </a:r>
            <a:r>
              <a:rPr lang="en-US" sz="1600" dirty="0">
                <a:solidFill>
                  <a:srgbClr val="0A4F58"/>
                </a:solidFill>
                <a:latin typeface="Calibri" pitchFamily="34" charset="0"/>
                <a:ea typeface="Calibri" pitchFamily="34" charset="-122"/>
                <a:cs typeface="Calibri" pitchFamily="34" charset="-120"/>
              </a:rPr>
              <a:t>, found by </a:t>
            </a:r>
            <a:r>
              <a:rPr lang="en-US" sz="1600" b="1" dirty="0">
                <a:solidFill>
                  <a:srgbClr val="0A4F58"/>
                </a:solidFill>
                <a:latin typeface="Calibri" pitchFamily="34" charset="0"/>
                <a:ea typeface="Calibri" pitchFamily="34" charset="-122"/>
                <a:cs typeface="Calibri" pitchFamily="34" charset="-120"/>
              </a:rPr>
              <a:t>Gaussian elimination over F₂</a:t>
            </a:r>
            <a:r>
              <a:rPr lang="en-US" sz="1600" dirty="0">
                <a:solidFill>
                  <a:srgbClr val="0A4F58"/>
                </a:solidFill>
                <a:latin typeface="Calibri" pitchFamily="34" charset="0"/>
                <a:ea typeface="Calibri" pitchFamily="34" charset="-122"/>
                <a:cs typeface="Calibri" pitchFamily="34" charset="-120"/>
              </a:rPr>
              <a:t>.</a:t>
            </a:r>
            <a:endParaRPr lang="en-US" sz="1600" dirty="0"/>
          </a:p>
        </p:txBody>
      </p:sp>
      <p:sp>
        <p:nvSpPr>
          <p:cNvPr id="8" name="mcol"/>
          <p:cNvSpPr/>
          <p:nvPr/>
        </p:nvSpPr>
        <p:spPr>
          <a:xfrm>
            <a:off x="1892808" y="2606040"/>
            <a:ext cx="420624" cy="841248"/>
          </a:xfrm>
          <a:prstGeom prst="rect">
            <a:avLst/>
          </a:prstGeom>
          <a:solidFill>
            <a:srgbClr val="F3F6F7"/>
          </a:solidFill>
          <a:ln/>
        </p:spPr>
      </p:sp>
      <p:sp>
        <p:nvSpPr>
          <p:cNvPr id="9" name="mcell"/>
          <p:cNvSpPr txBox="1"/>
          <p:nvPr/>
        </p:nvSpPr>
        <p:spPr>
          <a:xfrm>
            <a:off x="1051560" y="2606040"/>
            <a:ext cx="420624" cy="420624"/>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0" name="mcell"/>
          <p:cNvSpPr txBox="1"/>
          <p:nvPr/>
        </p:nvSpPr>
        <p:spPr>
          <a:xfrm>
            <a:off x="1472184" y="2606040"/>
            <a:ext cx="420624" cy="420624"/>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 name="mcell"/>
          <p:cNvSpPr txBox="1"/>
          <p:nvPr/>
        </p:nvSpPr>
        <p:spPr>
          <a:xfrm>
            <a:off x="1892808" y="2606040"/>
            <a:ext cx="420624" cy="420624"/>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2" name="mcell"/>
          <p:cNvSpPr txBox="1"/>
          <p:nvPr/>
        </p:nvSpPr>
        <p:spPr>
          <a:xfrm>
            <a:off x="1051560" y="3026664"/>
            <a:ext cx="420624" cy="420624"/>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3" name="mcell"/>
          <p:cNvSpPr txBox="1"/>
          <p:nvPr/>
        </p:nvSpPr>
        <p:spPr>
          <a:xfrm>
            <a:off x="1472184" y="3026664"/>
            <a:ext cx="420624" cy="420624"/>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4" name="mcell"/>
          <p:cNvSpPr txBox="1"/>
          <p:nvPr/>
        </p:nvSpPr>
        <p:spPr>
          <a:xfrm>
            <a:off x="1892808" y="3026664"/>
            <a:ext cx="420624" cy="420624"/>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5" name="mbr"/>
          <p:cNvSpPr/>
          <p:nvPr/>
        </p:nvSpPr>
        <p:spPr>
          <a:xfrm>
            <a:off x="1024128" y="2578608"/>
            <a:ext cx="0" cy="896112"/>
          </a:xfrm>
          <a:prstGeom prst="line">
            <a:avLst/>
          </a:prstGeom>
          <a:noFill/>
          <a:ln w="15875">
            <a:solidFill>
              <a:srgbClr val="1E2A32"/>
            </a:solidFill>
            <a:prstDash val="solid"/>
          </a:ln>
        </p:spPr>
      </p:sp>
      <p:sp>
        <p:nvSpPr>
          <p:cNvPr id="16" name="mbr"/>
          <p:cNvSpPr/>
          <p:nvPr/>
        </p:nvSpPr>
        <p:spPr>
          <a:xfrm>
            <a:off x="1024128" y="2578608"/>
            <a:ext cx="73152" cy="0"/>
          </a:xfrm>
          <a:prstGeom prst="line">
            <a:avLst/>
          </a:prstGeom>
          <a:noFill/>
          <a:ln w="15875">
            <a:solidFill>
              <a:srgbClr val="1E2A32"/>
            </a:solidFill>
            <a:prstDash val="solid"/>
          </a:ln>
        </p:spPr>
      </p:sp>
      <p:sp>
        <p:nvSpPr>
          <p:cNvPr id="17" name="mbr"/>
          <p:cNvSpPr/>
          <p:nvPr/>
        </p:nvSpPr>
        <p:spPr>
          <a:xfrm>
            <a:off x="1024128" y="3474720"/>
            <a:ext cx="73152" cy="0"/>
          </a:xfrm>
          <a:prstGeom prst="line">
            <a:avLst/>
          </a:prstGeom>
          <a:noFill/>
          <a:ln w="15875">
            <a:solidFill>
              <a:srgbClr val="1E2A32"/>
            </a:solidFill>
            <a:prstDash val="solid"/>
          </a:ln>
        </p:spPr>
      </p:sp>
      <p:sp>
        <p:nvSpPr>
          <p:cNvPr id="18" name="mbr"/>
          <p:cNvSpPr/>
          <p:nvPr/>
        </p:nvSpPr>
        <p:spPr>
          <a:xfrm>
            <a:off x="2340864" y="2578608"/>
            <a:ext cx="0" cy="896112"/>
          </a:xfrm>
          <a:prstGeom prst="line">
            <a:avLst/>
          </a:prstGeom>
          <a:noFill/>
          <a:ln w="15875">
            <a:solidFill>
              <a:srgbClr val="1E2A32"/>
            </a:solidFill>
            <a:prstDash val="solid"/>
          </a:ln>
        </p:spPr>
      </p:sp>
      <p:sp>
        <p:nvSpPr>
          <p:cNvPr id="19" name="mbr"/>
          <p:cNvSpPr/>
          <p:nvPr/>
        </p:nvSpPr>
        <p:spPr>
          <a:xfrm>
            <a:off x="2267712" y="2578608"/>
            <a:ext cx="73152" cy="0"/>
          </a:xfrm>
          <a:prstGeom prst="line">
            <a:avLst/>
          </a:prstGeom>
          <a:noFill/>
          <a:ln w="15875">
            <a:solidFill>
              <a:srgbClr val="1E2A32"/>
            </a:solidFill>
            <a:prstDash val="solid"/>
          </a:ln>
        </p:spPr>
      </p:sp>
      <p:sp>
        <p:nvSpPr>
          <p:cNvPr id="20" name="mbr"/>
          <p:cNvSpPr/>
          <p:nvPr/>
        </p:nvSpPr>
        <p:spPr>
          <a:xfrm>
            <a:off x="2267712" y="3474720"/>
            <a:ext cx="73152" cy="0"/>
          </a:xfrm>
          <a:prstGeom prst="line">
            <a:avLst/>
          </a:prstGeom>
          <a:noFill/>
          <a:ln w="15875">
            <a:solidFill>
              <a:srgbClr val="1E2A32"/>
            </a:solidFill>
            <a:prstDash val="solid"/>
          </a:ln>
        </p:spPr>
      </p:sp>
      <p:sp>
        <p:nvSpPr>
          <p:cNvPr id="21" name="mlab"/>
          <p:cNvSpPr txBox="1"/>
          <p:nvPr/>
        </p:nvSpPr>
        <p:spPr>
          <a:xfrm>
            <a:off x="1005840" y="2368296"/>
            <a:ext cx="512064"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22" name="mlab"/>
          <p:cNvSpPr txBox="1"/>
          <p:nvPr/>
        </p:nvSpPr>
        <p:spPr>
          <a:xfrm>
            <a:off x="1426464" y="2368296"/>
            <a:ext cx="512064"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23" name="mlab"/>
          <p:cNvSpPr txBox="1"/>
          <p:nvPr/>
        </p:nvSpPr>
        <p:spPr>
          <a:xfrm>
            <a:off x="1847088" y="2368296"/>
            <a:ext cx="512064"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24" name="mlab"/>
          <p:cNvSpPr txBox="1"/>
          <p:nvPr/>
        </p:nvSpPr>
        <p:spPr>
          <a:xfrm>
            <a:off x="649224" y="2606040"/>
            <a:ext cx="347472" cy="420624"/>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e₀</a:t>
            </a:r>
            <a:endParaRPr lang="en-US" sz="1300" dirty="0"/>
          </a:p>
        </p:txBody>
      </p:sp>
      <p:sp>
        <p:nvSpPr>
          <p:cNvPr id="25" name="mlab"/>
          <p:cNvSpPr txBox="1"/>
          <p:nvPr/>
        </p:nvSpPr>
        <p:spPr>
          <a:xfrm>
            <a:off x="649224" y="3026664"/>
            <a:ext cx="347472" cy="420624"/>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e₁</a:t>
            </a:r>
            <a:endParaRPr lang="en-US" sz="1300" dirty="0"/>
          </a:p>
        </p:txBody>
      </p:sp>
      <p:sp>
        <p:nvSpPr>
          <p:cNvPr id="26" name="mname"/>
          <p:cNvSpPr txBox="1"/>
          <p:nvPr/>
        </p:nvSpPr>
        <p:spPr>
          <a:xfrm>
            <a:off x="777240" y="3502152"/>
            <a:ext cx="18105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 (2×3)</a:t>
            </a:r>
            <a:endParaRPr lang="en-US" sz="1300" dirty="0"/>
          </a:p>
        </p:txBody>
      </p:sp>
      <p:sp>
        <p:nvSpPr>
          <p:cNvPr id="27" name="Text 24"/>
          <p:cNvSpPr txBox="1"/>
          <p:nvPr/>
        </p:nvSpPr>
        <p:spPr>
          <a:xfrm>
            <a:off x="502920" y="3794760"/>
            <a:ext cx="2743200" cy="274320"/>
          </a:xfrm>
          <a:prstGeom prst="rect">
            <a:avLst/>
          </a:prstGeom>
          <a:noFill/>
          <a:ln/>
        </p:spPr>
        <p:txBody>
          <a:bodyPr wrap="square" lIns="0" tIns="0" rIns="0" bIns="0" rtlCol="0" anchor="t"/>
          <a:lstStyle/>
          <a:p>
            <a:pPr algn="ctr" indent="0" marL="0">
              <a:buNone/>
            </a:pPr>
            <a:r>
              <a:rPr lang="en-US" sz="1200" i="1" dirty="0">
                <a:solidFill>
                  <a:srgbClr val="5B6770"/>
                </a:solidFill>
                <a:latin typeface="Calibri" pitchFamily="34" charset="0"/>
                <a:ea typeface="Calibri" pitchFamily="34" charset="-122"/>
                <a:cs typeface="Calibri" pitchFamily="34" charset="-120"/>
              </a:rPr>
              <a:t>r₂ is ignored → zero column</a:t>
            </a:r>
            <a:endParaRPr lang="en-US" sz="12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685800" y="3977640"/>
          <a:ext cx="2651760" cy="914400"/>
        </p:xfrm>
        <a:graphic>
          <a:graphicData uri="http://schemas.openxmlformats.org/drawingml/2006/table">
            <a:tbl>
              <a:tblPr/>
              <a:tblGrid>
                <a:gridCol w="914400"/>
                <a:gridCol w="1737360"/>
              </a:tblGrid>
              <a:tr h="292608">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element 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preimages (register #)</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292608">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r0, r4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r1, r5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r2, r6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292608">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r3, r7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29" name="mcell"/>
          <p:cNvSpPr txBox="1"/>
          <p:nvPr/>
        </p:nvSpPr>
        <p:spPr>
          <a:xfrm>
            <a:off x="4343400" y="23774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0" name="mcell"/>
          <p:cNvSpPr txBox="1"/>
          <p:nvPr/>
        </p:nvSpPr>
        <p:spPr>
          <a:xfrm>
            <a:off x="4709160" y="23774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1" name="mcell"/>
          <p:cNvSpPr txBox="1"/>
          <p:nvPr/>
        </p:nvSpPr>
        <p:spPr>
          <a:xfrm>
            <a:off x="5074920" y="23774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2" name="mcell"/>
          <p:cNvSpPr txBox="1"/>
          <p:nvPr/>
        </p:nvSpPr>
        <p:spPr>
          <a:xfrm>
            <a:off x="4343400" y="27432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3" name="mcell"/>
          <p:cNvSpPr txBox="1"/>
          <p:nvPr/>
        </p:nvSpPr>
        <p:spPr>
          <a:xfrm>
            <a:off x="4709160" y="27432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4" name="mcell"/>
          <p:cNvSpPr txBox="1"/>
          <p:nvPr/>
        </p:nvSpPr>
        <p:spPr>
          <a:xfrm>
            <a:off x="5074920" y="27432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5" name="mbr"/>
          <p:cNvSpPr/>
          <p:nvPr/>
        </p:nvSpPr>
        <p:spPr>
          <a:xfrm>
            <a:off x="4315968" y="2350008"/>
            <a:ext cx="0" cy="786384"/>
          </a:xfrm>
          <a:prstGeom prst="line">
            <a:avLst/>
          </a:prstGeom>
          <a:noFill/>
          <a:ln w="15875">
            <a:solidFill>
              <a:srgbClr val="1E2A32"/>
            </a:solidFill>
            <a:prstDash val="solid"/>
          </a:ln>
        </p:spPr>
      </p:sp>
      <p:sp>
        <p:nvSpPr>
          <p:cNvPr id="36" name="mbr"/>
          <p:cNvSpPr/>
          <p:nvPr/>
        </p:nvSpPr>
        <p:spPr>
          <a:xfrm>
            <a:off x="4315968" y="2350008"/>
            <a:ext cx="73152" cy="0"/>
          </a:xfrm>
          <a:prstGeom prst="line">
            <a:avLst/>
          </a:prstGeom>
          <a:noFill/>
          <a:ln w="15875">
            <a:solidFill>
              <a:srgbClr val="1E2A32"/>
            </a:solidFill>
            <a:prstDash val="solid"/>
          </a:ln>
        </p:spPr>
      </p:sp>
      <p:sp>
        <p:nvSpPr>
          <p:cNvPr id="37" name="mbr"/>
          <p:cNvSpPr/>
          <p:nvPr/>
        </p:nvSpPr>
        <p:spPr>
          <a:xfrm>
            <a:off x="4315968" y="3136392"/>
            <a:ext cx="73152" cy="0"/>
          </a:xfrm>
          <a:prstGeom prst="line">
            <a:avLst/>
          </a:prstGeom>
          <a:noFill/>
          <a:ln w="15875">
            <a:solidFill>
              <a:srgbClr val="1E2A32"/>
            </a:solidFill>
            <a:prstDash val="solid"/>
          </a:ln>
        </p:spPr>
      </p:sp>
      <p:sp>
        <p:nvSpPr>
          <p:cNvPr id="38" name="mbr"/>
          <p:cNvSpPr/>
          <p:nvPr/>
        </p:nvSpPr>
        <p:spPr>
          <a:xfrm>
            <a:off x="5468112" y="2350008"/>
            <a:ext cx="0" cy="786384"/>
          </a:xfrm>
          <a:prstGeom prst="line">
            <a:avLst/>
          </a:prstGeom>
          <a:noFill/>
          <a:ln w="15875">
            <a:solidFill>
              <a:srgbClr val="1E2A32"/>
            </a:solidFill>
            <a:prstDash val="solid"/>
          </a:ln>
        </p:spPr>
      </p:sp>
      <p:sp>
        <p:nvSpPr>
          <p:cNvPr id="39" name="mbr"/>
          <p:cNvSpPr/>
          <p:nvPr/>
        </p:nvSpPr>
        <p:spPr>
          <a:xfrm>
            <a:off x="5394960" y="2350008"/>
            <a:ext cx="73152" cy="0"/>
          </a:xfrm>
          <a:prstGeom prst="line">
            <a:avLst/>
          </a:prstGeom>
          <a:noFill/>
          <a:ln w="15875">
            <a:solidFill>
              <a:srgbClr val="1E2A32"/>
            </a:solidFill>
            <a:prstDash val="solid"/>
          </a:ln>
        </p:spPr>
      </p:sp>
      <p:sp>
        <p:nvSpPr>
          <p:cNvPr id="40" name="mbr"/>
          <p:cNvSpPr/>
          <p:nvPr/>
        </p:nvSpPr>
        <p:spPr>
          <a:xfrm>
            <a:off x="5394960" y="3136392"/>
            <a:ext cx="73152" cy="0"/>
          </a:xfrm>
          <a:prstGeom prst="line">
            <a:avLst/>
          </a:prstGeom>
          <a:noFill/>
          <a:ln w="15875">
            <a:solidFill>
              <a:srgbClr val="1E2A32"/>
            </a:solidFill>
            <a:prstDash val="solid"/>
          </a:ln>
        </p:spPr>
      </p:sp>
      <p:sp>
        <p:nvSpPr>
          <p:cNvPr id="41" name="mname"/>
          <p:cNvSpPr txBox="1"/>
          <p:nvPr/>
        </p:nvSpPr>
        <p:spPr>
          <a:xfrm>
            <a:off x="4069080" y="3163824"/>
            <a:ext cx="16459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a:t>
            </a:r>
            <a:endParaRPr lang="en-US" sz="1300" dirty="0"/>
          </a:p>
        </p:txBody>
      </p:sp>
      <p:sp>
        <p:nvSpPr>
          <p:cNvPr id="42" name="op"/>
          <p:cNvSpPr txBox="1"/>
          <p:nvPr/>
        </p:nvSpPr>
        <p:spPr>
          <a:xfrm>
            <a:off x="5486400" y="2514600"/>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43" name="mcell"/>
          <p:cNvSpPr txBox="1"/>
          <p:nvPr/>
        </p:nvSpPr>
        <p:spPr>
          <a:xfrm>
            <a:off x="5989320" y="219456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4" name="mcell"/>
          <p:cNvSpPr txBox="1"/>
          <p:nvPr/>
        </p:nvSpPr>
        <p:spPr>
          <a:xfrm>
            <a:off x="6355080" y="219456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5" name="mcell"/>
          <p:cNvSpPr txBox="1"/>
          <p:nvPr/>
        </p:nvSpPr>
        <p:spPr>
          <a:xfrm>
            <a:off x="5989320" y="25603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6" name="mcell"/>
          <p:cNvSpPr txBox="1"/>
          <p:nvPr/>
        </p:nvSpPr>
        <p:spPr>
          <a:xfrm>
            <a:off x="6355080" y="256032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7" name="mcell"/>
          <p:cNvSpPr txBox="1"/>
          <p:nvPr/>
        </p:nvSpPr>
        <p:spPr>
          <a:xfrm>
            <a:off x="5989320" y="2926080"/>
            <a:ext cx="365760" cy="365760"/>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48" name="mcell"/>
          <p:cNvSpPr txBox="1"/>
          <p:nvPr/>
        </p:nvSpPr>
        <p:spPr>
          <a:xfrm>
            <a:off x="6355080" y="2926080"/>
            <a:ext cx="365760" cy="365760"/>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49" name="mbr"/>
          <p:cNvSpPr/>
          <p:nvPr/>
        </p:nvSpPr>
        <p:spPr>
          <a:xfrm>
            <a:off x="5961888" y="2167128"/>
            <a:ext cx="0" cy="1152144"/>
          </a:xfrm>
          <a:prstGeom prst="line">
            <a:avLst/>
          </a:prstGeom>
          <a:noFill/>
          <a:ln w="15875">
            <a:solidFill>
              <a:srgbClr val="1E2A32"/>
            </a:solidFill>
            <a:prstDash val="solid"/>
          </a:ln>
        </p:spPr>
      </p:sp>
      <p:sp>
        <p:nvSpPr>
          <p:cNvPr id="50" name="mbr"/>
          <p:cNvSpPr/>
          <p:nvPr/>
        </p:nvSpPr>
        <p:spPr>
          <a:xfrm>
            <a:off x="5961888" y="2167128"/>
            <a:ext cx="73152" cy="0"/>
          </a:xfrm>
          <a:prstGeom prst="line">
            <a:avLst/>
          </a:prstGeom>
          <a:noFill/>
          <a:ln w="15875">
            <a:solidFill>
              <a:srgbClr val="1E2A32"/>
            </a:solidFill>
            <a:prstDash val="solid"/>
          </a:ln>
        </p:spPr>
      </p:sp>
      <p:sp>
        <p:nvSpPr>
          <p:cNvPr id="51" name="mbr"/>
          <p:cNvSpPr/>
          <p:nvPr/>
        </p:nvSpPr>
        <p:spPr>
          <a:xfrm>
            <a:off x="5961888" y="3319272"/>
            <a:ext cx="73152" cy="0"/>
          </a:xfrm>
          <a:prstGeom prst="line">
            <a:avLst/>
          </a:prstGeom>
          <a:noFill/>
          <a:ln w="15875">
            <a:solidFill>
              <a:srgbClr val="1E2A32"/>
            </a:solidFill>
            <a:prstDash val="solid"/>
          </a:ln>
        </p:spPr>
      </p:sp>
      <p:sp>
        <p:nvSpPr>
          <p:cNvPr id="52" name="mbr"/>
          <p:cNvSpPr/>
          <p:nvPr/>
        </p:nvSpPr>
        <p:spPr>
          <a:xfrm>
            <a:off x="6748272" y="2167128"/>
            <a:ext cx="0" cy="1152144"/>
          </a:xfrm>
          <a:prstGeom prst="line">
            <a:avLst/>
          </a:prstGeom>
          <a:noFill/>
          <a:ln w="15875">
            <a:solidFill>
              <a:srgbClr val="1E2A32"/>
            </a:solidFill>
            <a:prstDash val="solid"/>
          </a:ln>
        </p:spPr>
      </p:sp>
      <p:sp>
        <p:nvSpPr>
          <p:cNvPr id="53" name="mbr"/>
          <p:cNvSpPr/>
          <p:nvPr/>
        </p:nvSpPr>
        <p:spPr>
          <a:xfrm>
            <a:off x="6675120" y="2167128"/>
            <a:ext cx="73152" cy="0"/>
          </a:xfrm>
          <a:prstGeom prst="line">
            <a:avLst/>
          </a:prstGeom>
          <a:noFill/>
          <a:ln w="15875">
            <a:solidFill>
              <a:srgbClr val="1E2A32"/>
            </a:solidFill>
            <a:prstDash val="solid"/>
          </a:ln>
        </p:spPr>
      </p:sp>
      <p:sp>
        <p:nvSpPr>
          <p:cNvPr id="54" name="mbr"/>
          <p:cNvSpPr/>
          <p:nvPr/>
        </p:nvSpPr>
        <p:spPr>
          <a:xfrm>
            <a:off x="6675120" y="3319272"/>
            <a:ext cx="73152" cy="0"/>
          </a:xfrm>
          <a:prstGeom prst="line">
            <a:avLst/>
          </a:prstGeom>
          <a:noFill/>
          <a:ln w="15875">
            <a:solidFill>
              <a:srgbClr val="1E2A32"/>
            </a:solidFill>
            <a:prstDash val="solid"/>
          </a:ln>
        </p:spPr>
      </p:sp>
      <p:sp>
        <p:nvSpPr>
          <p:cNvPr id="55" name="mlab"/>
          <p:cNvSpPr txBox="1"/>
          <p:nvPr/>
        </p:nvSpPr>
        <p:spPr>
          <a:xfrm>
            <a:off x="5586984" y="219456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56" name="mlab"/>
          <p:cNvSpPr txBox="1"/>
          <p:nvPr/>
        </p:nvSpPr>
        <p:spPr>
          <a:xfrm>
            <a:off x="5586984" y="256032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57" name="mlab"/>
          <p:cNvSpPr txBox="1"/>
          <p:nvPr/>
        </p:nvSpPr>
        <p:spPr>
          <a:xfrm>
            <a:off x="5586984" y="29260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r₂</a:t>
            </a:r>
            <a:endParaRPr lang="en-US" sz="1200" dirty="0"/>
          </a:p>
        </p:txBody>
      </p:sp>
      <p:sp>
        <p:nvSpPr>
          <p:cNvPr id="58" name="mname"/>
          <p:cNvSpPr txBox="1"/>
          <p:nvPr/>
        </p:nvSpPr>
        <p:spPr>
          <a:xfrm>
            <a:off x="5715000" y="3346704"/>
            <a:ext cx="12801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R (slack = 0)</a:t>
            </a:r>
            <a:endParaRPr lang="en-US" sz="1300" dirty="0"/>
          </a:p>
        </p:txBody>
      </p:sp>
      <p:sp>
        <p:nvSpPr>
          <p:cNvPr id="59" name="op"/>
          <p:cNvSpPr txBox="1"/>
          <p:nvPr/>
        </p:nvSpPr>
        <p:spPr>
          <a:xfrm>
            <a:off x="6766560" y="251460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0" name="mcell"/>
          <p:cNvSpPr txBox="1"/>
          <p:nvPr/>
        </p:nvSpPr>
        <p:spPr>
          <a:xfrm>
            <a:off x="7269480" y="23774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61" name="mcell"/>
          <p:cNvSpPr txBox="1"/>
          <p:nvPr/>
        </p:nvSpPr>
        <p:spPr>
          <a:xfrm>
            <a:off x="7635240" y="23774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2" name="mcell"/>
          <p:cNvSpPr txBox="1"/>
          <p:nvPr/>
        </p:nvSpPr>
        <p:spPr>
          <a:xfrm>
            <a:off x="7269480" y="27432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3" name="mcell"/>
          <p:cNvSpPr txBox="1"/>
          <p:nvPr/>
        </p:nvSpPr>
        <p:spPr>
          <a:xfrm>
            <a:off x="7635240" y="27432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64" name="mbr"/>
          <p:cNvSpPr/>
          <p:nvPr/>
        </p:nvSpPr>
        <p:spPr>
          <a:xfrm>
            <a:off x="7242048" y="2350008"/>
            <a:ext cx="0" cy="786384"/>
          </a:xfrm>
          <a:prstGeom prst="line">
            <a:avLst/>
          </a:prstGeom>
          <a:noFill/>
          <a:ln w="15875">
            <a:solidFill>
              <a:srgbClr val="1E2A32"/>
            </a:solidFill>
            <a:prstDash val="solid"/>
          </a:ln>
        </p:spPr>
      </p:sp>
      <p:sp>
        <p:nvSpPr>
          <p:cNvPr id="65" name="mbr"/>
          <p:cNvSpPr/>
          <p:nvPr/>
        </p:nvSpPr>
        <p:spPr>
          <a:xfrm>
            <a:off x="7242048" y="2350008"/>
            <a:ext cx="73152" cy="0"/>
          </a:xfrm>
          <a:prstGeom prst="line">
            <a:avLst/>
          </a:prstGeom>
          <a:noFill/>
          <a:ln w="15875">
            <a:solidFill>
              <a:srgbClr val="1E2A32"/>
            </a:solidFill>
            <a:prstDash val="solid"/>
          </a:ln>
        </p:spPr>
      </p:sp>
      <p:sp>
        <p:nvSpPr>
          <p:cNvPr id="66" name="mbr"/>
          <p:cNvSpPr/>
          <p:nvPr/>
        </p:nvSpPr>
        <p:spPr>
          <a:xfrm>
            <a:off x="7242048" y="3136392"/>
            <a:ext cx="73152" cy="0"/>
          </a:xfrm>
          <a:prstGeom prst="line">
            <a:avLst/>
          </a:prstGeom>
          <a:noFill/>
          <a:ln w="15875">
            <a:solidFill>
              <a:srgbClr val="1E2A32"/>
            </a:solidFill>
            <a:prstDash val="solid"/>
          </a:ln>
        </p:spPr>
      </p:sp>
      <p:sp>
        <p:nvSpPr>
          <p:cNvPr id="67" name="mbr"/>
          <p:cNvSpPr/>
          <p:nvPr/>
        </p:nvSpPr>
        <p:spPr>
          <a:xfrm>
            <a:off x="8028432" y="2350008"/>
            <a:ext cx="0" cy="786384"/>
          </a:xfrm>
          <a:prstGeom prst="line">
            <a:avLst/>
          </a:prstGeom>
          <a:noFill/>
          <a:ln w="15875">
            <a:solidFill>
              <a:srgbClr val="1E2A32"/>
            </a:solidFill>
            <a:prstDash val="solid"/>
          </a:ln>
        </p:spPr>
      </p:sp>
      <p:sp>
        <p:nvSpPr>
          <p:cNvPr id="68" name="mbr"/>
          <p:cNvSpPr/>
          <p:nvPr/>
        </p:nvSpPr>
        <p:spPr>
          <a:xfrm>
            <a:off x="7955280" y="2350008"/>
            <a:ext cx="73152" cy="0"/>
          </a:xfrm>
          <a:prstGeom prst="line">
            <a:avLst/>
          </a:prstGeom>
          <a:noFill/>
          <a:ln w="15875">
            <a:solidFill>
              <a:srgbClr val="1E2A32"/>
            </a:solidFill>
            <a:prstDash val="solid"/>
          </a:ln>
        </p:spPr>
      </p:sp>
      <p:sp>
        <p:nvSpPr>
          <p:cNvPr id="69" name="mbr"/>
          <p:cNvSpPr/>
          <p:nvPr/>
        </p:nvSpPr>
        <p:spPr>
          <a:xfrm>
            <a:off x="7955280" y="3136392"/>
            <a:ext cx="73152" cy="0"/>
          </a:xfrm>
          <a:prstGeom prst="line">
            <a:avLst/>
          </a:prstGeom>
          <a:noFill/>
          <a:ln w="15875">
            <a:solidFill>
              <a:srgbClr val="1E2A32"/>
            </a:solidFill>
            <a:prstDash val="solid"/>
          </a:ln>
        </p:spPr>
      </p:sp>
      <p:sp>
        <p:nvSpPr>
          <p:cNvPr id="70" name="mname"/>
          <p:cNvSpPr txBox="1"/>
          <p:nvPr/>
        </p:nvSpPr>
        <p:spPr>
          <a:xfrm>
            <a:off x="6995160" y="3163824"/>
            <a:ext cx="12801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I₂</a:t>
            </a:r>
            <a:endParaRPr lang="en-US" sz="1300" dirty="0"/>
          </a:p>
        </p:txBody>
      </p:sp>
      <p:sp>
        <p:nvSpPr>
          <p:cNvPr id="71" name="mcell"/>
          <p:cNvSpPr txBox="1"/>
          <p:nvPr/>
        </p:nvSpPr>
        <p:spPr>
          <a:xfrm>
            <a:off x="4343400" y="41148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2" name="mcell"/>
          <p:cNvSpPr txBox="1"/>
          <p:nvPr/>
        </p:nvSpPr>
        <p:spPr>
          <a:xfrm>
            <a:off x="4709160" y="4114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3" name="mcell"/>
          <p:cNvSpPr txBox="1"/>
          <p:nvPr/>
        </p:nvSpPr>
        <p:spPr>
          <a:xfrm>
            <a:off x="5074920" y="4114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4" name="mcell"/>
          <p:cNvSpPr txBox="1"/>
          <p:nvPr/>
        </p:nvSpPr>
        <p:spPr>
          <a:xfrm>
            <a:off x="4343400" y="448056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5" name="mcell"/>
          <p:cNvSpPr txBox="1"/>
          <p:nvPr/>
        </p:nvSpPr>
        <p:spPr>
          <a:xfrm>
            <a:off x="4709160" y="448056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6" name="mcell"/>
          <p:cNvSpPr txBox="1"/>
          <p:nvPr/>
        </p:nvSpPr>
        <p:spPr>
          <a:xfrm>
            <a:off x="5074920" y="448056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7" name="mbr"/>
          <p:cNvSpPr/>
          <p:nvPr/>
        </p:nvSpPr>
        <p:spPr>
          <a:xfrm>
            <a:off x="4315968" y="4087368"/>
            <a:ext cx="0" cy="786384"/>
          </a:xfrm>
          <a:prstGeom prst="line">
            <a:avLst/>
          </a:prstGeom>
          <a:noFill/>
          <a:ln w="15875">
            <a:solidFill>
              <a:srgbClr val="1E2A32"/>
            </a:solidFill>
            <a:prstDash val="solid"/>
          </a:ln>
        </p:spPr>
      </p:sp>
      <p:sp>
        <p:nvSpPr>
          <p:cNvPr id="78" name="mbr"/>
          <p:cNvSpPr/>
          <p:nvPr/>
        </p:nvSpPr>
        <p:spPr>
          <a:xfrm>
            <a:off x="4315968" y="4087368"/>
            <a:ext cx="73152" cy="0"/>
          </a:xfrm>
          <a:prstGeom prst="line">
            <a:avLst/>
          </a:prstGeom>
          <a:noFill/>
          <a:ln w="15875">
            <a:solidFill>
              <a:srgbClr val="1E2A32"/>
            </a:solidFill>
            <a:prstDash val="solid"/>
          </a:ln>
        </p:spPr>
      </p:sp>
      <p:sp>
        <p:nvSpPr>
          <p:cNvPr id="79" name="mbr"/>
          <p:cNvSpPr/>
          <p:nvPr/>
        </p:nvSpPr>
        <p:spPr>
          <a:xfrm>
            <a:off x="4315968" y="4873752"/>
            <a:ext cx="73152" cy="0"/>
          </a:xfrm>
          <a:prstGeom prst="line">
            <a:avLst/>
          </a:prstGeom>
          <a:noFill/>
          <a:ln w="15875">
            <a:solidFill>
              <a:srgbClr val="1E2A32"/>
            </a:solidFill>
            <a:prstDash val="solid"/>
          </a:ln>
        </p:spPr>
      </p:sp>
      <p:sp>
        <p:nvSpPr>
          <p:cNvPr id="80" name="mbr"/>
          <p:cNvSpPr/>
          <p:nvPr/>
        </p:nvSpPr>
        <p:spPr>
          <a:xfrm>
            <a:off x="5468112" y="4087368"/>
            <a:ext cx="0" cy="786384"/>
          </a:xfrm>
          <a:prstGeom prst="line">
            <a:avLst/>
          </a:prstGeom>
          <a:noFill/>
          <a:ln w="15875">
            <a:solidFill>
              <a:srgbClr val="1E2A32"/>
            </a:solidFill>
            <a:prstDash val="solid"/>
          </a:ln>
        </p:spPr>
      </p:sp>
      <p:sp>
        <p:nvSpPr>
          <p:cNvPr id="81" name="mbr"/>
          <p:cNvSpPr/>
          <p:nvPr/>
        </p:nvSpPr>
        <p:spPr>
          <a:xfrm>
            <a:off x="5394960" y="4087368"/>
            <a:ext cx="73152" cy="0"/>
          </a:xfrm>
          <a:prstGeom prst="line">
            <a:avLst/>
          </a:prstGeom>
          <a:noFill/>
          <a:ln w="15875">
            <a:solidFill>
              <a:srgbClr val="1E2A32"/>
            </a:solidFill>
            <a:prstDash val="solid"/>
          </a:ln>
        </p:spPr>
      </p:sp>
      <p:sp>
        <p:nvSpPr>
          <p:cNvPr id="82" name="mbr"/>
          <p:cNvSpPr/>
          <p:nvPr/>
        </p:nvSpPr>
        <p:spPr>
          <a:xfrm>
            <a:off x="5394960" y="4873752"/>
            <a:ext cx="73152" cy="0"/>
          </a:xfrm>
          <a:prstGeom prst="line">
            <a:avLst/>
          </a:prstGeom>
          <a:noFill/>
          <a:ln w="15875">
            <a:solidFill>
              <a:srgbClr val="1E2A32"/>
            </a:solidFill>
            <a:prstDash val="solid"/>
          </a:ln>
        </p:spPr>
      </p:sp>
      <p:sp>
        <p:nvSpPr>
          <p:cNvPr id="83" name="mname"/>
          <p:cNvSpPr txBox="1"/>
          <p:nvPr/>
        </p:nvSpPr>
        <p:spPr>
          <a:xfrm>
            <a:off x="4069080" y="4901184"/>
            <a:ext cx="16459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a:t>
            </a:r>
            <a:endParaRPr lang="en-US" sz="1300" dirty="0"/>
          </a:p>
        </p:txBody>
      </p:sp>
      <p:sp>
        <p:nvSpPr>
          <p:cNvPr id="84" name="op"/>
          <p:cNvSpPr txBox="1"/>
          <p:nvPr/>
        </p:nvSpPr>
        <p:spPr>
          <a:xfrm>
            <a:off x="5486400" y="4251960"/>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85" name="mcell"/>
          <p:cNvSpPr txBox="1"/>
          <p:nvPr/>
        </p:nvSpPr>
        <p:spPr>
          <a:xfrm>
            <a:off x="5989320" y="393192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6" name="mcell"/>
          <p:cNvSpPr txBox="1"/>
          <p:nvPr/>
        </p:nvSpPr>
        <p:spPr>
          <a:xfrm>
            <a:off x="6355080" y="39319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7" name="mcell"/>
          <p:cNvSpPr txBox="1"/>
          <p:nvPr/>
        </p:nvSpPr>
        <p:spPr>
          <a:xfrm>
            <a:off x="5989320" y="42976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8" name="mcell"/>
          <p:cNvSpPr txBox="1"/>
          <p:nvPr/>
        </p:nvSpPr>
        <p:spPr>
          <a:xfrm>
            <a:off x="6355080" y="429768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9" name="mcell"/>
          <p:cNvSpPr txBox="1"/>
          <p:nvPr/>
        </p:nvSpPr>
        <p:spPr>
          <a:xfrm>
            <a:off x="5989320" y="4663440"/>
            <a:ext cx="365760" cy="365760"/>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90" name="mcell"/>
          <p:cNvSpPr txBox="1"/>
          <p:nvPr/>
        </p:nvSpPr>
        <p:spPr>
          <a:xfrm>
            <a:off x="6355080" y="4663440"/>
            <a:ext cx="365760" cy="365760"/>
          </a:xfrm>
          <a:prstGeom prst="rect">
            <a:avLst/>
          </a:prstGeom>
          <a:solidFill>
            <a:srgbClr val="FFF0CC"/>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91" name="mbr"/>
          <p:cNvSpPr/>
          <p:nvPr/>
        </p:nvSpPr>
        <p:spPr>
          <a:xfrm>
            <a:off x="5961888" y="3904488"/>
            <a:ext cx="0" cy="1152144"/>
          </a:xfrm>
          <a:prstGeom prst="line">
            <a:avLst/>
          </a:prstGeom>
          <a:noFill/>
          <a:ln w="15875">
            <a:solidFill>
              <a:srgbClr val="1E2A32"/>
            </a:solidFill>
            <a:prstDash val="solid"/>
          </a:ln>
        </p:spPr>
      </p:sp>
      <p:sp>
        <p:nvSpPr>
          <p:cNvPr id="92" name="mbr"/>
          <p:cNvSpPr/>
          <p:nvPr/>
        </p:nvSpPr>
        <p:spPr>
          <a:xfrm>
            <a:off x="5961888" y="3904488"/>
            <a:ext cx="73152" cy="0"/>
          </a:xfrm>
          <a:prstGeom prst="line">
            <a:avLst/>
          </a:prstGeom>
          <a:noFill/>
          <a:ln w="15875">
            <a:solidFill>
              <a:srgbClr val="1E2A32"/>
            </a:solidFill>
            <a:prstDash val="solid"/>
          </a:ln>
        </p:spPr>
      </p:sp>
      <p:sp>
        <p:nvSpPr>
          <p:cNvPr id="93" name="mbr"/>
          <p:cNvSpPr/>
          <p:nvPr/>
        </p:nvSpPr>
        <p:spPr>
          <a:xfrm>
            <a:off x="5961888" y="5056632"/>
            <a:ext cx="73152" cy="0"/>
          </a:xfrm>
          <a:prstGeom prst="line">
            <a:avLst/>
          </a:prstGeom>
          <a:noFill/>
          <a:ln w="15875">
            <a:solidFill>
              <a:srgbClr val="1E2A32"/>
            </a:solidFill>
            <a:prstDash val="solid"/>
          </a:ln>
        </p:spPr>
      </p:sp>
      <p:sp>
        <p:nvSpPr>
          <p:cNvPr id="94" name="mbr"/>
          <p:cNvSpPr/>
          <p:nvPr/>
        </p:nvSpPr>
        <p:spPr>
          <a:xfrm>
            <a:off x="6748272" y="3904488"/>
            <a:ext cx="0" cy="1152144"/>
          </a:xfrm>
          <a:prstGeom prst="line">
            <a:avLst/>
          </a:prstGeom>
          <a:noFill/>
          <a:ln w="15875">
            <a:solidFill>
              <a:srgbClr val="1E2A32"/>
            </a:solidFill>
            <a:prstDash val="solid"/>
          </a:ln>
        </p:spPr>
      </p:sp>
      <p:sp>
        <p:nvSpPr>
          <p:cNvPr id="95" name="mbr"/>
          <p:cNvSpPr/>
          <p:nvPr/>
        </p:nvSpPr>
        <p:spPr>
          <a:xfrm>
            <a:off x="6675120" y="3904488"/>
            <a:ext cx="73152" cy="0"/>
          </a:xfrm>
          <a:prstGeom prst="line">
            <a:avLst/>
          </a:prstGeom>
          <a:noFill/>
          <a:ln w="15875">
            <a:solidFill>
              <a:srgbClr val="1E2A32"/>
            </a:solidFill>
            <a:prstDash val="solid"/>
          </a:ln>
        </p:spPr>
      </p:sp>
      <p:sp>
        <p:nvSpPr>
          <p:cNvPr id="96" name="mbr"/>
          <p:cNvSpPr/>
          <p:nvPr/>
        </p:nvSpPr>
        <p:spPr>
          <a:xfrm>
            <a:off x="6675120" y="5056632"/>
            <a:ext cx="73152" cy="0"/>
          </a:xfrm>
          <a:prstGeom prst="line">
            <a:avLst/>
          </a:prstGeom>
          <a:noFill/>
          <a:ln w="15875">
            <a:solidFill>
              <a:srgbClr val="1E2A32"/>
            </a:solidFill>
            <a:prstDash val="solid"/>
          </a:ln>
        </p:spPr>
      </p:sp>
      <p:sp>
        <p:nvSpPr>
          <p:cNvPr id="97" name="mlab"/>
          <p:cNvSpPr txBox="1"/>
          <p:nvPr/>
        </p:nvSpPr>
        <p:spPr>
          <a:xfrm>
            <a:off x="5586984" y="393192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98" name="mlab"/>
          <p:cNvSpPr txBox="1"/>
          <p:nvPr/>
        </p:nvSpPr>
        <p:spPr>
          <a:xfrm>
            <a:off x="5586984" y="42976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99" name="mlab"/>
          <p:cNvSpPr txBox="1"/>
          <p:nvPr/>
        </p:nvSpPr>
        <p:spPr>
          <a:xfrm>
            <a:off x="5586984" y="466344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r₂</a:t>
            </a:r>
            <a:endParaRPr lang="en-US" sz="1200" dirty="0"/>
          </a:p>
        </p:txBody>
      </p:sp>
      <p:sp>
        <p:nvSpPr>
          <p:cNvPr id="100" name="mname"/>
          <p:cNvSpPr txBox="1"/>
          <p:nvPr/>
        </p:nvSpPr>
        <p:spPr>
          <a:xfrm>
            <a:off x="5715000" y="5084064"/>
            <a:ext cx="12801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R′ (slack ≠ 0)</a:t>
            </a:r>
            <a:endParaRPr lang="en-US" sz="1300" dirty="0"/>
          </a:p>
        </p:txBody>
      </p:sp>
      <p:sp>
        <p:nvSpPr>
          <p:cNvPr id="101" name="op"/>
          <p:cNvSpPr txBox="1"/>
          <p:nvPr/>
        </p:nvSpPr>
        <p:spPr>
          <a:xfrm>
            <a:off x="6766560" y="425196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02" name="mcell"/>
          <p:cNvSpPr txBox="1"/>
          <p:nvPr/>
        </p:nvSpPr>
        <p:spPr>
          <a:xfrm>
            <a:off x="7269480" y="41148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3" name="mcell"/>
          <p:cNvSpPr txBox="1"/>
          <p:nvPr/>
        </p:nvSpPr>
        <p:spPr>
          <a:xfrm>
            <a:off x="7635240" y="4114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4" name="mcell"/>
          <p:cNvSpPr txBox="1"/>
          <p:nvPr/>
        </p:nvSpPr>
        <p:spPr>
          <a:xfrm>
            <a:off x="7269480" y="448056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5" name="mcell"/>
          <p:cNvSpPr txBox="1"/>
          <p:nvPr/>
        </p:nvSpPr>
        <p:spPr>
          <a:xfrm>
            <a:off x="7635240" y="448056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6" name="mbr"/>
          <p:cNvSpPr/>
          <p:nvPr/>
        </p:nvSpPr>
        <p:spPr>
          <a:xfrm>
            <a:off x="7242048" y="4087368"/>
            <a:ext cx="0" cy="786384"/>
          </a:xfrm>
          <a:prstGeom prst="line">
            <a:avLst/>
          </a:prstGeom>
          <a:noFill/>
          <a:ln w="15875">
            <a:solidFill>
              <a:srgbClr val="1E2A32"/>
            </a:solidFill>
            <a:prstDash val="solid"/>
          </a:ln>
        </p:spPr>
      </p:sp>
      <p:sp>
        <p:nvSpPr>
          <p:cNvPr id="107" name="mbr"/>
          <p:cNvSpPr/>
          <p:nvPr/>
        </p:nvSpPr>
        <p:spPr>
          <a:xfrm>
            <a:off x="7242048" y="4087368"/>
            <a:ext cx="73152" cy="0"/>
          </a:xfrm>
          <a:prstGeom prst="line">
            <a:avLst/>
          </a:prstGeom>
          <a:noFill/>
          <a:ln w="15875">
            <a:solidFill>
              <a:srgbClr val="1E2A32"/>
            </a:solidFill>
            <a:prstDash val="solid"/>
          </a:ln>
        </p:spPr>
      </p:sp>
      <p:sp>
        <p:nvSpPr>
          <p:cNvPr id="108" name="mbr"/>
          <p:cNvSpPr/>
          <p:nvPr/>
        </p:nvSpPr>
        <p:spPr>
          <a:xfrm>
            <a:off x="7242048" y="4873752"/>
            <a:ext cx="73152" cy="0"/>
          </a:xfrm>
          <a:prstGeom prst="line">
            <a:avLst/>
          </a:prstGeom>
          <a:noFill/>
          <a:ln w="15875">
            <a:solidFill>
              <a:srgbClr val="1E2A32"/>
            </a:solidFill>
            <a:prstDash val="solid"/>
          </a:ln>
        </p:spPr>
      </p:sp>
      <p:sp>
        <p:nvSpPr>
          <p:cNvPr id="109" name="mbr"/>
          <p:cNvSpPr/>
          <p:nvPr/>
        </p:nvSpPr>
        <p:spPr>
          <a:xfrm>
            <a:off x="8028432" y="4087368"/>
            <a:ext cx="0" cy="786384"/>
          </a:xfrm>
          <a:prstGeom prst="line">
            <a:avLst/>
          </a:prstGeom>
          <a:noFill/>
          <a:ln w="15875">
            <a:solidFill>
              <a:srgbClr val="1E2A32"/>
            </a:solidFill>
            <a:prstDash val="solid"/>
          </a:ln>
        </p:spPr>
      </p:sp>
      <p:sp>
        <p:nvSpPr>
          <p:cNvPr id="110" name="mbr"/>
          <p:cNvSpPr/>
          <p:nvPr/>
        </p:nvSpPr>
        <p:spPr>
          <a:xfrm>
            <a:off x="7955280" y="4087368"/>
            <a:ext cx="73152" cy="0"/>
          </a:xfrm>
          <a:prstGeom prst="line">
            <a:avLst/>
          </a:prstGeom>
          <a:noFill/>
          <a:ln w="15875">
            <a:solidFill>
              <a:srgbClr val="1E2A32"/>
            </a:solidFill>
            <a:prstDash val="solid"/>
          </a:ln>
        </p:spPr>
      </p:sp>
      <p:sp>
        <p:nvSpPr>
          <p:cNvPr id="111" name="mbr"/>
          <p:cNvSpPr/>
          <p:nvPr/>
        </p:nvSpPr>
        <p:spPr>
          <a:xfrm>
            <a:off x="7955280" y="4873752"/>
            <a:ext cx="73152" cy="0"/>
          </a:xfrm>
          <a:prstGeom prst="line">
            <a:avLst/>
          </a:prstGeom>
          <a:noFill/>
          <a:ln w="15875">
            <a:solidFill>
              <a:srgbClr val="1E2A32"/>
            </a:solidFill>
            <a:prstDash val="solid"/>
          </a:ln>
        </p:spPr>
      </p:sp>
      <p:sp>
        <p:nvSpPr>
          <p:cNvPr id="112" name="mname"/>
          <p:cNvSpPr txBox="1"/>
          <p:nvPr/>
        </p:nvSpPr>
        <p:spPr>
          <a:xfrm>
            <a:off x="6995160" y="4901184"/>
            <a:ext cx="12801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I₂</a:t>
            </a:r>
            <a:endParaRPr lang="en-US" sz="1300" dirty="0"/>
          </a:p>
        </p:txBody>
      </p:sp>
      <p:sp>
        <p:nvSpPr>
          <p:cNvPr id="113" name="panel"/>
          <p:cNvSpPr/>
          <p:nvPr/>
        </p:nvSpPr>
        <p:spPr>
          <a:xfrm>
            <a:off x="8595360" y="2103120"/>
            <a:ext cx="3108960" cy="3611880"/>
          </a:xfrm>
          <a:prstGeom prst="roundRect">
            <a:avLst>
              <a:gd name="adj" fmla="val 2353"/>
            </a:avLst>
          </a:prstGeom>
          <a:solidFill>
            <a:srgbClr val="F3F6F7"/>
          </a:solidFill>
          <a:ln/>
        </p:spPr>
      </p:sp>
      <p:sp>
        <p:nvSpPr>
          <p:cNvPr id="114" name="Text 110"/>
          <p:cNvSpPr txBox="1"/>
          <p:nvPr/>
        </p:nvSpPr>
        <p:spPr>
          <a:xfrm>
            <a:off x="8732520" y="2176272"/>
            <a:ext cx="283464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Gaussian elimination</a:t>
            </a:r>
            <a:endParaRPr lang="en-US" sz="1400" dirty="0"/>
          </a:p>
        </p:txBody>
      </p:sp>
      <p:sp>
        <p:nvSpPr>
          <p:cNvPr id="115" name="bullets"/>
          <p:cNvSpPr txBox="1"/>
          <p:nvPr/>
        </p:nvSpPr>
        <p:spPr>
          <a:xfrm>
            <a:off x="8732520" y="2514600"/>
            <a:ext cx="2880360" cy="3154680"/>
          </a:xfrm>
          <a:prstGeom prst="rect">
            <a:avLst/>
          </a:prstGeom>
          <a:noFill/>
          <a:ln/>
        </p:spPr>
        <p:txBody>
          <a:bodyPr wrap="square" lIns="25400" tIns="25400" rIns="25400" bIns="25400" rtlCol="0" anchor="t"/>
          <a:lstStyle/>
          <a:p>
            <a:pPr marL="203200" indent="-203200">
              <a:spcAft>
                <a:spcPts val="500"/>
              </a:spcAft>
              <a:buSzPct val="100000"/>
              <a:buChar char="•"/>
            </a:pPr>
            <a:r>
              <a:rPr lang="en-US" sz="1300" dirty="0">
                <a:solidFill>
                  <a:srgbClr val="1E2A32"/>
                </a:solidFill>
                <a:latin typeface="Calibri" pitchFamily="34" charset="0"/>
                <a:ea typeface="Calibri" pitchFamily="34" charset="-122"/>
                <a:cs typeface="Calibri" pitchFamily="34" charset="-120"/>
              </a:rPr>
              <a:t>Pivots: r₀, r₁</a:t>
            </a:r>
            <a:endParaRPr lang="en-US" sz="1300" dirty="0"/>
          </a:p>
          <a:p>
            <a:pPr marL="203200" indent="-203200">
              <a:spcAft>
                <a:spcPts val="500"/>
              </a:spcAft>
              <a:buSzPct val="100000"/>
              <a:buChar char="•"/>
            </a:pPr>
            <a:r>
              <a:rPr lang="en-US" sz="1300" dirty="0">
                <a:solidFill>
                  <a:srgbClr val="1E2A32"/>
                </a:solidFill>
                <a:latin typeface="Calibri" pitchFamily="34" charset="0"/>
                <a:ea typeface="Calibri" pitchFamily="34" charset="-122"/>
                <a:cs typeface="Calibri" pitchFamily="34" charset="-120"/>
              </a:rPr>
              <a:t>Free (slack) variable: </a:t>
            </a:r>
            <a:r>
              <a:rPr lang="en-US" sz="1300" b="1" dirty="0">
                <a:solidFill>
                  <a:srgbClr val="1E2A32"/>
                </a:solidFill>
                <a:latin typeface="Calibri" pitchFamily="34" charset="0"/>
                <a:ea typeface="Calibri" pitchFamily="34" charset="-122"/>
                <a:cs typeface="Calibri" pitchFamily="34" charset="-120"/>
              </a:rPr>
              <a:t>r₂</a:t>
            </a:r>
            <a:endParaRPr lang="en-US" sz="1300" dirty="0"/>
          </a:p>
          <a:p>
            <a:pPr marL="203200" indent="-203200">
              <a:spcAft>
                <a:spcPts val="500"/>
              </a:spcAft>
              <a:buSzPct val="100000"/>
              <a:buChar char="•"/>
            </a:pPr>
            <a:r>
              <a:rPr lang="en-US" sz="1300" dirty="0">
                <a:solidFill>
                  <a:srgbClr val="1E2A32"/>
                </a:solidFill>
                <a:latin typeface="Calibri" pitchFamily="34" charset="0"/>
                <a:ea typeface="Calibri" pitchFamily="34" charset="-122"/>
                <a:cs typeface="Calibri" pitchFamily="34" charset="-120"/>
              </a:rPr>
              <a:t>Set slack = 0 → </a:t>
            </a:r>
            <a:r>
              <a:rPr lang="en-US" sz="1300" b="1" dirty="0">
                <a:solidFill>
                  <a:srgbClr val="1E2A32"/>
                </a:solidFill>
                <a:latin typeface="Calibri" pitchFamily="34" charset="0"/>
                <a:ea typeface="Calibri" pitchFamily="34" charset="-122"/>
                <a:cs typeface="Calibri" pitchFamily="34" charset="-120"/>
              </a:rPr>
              <a:t>R</a:t>
            </a:r>
            <a:r>
              <a:rPr lang="en-US" sz="1300" dirty="0">
                <a:solidFill>
                  <a:srgbClr val="1E2A32"/>
                </a:solidFill>
                <a:latin typeface="Calibri" pitchFamily="34" charset="0"/>
                <a:ea typeface="Calibri" pitchFamily="34" charset="-122"/>
                <a:cs typeface="Calibri" pitchFamily="34" charset="-120"/>
              </a:rPr>
              <a:t>: element e → register e (r0–r3)</a:t>
            </a:r>
            <a:endParaRPr lang="en-US" sz="1300" dirty="0"/>
          </a:p>
          <a:p>
            <a:pPr marL="203200" indent="-203200">
              <a:spcAft>
                <a:spcPts val="500"/>
              </a:spcAft>
              <a:buSzPct val="100000"/>
              <a:buChar char="•"/>
            </a:pPr>
            <a:r>
              <a:rPr lang="en-US" sz="1300" dirty="0">
                <a:solidFill>
                  <a:srgbClr val="1E2A32"/>
                </a:solidFill>
                <a:latin typeface="Calibri" pitchFamily="34" charset="0"/>
                <a:ea typeface="Calibri" pitchFamily="34" charset="-122"/>
                <a:cs typeface="Calibri" pitchFamily="34" charset="-120"/>
              </a:rPr>
              <a:t>Not unique: </a:t>
            </a:r>
            <a:r>
              <a:rPr lang="en-US" sz="1300" b="1" dirty="0">
                <a:solidFill>
                  <a:srgbClr val="1E2A32"/>
                </a:solidFill>
                <a:latin typeface="Calibri" pitchFamily="34" charset="0"/>
                <a:ea typeface="Calibri" pitchFamily="34" charset="-122"/>
                <a:cs typeface="Calibri" pitchFamily="34" charset="-120"/>
              </a:rPr>
              <a:t>R′</a:t>
            </a:r>
            <a:r>
              <a:rPr lang="en-US" sz="1300" dirty="0">
                <a:solidFill>
                  <a:srgbClr val="1E2A32"/>
                </a:solidFill>
                <a:latin typeface="Calibri" pitchFamily="34" charset="0"/>
                <a:ea typeface="Calibri" pitchFamily="34" charset="-122"/>
                <a:cs typeface="Calibri" pitchFamily="34" charset="-120"/>
              </a:rPr>
              <a:t> also gives M R′ = I</a:t>
            </a:r>
            <a:endParaRPr lang="en-US" sz="1300" dirty="0"/>
          </a:p>
          <a:p>
            <a:pPr marL="203200" indent="-203200">
              <a:spcAft>
                <a:spcPts val="500"/>
              </a:spcAft>
              <a:buSzPct val="100000"/>
              <a:buChar char="•"/>
            </a:pPr>
            <a:r>
              <a:rPr lang="en-US" sz="1300" dirty="0">
                <a:solidFill>
                  <a:srgbClr val="1E2A32"/>
                </a:solidFill>
                <a:latin typeface="Calibri" pitchFamily="34" charset="0"/>
                <a:ea typeface="Calibri" pitchFamily="34" charset="-122"/>
                <a:cs typeface="Calibri" pitchFamily="34" charset="-120"/>
              </a:rPr>
              <a:t>Right inverse picks </a:t>
            </a:r>
            <a:r>
              <a:rPr lang="en-US" sz="1300" b="1" dirty="0">
                <a:solidFill>
                  <a:srgbClr val="1E2A32"/>
                </a:solidFill>
                <a:latin typeface="Calibri" pitchFamily="34" charset="0"/>
                <a:ea typeface="Calibri" pitchFamily="34" charset="-122"/>
                <a:cs typeface="Calibri" pitchFamily="34" charset="-120"/>
              </a:rPr>
              <a:t>one</a:t>
            </a:r>
            <a:r>
              <a:rPr lang="en-US" sz="1300" dirty="0">
                <a:solidFill>
                  <a:srgbClr val="1E2A32"/>
                </a:solidFill>
                <a:latin typeface="Calibri" pitchFamily="34" charset="0"/>
                <a:ea typeface="Calibri" pitchFamily="34" charset="-122"/>
                <a:cs typeface="Calibri" pitchFamily="34" charset="-120"/>
              </a:rPr>
              <a:t> preimage — §5.4 chooses minimal Hamming weight</a:t>
            </a:r>
            <a:endParaRPr lang="en-US" sz="1300" dirty="0"/>
          </a:p>
        </p:txBody>
      </p:sp>
      <p:sp>
        <p:nvSpPr>
          <p:cNvPr id="116" name="tag"/>
          <p:cNvSpPr txBox="1"/>
          <p:nvPr/>
        </p:nvSpPr>
        <p:spPr>
          <a:xfrm>
            <a:off x="4343400" y="5760720"/>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PROPOSITION 4.6</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Blocked layouts are linear layouts — at any tensor size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Proposition 4.6, p. 137; Triton combineCtaCgaWithShape behaviour (upstream)</a:t>
            </a:r>
            <a:endParaRPr lang="en-US" sz="1000" dirty="0"/>
          </a:p>
        </p:txBody>
      </p:sp>
      <p:sp>
        <p:nvSpPr>
          <p:cNvPr id="6" name="Text 3"/>
          <p:cNvSpPr txBox="1"/>
          <p:nvPr/>
        </p:nvSpPr>
        <p:spPr>
          <a:xfrm>
            <a:off x="502920" y="1234440"/>
            <a:ext cx="10972800" cy="320040"/>
          </a:xfrm>
          <a:prstGeom prst="rect">
            <a:avLst/>
          </a:prstGeom>
          <a:noFill/>
          <a:ln/>
        </p:spPr>
        <p:txBody>
          <a:bodyPr wrap="square" lIns="0" tIns="0" rIns="0" bIns="0" rtlCol="0" anchor="t"/>
          <a:lstStyle/>
          <a:p>
            <a:pPr indent="0" marL="0">
              <a:buNone/>
            </a:pPr>
            <a:r>
              <a:rPr lang="en-US" sz="1700" b="1" dirty="0">
                <a:solidFill>
                  <a:srgbClr val="1E2A32"/>
                </a:solidFill>
                <a:latin typeface="Calibri" pitchFamily="34" charset="0"/>
                <a:ea typeface="Calibri" pitchFamily="34" charset="-122"/>
                <a:cs typeface="Calibri" pitchFamily="34" charset="-120"/>
              </a:rPr>
              <a:t>Proposition 4.6.</a:t>
            </a:r>
            <a:r>
              <a:rPr lang="en-US" sz="1700" dirty="0">
                <a:solidFill>
                  <a:srgbClr val="1E2A32"/>
                </a:solidFill>
                <a:latin typeface="Calibri" pitchFamily="34" charset="0"/>
                <a:ea typeface="Calibri" pitchFamily="34" charset="-122"/>
                <a:cs typeface="Calibri" pitchFamily="34" charset="-120"/>
              </a:rPr>
              <a:t> Blocked layouts are linear layouts.</a:t>
            </a:r>
            <a:endParaRPr lang="en-US" sz="1700" dirty="0"/>
          </a:p>
        </p:txBody>
      </p:sp>
      <p:sp>
        <p:nvSpPr>
          <p:cNvPr id="7" name="Text 4"/>
          <p:cNvSpPr txBox="1"/>
          <p:nvPr/>
        </p:nvSpPr>
        <p:spPr>
          <a:xfrm>
            <a:off x="502920" y="1691640"/>
            <a:ext cx="54864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Tile smaller than tensor: 32×16</a:t>
            </a:r>
            <a:endParaRPr lang="en-US" sz="1500" dirty="0"/>
          </a:p>
        </p:txBody>
      </p:sp>
      <p:sp>
        <p:nvSpPr>
          <p:cNvPr id="8" name="mcol"/>
          <p:cNvSpPr/>
          <p:nvPr/>
        </p:nvSpPr>
        <p:spPr>
          <a:xfrm>
            <a:off x="1929384" y="2514600"/>
            <a:ext cx="301752" cy="2715768"/>
          </a:xfrm>
          <a:prstGeom prst="rect">
            <a:avLst/>
          </a:prstGeom>
          <a:solidFill>
            <a:srgbClr val="E3F2E4"/>
          </a:solidFill>
          <a:ln/>
        </p:spPr>
      </p:sp>
      <p:sp>
        <p:nvSpPr>
          <p:cNvPr id="9" name="mcell"/>
          <p:cNvSpPr txBox="1"/>
          <p:nvPr/>
        </p:nvSpPr>
        <p:spPr>
          <a:xfrm>
            <a:off x="1325880" y="2514600"/>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0" name="mcell"/>
          <p:cNvSpPr txBox="1"/>
          <p:nvPr/>
        </p:nvSpPr>
        <p:spPr>
          <a:xfrm>
            <a:off x="1627632"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 name="mcell"/>
          <p:cNvSpPr txBox="1"/>
          <p:nvPr/>
        </p:nvSpPr>
        <p:spPr>
          <a:xfrm>
            <a:off x="1929384"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 name="mcell"/>
          <p:cNvSpPr txBox="1"/>
          <p:nvPr/>
        </p:nvSpPr>
        <p:spPr>
          <a:xfrm>
            <a:off x="2231136"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 name="mcell"/>
          <p:cNvSpPr txBox="1"/>
          <p:nvPr/>
        </p:nvSpPr>
        <p:spPr>
          <a:xfrm>
            <a:off x="2532888"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 name="mcell"/>
          <p:cNvSpPr txBox="1"/>
          <p:nvPr/>
        </p:nvSpPr>
        <p:spPr>
          <a:xfrm>
            <a:off x="2834640"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 name="mcell"/>
          <p:cNvSpPr txBox="1"/>
          <p:nvPr/>
        </p:nvSpPr>
        <p:spPr>
          <a:xfrm>
            <a:off x="3136392"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 name="mcell"/>
          <p:cNvSpPr txBox="1"/>
          <p:nvPr/>
        </p:nvSpPr>
        <p:spPr>
          <a:xfrm>
            <a:off x="3438144"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 name="mcell"/>
          <p:cNvSpPr txBox="1"/>
          <p:nvPr/>
        </p:nvSpPr>
        <p:spPr>
          <a:xfrm>
            <a:off x="3739896"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8" name="mcell"/>
          <p:cNvSpPr txBox="1"/>
          <p:nvPr/>
        </p:nvSpPr>
        <p:spPr>
          <a:xfrm>
            <a:off x="1325880"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9" name="mcell"/>
          <p:cNvSpPr txBox="1"/>
          <p:nvPr/>
        </p:nvSpPr>
        <p:spPr>
          <a:xfrm>
            <a:off x="1627632"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0" name="mcell"/>
          <p:cNvSpPr txBox="1"/>
          <p:nvPr/>
        </p:nvSpPr>
        <p:spPr>
          <a:xfrm>
            <a:off x="1929384"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1" name="mcell"/>
          <p:cNvSpPr txBox="1"/>
          <p:nvPr/>
        </p:nvSpPr>
        <p:spPr>
          <a:xfrm>
            <a:off x="2231136" y="2816352"/>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22" name="mcell"/>
          <p:cNvSpPr txBox="1"/>
          <p:nvPr/>
        </p:nvSpPr>
        <p:spPr>
          <a:xfrm>
            <a:off x="2532888"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3" name="mcell"/>
          <p:cNvSpPr txBox="1"/>
          <p:nvPr/>
        </p:nvSpPr>
        <p:spPr>
          <a:xfrm>
            <a:off x="2834640"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4" name="mcell"/>
          <p:cNvSpPr txBox="1"/>
          <p:nvPr/>
        </p:nvSpPr>
        <p:spPr>
          <a:xfrm>
            <a:off x="3136392"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5" name="mcell"/>
          <p:cNvSpPr txBox="1"/>
          <p:nvPr/>
        </p:nvSpPr>
        <p:spPr>
          <a:xfrm>
            <a:off x="3438144"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6" name="mcell"/>
          <p:cNvSpPr txBox="1"/>
          <p:nvPr/>
        </p:nvSpPr>
        <p:spPr>
          <a:xfrm>
            <a:off x="3739896"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7" name="mcell"/>
          <p:cNvSpPr txBox="1"/>
          <p:nvPr/>
        </p:nvSpPr>
        <p:spPr>
          <a:xfrm>
            <a:off x="1325880"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8" name="mcell"/>
          <p:cNvSpPr txBox="1"/>
          <p:nvPr/>
        </p:nvSpPr>
        <p:spPr>
          <a:xfrm>
            <a:off x="1627632"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9" name="mcell"/>
          <p:cNvSpPr txBox="1"/>
          <p:nvPr/>
        </p:nvSpPr>
        <p:spPr>
          <a:xfrm>
            <a:off x="1929384"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0" name="mcell"/>
          <p:cNvSpPr txBox="1"/>
          <p:nvPr/>
        </p:nvSpPr>
        <p:spPr>
          <a:xfrm>
            <a:off x="2231136"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1" name="mcell"/>
          <p:cNvSpPr txBox="1"/>
          <p:nvPr/>
        </p:nvSpPr>
        <p:spPr>
          <a:xfrm>
            <a:off x="2532888" y="3118104"/>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2" name="mcell"/>
          <p:cNvSpPr txBox="1"/>
          <p:nvPr/>
        </p:nvSpPr>
        <p:spPr>
          <a:xfrm>
            <a:off x="2834640"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3" name="mcell"/>
          <p:cNvSpPr txBox="1"/>
          <p:nvPr/>
        </p:nvSpPr>
        <p:spPr>
          <a:xfrm>
            <a:off x="3136392"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4" name="mcell"/>
          <p:cNvSpPr txBox="1"/>
          <p:nvPr/>
        </p:nvSpPr>
        <p:spPr>
          <a:xfrm>
            <a:off x="3438144"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5" name="mcell"/>
          <p:cNvSpPr txBox="1"/>
          <p:nvPr/>
        </p:nvSpPr>
        <p:spPr>
          <a:xfrm>
            <a:off x="3739896"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6" name="mcell"/>
          <p:cNvSpPr txBox="1"/>
          <p:nvPr/>
        </p:nvSpPr>
        <p:spPr>
          <a:xfrm>
            <a:off x="1325880"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7" name="mcell"/>
          <p:cNvSpPr txBox="1"/>
          <p:nvPr/>
        </p:nvSpPr>
        <p:spPr>
          <a:xfrm>
            <a:off x="1627632"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8" name="mcell"/>
          <p:cNvSpPr txBox="1"/>
          <p:nvPr/>
        </p:nvSpPr>
        <p:spPr>
          <a:xfrm>
            <a:off x="1929384"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9" name="mcell"/>
          <p:cNvSpPr txBox="1"/>
          <p:nvPr/>
        </p:nvSpPr>
        <p:spPr>
          <a:xfrm>
            <a:off x="2231136"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0" name="mcell"/>
          <p:cNvSpPr txBox="1"/>
          <p:nvPr/>
        </p:nvSpPr>
        <p:spPr>
          <a:xfrm>
            <a:off x="2532888"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1" name="mcell"/>
          <p:cNvSpPr txBox="1"/>
          <p:nvPr/>
        </p:nvSpPr>
        <p:spPr>
          <a:xfrm>
            <a:off x="2834640" y="3419856"/>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2" name="mcell"/>
          <p:cNvSpPr txBox="1"/>
          <p:nvPr/>
        </p:nvSpPr>
        <p:spPr>
          <a:xfrm>
            <a:off x="3136392"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3" name="mcell"/>
          <p:cNvSpPr txBox="1"/>
          <p:nvPr/>
        </p:nvSpPr>
        <p:spPr>
          <a:xfrm>
            <a:off x="3438144"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4" name="mcell"/>
          <p:cNvSpPr txBox="1"/>
          <p:nvPr/>
        </p:nvSpPr>
        <p:spPr>
          <a:xfrm>
            <a:off x="3739896"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5" name="mcell"/>
          <p:cNvSpPr txBox="1"/>
          <p:nvPr/>
        </p:nvSpPr>
        <p:spPr>
          <a:xfrm>
            <a:off x="1325880"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6" name="mcell"/>
          <p:cNvSpPr txBox="1"/>
          <p:nvPr/>
        </p:nvSpPr>
        <p:spPr>
          <a:xfrm>
            <a:off x="1627632" y="3721608"/>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7" name="mcell"/>
          <p:cNvSpPr txBox="1"/>
          <p:nvPr/>
        </p:nvSpPr>
        <p:spPr>
          <a:xfrm>
            <a:off x="1929384"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8" name="mcell"/>
          <p:cNvSpPr txBox="1"/>
          <p:nvPr/>
        </p:nvSpPr>
        <p:spPr>
          <a:xfrm>
            <a:off x="2231136"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9" name="mcell"/>
          <p:cNvSpPr txBox="1"/>
          <p:nvPr/>
        </p:nvSpPr>
        <p:spPr>
          <a:xfrm>
            <a:off x="2532888"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0" name="mcell"/>
          <p:cNvSpPr txBox="1"/>
          <p:nvPr/>
        </p:nvSpPr>
        <p:spPr>
          <a:xfrm>
            <a:off x="2834640"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1" name="mcell"/>
          <p:cNvSpPr txBox="1"/>
          <p:nvPr/>
        </p:nvSpPr>
        <p:spPr>
          <a:xfrm>
            <a:off x="3136392"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2" name="mcell"/>
          <p:cNvSpPr txBox="1"/>
          <p:nvPr/>
        </p:nvSpPr>
        <p:spPr>
          <a:xfrm>
            <a:off x="3438144"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3" name="mcell"/>
          <p:cNvSpPr txBox="1"/>
          <p:nvPr/>
        </p:nvSpPr>
        <p:spPr>
          <a:xfrm>
            <a:off x="3739896"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4" name="mcell"/>
          <p:cNvSpPr txBox="1"/>
          <p:nvPr/>
        </p:nvSpPr>
        <p:spPr>
          <a:xfrm>
            <a:off x="1325880"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5" name="mcell"/>
          <p:cNvSpPr txBox="1"/>
          <p:nvPr/>
        </p:nvSpPr>
        <p:spPr>
          <a:xfrm>
            <a:off x="1627632"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6" name="mcell"/>
          <p:cNvSpPr txBox="1"/>
          <p:nvPr/>
        </p:nvSpPr>
        <p:spPr>
          <a:xfrm>
            <a:off x="1929384"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7" name="mcell"/>
          <p:cNvSpPr txBox="1"/>
          <p:nvPr/>
        </p:nvSpPr>
        <p:spPr>
          <a:xfrm>
            <a:off x="2231136"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8" name="mcell"/>
          <p:cNvSpPr txBox="1"/>
          <p:nvPr/>
        </p:nvSpPr>
        <p:spPr>
          <a:xfrm>
            <a:off x="2532888"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9" name="mcell"/>
          <p:cNvSpPr txBox="1"/>
          <p:nvPr/>
        </p:nvSpPr>
        <p:spPr>
          <a:xfrm>
            <a:off x="2834640"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0" name="mcell"/>
          <p:cNvSpPr txBox="1"/>
          <p:nvPr/>
        </p:nvSpPr>
        <p:spPr>
          <a:xfrm>
            <a:off x="3136392" y="4023360"/>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1" name="mcell"/>
          <p:cNvSpPr txBox="1"/>
          <p:nvPr/>
        </p:nvSpPr>
        <p:spPr>
          <a:xfrm>
            <a:off x="3438144"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2" name="mcell"/>
          <p:cNvSpPr txBox="1"/>
          <p:nvPr/>
        </p:nvSpPr>
        <p:spPr>
          <a:xfrm>
            <a:off x="3739896"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3" name="mcell"/>
          <p:cNvSpPr txBox="1"/>
          <p:nvPr/>
        </p:nvSpPr>
        <p:spPr>
          <a:xfrm>
            <a:off x="1325880"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4" name="mcell"/>
          <p:cNvSpPr txBox="1"/>
          <p:nvPr/>
        </p:nvSpPr>
        <p:spPr>
          <a:xfrm>
            <a:off x="1627632"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5" name="mcell"/>
          <p:cNvSpPr txBox="1"/>
          <p:nvPr/>
        </p:nvSpPr>
        <p:spPr>
          <a:xfrm>
            <a:off x="1929384"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6" name="mcell"/>
          <p:cNvSpPr txBox="1"/>
          <p:nvPr/>
        </p:nvSpPr>
        <p:spPr>
          <a:xfrm>
            <a:off x="2231136"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7" name="mcell"/>
          <p:cNvSpPr txBox="1"/>
          <p:nvPr/>
        </p:nvSpPr>
        <p:spPr>
          <a:xfrm>
            <a:off x="2532888"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8" name="mcell"/>
          <p:cNvSpPr txBox="1"/>
          <p:nvPr/>
        </p:nvSpPr>
        <p:spPr>
          <a:xfrm>
            <a:off x="2834640"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9" name="mcell"/>
          <p:cNvSpPr txBox="1"/>
          <p:nvPr/>
        </p:nvSpPr>
        <p:spPr>
          <a:xfrm>
            <a:off x="3136392"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0" name="mcell"/>
          <p:cNvSpPr txBox="1"/>
          <p:nvPr/>
        </p:nvSpPr>
        <p:spPr>
          <a:xfrm>
            <a:off x="3438144" y="4325112"/>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1" name="mcell"/>
          <p:cNvSpPr txBox="1"/>
          <p:nvPr/>
        </p:nvSpPr>
        <p:spPr>
          <a:xfrm>
            <a:off x="3739896"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2" name="mcell"/>
          <p:cNvSpPr txBox="1"/>
          <p:nvPr/>
        </p:nvSpPr>
        <p:spPr>
          <a:xfrm>
            <a:off x="1325880"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3" name="mcell"/>
          <p:cNvSpPr txBox="1"/>
          <p:nvPr/>
        </p:nvSpPr>
        <p:spPr>
          <a:xfrm>
            <a:off x="1627632"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4" name="mcell"/>
          <p:cNvSpPr txBox="1"/>
          <p:nvPr/>
        </p:nvSpPr>
        <p:spPr>
          <a:xfrm>
            <a:off x="1929384"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5" name="mcell"/>
          <p:cNvSpPr txBox="1"/>
          <p:nvPr/>
        </p:nvSpPr>
        <p:spPr>
          <a:xfrm>
            <a:off x="2231136"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6" name="mcell"/>
          <p:cNvSpPr txBox="1"/>
          <p:nvPr/>
        </p:nvSpPr>
        <p:spPr>
          <a:xfrm>
            <a:off x="2532888"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7" name="mcell"/>
          <p:cNvSpPr txBox="1"/>
          <p:nvPr/>
        </p:nvSpPr>
        <p:spPr>
          <a:xfrm>
            <a:off x="2834640"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8" name="mcell"/>
          <p:cNvSpPr txBox="1"/>
          <p:nvPr/>
        </p:nvSpPr>
        <p:spPr>
          <a:xfrm>
            <a:off x="3136392"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9" name="mcell"/>
          <p:cNvSpPr txBox="1"/>
          <p:nvPr/>
        </p:nvSpPr>
        <p:spPr>
          <a:xfrm>
            <a:off x="3438144" y="462686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0" name="mcell"/>
          <p:cNvSpPr txBox="1"/>
          <p:nvPr/>
        </p:nvSpPr>
        <p:spPr>
          <a:xfrm>
            <a:off x="3739896" y="4626864"/>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1" name="mcell"/>
          <p:cNvSpPr txBox="1"/>
          <p:nvPr/>
        </p:nvSpPr>
        <p:spPr>
          <a:xfrm>
            <a:off x="1325880"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2" name="mcell"/>
          <p:cNvSpPr txBox="1"/>
          <p:nvPr/>
        </p:nvSpPr>
        <p:spPr>
          <a:xfrm>
            <a:off x="1627632"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3" name="mcell"/>
          <p:cNvSpPr txBox="1"/>
          <p:nvPr/>
        </p:nvSpPr>
        <p:spPr>
          <a:xfrm>
            <a:off x="1929384" y="4928616"/>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4" name="mcell"/>
          <p:cNvSpPr txBox="1"/>
          <p:nvPr/>
        </p:nvSpPr>
        <p:spPr>
          <a:xfrm>
            <a:off x="2231136"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5" name="mcell"/>
          <p:cNvSpPr txBox="1"/>
          <p:nvPr/>
        </p:nvSpPr>
        <p:spPr>
          <a:xfrm>
            <a:off x="2532888"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6" name="mcell"/>
          <p:cNvSpPr txBox="1"/>
          <p:nvPr/>
        </p:nvSpPr>
        <p:spPr>
          <a:xfrm>
            <a:off x="2834640"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7" name="mcell"/>
          <p:cNvSpPr txBox="1"/>
          <p:nvPr/>
        </p:nvSpPr>
        <p:spPr>
          <a:xfrm>
            <a:off x="3136392"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8" name="mcell"/>
          <p:cNvSpPr txBox="1"/>
          <p:nvPr/>
        </p:nvSpPr>
        <p:spPr>
          <a:xfrm>
            <a:off x="3438144"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9" name="mcell"/>
          <p:cNvSpPr txBox="1"/>
          <p:nvPr/>
        </p:nvSpPr>
        <p:spPr>
          <a:xfrm>
            <a:off x="3739896" y="492861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0" name="msep"/>
          <p:cNvSpPr/>
          <p:nvPr/>
        </p:nvSpPr>
        <p:spPr>
          <a:xfrm>
            <a:off x="2231136" y="2532888"/>
            <a:ext cx="0" cy="2679192"/>
          </a:xfrm>
          <a:prstGeom prst="line">
            <a:avLst/>
          </a:prstGeom>
          <a:noFill/>
          <a:ln w="9525">
            <a:solidFill>
              <a:srgbClr val="5B6770"/>
            </a:solidFill>
            <a:prstDash val="dash"/>
          </a:ln>
        </p:spPr>
      </p:sp>
      <p:sp>
        <p:nvSpPr>
          <p:cNvPr id="91" name="msep"/>
          <p:cNvSpPr/>
          <p:nvPr/>
        </p:nvSpPr>
        <p:spPr>
          <a:xfrm>
            <a:off x="3739896" y="2532888"/>
            <a:ext cx="0" cy="2679192"/>
          </a:xfrm>
          <a:prstGeom prst="line">
            <a:avLst/>
          </a:prstGeom>
          <a:noFill/>
          <a:ln w="9525">
            <a:solidFill>
              <a:srgbClr val="5B6770"/>
            </a:solidFill>
            <a:prstDash val="dash"/>
          </a:ln>
        </p:spPr>
      </p:sp>
      <p:sp>
        <p:nvSpPr>
          <p:cNvPr id="92" name="msep"/>
          <p:cNvSpPr/>
          <p:nvPr/>
        </p:nvSpPr>
        <p:spPr>
          <a:xfrm>
            <a:off x="1344168" y="3721608"/>
            <a:ext cx="2679192" cy="0"/>
          </a:xfrm>
          <a:prstGeom prst="line">
            <a:avLst/>
          </a:prstGeom>
          <a:noFill/>
          <a:ln w="9525">
            <a:solidFill>
              <a:srgbClr val="5B6770"/>
            </a:solidFill>
            <a:prstDash val="dash"/>
          </a:ln>
        </p:spPr>
      </p:sp>
      <p:sp>
        <p:nvSpPr>
          <p:cNvPr id="93" name="mbr"/>
          <p:cNvSpPr/>
          <p:nvPr/>
        </p:nvSpPr>
        <p:spPr>
          <a:xfrm>
            <a:off x="1298448" y="2487168"/>
            <a:ext cx="0" cy="2770632"/>
          </a:xfrm>
          <a:prstGeom prst="line">
            <a:avLst/>
          </a:prstGeom>
          <a:noFill/>
          <a:ln w="15875">
            <a:solidFill>
              <a:srgbClr val="1E2A32"/>
            </a:solidFill>
            <a:prstDash val="solid"/>
          </a:ln>
        </p:spPr>
      </p:sp>
      <p:sp>
        <p:nvSpPr>
          <p:cNvPr id="94" name="mbr"/>
          <p:cNvSpPr/>
          <p:nvPr/>
        </p:nvSpPr>
        <p:spPr>
          <a:xfrm>
            <a:off x="1298448" y="2487168"/>
            <a:ext cx="73152" cy="0"/>
          </a:xfrm>
          <a:prstGeom prst="line">
            <a:avLst/>
          </a:prstGeom>
          <a:noFill/>
          <a:ln w="15875">
            <a:solidFill>
              <a:srgbClr val="1E2A32"/>
            </a:solidFill>
            <a:prstDash val="solid"/>
          </a:ln>
        </p:spPr>
      </p:sp>
      <p:sp>
        <p:nvSpPr>
          <p:cNvPr id="95" name="mbr"/>
          <p:cNvSpPr/>
          <p:nvPr/>
        </p:nvSpPr>
        <p:spPr>
          <a:xfrm>
            <a:off x="1298448" y="5257800"/>
            <a:ext cx="73152" cy="0"/>
          </a:xfrm>
          <a:prstGeom prst="line">
            <a:avLst/>
          </a:prstGeom>
          <a:noFill/>
          <a:ln w="15875">
            <a:solidFill>
              <a:srgbClr val="1E2A32"/>
            </a:solidFill>
            <a:prstDash val="solid"/>
          </a:ln>
        </p:spPr>
      </p:sp>
      <p:sp>
        <p:nvSpPr>
          <p:cNvPr id="96" name="mbr"/>
          <p:cNvSpPr/>
          <p:nvPr/>
        </p:nvSpPr>
        <p:spPr>
          <a:xfrm>
            <a:off x="4069080" y="2487168"/>
            <a:ext cx="0" cy="2770632"/>
          </a:xfrm>
          <a:prstGeom prst="line">
            <a:avLst/>
          </a:prstGeom>
          <a:noFill/>
          <a:ln w="15875">
            <a:solidFill>
              <a:srgbClr val="1E2A32"/>
            </a:solidFill>
            <a:prstDash val="solid"/>
          </a:ln>
        </p:spPr>
      </p:sp>
      <p:sp>
        <p:nvSpPr>
          <p:cNvPr id="97" name="mbr"/>
          <p:cNvSpPr/>
          <p:nvPr/>
        </p:nvSpPr>
        <p:spPr>
          <a:xfrm>
            <a:off x="3995928" y="2487168"/>
            <a:ext cx="73152" cy="0"/>
          </a:xfrm>
          <a:prstGeom prst="line">
            <a:avLst/>
          </a:prstGeom>
          <a:noFill/>
          <a:ln w="15875">
            <a:solidFill>
              <a:srgbClr val="1E2A32"/>
            </a:solidFill>
            <a:prstDash val="solid"/>
          </a:ln>
        </p:spPr>
      </p:sp>
      <p:sp>
        <p:nvSpPr>
          <p:cNvPr id="98" name="mbr"/>
          <p:cNvSpPr/>
          <p:nvPr/>
        </p:nvSpPr>
        <p:spPr>
          <a:xfrm>
            <a:off x="3995928" y="5257800"/>
            <a:ext cx="73152" cy="0"/>
          </a:xfrm>
          <a:prstGeom prst="line">
            <a:avLst/>
          </a:prstGeom>
          <a:noFill/>
          <a:ln w="15875">
            <a:solidFill>
              <a:srgbClr val="1E2A32"/>
            </a:solidFill>
            <a:prstDash val="solid"/>
          </a:ln>
        </p:spPr>
      </p:sp>
      <p:sp>
        <p:nvSpPr>
          <p:cNvPr id="99" name="mlab"/>
          <p:cNvSpPr txBox="1"/>
          <p:nvPr/>
        </p:nvSpPr>
        <p:spPr>
          <a:xfrm>
            <a:off x="1280160"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100" name="mlab"/>
          <p:cNvSpPr txBox="1"/>
          <p:nvPr/>
        </p:nvSpPr>
        <p:spPr>
          <a:xfrm>
            <a:off x="1581912"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101" name="mlab"/>
          <p:cNvSpPr txBox="1"/>
          <p:nvPr/>
        </p:nvSpPr>
        <p:spPr>
          <a:xfrm>
            <a:off x="1883664"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q₂</a:t>
            </a:r>
            <a:endParaRPr lang="en-US" sz="1000" dirty="0"/>
          </a:p>
        </p:txBody>
      </p:sp>
      <p:sp>
        <p:nvSpPr>
          <p:cNvPr id="102" name="mlab"/>
          <p:cNvSpPr txBox="1"/>
          <p:nvPr/>
        </p:nvSpPr>
        <p:spPr>
          <a:xfrm>
            <a:off x="2185416"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03" name="mlab"/>
          <p:cNvSpPr txBox="1"/>
          <p:nvPr/>
        </p:nvSpPr>
        <p:spPr>
          <a:xfrm>
            <a:off x="2487168"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04" name="mlab"/>
          <p:cNvSpPr txBox="1"/>
          <p:nvPr/>
        </p:nvSpPr>
        <p:spPr>
          <a:xfrm>
            <a:off x="2788920"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105" name="mlab"/>
          <p:cNvSpPr txBox="1"/>
          <p:nvPr/>
        </p:nvSpPr>
        <p:spPr>
          <a:xfrm>
            <a:off x="3090672"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106" name="mlab"/>
          <p:cNvSpPr txBox="1"/>
          <p:nvPr/>
        </p:nvSpPr>
        <p:spPr>
          <a:xfrm>
            <a:off x="3392424"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107" name="mlab"/>
          <p:cNvSpPr txBox="1"/>
          <p:nvPr/>
        </p:nvSpPr>
        <p:spPr>
          <a:xfrm>
            <a:off x="3694176"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108" name="mgrp"/>
          <p:cNvSpPr txBox="1"/>
          <p:nvPr/>
        </p:nvSpPr>
        <p:spPr>
          <a:xfrm>
            <a:off x="1325880" y="2039112"/>
            <a:ext cx="905256"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109" name="mgrp"/>
          <p:cNvSpPr txBox="1"/>
          <p:nvPr/>
        </p:nvSpPr>
        <p:spPr>
          <a:xfrm>
            <a:off x="2231136" y="2039112"/>
            <a:ext cx="150876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110" name="mgrp"/>
          <p:cNvSpPr txBox="1"/>
          <p:nvPr/>
        </p:nvSpPr>
        <p:spPr>
          <a:xfrm>
            <a:off x="3739896" y="2039112"/>
            <a:ext cx="301752"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111" name="mlab"/>
          <p:cNvSpPr txBox="1"/>
          <p:nvPr/>
        </p:nvSpPr>
        <p:spPr>
          <a:xfrm>
            <a:off x="923544" y="2514600"/>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112" name="mlab"/>
          <p:cNvSpPr txBox="1"/>
          <p:nvPr/>
        </p:nvSpPr>
        <p:spPr>
          <a:xfrm>
            <a:off x="923544" y="2816352"/>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113" name="mlab"/>
          <p:cNvSpPr txBox="1"/>
          <p:nvPr/>
        </p:nvSpPr>
        <p:spPr>
          <a:xfrm>
            <a:off x="923544" y="3118104"/>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114" name="mlab"/>
          <p:cNvSpPr txBox="1"/>
          <p:nvPr/>
        </p:nvSpPr>
        <p:spPr>
          <a:xfrm>
            <a:off x="923544" y="3419856"/>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115" name="mlab"/>
          <p:cNvSpPr txBox="1"/>
          <p:nvPr/>
        </p:nvSpPr>
        <p:spPr>
          <a:xfrm>
            <a:off x="923544" y="3721608"/>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116" name="mlab"/>
          <p:cNvSpPr txBox="1"/>
          <p:nvPr/>
        </p:nvSpPr>
        <p:spPr>
          <a:xfrm>
            <a:off x="923544" y="4023360"/>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117" name="mlab"/>
          <p:cNvSpPr txBox="1"/>
          <p:nvPr/>
        </p:nvSpPr>
        <p:spPr>
          <a:xfrm>
            <a:off x="923544" y="4325112"/>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118" name="mlab"/>
          <p:cNvSpPr txBox="1"/>
          <p:nvPr/>
        </p:nvSpPr>
        <p:spPr>
          <a:xfrm>
            <a:off x="923544" y="4626864"/>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119" name="mlab"/>
          <p:cNvSpPr txBox="1"/>
          <p:nvPr/>
        </p:nvSpPr>
        <p:spPr>
          <a:xfrm>
            <a:off x="923544" y="4928616"/>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i₄</a:t>
            </a:r>
            <a:endParaRPr lang="en-US" sz="1000" dirty="0"/>
          </a:p>
        </p:txBody>
      </p:sp>
      <p:sp>
        <p:nvSpPr>
          <p:cNvPr id="120" name="mgrp"/>
          <p:cNvSpPr txBox="1"/>
          <p:nvPr/>
        </p:nvSpPr>
        <p:spPr>
          <a:xfrm>
            <a:off x="594360" y="2514600"/>
            <a:ext cx="310896" cy="1207008"/>
          </a:xfrm>
          <a:prstGeom prst="rect">
            <a:avLst/>
          </a:prstGeom>
          <a:noFill/>
          <a:ln/>
        </p:spPr>
        <p:txBody>
          <a:bodyPr wrap="square" lIns="0" tIns="0" rIns="0" bIns="0" rtlCol="0" anchor="ctr"/>
          <a:lstStyle/>
          <a:p>
            <a:pPr algn="r" indent="0" marL="0">
              <a:buNone/>
            </a:pPr>
            <a:r>
              <a:rPr lang="en-US" sz="1000" b="1" dirty="0">
                <a:solidFill>
                  <a:srgbClr val="0A4F58"/>
                </a:solidFill>
                <a:latin typeface="Calibri" pitchFamily="34" charset="0"/>
                <a:ea typeface="Calibri" pitchFamily="34" charset="-122"/>
                <a:cs typeface="Calibri" pitchFamily="34" charset="-120"/>
              </a:rPr>
              <a:t>j</a:t>
            </a:r>
            <a:endParaRPr lang="en-US" sz="1000" dirty="0"/>
          </a:p>
        </p:txBody>
      </p:sp>
      <p:sp>
        <p:nvSpPr>
          <p:cNvPr id="121" name="mgrp"/>
          <p:cNvSpPr txBox="1"/>
          <p:nvPr/>
        </p:nvSpPr>
        <p:spPr>
          <a:xfrm>
            <a:off x="594360" y="3721608"/>
            <a:ext cx="310896" cy="1508760"/>
          </a:xfrm>
          <a:prstGeom prst="rect">
            <a:avLst/>
          </a:prstGeom>
          <a:noFill/>
          <a:ln/>
        </p:spPr>
        <p:txBody>
          <a:bodyPr wrap="square" lIns="0" tIns="0" rIns="0" bIns="0" rtlCol="0" anchor="ctr"/>
          <a:lstStyle/>
          <a:p>
            <a:pPr algn="r" indent="0" marL="0">
              <a:buNone/>
            </a:pPr>
            <a:r>
              <a:rPr lang="en-US" sz="1000" b="1" dirty="0">
                <a:solidFill>
                  <a:srgbClr val="0A4F58"/>
                </a:solidFill>
                <a:latin typeface="Calibri" pitchFamily="34" charset="0"/>
                <a:ea typeface="Calibri" pitchFamily="34" charset="-122"/>
                <a:cs typeface="Calibri" pitchFamily="34" charset="-120"/>
              </a:rPr>
              <a:t>i</a:t>
            </a:r>
            <a:endParaRPr lang="en-US" sz="1000" dirty="0"/>
          </a:p>
        </p:txBody>
      </p:sp>
      <p:sp>
        <p:nvSpPr>
          <p:cNvPr id="122" name="mname"/>
          <p:cNvSpPr txBox="1"/>
          <p:nvPr/>
        </p:nvSpPr>
        <p:spPr>
          <a:xfrm>
            <a:off x="1051560" y="5285232"/>
            <a:ext cx="326440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new register bit q₂ → i₄</a:t>
            </a:r>
            <a:endParaRPr lang="en-US" sz="1300" dirty="0"/>
          </a:p>
        </p:txBody>
      </p:sp>
      <p:sp>
        <p:nvSpPr>
          <p:cNvPr id="123" name="Text 120"/>
          <p:cNvSpPr txBox="1"/>
          <p:nvPr/>
        </p:nvSpPr>
        <p:spPr>
          <a:xfrm>
            <a:off x="502920" y="5605272"/>
            <a:ext cx="5120640" cy="5029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Each thread now holds 2 tiles (8 registers): the tile repeats down the tensor.</a:t>
            </a:r>
            <a:endParaRPr lang="en-US" sz="1300" dirty="0"/>
          </a:p>
        </p:txBody>
      </p:sp>
      <p:sp>
        <p:nvSpPr>
          <p:cNvPr id="124" name="Text 121"/>
          <p:cNvSpPr txBox="1"/>
          <p:nvPr/>
        </p:nvSpPr>
        <p:spPr>
          <a:xfrm>
            <a:off x="6355080" y="1691640"/>
            <a:ext cx="54864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Tile larger than tensor: 8×16</a:t>
            </a:r>
            <a:endParaRPr lang="en-US" sz="1500" dirty="0"/>
          </a:p>
        </p:txBody>
      </p:sp>
      <p:sp>
        <p:nvSpPr>
          <p:cNvPr id="125" name="mcol"/>
          <p:cNvSpPr/>
          <p:nvPr/>
        </p:nvSpPr>
        <p:spPr>
          <a:xfrm>
            <a:off x="9290304" y="2514600"/>
            <a:ext cx="301752" cy="2112264"/>
          </a:xfrm>
          <a:prstGeom prst="rect">
            <a:avLst/>
          </a:prstGeom>
          <a:solidFill>
            <a:srgbClr val="FBE3E1"/>
          </a:solidFill>
          <a:ln/>
        </p:spPr>
      </p:sp>
      <p:sp>
        <p:nvSpPr>
          <p:cNvPr id="126" name="mcell"/>
          <p:cNvSpPr txBox="1"/>
          <p:nvPr/>
        </p:nvSpPr>
        <p:spPr>
          <a:xfrm>
            <a:off x="7178040" y="2514600"/>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7" name="mcell"/>
          <p:cNvSpPr txBox="1"/>
          <p:nvPr/>
        </p:nvSpPr>
        <p:spPr>
          <a:xfrm>
            <a:off x="7479792"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8" name="mcell"/>
          <p:cNvSpPr txBox="1"/>
          <p:nvPr/>
        </p:nvSpPr>
        <p:spPr>
          <a:xfrm>
            <a:off x="7781544"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9" name="mcell"/>
          <p:cNvSpPr txBox="1"/>
          <p:nvPr/>
        </p:nvSpPr>
        <p:spPr>
          <a:xfrm>
            <a:off x="8083296"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0" name="mcell"/>
          <p:cNvSpPr txBox="1"/>
          <p:nvPr/>
        </p:nvSpPr>
        <p:spPr>
          <a:xfrm>
            <a:off x="8385048"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1" name="mcell"/>
          <p:cNvSpPr txBox="1"/>
          <p:nvPr/>
        </p:nvSpPr>
        <p:spPr>
          <a:xfrm>
            <a:off x="8686800"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2" name="mcell"/>
          <p:cNvSpPr txBox="1"/>
          <p:nvPr/>
        </p:nvSpPr>
        <p:spPr>
          <a:xfrm>
            <a:off x="8988552"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3" name="mcell"/>
          <p:cNvSpPr txBox="1"/>
          <p:nvPr/>
        </p:nvSpPr>
        <p:spPr>
          <a:xfrm>
            <a:off x="9290304" y="251460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4" name="mcell"/>
          <p:cNvSpPr txBox="1"/>
          <p:nvPr/>
        </p:nvSpPr>
        <p:spPr>
          <a:xfrm>
            <a:off x="7178040"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5" name="mcell"/>
          <p:cNvSpPr txBox="1"/>
          <p:nvPr/>
        </p:nvSpPr>
        <p:spPr>
          <a:xfrm>
            <a:off x="7479792"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6" name="mcell"/>
          <p:cNvSpPr txBox="1"/>
          <p:nvPr/>
        </p:nvSpPr>
        <p:spPr>
          <a:xfrm>
            <a:off x="7781544" y="2816352"/>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37" name="mcell"/>
          <p:cNvSpPr txBox="1"/>
          <p:nvPr/>
        </p:nvSpPr>
        <p:spPr>
          <a:xfrm>
            <a:off x="8083296"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8" name="mcell"/>
          <p:cNvSpPr txBox="1"/>
          <p:nvPr/>
        </p:nvSpPr>
        <p:spPr>
          <a:xfrm>
            <a:off x="8385048"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9" name="mcell"/>
          <p:cNvSpPr txBox="1"/>
          <p:nvPr/>
        </p:nvSpPr>
        <p:spPr>
          <a:xfrm>
            <a:off x="8686800"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0" name="mcell"/>
          <p:cNvSpPr txBox="1"/>
          <p:nvPr/>
        </p:nvSpPr>
        <p:spPr>
          <a:xfrm>
            <a:off x="8988552"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1" name="mcell"/>
          <p:cNvSpPr txBox="1"/>
          <p:nvPr/>
        </p:nvSpPr>
        <p:spPr>
          <a:xfrm>
            <a:off x="9290304" y="281635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2" name="mcell"/>
          <p:cNvSpPr txBox="1"/>
          <p:nvPr/>
        </p:nvSpPr>
        <p:spPr>
          <a:xfrm>
            <a:off x="7178040"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3" name="mcell"/>
          <p:cNvSpPr txBox="1"/>
          <p:nvPr/>
        </p:nvSpPr>
        <p:spPr>
          <a:xfrm>
            <a:off x="7479792"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4" name="mcell"/>
          <p:cNvSpPr txBox="1"/>
          <p:nvPr/>
        </p:nvSpPr>
        <p:spPr>
          <a:xfrm>
            <a:off x="7781544"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5" name="mcell"/>
          <p:cNvSpPr txBox="1"/>
          <p:nvPr/>
        </p:nvSpPr>
        <p:spPr>
          <a:xfrm>
            <a:off x="8083296" y="3118104"/>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46" name="mcell"/>
          <p:cNvSpPr txBox="1"/>
          <p:nvPr/>
        </p:nvSpPr>
        <p:spPr>
          <a:xfrm>
            <a:off x="8385048"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7" name="mcell"/>
          <p:cNvSpPr txBox="1"/>
          <p:nvPr/>
        </p:nvSpPr>
        <p:spPr>
          <a:xfrm>
            <a:off x="8686800"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8" name="mcell"/>
          <p:cNvSpPr txBox="1"/>
          <p:nvPr/>
        </p:nvSpPr>
        <p:spPr>
          <a:xfrm>
            <a:off x="8988552"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9" name="mcell"/>
          <p:cNvSpPr txBox="1"/>
          <p:nvPr/>
        </p:nvSpPr>
        <p:spPr>
          <a:xfrm>
            <a:off x="9290304" y="3118104"/>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0" name="mcell"/>
          <p:cNvSpPr txBox="1"/>
          <p:nvPr/>
        </p:nvSpPr>
        <p:spPr>
          <a:xfrm>
            <a:off x="7178040"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1" name="mcell"/>
          <p:cNvSpPr txBox="1"/>
          <p:nvPr/>
        </p:nvSpPr>
        <p:spPr>
          <a:xfrm>
            <a:off x="7479792"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2" name="mcell"/>
          <p:cNvSpPr txBox="1"/>
          <p:nvPr/>
        </p:nvSpPr>
        <p:spPr>
          <a:xfrm>
            <a:off x="7781544"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3" name="mcell"/>
          <p:cNvSpPr txBox="1"/>
          <p:nvPr/>
        </p:nvSpPr>
        <p:spPr>
          <a:xfrm>
            <a:off x="8083296"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4" name="mcell"/>
          <p:cNvSpPr txBox="1"/>
          <p:nvPr/>
        </p:nvSpPr>
        <p:spPr>
          <a:xfrm>
            <a:off x="8385048" y="3419856"/>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55" name="mcell"/>
          <p:cNvSpPr txBox="1"/>
          <p:nvPr/>
        </p:nvSpPr>
        <p:spPr>
          <a:xfrm>
            <a:off x="8686800"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6" name="mcell"/>
          <p:cNvSpPr txBox="1"/>
          <p:nvPr/>
        </p:nvSpPr>
        <p:spPr>
          <a:xfrm>
            <a:off x="8988552"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7" name="mcell"/>
          <p:cNvSpPr txBox="1"/>
          <p:nvPr/>
        </p:nvSpPr>
        <p:spPr>
          <a:xfrm>
            <a:off x="9290304" y="3419856"/>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8" name="mcell"/>
          <p:cNvSpPr txBox="1"/>
          <p:nvPr/>
        </p:nvSpPr>
        <p:spPr>
          <a:xfrm>
            <a:off x="7178040"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9" name="mcell"/>
          <p:cNvSpPr txBox="1"/>
          <p:nvPr/>
        </p:nvSpPr>
        <p:spPr>
          <a:xfrm>
            <a:off x="7479792" y="3721608"/>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60" name="mcell"/>
          <p:cNvSpPr txBox="1"/>
          <p:nvPr/>
        </p:nvSpPr>
        <p:spPr>
          <a:xfrm>
            <a:off x="7781544"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1" name="mcell"/>
          <p:cNvSpPr txBox="1"/>
          <p:nvPr/>
        </p:nvSpPr>
        <p:spPr>
          <a:xfrm>
            <a:off x="8083296"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2" name="mcell"/>
          <p:cNvSpPr txBox="1"/>
          <p:nvPr/>
        </p:nvSpPr>
        <p:spPr>
          <a:xfrm>
            <a:off x="8385048"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3" name="mcell"/>
          <p:cNvSpPr txBox="1"/>
          <p:nvPr/>
        </p:nvSpPr>
        <p:spPr>
          <a:xfrm>
            <a:off x="8686800"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4" name="mcell"/>
          <p:cNvSpPr txBox="1"/>
          <p:nvPr/>
        </p:nvSpPr>
        <p:spPr>
          <a:xfrm>
            <a:off x="8988552"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5" name="mcell"/>
          <p:cNvSpPr txBox="1"/>
          <p:nvPr/>
        </p:nvSpPr>
        <p:spPr>
          <a:xfrm>
            <a:off x="9290304" y="3721608"/>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6" name="mcell"/>
          <p:cNvSpPr txBox="1"/>
          <p:nvPr/>
        </p:nvSpPr>
        <p:spPr>
          <a:xfrm>
            <a:off x="7178040"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7" name="mcell"/>
          <p:cNvSpPr txBox="1"/>
          <p:nvPr/>
        </p:nvSpPr>
        <p:spPr>
          <a:xfrm>
            <a:off x="7479792"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8" name="mcell"/>
          <p:cNvSpPr txBox="1"/>
          <p:nvPr/>
        </p:nvSpPr>
        <p:spPr>
          <a:xfrm>
            <a:off x="7781544"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9" name="mcell"/>
          <p:cNvSpPr txBox="1"/>
          <p:nvPr/>
        </p:nvSpPr>
        <p:spPr>
          <a:xfrm>
            <a:off x="8083296"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0" name="mcell"/>
          <p:cNvSpPr txBox="1"/>
          <p:nvPr/>
        </p:nvSpPr>
        <p:spPr>
          <a:xfrm>
            <a:off x="8385048"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1" name="mcell"/>
          <p:cNvSpPr txBox="1"/>
          <p:nvPr/>
        </p:nvSpPr>
        <p:spPr>
          <a:xfrm>
            <a:off x="8686800" y="4023360"/>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72" name="mcell"/>
          <p:cNvSpPr txBox="1"/>
          <p:nvPr/>
        </p:nvSpPr>
        <p:spPr>
          <a:xfrm>
            <a:off x="8988552"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3" name="mcell"/>
          <p:cNvSpPr txBox="1"/>
          <p:nvPr/>
        </p:nvSpPr>
        <p:spPr>
          <a:xfrm>
            <a:off x="9290304" y="4023360"/>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4" name="mcell"/>
          <p:cNvSpPr txBox="1"/>
          <p:nvPr/>
        </p:nvSpPr>
        <p:spPr>
          <a:xfrm>
            <a:off x="7178040"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5" name="mcell"/>
          <p:cNvSpPr txBox="1"/>
          <p:nvPr/>
        </p:nvSpPr>
        <p:spPr>
          <a:xfrm>
            <a:off x="7479792"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6" name="mcell"/>
          <p:cNvSpPr txBox="1"/>
          <p:nvPr/>
        </p:nvSpPr>
        <p:spPr>
          <a:xfrm>
            <a:off x="7781544"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7" name="mcell"/>
          <p:cNvSpPr txBox="1"/>
          <p:nvPr/>
        </p:nvSpPr>
        <p:spPr>
          <a:xfrm>
            <a:off x="8083296"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8" name="mcell"/>
          <p:cNvSpPr txBox="1"/>
          <p:nvPr/>
        </p:nvSpPr>
        <p:spPr>
          <a:xfrm>
            <a:off x="8385048"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9" name="mcell"/>
          <p:cNvSpPr txBox="1"/>
          <p:nvPr/>
        </p:nvSpPr>
        <p:spPr>
          <a:xfrm>
            <a:off x="8686800"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80" name="mcell"/>
          <p:cNvSpPr txBox="1"/>
          <p:nvPr/>
        </p:nvSpPr>
        <p:spPr>
          <a:xfrm>
            <a:off x="8988552" y="4325112"/>
            <a:ext cx="301752" cy="301752"/>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81" name="mcell"/>
          <p:cNvSpPr txBox="1"/>
          <p:nvPr/>
        </p:nvSpPr>
        <p:spPr>
          <a:xfrm>
            <a:off x="9290304" y="4325112"/>
            <a:ext cx="301752" cy="301752"/>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82" name="msep"/>
          <p:cNvSpPr/>
          <p:nvPr/>
        </p:nvSpPr>
        <p:spPr>
          <a:xfrm>
            <a:off x="7781544" y="2532888"/>
            <a:ext cx="0" cy="2075688"/>
          </a:xfrm>
          <a:prstGeom prst="line">
            <a:avLst/>
          </a:prstGeom>
          <a:noFill/>
          <a:ln w="9525">
            <a:solidFill>
              <a:srgbClr val="5B6770"/>
            </a:solidFill>
            <a:prstDash val="dash"/>
          </a:ln>
        </p:spPr>
      </p:sp>
      <p:sp>
        <p:nvSpPr>
          <p:cNvPr id="183" name="msep"/>
          <p:cNvSpPr/>
          <p:nvPr/>
        </p:nvSpPr>
        <p:spPr>
          <a:xfrm>
            <a:off x="9290304" y="2532888"/>
            <a:ext cx="0" cy="2075688"/>
          </a:xfrm>
          <a:prstGeom prst="line">
            <a:avLst/>
          </a:prstGeom>
          <a:noFill/>
          <a:ln w="9525">
            <a:solidFill>
              <a:srgbClr val="5B6770"/>
            </a:solidFill>
            <a:prstDash val="dash"/>
          </a:ln>
        </p:spPr>
      </p:sp>
      <p:sp>
        <p:nvSpPr>
          <p:cNvPr id="184" name="msep"/>
          <p:cNvSpPr/>
          <p:nvPr/>
        </p:nvSpPr>
        <p:spPr>
          <a:xfrm>
            <a:off x="7196328" y="3721608"/>
            <a:ext cx="2377440" cy="0"/>
          </a:xfrm>
          <a:prstGeom prst="line">
            <a:avLst/>
          </a:prstGeom>
          <a:noFill/>
          <a:ln w="9525">
            <a:solidFill>
              <a:srgbClr val="5B6770"/>
            </a:solidFill>
            <a:prstDash val="dash"/>
          </a:ln>
        </p:spPr>
      </p:sp>
      <p:sp>
        <p:nvSpPr>
          <p:cNvPr id="185" name="mbr"/>
          <p:cNvSpPr/>
          <p:nvPr/>
        </p:nvSpPr>
        <p:spPr>
          <a:xfrm>
            <a:off x="7150608" y="2487168"/>
            <a:ext cx="0" cy="2167128"/>
          </a:xfrm>
          <a:prstGeom prst="line">
            <a:avLst/>
          </a:prstGeom>
          <a:noFill/>
          <a:ln w="15875">
            <a:solidFill>
              <a:srgbClr val="1E2A32"/>
            </a:solidFill>
            <a:prstDash val="solid"/>
          </a:ln>
        </p:spPr>
      </p:sp>
      <p:sp>
        <p:nvSpPr>
          <p:cNvPr id="186" name="mbr"/>
          <p:cNvSpPr/>
          <p:nvPr/>
        </p:nvSpPr>
        <p:spPr>
          <a:xfrm>
            <a:off x="7150608" y="2487168"/>
            <a:ext cx="73152" cy="0"/>
          </a:xfrm>
          <a:prstGeom prst="line">
            <a:avLst/>
          </a:prstGeom>
          <a:noFill/>
          <a:ln w="15875">
            <a:solidFill>
              <a:srgbClr val="1E2A32"/>
            </a:solidFill>
            <a:prstDash val="solid"/>
          </a:ln>
        </p:spPr>
      </p:sp>
      <p:sp>
        <p:nvSpPr>
          <p:cNvPr id="187" name="mbr"/>
          <p:cNvSpPr/>
          <p:nvPr/>
        </p:nvSpPr>
        <p:spPr>
          <a:xfrm>
            <a:off x="7150608" y="4654296"/>
            <a:ext cx="73152" cy="0"/>
          </a:xfrm>
          <a:prstGeom prst="line">
            <a:avLst/>
          </a:prstGeom>
          <a:noFill/>
          <a:ln w="15875">
            <a:solidFill>
              <a:srgbClr val="1E2A32"/>
            </a:solidFill>
            <a:prstDash val="solid"/>
          </a:ln>
        </p:spPr>
      </p:sp>
      <p:sp>
        <p:nvSpPr>
          <p:cNvPr id="188" name="mbr"/>
          <p:cNvSpPr/>
          <p:nvPr/>
        </p:nvSpPr>
        <p:spPr>
          <a:xfrm>
            <a:off x="9619488" y="2487168"/>
            <a:ext cx="0" cy="2167128"/>
          </a:xfrm>
          <a:prstGeom prst="line">
            <a:avLst/>
          </a:prstGeom>
          <a:noFill/>
          <a:ln w="15875">
            <a:solidFill>
              <a:srgbClr val="1E2A32"/>
            </a:solidFill>
            <a:prstDash val="solid"/>
          </a:ln>
        </p:spPr>
      </p:sp>
      <p:sp>
        <p:nvSpPr>
          <p:cNvPr id="189" name="mbr"/>
          <p:cNvSpPr/>
          <p:nvPr/>
        </p:nvSpPr>
        <p:spPr>
          <a:xfrm>
            <a:off x="9546336" y="2487168"/>
            <a:ext cx="73152" cy="0"/>
          </a:xfrm>
          <a:prstGeom prst="line">
            <a:avLst/>
          </a:prstGeom>
          <a:noFill/>
          <a:ln w="15875">
            <a:solidFill>
              <a:srgbClr val="1E2A32"/>
            </a:solidFill>
            <a:prstDash val="solid"/>
          </a:ln>
        </p:spPr>
      </p:sp>
      <p:sp>
        <p:nvSpPr>
          <p:cNvPr id="190" name="mbr"/>
          <p:cNvSpPr/>
          <p:nvPr/>
        </p:nvSpPr>
        <p:spPr>
          <a:xfrm>
            <a:off x="9546336" y="4654296"/>
            <a:ext cx="73152" cy="0"/>
          </a:xfrm>
          <a:prstGeom prst="line">
            <a:avLst/>
          </a:prstGeom>
          <a:noFill/>
          <a:ln w="15875">
            <a:solidFill>
              <a:srgbClr val="1E2A32"/>
            </a:solidFill>
            <a:prstDash val="solid"/>
          </a:ln>
        </p:spPr>
      </p:sp>
      <p:sp>
        <p:nvSpPr>
          <p:cNvPr id="191" name="mlab"/>
          <p:cNvSpPr txBox="1"/>
          <p:nvPr/>
        </p:nvSpPr>
        <p:spPr>
          <a:xfrm>
            <a:off x="7132320"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192" name="mlab"/>
          <p:cNvSpPr txBox="1"/>
          <p:nvPr/>
        </p:nvSpPr>
        <p:spPr>
          <a:xfrm>
            <a:off x="7434072"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193" name="mlab"/>
          <p:cNvSpPr txBox="1"/>
          <p:nvPr/>
        </p:nvSpPr>
        <p:spPr>
          <a:xfrm>
            <a:off x="7735824"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94" name="mlab"/>
          <p:cNvSpPr txBox="1"/>
          <p:nvPr/>
        </p:nvSpPr>
        <p:spPr>
          <a:xfrm>
            <a:off x="8037576"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95" name="mlab"/>
          <p:cNvSpPr txBox="1"/>
          <p:nvPr/>
        </p:nvSpPr>
        <p:spPr>
          <a:xfrm>
            <a:off x="8339328"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196" name="mlab"/>
          <p:cNvSpPr txBox="1"/>
          <p:nvPr/>
        </p:nvSpPr>
        <p:spPr>
          <a:xfrm>
            <a:off x="8641080"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197" name="mlab"/>
          <p:cNvSpPr txBox="1"/>
          <p:nvPr/>
        </p:nvSpPr>
        <p:spPr>
          <a:xfrm>
            <a:off x="8942832"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198" name="mlab"/>
          <p:cNvSpPr txBox="1"/>
          <p:nvPr/>
        </p:nvSpPr>
        <p:spPr>
          <a:xfrm>
            <a:off x="9244584" y="2276856"/>
            <a:ext cx="393192"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199" name="mgrp"/>
          <p:cNvSpPr txBox="1"/>
          <p:nvPr/>
        </p:nvSpPr>
        <p:spPr>
          <a:xfrm>
            <a:off x="7178040" y="2039112"/>
            <a:ext cx="603504"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200" name="mgrp"/>
          <p:cNvSpPr txBox="1"/>
          <p:nvPr/>
        </p:nvSpPr>
        <p:spPr>
          <a:xfrm>
            <a:off x="7781544" y="2039112"/>
            <a:ext cx="150876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201" name="mgrp"/>
          <p:cNvSpPr txBox="1"/>
          <p:nvPr/>
        </p:nvSpPr>
        <p:spPr>
          <a:xfrm>
            <a:off x="9290304" y="2039112"/>
            <a:ext cx="301752"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202" name="mlab"/>
          <p:cNvSpPr txBox="1"/>
          <p:nvPr/>
        </p:nvSpPr>
        <p:spPr>
          <a:xfrm>
            <a:off x="6775704" y="2514600"/>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203" name="mlab"/>
          <p:cNvSpPr txBox="1"/>
          <p:nvPr/>
        </p:nvSpPr>
        <p:spPr>
          <a:xfrm>
            <a:off x="6775704" y="2816352"/>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204" name="mlab"/>
          <p:cNvSpPr txBox="1"/>
          <p:nvPr/>
        </p:nvSpPr>
        <p:spPr>
          <a:xfrm>
            <a:off x="6775704" y="3118104"/>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205" name="mlab"/>
          <p:cNvSpPr txBox="1"/>
          <p:nvPr/>
        </p:nvSpPr>
        <p:spPr>
          <a:xfrm>
            <a:off x="6775704" y="3419856"/>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206" name="mlab"/>
          <p:cNvSpPr txBox="1"/>
          <p:nvPr/>
        </p:nvSpPr>
        <p:spPr>
          <a:xfrm>
            <a:off x="6775704" y="3721608"/>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207" name="mlab"/>
          <p:cNvSpPr txBox="1"/>
          <p:nvPr/>
        </p:nvSpPr>
        <p:spPr>
          <a:xfrm>
            <a:off x="6775704" y="4023360"/>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208" name="mlab"/>
          <p:cNvSpPr txBox="1"/>
          <p:nvPr/>
        </p:nvSpPr>
        <p:spPr>
          <a:xfrm>
            <a:off x="6775704" y="4325112"/>
            <a:ext cx="347472" cy="301752"/>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209" name="mgrp"/>
          <p:cNvSpPr txBox="1"/>
          <p:nvPr/>
        </p:nvSpPr>
        <p:spPr>
          <a:xfrm>
            <a:off x="6446520" y="2514600"/>
            <a:ext cx="310896" cy="1207008"/>
          </a:xfrm>
          <a:prstGeom prst="rect">
            <a:avLst/>
          </a:prstGeom>
          <a:noFill/>
          <a:ln/>
        </p:spPr>
        <p:txBody>
          <a:bodyPr wrap="square" lIns="0" tIns="0" rIns="0" bIns="0" rtlCol="0" anchor="ctr"/>
          <a:lstStyle/>
          <a:p>
            <a:pPr algn="r" indent="0" marL="0">
              <a:buNone/>
            </a:pPr>
            <a:r>
              <a:rPr lang="en-US" sz="1000" b="1" dirty="0">
                <a:solidFill>
                  <a:srgbClr val="0A4F58"/>
                </a:solidFill>
                <a:latin typeface="Calibri" pitchFamily="34" charset="0"/>
                <a:ea typeface="Calibri" pitchFamily="34" charset="-122"/>
                <a:cs typeface="Calibri" pitchFamily="34" charset="-120"/>
              </a:rPr>
              <a:t>j</a:t>
            </a:r>
            <a:endParaRPr lang="en-US" sz="1000" dirty="0"/>
          </a:p>
        </p:txBody>
      </p:sp>
      <p:sp>
        <p:nvSpPr>
          <p:cNvPr id="210" name="mgrp"/>
          <p:cNvSpPr txBox="1"/>
          <p:nvPr/>
        </p:nvSpPr>
        <p:spPr>
          <a:xfrm>
            <a:off x="6446520" y="3721608"/>
            <a:ext cx="310896" cy="905256"/>
          </a:xfrm>
          <a:prstGeom prst="rect">
            <a:avLst/>
          </a:prstGeom>
          <a:noFill/>
          <a:ln/>
        </p:spPr>
        <p:txBody>
          <a:bodyPr wrap="square" lIns="0" tIns="0" rIns="0" bIns="0" rtlCol="0" anchor="ctr"/>
          <a:lstStyle/>
          <a:p>
            <a:pPr algn="r" indent="0" marL="0">
              <a:buNone/>
            </a:pPr>
            <a:r>
              <a:rPr lang="en-US" sz="1000" b="1" dirty="0">
                <a:solidFill>
                  <a:srgbClr val="0A4F58"/>
                </a:solidFill>
                <a:latin typeface="Calibri" pitchFamily="34" charset="0"/>
                <a:ea typeface="Calibri" pitchFamily="34" charset="-122"/>
                <a:cs typeface="Calibri" pitchFamily="34" charset="-120"/>
              </a:rPr>
              <a:t>i</a:t>
            </a:r>
            <a:endParaRPr lang="en-US" sz="1000" dirty="0"/>
          </a:p>
        </p:txBody>
      </p:sp>
      <p:sp>
        <p:nvSpPr>
          <p:cNvPr id="211" name="mname"/>
          <p:cNvSpPr txBox="1"/>
          <p:nvPr/>
        </p:nvSpPr>
        <p:spPr>
          <a:xfrm>
            <a:off x="6903720" y="4681728"/>
            <a:ext cx="296265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warp bit w → zero column</a:t>
            </a:r>
            <a:endParaRPr lang="en-US" sz="1300" dirty="0"/>
          </a:p>
        </p:txBody>
      </p:sp>
      <p:sp>
        <p:nvSpPr>
          <p:cNvPr id="212" name="Text 209"/>
          <p:cNvSpPr txBox="1"/>
          <p:nvPr/>
        </p:nvSpPr>
        <p:spPr>
          <a:xfrm>
            <a:off x="6355080" y="5001768"/>
            <a:ext cx="5349240" cy="5029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Both warps hold the same 8×16 data: duplication = a zero column (surjective, not injective).</a:t>
            </a:r>
            <a:endParaRPr lang="en-US" sz="1300" dirty="0"/>
          </a:p>
        </p:txBody>
      </p:sp>
      <p:sp>
        <p:nvSpPr>
          <p:cNvPr id="213" name="tag"/>
          <p:cNvSpPr txBox="1"/>
          <p:nvPr/>
        </p:nvSpPr>
        <p:spPr>
          <a:xfrm>
            <a:off x="694944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PROPOSITION 4.7</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MMA layouts are linear layouts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Proposition 4.7, p. 137; fragment formula from NVIDIA PTX ISA (mma.m16n8k16, f32 accumulators) [35]</a:t>
            </a:r>
            <a:endParaRPr lang="en-US" sz="1000" dirty="0"/>
          </a:p>
        </p:txBody>
      </p:sp>
      <p:sp>
        <p:nvSpPr>
          <p:cNvPr id="6" name="Text 3"/>
          <p:cNvSpPr txBox="1"/>
          <p:nvPr/>
        </p:nvSpPr>
        <p:spPr>
          <a:xfrm>
            <a:off x="502920" y="1234440"/>
            <a:ext cx="11155680" cy="320040"/>
          </a:xfrm>
          <a:prstGeom prst="rect">
            <a:avLst/>
          </a:prstGeom>
          <a:noFill/>
          <a:ln/>
        </p:spPr>
        <p:txBody>
          <a:bodyPr wrap="square" lIns="0" tIns="0" rIns="0" bIns="0" rtlCol="0" anchor="t"/>
          <a:lstStyle/>
          <a:p>
            <a:pPr indent="0" marL="0">
              <a:buNone/>
            </a:pPr>
            <a:r>
              <a:rPr lang="en-US" sz="1600" b="1" dirty="0">
                <a:solidFill>
                  <a:srgbClr val="1E2A32"/>
                </a:solidFill>
                <a:latin typeface="Calibri" pitchFamily="34" charset="0"/>
                <a:ea typeface="Calibri" pitchFamily="34" charset="-122"/>
                <a:cs typeface="Calibri" pitchFamily="34" charset="-120"/>
              </a:rPr>
              <a:t>Proposition 4.7.</a:t>
            </a:r>
            <a:r>
              <a:rPr lang="en-US" sz="1600" dirty="0">
                <a:solidFill>
                  <a:srgbClr val="1E2A32"/>
                </a:solidFill>
                <a:latin typeface="Calibri" pitchFamily="34" charset="0"/>
                <a:ea typeface="Calibri" pitchFamily="34" charset="-122"/>
                <a:cs typeface="Calibri" pitchFamily="34" charset="-120"/>
              </a:rPr>
              <a:t> The input and output layouts of mma and wgmma are linear layouts (AMD / Intel analogues too).</a:t>
            </a:r>
            <a:endParaRPr lang="en-US" sz="1600" dirty="0"/>
          </a:p>
        </p:txBody>
      </p:sp>
      <p:sp>
        <p:nvSpPr>
          <p:cNvPr id="7" name="panel"/>
          <p:cNvSpPr/>
          <p:nvPr/>
        </p:nvSpPr>
        <p:spPr>
          <a:xfrm>
            <a:off x="502920" y="1737360"/>
            <a:ext cx="4937760" cy="1508760"/>
          </a:xfrm>
          <a:prstGeom prst="roundRect">
            <a:avLst>
              <a:gd name="adj" fmla="val 4848"/>
            </a:avLst>
          </a:prstGeom>
          <a:solidFill>
            <a:srgbClr val="F3F6F7"/>
          </a:solidFill>
          <a:ln/>
        </p:spPr>
      </p:sp>
      <p:sp>
        <p:nvSpPr>
          <p:cNvPr id="8" name="Text 5"/>
          <p:cNvSpPr txBox="1"/>
          <p:nvPr/>
        </p:nvSpPr>
        <p:spPr>
          <a:xfrm>
            <a:off x="640080" y="1801368"/>
            <a:ext cx="475488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PTX mma.m16n8k16 accumulator fragment (f32)</a:t>
            </a:r>
            <a:endParaRPr lang="en-US" sz="1300" dirty="0"/>
          </a:p>
        </p:txBody>
      </p:sp>
      <p:sp>
        <p:nvSpPr>
          <p:cNvPr id="9" name="Text 6"/>
          <p:cNvSpPr txBox="1"/>
          <p:nvPr/>
        </p:nvSpPr>
        <p:spPr>
          <a:xfrm>
            <a:off x="640080" y="2103120"/>
            <a:ext cx="4754880" cy="1097280"/>
          </a:xfrm>
          <a:prstGeom prst="rect">
            <a:avLst/>
          </a:prstGeom>
          <a:noFill/>
          <a:ln/>
        </p:spPr>
        <p:txBody>
          <a:bodyPr wrap="square" lIns="0" tIns="0" rIns="0" bIns="0" rtlCol="0" anchor="t"/>
          <a:lstStyle/>
          <a:p>
            <a:pPr indent="0" marL="0">
              <a:buNone/>
            </a:pPr>
            <a:r>
              <a:rPr lang="en-US" sz="1200" dirty="0">
                <a:solidFill>
                  <a:srgbClr val="1E2A32"/>
                </a:solidFill>
                <a:latin typeface="Courier New" pitchFamily="34" charset="0"/>
                <a:ea typeface="Courier New" pitchFamily="34" charset="-122"/>
                <a:cs typeface="Courier New" pitchFamily="34" charset="-120"/>
              </a:rPr>
              <a:t>groupID = lane &gt;&gt; 2;  tig = lane &amp; 3</a:t>
            </a:r>
            <a:endParaRPr lang="en-US" sz="1200" dirty="0"/>
          </a:p>
          <a:p>
            <a:pPr indent="0" marL="0">
              <a:buNone/>
            </a:pPr>
            <a:r>
              <a:rPr lang="en-US" sz="1200" dirty="0">
                <a:solidFill>
                  <a:srgbClr val="1E2A32"/>
                </a:solidFill>
                <a:latin typeface="Courier New" pitchFamily="34" charset="0"/>
                <a:ea typeface="Courier New" pitchFamily="34" charset="-122"/>
                <a:cs typeface="Courier New" pitchFamily="34" charset="-120"/>
              </a:rPr>
              <a:t>c0, c1: row = groupID</a:t>
            </a:r>
            <a:endParaRPr lang="en-US" sz="1200" dirty="0"/>
          </a:p>
          <a:p>
            <a:pPr indent="0" marL="0">
              <a:buNone/>
            </a:pPr>
            <a:r>
              <a:rPr lang="en-US" sz="1200" dirty="0">
                <a:solidFill>
                  <a:srgbClr val="1E2A32"/>
                </a:solidFill>
                <a:latin typeface="Courier New" pitchFamily="34" charset="0"/>
                <a:ea typeface="Courier New" pitchFamily="34" charset="-122"/>
                <a:cs typeface="Courier New" pitchFamily="34" charset="-120"/>
              </a:rPr>
              <a:t>c2, c3: row = groupID + 8</a:t>
            </a:r>
            <a:endParaRPr lang="en-US" sz="1200" dirty="0"/>
          </a:p>
          <a:p>
            <a:pPr indent="0" marL="0">
              <a:buNone/>
            </a:pPr>
            <a:r>
              <a:rPr lang="en-US" sz="1200" dirty="0">
                <a:solidFill>
                  <a:srgbClr val="1E2A32"/>
                </a:solidFill>
                <a:latin typeface="Courier New" pitchFamily="34" charset="0"/>
                <a:ea typeface="Courier New" pitchFamily="34" charset="-122"/>
                <a:cs typeface="Courier New" pitchFamily="34" charset="-120"/>
              </a:rPr>
              <a:t>ck    : col = 2*tig + (k &amp; 1)</a:t>
            </a:r>
            <a:endParaRPr lang="en-US" sz="1200" dirty="0"/>
          </a:p>
        </p:txBody>
      </p:sp>
      <p:sp>
        <p:nvSpPr>
          <p:cNvPr id="10" name="mcol"/>
          <p:cNvSpPr/>
          <p:nvPr/>
        </p:nvSpPr>
        <p:spPr>
          <a:xfrm>
            <a:off x="6400800" y="2148840"/>
            <a:ext cx="384048" cy="2688336"/>
          </a:xfrm>
          <a:prstGeom prst="rect">
            <a:avLst/>
          </a:prstGeom>
          <a:solidFill>
            <a:srgbClr val="FFF0CC"/>
          </a:solidFill>
          <a:ln/>
        </p:spPr>
      </p:sp>
      <p:sp>
        <p:nvSpPr>
          <p:cNvPr id="11" name="mcol"/>
          <p:cNvSpPr/>
          <p:nvPr/>
        </p:nvSpPr>
        <p:spPr>
          <a:xfrm>
            <a:off x="6784848" y="2148840"/>
            <a:ext cx="384048" cy="2688336"/>
          </a:xfrm>
          <a:prstGeom prst="rect">
            <a:avLst/>
          </a:prstGeom>
          <a:solidFill>
            <a:srgbClr val="FFF0CC"/>
          </a:solidFill>
          <a:ln/>
        </p:spPr>
      </p:sp>
      <p:sp>
        <p:nvSpPr>
          <p:cNvPr id="12" name="mcol"/>
          <p:cNvSpPr/>
          <p:nvPr/>
        </p:nvSpPr>
        <p:spPr>
          <a:xfrm>
            <a:off x="7168896" y="2148840"/>
            <a:ext cx="384048" cy="2688336"/>
          </a:xfrm>
          <a:prstGeom prst="rect">
            <a:avLst/>
          </a:prstGeom>
          <a:solidFill>
            <a:srgbClr val="FFF0CC"/>
          </a:solidFill>
          <a:ln/>
        </p:spPr>
      </p:sp>
      <p:sp>
        <p:nvSpPr>
          <p:cNvPr id="13" name="mcol"/>
          <p:cNvSpPr/>
          <p:nvPr/>
        </p:nvSpPr>
        <p:spPr>
          <a:xfrm>
            <a:off x="7936992" y="2148840"/>
            <a:ext cx="384048" cy="2688336"/>
          </a:xfrm>
          <a:prstGeom prst="rect">
            <a:avLst/>
          </a:prstGeom>
          <a:solidFill>
            <a:srgbClr val="FFF0CC"/>
          </a:solidFill>
          <a:ln/>
        </p:spPr>
      </p:sp>
      <p:sp>
        <p:nvSpPr>
          <p:cNvPr id="14" name="mcell"/>
          <p:cNvSpPr txBox="1"/>
          <p:nvPr/>
        </p:nvSpPr>
        <p:spPr>
          <a:xfrm>
            <a:off x="6400800" y="214884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5" name="mcell"/>
          <p:cNvSpPr txBox="1"/>
          <p:nvPr/>
        </p:nvSpPr>
        <p:spPr>
          <a:xfrm>
            <a:off x="6784848" y="214884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7168896" y="214884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7552944" y="214884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7936992" y="214884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8321040" y="214884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0" name="mcell"/>
          <p:cNvSpPr txBox="1"/>
          <p:nvPr/>
        </p:nvSpPr>
        <p:spPr>
          <a:xfrm>
            <a:off x="8705088" y="214884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6400800" y="253288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2" name="mcell"/>
          <p:cNvSpPr txBox="1"/>
          <p:nvPr/>
        </p:nvSpPr>
        <p:spPr>
          <a:xfrm>
            <a:off x="6784848" y="253288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3" name="mcell"/>
          <p:cNvSpPr txBox="1"/>
          <p:nvPr/>
        </p:nvSpPr>
        <p:spPr>
          <a:xfrm>
            <a:off x="7168896" y="253288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4" name="mcell"/>
          <p:cNvSpPr txBox="1"/>
          <p:nvPr/>
        </p:nvSpPr>
        <p:spPr>
          <a:xfrm>
            <a:off x="7552944" y="253288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5" name="mcell"/>
          <p:cNvSpPr txBox="1"/>
          <p:nvPr/>
        </p:nvSpPr>
        <p:spPr>
          <a:xfrm>
            <a:off x="7936992" y="253288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6" name="mcell"/>
          <p:cNvSpPr txBox="1"/>
          <p:nvPr/>
        </p:nvSpPr>
        <p:spPr>
          <a:xfrm>
            <a:off x="8321040" y="253288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7" name="mcell"/>
          <p:cNvSpPr txBox="1"/>
          <p:nvPr/>
        </p:nvSpPr>
        <p:spPr>
          <a:xfrm>
            <a:off x="8705088" y="253288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8" name="mcell"/>
          <p:cNvSpPr txBox="1"/>
          <p:nvPr/>
        </p:nvSpPr>
        <p:spPr>
          <a:xfrm>
            <a:off x="6400800" y="291693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9" name="mcell"/>
          <p:cNvSpPr txBox="1"/>
          <p:nvPr/>
        </p:nvSpPr>
        <p:spPr>
          <a:xfrm>
            <a:off x="6784848" y="291693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0" name="mcell"/>
          <p:cNvSpPr txBox="1"/>
          <p:nvPr/>
        </p:nvSpPr>
        <p:spPr>
          <a:xfrm>
            <a:off x="7168896" y="291693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1" name="mcell"/>
          <p:cNvSpPr txBox="1"/>
          <p:nvPr/>
        </p:nvSpPr>
        <p:spPr>
          <a:xfrm>
            <a:off x="7552944" y="291693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2" name="mcell"/>
          <p:cNvSpPr txBox="1"/>
          <p:nvPr/>
        </p:nvSpPr>
        <p:spPr>
          <a:xfrm>
            <a:off x="7936992" y="291693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3" name="mcell"/>
          <p:cNvSpPr txBox="1"/>
          <p:nvPr/>
        </p:nvSpPr>
        <p:spPr>
          <a:xfrm>
            <a:off x="8321040" y="291693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4" name="mcell"/>
          <p:cNvSpPr txBox="1"/>
          <p:nvPr/>
        </p:nvSpPr>
        <p:spPr>
          <a:xfrm>
            <a:off x="8705088" y="291693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5" name="mcell"/>
          <p:cNvSpPr txBox="1"/>
          <p:nvPr/>
        </p:nvSpPr>
        <p:spPr>
          <a:xfrm>
            <a:off x="6400800" y="330098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6" name="mcell"/>
          <p:cNvSpPr txBox="1"/>
          <p:nvPr/>
        </p:nvSpPr>
        <p:spPr>
          <a:xfrm>
            <a:off x="6784848" y="330098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7" name="mcell"/>
          <p:cNvSpPr txBox="1"/>
          <p:nvPr/>
        </p:nvSpPr>
        <p:spPr>
          <a:xfrm>
            <a:off x="7168896" y="330098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8" name="mcell"/>
          <p:cNvSpPr txBox="1"/>
          <p:nvPr/>
        </p:nvSpPr>
        <p:spPr>
          <a:xfrm>
            <a:off x="7552944" y="330098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9" name="mcell"/>
          <p:cNvSpPr txBox="1"/>
          <p:nvPr/>
        </p:nvSpPr>
        <p:spPr>
          <a:xfrm>
            <a:off x="7936992" y="330098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0" name="mcell"/>
          <p:cNvSpPr txBox="1"/>
          <p:nvPr/>
        </p:nvSpPr>
        <p:spPr>
          <a:xfrm>
            <a:off x="8321040" y="330098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1" name="mcell"/>
          <p:cNvSpPr txBox="1"/>
          <p:nvPr/>
        </p:nvSpPr>
        <p:spPr>
          <a:xfrm>
            <a:off x="8705088" y="330098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2" name="mcell"/>
          <p:cNvSpPr txBox="1"/>
          <p:nvPr/>
        </p:nvSpPr>
        <p:spPr>
          <a:xfrm>
            <a:off x="6400800" y="368503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3" name="mcell"/>
          <p:cNvSpPr txBox="1"/>
          <p:nvPr/>
        </p:nvSpPr>
        <p:spPr>
          <a:xfrm>
            <a:off x="6784848" y="368503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4" name="mcell"/>
          <p:cNvSpPr txBox="1"/>
          <p:nvPr/>
        </p:nvSpPr>
        <p:spPr>
          <a:xfrm>
            <a:off x="7168896" y="368503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5" name="mcell"/>
          <p:cNvSpPr txBox="1"/>
          <p:nvPr/>
        </p:nvSpPr>
        <p:spPr>
          <a:xfrm>
            <a:off x="7552944" y="368503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6" name="mcell"/>
          <p:cNvSpPr txBox="1"/>
          <p:nvPr/>
        </p:nvSpPr>
        <p:spPr>
          <a:xfrm>
            <a:off x="7936992" y="368503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7" name="mcell"/>
          <p:cNvSpPr txBox="1"/>
          <p:nvPr/>
        </p:nvSpPr>
        <p:spPr>
          <a:xfrm>
            <a:off x="8321040" y="3685032"/>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8" name="mcell"/>
          <p:cNvSpPr txBox="1"/>
          <p:nvPr/>
        </p:nvSpPr>
        <p:spPr>
          <a:xfrm>
            <a:off x="8705088" y="368503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9" name="mcell"/>
          <p:cNvSpPr txBox="1"/>
          <p:nvPr/>
        </p:nvSpPr>
        <p:spPr>
          <a:xfrm>
            <a:off x="6400800" y="4069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6784848" y="4069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1" name="mcell"/>
          <p:cNvSpPr txBox="1"/>
          <p:nvPr/>
        </p:nvSpPr>
        <p:spPr>
          <a:xfrm>
            <a:off x="7168896" y="4069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2" name="mcell"/>
          <p:cNvSpPr txBox="1"/>
          <p:nvPr/>
        </p:nvSpPr>
        <p:spPr>
          <a:xfrm>
            <a:off x="7552944" y="4069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3" name="mcell"/>
          <p:cNvSpPr txBox="1"/>
          <p:nvPr/>
        </p:nvSpPr>
        <p:spPr>
          <a:xfrm>
            <a:off x="7936992" y="4069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4" name="mcell"/>
          <p:cNvSpPr txBox="1"/>
          <p:nvPr/>
        </p:nvSpPr>
        <p:spPr>
          <a:xfrm>
            <a:off x="8321040" y="4069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5" name="mcell"/>
          <p:cNvSpPr txBox="1"/>
          <p:nvPr/>
        </p:nvSpPr>
        <p:spPr>
          <a:xfrm>
            <a:off x="8705088" y="406908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6" name="mcell"/>
          <p:cNvSpPr txBox="1"/>
          <p:nvPr/>
        </p:nvSpPr>
        <p:spPr>
          <a:xfrm>
            <a:off x="6400800" y="4453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7" name="mcell"/>
          <p:cNvSpPr txBox="1"/>
          <p:nvPr/>
        </p:nvSpPr>
        <p:spPr>
          <a:xfrm>
            <a:off x="6784848" y="4453128"/>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8" name="mcell"/>
          <p:cNvSpPr txBox="1"/>
          <p:nvPr/>
        </p:nvSpPr>
        <p:spPr>
          <a:xfrm>
            <a:off x="7168896" y="4453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9" name="mcell"/>
          <p:cNvSpPr txBox="1"/>
          <p:nvPr/>
        </p:nvSpPr>
        <p:spPr>
          <a:xfrm>
            <a:off x="7552944" y="4453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0" name="mcell"/>
          <p:cNvSpPr txBox="1"/>
          <p:nvPr/>
        </p:nvSpPr>
        <p:spPr>
          <a:xfrm>
            <a:off x="7936992" y="4453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1" name="mcell"/>
          <p:cNvSpPr txBox="1"/>
          <p:nvPr/>
        </p:nvSpPr>
        <p:spPr>
          <a:xfrm>
            <a:off x="8321040" y="4453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2" name="mcell"/>
          <p:cNvSpPr txBox="1"/>
          <p:nvPr/>
        </p:nvSpPr>
        <p:spPr>
          <a:xfrm>
            <a:off x="8705088" y="4453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3" name="msep"/>
          <p:cNvSpPr/>
          <p:nvPr/>
        </p:nvSpPr>
        <p:spPr>
          <a:xfrm>
            <a:off x="7168896" y="2167128"/>
            <a:ext cx="0" cy="2651760"/>
          </a:xfrm>
          <a:prstGeom prst="line">
            <a:avLst/>
          </a:prstGeom>
          <a:noFill/>
          <a:ln w="9525">
            <a:solidFill>
              <a:srgbClr val="5B6770"/>
            </a:solidFill>
            <a:prstDash val="dash"/>
          </a:ln>
        </p:spPr>
      </p:sp>
      <p:sp>
        <p:nvSpPr>
          <p:cNvPr id="64" name="msep"/>
          <p:cNvSpPr/>
          <p:nvPr/>
        </p:nvSpPr>
        <p:spPr>
          <a:xfrm>
            <a:off x="6419088" y="3300984"/>
            <a:ext cx="2651760" cy="0"/>
          </a:xfrm>
          <a:prstGeom prst="line">
            <a:avLst/>
          </a:prstGeom>
          <a:noFill/>
          <a:ln w="9525">
            <a:solidFill>
              <a:srgbClr val="5B6770"/>
            </a:solidFill>
            <a:prstDash val="dash"/>
          </a:ln>
        </p:spPr>
      </p:sp>
      <p:sp>
        <p:nvSpPr>
          <p:cNvPr id="65" name="mbr"/>
          <p:cNvSpPr/>
          <p:nvPr/>
        </p:nvSpPr>
        <p:spPr>
          <a:xfrm>
            <a:off x="6373368" y="2121408"/>
            <a:ext cx="0" cy="2743200"/>
          </a:xfrm>
          <a:prstGeom prst="line">
            <a:avLst/>
          </a:prstGeom>
          <a:noFill/>
          <a:ln w="15875">
            <a:solidFill>
              <a:srgbClr val="1E2A32"/>
            </a:solidFill>
            <a:prstDash val="solid"/>
          </a:ln>
        </p:spPr>
      </p:sp>
      <p:sp>
        <p:nvSpPr>
          <p:cNvPr id="66" name="mbr"/>
          <p:cNvSpPr/>
          <p:nvPr/>
        </p:nvSpPr>
        <p:spPr>
          <a:xfrm>
            <a:off x="6373368" y="2121408"/>
            <a:ext cx="73152" cy="0"/>
          </a:xfrm>
          <a:prstGeom prst="line">
            <a:avLst/>
          </a:prstGeom>
          <a:noFill/>
          <a:ln w="15875">
            <a:solidFill>
              <a:srgbClr val="1E2A32"/>
            </a:solidFill>
            <a:prstDash val="solid"/>
          </a:ln>
        </p:spPr>
      </p:sp>
      <p:sp>
        <p:nvSpPr>
          <p:cNvPr id="67" name="mbr"/>
          <p:cNvSpPr/>
          <p:nvPr/>
        </p:nvSpPr>
        <p:spPr>
          <a:xfrm>
            <a:off x="6373368" y="4864608"/>
            <a:ext cx="73152" cy="0"/>
          </a:xfrm>
          <a:prstGeom prst="line">
            <a:avLst/>
          </a:prstGeom>
          <a:noFill/>
          <a:ln w="15875">
            <a:solidFill>
              <a:srgbClr val="1E2A32"/>
            </a:solidFill>
            <a:prstDash val="solid"/>
          </a:ln>
        </p:spPr>
      </p:sp>
      <p:sp>
        <p:nvSpPr>
          <p:cNvPr id="68" name="mbr"/>
          <p:cNvSpPr/>
          <p:nvPr/>
        </p:nvSpPr>
        <p:spPr>
          <a:xfrm>
            <a:off x="9116568" y="2121408"/>
            <a:ext cx="0" cy="2743200"/>
          </a:xfrm>
          <a:prstGeom prst="line">
            <a:avLst/>
          </a:prstGeom>
          <a:noFill/>
          <a:ln w="15875">
            <a:solidFill>
              <a:srgbClr val="1E2A32"/>
            </a:solidFill>
            <a:prstDash val="solid"/>
          </a:ln>
        </p:spPr>
      </p:sp>
      <p:sp>
        <p:nvSpPr>
          <p:cNvPr id="69" name="mbr"/>
          <p:cNvSpPr/>
          <p:nvPr/>
        </p:nvSpPr>
        <p:spPr>
          <a:xfrm>
            <a:off x="9043416" y="2121408"/>
            <a:ext cx="73152" cy="0"/>
          </a:xfrm>
          <a:prstGeom prst="line">
            <a:avLst/>
          </a:prstGeom>
          <a:noFill/>
          <a:ln w="15875">
            <a:solidFill>
              <a:srgbClr val="1E2A32"/>
            </a:solidFill>
            <a:prstDash val="solid"/>
          </a:ln>
        </p:spPr>
      </p:sp>
      <p:sp>
        <p:nvSpPr>
          <p:cNvPr id="70" name="mbr"/>
          <p:cNvSpPr/>
          <p:nvPr/>
        </p:nvSpPr>
        <p:spPr>
          <a:xfrm>
            <a:off x="9043416" y="4864608"/>
            <a:ext cx="73152" cy="0"/>
          </a:xfrm>
          <a:prstGeom prst="line">
            <a:avLst/>
          </a:prstGeom>
          <a:noFill/>
          <a:ln w="15875">
            <a:solidFill>
              <a:srgbClr val="1E2A32"/>
            </a:solidFill>
            <a:prstDash val="solid"/>
          </a:ln>
        </p:spPr>
      </p:sp>
      <p:sp>
        <p:nvSpPr>
          <p:cNvPr id="71" name="mlab"/>
          <p:cNvSpPr txBox="1"/>
          <p:nvPr/>
        </p:nvSpPr>
        <p:spPr>
          <a:xfrm>
            <a:off x="6355080"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72" name="mlab"/>
          <p:cNvSpPr txBox="1"/>
          <p:nvPr/>
        </p:nvSpPr>
        <p:spPr>
          <a:xfrm>
            <a:off x="6739128"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73" name="mlab"/>
          <p:cNvSpPr txBox="1"/>
          <p:nvPr/>
        </p:nvSpPr>
        <p:spPr>
          <a:xfrm>
            <a:off x="7123176"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74" name="mlab"/>
          <p:cNvSpPr txBox="1"/>
          <p:nvPr/>
        </p:nvSpPr>
        <p:spPr>
          <a:xfrm>
            <a:off x="7507224"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75" name="mlab"/>
          <p:cNvSpPr txBox="1"/>
          <p:nvPr/>
        </p:nvSpPr>
        <p:spPr>
          <a:xfrm>
            <a:off x="7891272"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t₂</a:t>
            </a:r>
            <a:endParaRPr lang="en-US" sz="1200" dirty="0"/>
          </a:p>
        </p:txBody>
      </p:sp>
      <p:sp>
        <p:nvSpPr>
          <p:cNvPr id="76" name="mlab"/>
          <p:cNvSpPr txBox="1"/>
          <p:nvPr/>
        </p:nvSpPr>
        <p:spPr>
          <a:xfrm>
            <a:off x="8275320"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t₃</a:t>
            </a:r>
            <a:endParaRPr lang="en-US" sz="1200" dirty="0"/>
          </a:p>
        </p:txBody>
      </p:sp>
      <p:sp>
        <p:nvSpPr>
          <p:cNvPr id="77" name="mlab"/>
          <p:cNvSpPr txBox="1"/>
          <p:nvPr/>
        </p:nvSpPr>
        <p:spPr>
          <a:xfrm>
            <a:off x="8659368" y="191109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t₄</a:t>
            </a:r>
            <a:endParaRPr lang="en-US" sz="1200" dirty="0"/>
          </a:p>
        </p:txBody>
      </p:sp>
      <p:sp>
        <p:nvSpPr>
          <p:cNvPr id="78" name="mgrp"/>
          <p:cNvSpPr txBox="1"/>
          <p:nvPr/>
        </p:nvSpPr>
        <p:spPr>
          <a:xfrm>
            <a:off x="6400800" y="167335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79" name="mgrp"/>
          <p:cNvSpPr txBox="1"/>
          <p:nvPr/>
        </p:nvSpPr>
        <p:spPr>
          <a:xfrm>
            <a:off x="7168896" y="1673352"/>
            <a:ext cx="1920240"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 (lane)</a:t>
            </a:r>
            <a:endParaRPr lang="en-US" sz="1200" dirty="0"/>
          </a:p>
        </p:txBody>
      </p:sp>
      <p:sp>
        <p:nvSpPr>
          <p:cNvPr id="80" name="mlab"/>
          <p:cNvSpPr txBox="1"/>
          <p:nvPr/>
        </p:nvSpPr>
        <p:spPr>
          <a:xfrm>
            <a:off x="5998464" y="214884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81" name="mlab"/>
          <p:cNvSpPr txBox="1"/>
          <p:nvPr/>
        </p:nvSpPr>
        <p:spPr>
          <a:xfrm>
            <a:off x="5998464" y="253288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82" name="mlab"/>
          <p:cNvSpPr txBox="1"/>
          <p:nvPr/>
        </p:nvSpPr>
        <p:spPr>
          <a:xfrm>
            <a:off x="5998464" y="291693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j₂</a:t>
            </a:r>
            <a:endParaRPr lang="en-US" sz="1200" dirty="0"/>
          </a:p>
        </p:txBody>
      </p:sp>
      <p:sp>
        <p:nvSpPr>
          <p:cNvPr id="83" name="mlab"/>
          <p:cNvSpPr txBox="1"/>
          <p:nvPr/>
        </p:nvSpPr>
        <p:spPr>
          <a:xfrm>
            <a:off x="5998464" y="330098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84" name="mlab"/>
          <p:cNvSpPr txBox="1"/>
          <p:nvPr/>
        </p:nvSpPr>
        <p:spPr>
          <a:xfrm>
            <a:off x="5998464" y="3685032"/>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85" name="mlab"/>
          <p:cNvSpPr txBox="1"/>
          <p:nvPr/>
        </p:nvSpPr>
        <p:spPr>
          <a:xfrm>
            <a:off x="5998464" y="40690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i₂</a:t>
            </a:r>
            <a:endParaRPr lang="en-US" sz="1200" dirty="0"/>
          </a:p>
        </p:txBody>
      </p:sp>
      <p:sp>
        <p:nvSpPr>
          <p:cNvPr id="86" name="mlab"/>
          <p:cNvSpPr txBox="1"/>
          <p:nvPr/>
        </p:nvSpPr>
        <p:spPr>
          <a:xfrm>
            <a:off x="5998464" y="44531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i₃</a:t>
            </a:r>
            <a:endParaRPr lang="en-US" sz="1200" dirty="0"/>
          </a:p>
        </p:txBody>
      </p:sp>
      <p:sp>
        <p:nvSpPr>
          <p:cNvPr id="87" name="mgrp"/>
          <p:cNvSpPr txBox="1"/>
          <p:nvPr/>
        </p:nvSpPr>
        <p:spPr>
          <a:xfrm>
            <a:off x="5669280" y="2148840"/>
            <a:ext cx="310896" cy="1152144"/>
          </a:xfrm>
          <a:prstGeom prst="rect">
            <a:avLst/>
          </a:prstGeom>
          <a:noFill/>
          <a:ln/>
        </p:spPr>
        <p:txBody>
          <a:bodyPr wrap="square" lIns="0" tIns="0" rIns="0" bIns="0" rtlCol="0" anchor="ctr"/>
          <a:lstStyle/>
          <a:p>
            <a:pPr algn="r" indent="0" marL="0">
              <a:buNone/>
            </a:pPr>
            <a:r>
              <a:rPr lang="en-US" sz="1200" b="1" dirty="0">
                <a:solidFill>
                  <a:srgbClr val="0A4F58"/>
                </a:solidFill>
                <a:latin typeface="Calibri" pitchFamily="34" charset="0"/>
                <a:ea typeface="Calibri" pitchFamily="34" charset="-122"/>
                <a:cs typeface="Calibri" pitchFamily="34" charset="-120"/>
              </a:rPr>
              <a:t>j</a:t>
            </a:r>
            <a:endParaRPr lang="en-US" sz="1200" dirty="0"/>
          </a:p>
        </p:txBody>
      </p:sp>
      <p:sp>
        <p:nvSpPr>
          <p:cNvPr id="88" name="mgrp"/>
          <p:cNvSpPr txBox="1"/>
          <p:nvPr/>
        </p:nvSpPr>
        <p:spPr>
          <a:xfrm>
            <a:off x="5669280" y="3300984"/>
            <a:ext cx="310896" cy="1536192"/>
          </a:xfrm>
          <a:prstGeom prst="rect">
            <a:avLst/>
          </a:prstGeom>
          <a:noFill/>
          <a:ln/>
        </p:spPr>
        <p:txBody>
          <a:bodyPr wrap="square" lIns="0" tIns="0" rIns="0" bIns="0" rtlCol="0" anchor="ctr"/>
          <a:lstStyle/>
          <a:p>
            <a:pPr algn="r" indent="0" marL="0">
              <a:buNone/>
            </a:pPr>
            <a:r>
              <a:rPr lang="en-US" sz="1200" b="1" dirty="0">
                <a:solidFill>
                  <a:srgbClr val="0A4F58"/>
                </a:solidFill>
                <a:latin typeface="Calibri" pitchFamily="34" charset="0"/>
                <a:ea typeface="Calibri" pitchFamily="34" charset="-122"/>
                <a:cs typeface="Calibri" pitchFamily="34" charset="-120"/>
              </a:rPr>
              <a:t>i</a:t>
            </a:r>
            <a:endParaRPr lang="en-US" sz="1200" dirty="0"/>
          </a:p>
        </p:txBody>
      </p:sp>
      <p:sp>
        <p:nvSpPr>
          <p:cNvPr id="89" name="mname"/>
          <p:cNvSpPr txBox="1"/>
          <p:nvPr/>
        </p:nvSpPr>
        <p:spPr>
          <a:xfrm>
            <a:off x="6126480" y="4892040"/>
            <a:ext cx="323697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L_mma : (Reg, Lane) → (i, j)</a:t>
            </a:r>
            <a:endParaRPr lang="en-US" sz="1300" dirty="0"/>
          </a:p>
        </p:txBody>
      </p:sp>
      <p:sp>
        <p:nvSpPr>
          <p:cNvPr id="90" name="Text 87"/>
          <p:cNvSpPr txBox="1"/>
          <p:nvPr/>
        </p:nvSpPr>
        <p:spPr>
          <a:xfrm>
            <a:off x="9317736" y="4434840"/>
            <a:ext cx="2286000" cy="457200"/>
          </a:xfrm>
          <a:prstGeom prst="rect">
            <a:avLst/>
          </a:prstGeom>
          <a:noFill/>
          <a:ln/>
        </p:spPr>
        <p:txBody>
          <a:bodyPr wrap="square" lIns="0" tIns="0" rIns="0" bIns="0" rtlCol="0" anchor="t"/>
          <a:lstStyle/>
          <a:p>
            <a:pPr indent="0" marL="0">
              <a:buNone/>
            </a:pPr>
            <a:r>
              <a:rPr lang="en-US" sz="1200" b="1" dirty="0">
                <a:solidFill>
                  <a:srgbClr val="2E7D32"/>
                </a:solidFill>
                <a:latin typeface="Calibri" pitchFamily="34" charset="0"/>
                <a:ea typeface="Calibri" pitchFamily="34" charset="-122"/>
                <a:cs typeface="Calibri" pitchFamily="34" charset="-120"/>
              </a:rPr>
              <a:t>r₁ → i₃: “+8 rows” is just a column</a:t>
            </a:r>
            <a:endParaRPr lang="en-US" sz="1200" dirty="0"/>
          </a:p>
        </p:txBody>
      </p:sp>
      <p:sp>
        <p:nvSpPr>
          <p:cNvPr id="91" name="panel"/>
          <p:cNvSpPr/>
          <p:nvPr/>
        </p:nvSpPr>
        <p:spPr>
          <a:xfrm>
            <a:off x="502920" y="3429000"/>
            <a:ext cx="4937760" cy="1828800"/>
          </a:xfrm>
          <a:prstGeom prst="roundRect">
            <a:avLst>
              <a:gd name="adj" fmla="val 4000"/>
            </a:avLst>
          </a:prstGeom>
          <a:solidFill>
            <a:srgbClr val="FFF0CC"/>
          </a:solidFill>
          <a:ln/>
        </p:spPr>
      </p:sp>
      <p:sp>
        <p:nvSpPr>
          <p:cNvPr id="92" name="Text 89"/>
          <p:cNvSpPr txBox="1"/>
          <p:nvPr/>
        </p:nvSpPr>
        <p:spPr>
          <a:xfrm>
            <a:off x="640080" y="3493008"/>
            <a:ext cx="4754880" cy="274320"/>
          </a:xfrm>
          <a:prstGeom prst="rect">
            <a:avLst/>
          </a:prstGeom>
          <a:noFill/>
          <a:ln/>
        </p:spPr>
        <p:txBody>
          <a:bodyPr wrap="square" lIns="0" tIns="0" rIns="0" bIns="0" rtlCol="0" anchor="t"/>
          <a:lstStyle/>
          <a:p>
            <a:pPr indent="0" marL="0">
              <a:buNone/>
            </a:pPr>
            <a:r>
              <a:rPr lang="en-US" sz="1400" b="1" dirty="0">
                <a:solidFill>
                  <a:srgbClr val="6B4100"/>
                </a:solidFill>
                <a:latin typeface="Calibri" pitchFamily="34" charset="0"/>
                <a:ea typeface="Calibri" pitchFamily="34" charset="-122"/>
                <a:cs typeface="Calibri" pitchFamily="34" charset="-120"/>
              </a:rPr>
              <a:t>Trace: lane 5, register c₃</a:t>
            </a:r>
            <a:endParaRPr lang="en-US" sz="1400" dirty="0"/>
          </a:p>
        </p:txBody>
      </p:sp>
      <p:sp>
        <p:nvSpPr>
          <p:cNvPr id="93" name="Text 90"/>
          <p:cNvSpPr txBox="1"/>
          <p:nvPr/>
        </p:nvSpPr>
        <p:spPr>
          <a:xfrm>
            <a:off x="640080" y="3840480"/>
            <a:ext cx="4754880" cy="1371600"/>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c₃ = 0b11 → r₀ = r₁ = 1;  lane 5 = 0b00101 → t₀ = t₂ = 1</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Active columns r₀, r₁, t₀, t₂ (highlighted)</a:t>
            </a:r>
            <a:endParaRPr lang="en-US" sz="1400" dirty="0"/>
          </a:p>
          <a:p>
            <a:pPr indent="0" marL="0">
              <a:buNone/>
            </a:pPr>
            <a:r>
              <a:rPr lang="en-US" sz="1400" b="1" dirty="0">
                <a:solidFill>
                  <a:srgbClr val="1E2A32"/>
                </a:solidFill>
                <a:latin typeface="Calibri" pitchFamily="34" charset="0"/>
                <a:ea typeface="Calibri" pitchFamily="34" charset="-122"/>
                <a:cs typeface="Calibri" pitchFamily="34" charset="-120"/>
              </a:rPr>
              <a:t>j = j₀ ⊕ j₁ = 1 + 2 = 3;   i = i₀ ⊕ i₃ = 1 + 8 = 9</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PTX: groupID = 1 → row 1 + 8 = 9;  col = 2·1 + 1 = 3  ✓</a:t>
            </a:r>
            <a:endParaRPr lang="en-US" sz="1400" dirty="0"/>
          </a:p>
        </p:txBody>
      </p:sp>
      <p:sp>
        <p:nvSpPr>
          <p:cNvPr id="94" name="tag"/>
          <p:cNvSpPr txBox="1"/>
          <p:nvPr/>
        </p:nvSpPr>
        <p:spPr>
          <a:xfrm>
            <a:off x="6400800" y="5760720"/>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PROPOSITION 4.8 + REMARK</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Slicing deletes output rows: still linear, maybe not injective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Proposition 4.8 and Remark, p. 137; slicing by composition, p. 137</a:t>
            </a:r>
            <a:endParaRPr lang="en-US" sz="1000" dirty="0"/>
          </a:p>
        </p:txBody>
      </p:sp>
      <p:sp>
        <p:nvSpPr>
          <p:cNvPr id="6" name="Text 3"/>
          <p:cNvSpPr txBox="1"/>
          <p:nvPr/>
        </p:nvSpPr>
        <p:spPr>
          <a:xfrm>
            <a:off x="502920" y="1234440"/>
            <a:ext cx="11201400" cy="594360"/>
          </a:xfrm>
          <a:prstGeom prst="rect">
            <a:avLst/>
          </a:prstGeom>
          <a:noFill/>
          <a:ln/>
        </p:spPr>
        <p:txBody>
          <a:bodyPr wrap="square" lIns="0" tIns="0" rIns="0" bIns="0" rtlCol="0" anchor="t"/>
          <a:lstStyle/>
          <a:p>
            <a:pPr indent="0" marL="0">
              <a:buNone/>
            </a:pPr>
            <a:r>
              <a:rPr lang="en-US" sz="1600" b="1" dirty="0">
                <a:solidFill>
                  <a:srgbClr val="1E2A32"/>
                </a:solidFill>
                <a:latin typeface="Calibri" pitchFamily="34" charset="0"/>
                <a:ea typeface="Calibri" pitchFamily="34" charset="-122"/>
                <a:cs typeface="Calibri" pitchFamily="34" charset="-120"/>
              </a:rPr>
              <a:t>Proposition 4.8.</a:t>
            </a:r>
            <a:r>
              <a:rPr lang="en-US" sz="1600" dirty="0">
                <a:solidFill>
                  <a:srgbClr val="1E2A32"/>
                </a:solidFill>
                <a:latin typeface="Calibri" pitchFamily="34" charset="0"/>
                <a:ea typeface="Calibri" pitchFamily="34" charset="-122"/>
                <a:cs typeface="Calibri" pitchFamily="34" charset="-120"/>
              </a:rPr>
              <a:t> The slice of a linear layout is a linear layout.  </a:t>
            </a:r>
            <a:r>
              <a:rPr lang="en-US" sz="1600" b="1" dirty="0">
                <a:solidFill>
                  <a:srgbClr val="1E2A32"/>
                </a:solidFill>
                <a:latin typeface="Calibri" pitchFamily="34" charset="0"/>
                <a:ea typeface="Calibri" pitchFamily="34" charset="-122"/>
                <a:cs typeface="Calibri" pitchFamily="34" charset="-120"/>
              </a:rPr>
              <a:t>Remark:</a:t>
            </a:r>
            <a:r>
              <a:rPr lang="en-US" sz="1600" dirty="0">
                <a:solidFill>
                  <a:srgbClr val="1E2A32"/>
                </a:solidFill>
                <a:latin typeface="Calibri" pitchFamily="34" charset="0"/>
                <a:ea typeface="Calibri" pitchFamily="34" charset="-122"/>
                <a:cs typeface="Calibri" pitchFamily="34" charset="-120"/>
              </a:rPr>
              <a:t> slicing removes rows; the result is surjective but may not be injective.</a:t>
            </a:r>
            <a:endParaRPr lang="en-US" sz="1600" dirty="0"/>
          </a:p>
        </p:txBody>
      </p:sp>
      <p:sp>
        <p:nvSpPr>
          <p:cNvPr id="7" name="mcell"/>
          <p:cNvSpPr txBox="1"/>
          <p:nvPr/>
        </p:nvSpPr>
        <p:spPr>
          <a:xfrm>
            <a:off x="960120"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 name="mcell"/>
          <p:cNvSpPr txBox="1"/>
          <p:nvPr/>
        </p:nvSpPr>
        <p:spPr>
          <a:xfrm>
            <a:off x="1243584"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 name="mcell"/>
          <p:cNvSpPr txBox="1"/>
          <p:nvPr/>
        </p:nvSpPr>
        <p:spPr>
          <a:xfrm>
            <a:off x="1527048"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 name="mcell"/>
          <p:cNvSpPr txBox="1"/>
          <p:nvPr/>
        </p:nvSpPr>
        <p:spPr>
          <a:xfrm>
            <a:off x="1810512"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 name="mcell"/>
          <p:cNvSpPr txBox="1"/>
          <p:nvPr/>
        </p:nvSpPr>
        <p:spPr>
          <a:xfrm>
            <a:off x="2093976" y="2743200"/>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2" name="mcell"/>
          <p:cNvSpPr txBox="1"/>
          <p:nvPr/>
        </p:nvSpPr>
        <p:spPr>
          <a:xfrm>
            <a:off x="2377440"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3" name="mcell"/>
          <p:cNvSpPr txBox="1"/>
          <p:nvPr/>
        </p:nvSpPr>
        <p:spPr>
          <a:xfrm>
            <a:off x="2660904"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4" name="mcell"/>
          <p:cNvSpPr txBox="1"/>
          <p:nvPr/>
        </p:nvSpPr>
        <p:spPr>
          <a:xfrm>
            <a:off x="2944368"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5" name="mcell"/>
          <p:cNvSpPr txBox="1"/>
          <p:nvPr/>
        </p:nvSpPr>
        <p:spPr>
          <a:xfrm>
            <a:off x="960120"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 name="mcell"/>
          <p:cNvSpPr txBox="1"/>
          <p:nvPr/>
        </p:nvSpPr>
        <p:spPr>
          <a:xfrm>
            <a:off x="1243584"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 name="mcell"/>
          <p:cNvSpPr txBox="1"/>
          <p:nvPr/>
        </p:nvSpPr>
        <p:spPr>
          <a:xfrm>
            <a:off x="1527048"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 name="mcell"/>
          <p:cNvSpPr txBox="1"/>
          <p:nvPr/>
        </p:nvSpPr>
        <p:spPr>
          <a:xfrm>
            <a:off x="1810512"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9" name="mcell"/>
          <p:cNvSpPr txBox="1"/>
          <p:nvPr/>
        </p:nvSpPr>
        <p:spPr>
          <a:xfrm>
            <a:off x="2093976"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0" name="mcell"/>
          <p:cNvSpPr txBox="1"/>
          <p:nvPr/>
        </p:nvSpPr>
        <p:spPr>
          <a:xfrm>
            <a:off x="2377440" y="3026664"/>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21" name="mcell"/>
          <p:cNvSpPr txBox="1"/>
          <p:nvPr/>
        </p:nvSpPr>
        <p:spPr>
          <a:xfrm>
            <a:off x="2660904"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2" name="mcell"/>
          <p:cNvSpPr txBox="1"/>
          <p:nvPr/>
        </p:nvSpPr>
        <p:spPr>
          <a:xfrm>
            <a:off x="2944368"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3" name="mcell"/>
          <p:cNvSpPr txBox="1"/>
          <p:nvPr/>
        </p:nvSpPr>
        <p:spPr>
          <a:xfrm>
            <a:off x="960120"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4" name="mcell"/>
          <p:cNvSpPr txBox="1"/>
          <p:nvPr/>
        </p:nvSpPr>
        <p:spPr>
          <a:xfrm>
            <a:off x="1243584"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5" name="mcell"/>
          <p:cNvSpPr txBox="1"/>
          <p:nvPr/>
        </p:nvSpPr>
        <p:spPr>
          <a:xfrm>
            <a:off x="1527048"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6" name="mcell"/>
          <p:cNvSpPr txBox="1"/>
          <p:nvPr/>
        </p:nvSpPr>
        <p:spPr>
          <a:xfrm>
            <a:off x="1810512"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7" name="mcell"/>
          <p:cNvSpPr txBox="1"/>
          <p:nvPr/>
        </p:nvSpPr>
        <p:spPr>
          <a:xfrm>
            <a:off x="2093976"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8" name="mcell"/>
          <p:cNvSpPr txBox="1"/>
          <p:nvPr/>
        </p:nvSpPr>
        <p:spPr>
          <a:xfrm>
            <a:off x="2377440"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9" name="mcell"/>
          <p:cNvSpPr txBox="1"/>
          <p:nvPr/>
        </p:nvSpPr>
        <p:spPr>
          <a:xfrm>
            <a:off x="2660904" y="3310128"/>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30" name="mcell"/>
          <p:cNvSpPr txBox="1"/>
          <p:nvPr/>
        </p:nvSpPr>
        <p:spPr>
          <a:xfrm>
            <a:off x="2944368"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1" name="mcell"/>
          <p:cNvSpPr txBox="1"/>
          <p:nvPr/>
        </p:nvSpPr>
        <p:spPr>
          <a:xfrm>
            <a:off x="960120"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2" name="mcell"/>
          <p:cNvSpPr txBox="1"/>
          <p:nvPr/>
        </p:nvSpPr>
        <p:spPr>
          <a:xfrm>
            <a:off x="1243584"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3" name="mcell"/>
          <p:cNvSpPr txBox="1"/>
          <p:nvPr/>
        </p:nvSpPr>
        <p:spPr>
          <a:xfrm>
            <a:off x="1527048"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4" name="mcell"/>
          <p:cNvSpPr txBox="1"/>
          <p:nvPr/>
        </p:nvSpPr>
        <p:spPr>
          <a:xfrm>
            <a:off x="1810512"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5" name="mcell"/>
          <p:cNvSpPr txBox="1"/>
          <p:nvPr/>
        </p:nvSpPr>
        <p:spPr>
          <a:xfrm>
            <a:off x="2093976"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6" name="mcell"/>
          <p:cNvSpPr txBox="1"/>
          <p:nvPr/>
        </p:nvSpPr>
        <p:spPr>
          <a:xfrm>
            <a:off x="2377440"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7" name="mcell"/>
          <p:cNvSpPr txBox="1"/>
          <p:nvPr/>
        </p:nvSpPr>
        <p:spPr>
          <a:xfrm>
            <a:off x="2660904"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8" name="mcell"/>
          <p:cNvSpPr txBox="1"/>
          <p:nvPr/>
        </p:nvSpPr>
        <p:spPr>
          <a:xfrm>
            <a:off x="2944368" y="3593592"/>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39" name="mbr"/>
          <p:cNvSpPr/>
          <p:nvPr/>
        </p:nvSpPr>
        <p:spPr>
          <a:xfrm>
            <a:off x="932688" y="2715768"/>
            <a:ext cx="0" cy="1188720"/>
          </a:xfrm>
          <a:prstGeom prst="line">
            <a:avLst/>
          </a:prstGeom>
          <a:noFill/>
          <a:ln w="15875">
            <a:solidFill>
              <a:srgbClr val="1E2A32"/>
            </a:solidFill>
            <a:prstDash val="solid"/>
          </a:ln>
        </p:spPr>
      </p:sp>
      <p:sp>
        <p:nvSpPr>
          <p:cNvPr id="40" name="mbr"/>
          <p:cNvSpPr/>
          <p:nvPr/>
        </p:nvSpPr>
        <p:spPr>
          <a:xfrm>
            <a:off x="932688" y="2715768"/>
            <a:ext cx="73152" cy="0"/>
          </a:xfrm>
          <a:prstGeom prst="line">
            <a:avLst/>
          </a:prstGeom>
          <a:noFill/>
          <a:ln w="15875">
            <a:solidFill>
              <a:srgbClr val="1E2A32"/>
            </a:solidFill>
            <a:prstDash val="solid"/>
          </a:ln>
        </p:spPr>
      </p:sp>
      <p:sp>
        <p:nvSpPr>
          <p:cNvPr id="41" name="mbr"/>
          <p:cNvSpPr/>
          <p:nvPr/>
        </p:nvSpPr>
        <p:spPr>
          <a:xfrm>
            <a:off x="932688" y="3904488"/>
            <a:ext cx="73152" cy="0"/>
          </a:xfrm>
          <a:prstGeom prst="line">
            <a:avLst/>
          </a:prstGeom>
          <a:noFill/>
          <a:ln w="15875">
            <a:solidFill>
              <a:srgbClr val="1E2A32"/>
            </a:solidFill>
            <a:prstDash val="solid"/>
          </a:ln>
        </p:spPr>
      </p:sp>
      <p:sp>
        <p:nvSpPr>
          <p:cNvPr id="42" name="mbr"/>
          <p:cNvSpPr/>
          <p:nvPr/>
        </p:nvSpPr>
        <p:spPr>
          <a:xfrm>
            <a:off x="3255264" y="2715768"/>
            <a:ext cx="0" cy="1188720"/>
          </a:xfrm>
          <a:prstGeom prst="line">
            <a:avLst/>
          </a:prstGeom>
          <a:noFill/>
          <a:ln w="15875">
            <a:solidFill>
              <a:srgbClr val="1E2A32"/>
            </a:solidFill>
            <a:prstDash val="solid"/>
          </a:ln>
        </p:spPr>
      </p:sp>
      <p:sp>
        <p:nvSpPr>
          <p:cNvPr id="43" name="mbr"/>
          <p:cNvSpPr/>
          <p:nvPr/>
        </p:nvSpPr>
        <p:spPr>
          <a:xfrm>
            <a:off x="3182112" y="2715768"/>
            <a:ext cx="73152" cy="0"/>
          </a:xfrm>
          <a:prstGeom prst="line">
            <a:avLst/>
          </a:prstGeom>
          <a:noFill/>
          <a:ln w="15875">
            <a:solidFill>
              <a:srgbClr val="1E2A32"/>
            </a:solidFill>
            <a:prstDash val="solid"/>
          </a:ln>
        </p:spPr>
      </p:sp>
      <p:sp>
        <p:nvSpPr>
          <p:cNvPr id="44" name="mbr"/>
          <p:cNvSpPr/>
          <p:nvPr/>
        </p:nvSpPr>
        <p:spPr>
          <a:xfrm>
            <a:off x="3182112" y="3904488"/>
            <a:ext cx="73152" cy="0"/>
          </a:xfrm>
          <a:prstGeom prst="line">
            <a:avLst/>
          </a:prstGeom>
          <a:noFill/>
          <a:ln w="15875">
            <a:solidFill>
              <a:srgbClr val="1E2A32"/>
            </a:solidFill>
            <a:prstDash val="solid"/>
          </a:ln>
        </p:spPr>
      </p:sp>
      <p:sp>
        <p:nvSpPr>
          <p:cNvPr id="45" name="mlab"/>
          <p:cNvSpPr txBox="1"/>
          <p:nvPr/>
        </p:nvSpPr>
        <p:spPr>
          <a:xfrm>
            <a:off x="914400"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46" name="mlab"/>
          <p:cNvSpPr txBox="1"/>
          <p:nvPr/>
        </p:nvSpPr>
        <p:spPr>
          <a:xfrm>
            <a:off x="1197864"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47" name="mlab"/>
          <p:cNvSpPr txBox="1"/>
          <p:nvPr/>
        </p:nvSpPr>
        <p:spPr>
          <a:xfrm>
            <a:off x="1481328"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48" name="mlab"/>
          <p:cNvSpPr txBox="1"/>
          <p:nvPr/>
        </p:nvSpPr>
        <p:spPr>
          <a:xfrm>
            <a:off x="1764792"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49" name="mlab"/>
          <p:cNvSpPr txBox="1"/>
          <p:nvPr/>
        </p:nvSpPr>
        <p:spPr>
          <a:xfrm>
            <a:off x="2048256"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50" name="mlab"/>
          <p:cNvSpPr txBox="1"/>
          <p:nvPr/>
        </p:nvSpPr>
        <p:spPr>
          <a:xfrm>
            <a:off x="2331720"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51" name="mlab"/>
          <p:cNvSpPr txBox="1"/>
          <p:nvPr/>
        </p:nvSpPr>
        <p:spPr>
          <a:xfrm>
            <a:off x="2615184"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52" name="mlab"/>
          <p:cNvSpPr txBox="1"/>
          <p:nvPr/>
        </p:nvSpPr>
        <p:spPr>
          <a:xfrm>
            <a:off x="2898648"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53" name="mlab"/>
          <p:cNvSpPr txBox="1"/>
          <p:nvPr/>
        </p:nvSpPr>
        <p:spPr>
          <a:xfrm>
            <a:off x="557784" y="2743200"/>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54" name="mlab"/>
          <p:cNvSpPr txBox="1"/>
          <p:nvPr/>
        </p:nvSpPr>
        <p:spPr>
          <a:xfrm>
            <a:off x="557784" y="3026664"/>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55" name="mlab"/>
          <p:cNvSpPr txBox="1"/>
          <p:nvPr/>
        </p:nvSpPr>
        <p:spPr>
          <a:xfrm>
            <a:off x="557784" y="3310128"/>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56" name="mlab"/>
          <p:cNvSpPr txBox="1"/>
          <p:nvPr/>
        </p:nvSpPr>
        <p:spPr>
          <a:xfrm>
            <a:off x="557784" y="3593592"/>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57" name="mname"/>
          <p:cNvSpPr txBox="1"/>
          <p:nvPr/>
        </p:nvSpPr>
        <p:spPr>
          <a:xfrm>
            <a:off x="685800" y="3931920"/>
            <a:ext cx="281635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D = [0 | I₄]  (drop j)</a:t>
            </a:r>
            <a:endParaRPr lang="en-US" sz="1300" dirty="0"/>
          </a:p>
        </p:txBody>
      </p:sp>
      <p:sp>
        <p:nvSpPr>
          <p:cNvPr id="58" name="op"/>
          <p:cNvSpPr txBox="1"/>
          <p:nvPr/>
        </p:nvSpPr>
        <p:spPr>
          <a:xfrm>
            <a:off x="3273552" y="3081528"/>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59" name="mrow"/>
          <p:cNvSpPr/>
          <p:nvPr/>
        </p:nvSpPr>
        <p:spPr>
          <a:xfrm>
            <a:off x="4142232" y="2331720"/>
            <a:ext cx="2267712" cy="283464"/>
          </a:xfrm>
          <a:prstGeom prst="rect">
            <a:avLst/>
          </a:prstGeom>
          <a:solidFill>
            <a:srgbClr val="FBE3E1"/>
          </a:solidFill>
          <a:ln/>
        </p:spPr>
      </p:sp>
      <p:sp>
        <p:nvSpPr>
          <p:cNvPr id="60" name="mrow"/>
          <p:cNvSpPr/>
          <p:nvPr/>
        </p:nvSpPr>
        <p:spPr>
          <a:xfrm>
            <a:off x="4142232" y="2615184"/>
            <a:ext cx="2267712" cy="283464"/>
          </a:xfrm>
          <a:prstGeom prst="rect">
            <a:avLst/>
          </a:prstGeom>
          <a:solidFill>
            <a:srgbClr val="FBE3E1"/>
          </a:solidFill>
          <a:ln/>
        </p:spPr>
      </p:sp>
      <p:sp>
        <p:nvSpPr>
          <p:cNvPr id="61" name="mrow"/>
          <p:cNvSpPr/>
          <p:nvPr/>
        </p:nvSpPr>
        <p:spPr>
          <a:xfrm>
            <a:off x="4142232" y="2898648"/>
            <a:ext cx="2267712" cy="283464"/>
          </a:xfrm>
          <a:prstGeom prst="rect">
            <a:avLst/>
          </a:prstGeom>
          <a:solidFill>
            <a:srgbClr val="FBE3E1"/>
          </a:solidFill>
          <a:ln/>
        </p:spPr>
      </p:sp>
      <p:sp>
        <p:nvSpPr>
          <p:cNvPr id="62" name="mrow"/>
          <p:cNvSpPr/>
          <p:nvPr/>
        </p:nvSpPr>
        <p:spPr>
          <a:xfrm>
            <a:off x="4142232" y="3182112"/>
            <a:ext cx="2267712" cy="283464"/>
          </a:xfrm>
          <a:prstGeom prst="rect">
            <a:avLst/>
          </a:prstGeom>
          <a:solidFill>
            <a:srgbClr val="FBE3E1"/>
          </a:solidFill>
          <a:ln/>
        </p:spPr>
      </p:sp>
      <p:sp>
        <p:nvSpPr>
          <p:cNvPr id="63" name="mcell"/>
          <p:cNvSpPr txBox="1"/>
          <p:nvPr/>
        </p:nvSpPr>
        <p:spPr>
          <a:xfrm>
            <a:off x="4142232" y="2331720"/>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64" name="mcell"/>
          <p:cNvSpPr txBox="1"/>
          <p:nvPr/>
        </p:nvSpPr>
        <p:spPr>
          <a:xfrm>
            <a:off x="4425696"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5" name="mcell"/>
          <p:cNvSpPr txBox="1"/>
          <p:nvPr/>
        </p:nvSpPr>
        <p:spPr>
          <a:xfrm>
            <a:off x="4709160"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6" name="mcell"/>
          <p:cNvSpPr txBox="1"/>
          <p:nvPr/>
        </p:nvSpPr>
        <p:spPr>
          <a:xfrm>
            <a:off x="4992624"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7" name="mcell"/>
          <p:cNvSpPr txBox="1"/>
          <p:nvPr/>
        </p:nvSpPr>
        <p:spPr>
          <a:xfrm>
            <a:off x="5276088"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8" name="mcell"/>
          <p:cNvSpPr txBox="1"/>
          <p:nvPr/>
        </p:nvSpPr>
        <p:spPr>
          <a:xfrm>
            <a:off x="5559552"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9" name="mcell"/>
          <p:cNvSpPr txBox="1"/>
          <p:nvPr/>
        </p:nvSpPr>
        <p:spPr>
          <a:xfrm>
            <a:off x="5843016"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0" name="mcell"/>
          <p:cNvSpPr txBox="1"/>
          <p:nvPr/>
        </p:nvSpPr>
        <p:spPr>
          <a:xfrm>
            <a:off x="6126480" y="233172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1" name="mcell"/>
          <p:cNvSpPr txBox="1"/>
          <p:nvPr/>
        </p:nvSpPr>
        <p:spPr>
          <a:xfrm>
            <a:off x="4142232"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2" name="mcell"/>
          <p:cNvSpPr txBox="1"/>
          <p:nvPr/>
        </p:nvSpPr>
        <p:spPr>
          <a:xfrm>
            <a:off x="4425696"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3" name="mcell"/>
          <p:cNvSpPr txBox="1"/>
          <p:nvPr/>
        </p:nvSpPr>
        <p:spPr>
          <a:xfrm>
            <a:off x="4709160" y="2615184"/>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74" name="mcell"/>
          <p:cNvSpPr txBox="1"/>
          <p:nvPr/>
        </p:nvSpPr>
        <p:spPr>
          <a:xfrm>
            <a:off x="4992624"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5" name="mcell"/>
          <p:cNvSpPr txBox="1"/>
          <p:nvPr/>
        </p:nvSpPr>
        <p:spPr>
          <a:xfrm>
            <a:off x="5276088"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6" name="mcell"/>
          <p:cNvSpPr txBox="1"/>
          <p:nvPr/>
        </p:nvSpPr>
        <p:spPr>
          <a:xfrm>
            <a:off x="5559552"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7" name="mcell"/>
          <p:cNvSpPr txBox="1"/>
          <p:nvPr/>
        </p:nvSpPr>
        <p:spPr>
          <a:xfrm>
            <a:off x="5843016"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8" name="mcell"/>
          <p:cNvSpPr txBox="1"/>
          <p:nvPr/>
        </p:nvSpPr>
        <p:spPr>
          <a:xfrm>
            <a:off x="6126480" y="261518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9" name="mcell"/>
          <p:cNvSpPr txBox="1"/>
          <p:nvPr/>
        </p:nvSpPr>
        <p:spPr>
          <a:xfrm>
            <a:off x="4142232"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0" name="mcell"/>
          <p:cNvSpPr txBox="1"/>
          <p:nvPr/>
        </p:nvSpPr>
        <p:spPr>
          <a:xfrm>
            <a:off x="4425696"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1" name="mcell"/>
          <p:cNvSpPr txBox="1"/>
          <p:nvPr/>
        </p:nvSpPr>
        <p:spPr>
          <a:xfrm>
            <a:off x="4709160"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2" name="mcell"/>
          <p:cNvSpPr txBox="1"/>
          <p:nvPr/>
        </p:nvSpPr>
        <p:spPr>
          <a:xfrm>
            <a:off x="4992624" y="2898648"/>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83" name="mcell"/>
          <p:cNvSpPr txBox="1"/>
          <p:nvPr/>
        </p:nvSpPr>
        <p:spPr>
          <a:xfrm>
            <a:off x="5276088"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4" name="mcell"/>
          <p:cNvSpPr txBox="1"/>
          <p:nvPr/>
        </p:nvSpPr>
        <p:spPr>
          <a:xfrm>
            <a:off x="5559552"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5" name="mcell"/>
          <p:cNvSpPr txBox="1"/>
          <p:nvPr/>
        </p:nvSpPr>
        <p:spPr>
          <a:xfrm>
            <a:off x="5843016"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6" name="mcell"/>
          <p:cNvSpPr txBox="1"/>
          <p:nvPr/>
        </p:nvSpPr>
        <p:spPr>
          <a:xfrm>
            <a:off x="6126480" y="289864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7" name="mcell"/>
          <p:cNvSpPr txBox="1"/>
          <p:nvPr/>
        </p:nvSpPr>
        <p:spPr>
          <a:xfrm>
            <a:off x="4142232"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8" name="mcell"/>
          <p:cNvSpPr txBox="1"/>
          <p:nvPr/>
        </p:nvSpPr>
        <p:spPr>
          <a:xfrm>
            <a:off x="4425696"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9" name="mcell"/>
          <p:cNvSpPr txBox="1"/>
          <p:nvPr/>
        </p:nvSpPr>
        <p:spPr>
          <a:xfrm>
            <a:off x="4709160"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0" name="mcell"/>
          <p:cNvSpPr txBox="1"/>
          <p:nvPr/>
        </p:nvSpPr>
        <p:spPr>
          <a:xfrm>
            <a:off x="4992624"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1" name="mcell"/>
          <p:cNvSpPr txBox="1"/>
          <p:nvPr/>
        </p:nvSpPr>
        <p:spPr>
          <a:xfrm>
            <a:off x="5276088" y="3182112"/>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92" name="mcell"/>
          <p:cNvSpPr txBox="1"/>
          <p:nvPr/>
        </p:nvSpPr>
        <p:spPr>
          <a:xfrm>
            <a:off x="5559552"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3" name="mcell"/>
          <p:cNvSpPr txBox="1"/>
          <p:nvPr/>
        </p:nvSpPr>
        <p:spPr>
          <a:xfrm>
            <a:off x="5843016"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4" name="mcell"/>
          <p:cNvSpPr txBox="1"/>
          <p:nvPr/>
        </p:nvSpPr>
        <p:spPr>
          <a:xfrm>
            <a:off x="6126480" y="318211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5" name="mcell"/>
          <p:cNvSpPr txBox="1"/>
          <p:nvPr/>
        </p:nvSpPr>
        <p:spPr>
          <a:xfrm>
            <a:off x="4142232"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6" name="mcell"/>
          <p:cNvSpPr txBox="1"/>
          <p:nvPr/>
        </p:nvSpPr>
        <p:spPr>
          <a:xfrm>
            <a:off x="4425696" y="3465576"/>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97" name="mcell"/>
          <p:cNvSpPr txBox="1"/>
          <p:nvPr/>
        </p:nvSpPr>
        <p:spPr>
          <a:xfrm>
            <a:off x="4709160"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8" name="mcell"/>
          <p:cNvSpPr txBox="1"/>
          <p:nvPr/>
        </p:nvSpPr>
        <p:spPr>
          <a:xfrm>
            <a:off x="4992624"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9" name="mcell"/>
          <p:cNvSpPr txBox="1"/>
          <p:nvPr/>
        </p:nvSpPr>
        <p:spPr>
          <a:xfrm>
            <a:off x="5276088"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0" name="mcell"/>
          <p:cNvSpPr txBox="1"/>
          <p:nvPr/>
        </p:nvSpPr>
        <p:spPr>
          <a:xfrm>
            <a:off x="5559552"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1" name="mcell"/>
          <p:cNvSpPr txBox="1"/>
          <p:nvPr/>
        </p:nvSpPr>
        <p:spPr>
          <a:xfrm>
            <a:off x="5843016"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2" name="mcell"/>
          <p:cNvSpPr txBox="1"/>
          <p:nvPr/>
        </p:nvSpPr>
        <p:spPr>
          <a:xfrm>
            <a:off x="6126480" y="3465576"/>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3" name="mcell"/>
          <p:cNvSpPr txBox="1"/>
          <p:nvPr/>
        </p:nvSpPr>
        <p:spPr>
          <a:xfrm>
            <a:off x="4142232"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4" name="mcell"/>
          <p:cNvSpPr txBox="1"/>
          <p:nvPr/>
        </p:nvSpPr>
        <p:spPr>
          <a:xfrm>
            <a:off x="4425696"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5" name="mcell"/>
          <p:cNvSpPr txBox="1"/>
          <p:nvPr/>
        </p:nvSpPr>
        <p:spPr>
          <a:xfrm>
            <a:off x="4709160"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6" name="mcell"/>
          <p:cNvSpPr txBox="1"/>
          <p:nvPr/>
        </p:nvSpPr>
        <p:spPr>
          <a:xfrm>
            <a:off x="4992624"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7" name="mcell"/>
          <p:cNvSpPr txBox="1"/>
          <p:nvPr/>
        </p:nvSpPr>
        <p:spPr>
          <a:xfrm>
            <a:off x="5276088"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8" name="mcell"/>
          <p:cNvSpPr txBox="1"/>
          <p:nvPr/>
        </p:nvSpPr>
        <p:spPr>
          <a:xfrm>
            <a:off x="5559552" y="3749040"/>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09" name="mcell"/>
          <p:cNvSpPr txBox="1"/>
          <p:nvPr/>
        </p:nvSpPr>
        <p:spPr>
          <a:xfrm>
            <a:off x="5843016"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0" name="mcell"/>
          <p:cNvSpPr txBox="1"/>
          <p:nvPr/>
        </p:nvSpPr>
        <p:spPr>
          <a:xfrm>
            <a:off x="6126480" y="374904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1" name="mcell"/>
          <p:cNvSpPr txBox="1"/>
          <p:nvPr/>
        </p:nvSpPr>
        <p:spPr>
          <a:xfrm>
            <a:off x="4142232"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2" name="mcell"/>
          <p:cNvSpPr txBox="1"/>
          <p:nvPr/>
        </p:nvSpPr>
        <p:spPr>
          <a:xfrm>
            <a:off x="4425696"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3" name="mcell"/>
          <p:cNvSpPr txBox="1"/>
          <p:nvPr/>
        </p:nvSpPr>
        <p:spPr>
          <a:xfrm>
            <a:off x="4709160"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4" name="mcell"/>
          <p:cNvSpPr txBox="1"/>
          <p:nvPr/>
        </p:nvSpPr>
        <p:spPr>
          <a:xfrm>
            <a:off x="4992624"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5" name="mcell"/>
          <p:cNvSpPr txBox="1"/>
          <p:nvPr/>
        </p:nvSpPr>
        <p:spPr>
          <a:xfrm>
            <a:off x="5276088"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6" name="mcell"/>
          <p:cNvSpPr txBox="1"/>
          <p:nvPr/>
        </p:nvSpPr>
        <p:spPr>
          <a:xfrm>
            <a:off x="5559552"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7" name="mcell"/>
          <p:cNvSpPr txBox="1"/>
          <p:nvPr/>
        </p:nvSpPr>
        <p:spPr>
          <a:xfrm>
            <a:off x="5843016" y="4032504"/>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18" name="mcell"/>
          <p:cNvSpPr txBox="1"/>
          <p:nvPr/>
        </p:nvSpPr>
        <p:spPr>
          <a:xfrm>
            <a:off x="6126480" y="403250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9" name="mcell"/>
          <p:cNvSpPr txBox="1"/>
          <p:nvPr/>
        </p:nvSpPr>
        <p:spPr>
          <a:xfrm>
            <a:off x="4142232"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0" name="mcell"/>
          <p:cNvSpPr txBox="1"/>
          <p:nvPr/>
        </p:nvSpPr>
        <p:spPr>
          <a:xfrm>
            <a:off x="4425696"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1" name="mcell"/>
          <p:cNvSpPr txBox="1"/>
          <p:nvPr/>
        </p:nvSpPr>
        <p:spPr>
          <a:xfrm>
            <a:off x="4709160"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2" name="mcell"/>
          <p:cNvSpPr txBox="1"/>
          <p:nvPr/>
        </p:nvSpPr>
        <p:spPr>
          <a:xfrm>
            <a:off x="4992624"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3" name="mcell"/>
          <p:cNvSpPr txBox="1"/>
          <p:nvPr/>
        </p:nvSpPr>
        <p:spPr>
          <a:xfrm>
            <a:off x="5276088"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4" name="mcell"/>
          <p:cNvSpPr txBox="1"/>
          <p:nvPr/>
        </p:nvSpPr>
        <p:spPr>
          <a:xfrm>
            <a:off x="5559552"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5" name="mcell"/>
          <p:cNvSpPr txBox="1"/>
          <p:nvPr/>
        </p:nvSpPr>
        <p:spPr>
          <a:xfrm>
            <a:off x="5843016" y="431596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6" name="mcell"/>
          <p:cNvSpPr txBox="1"/>
          <p:nvPr/>
        </p:nvSpPr>
        <p:spPr>
          <a:xfrm>
            <a:off x="6126480" y="4315968"/>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27" name="msep"/>
          <p:cNvSpPr/>
          <p:nvPr/>
        </p:nvSpPr>
        <p:spPr>
          <a:xfrm>
            <a:off x="4709160" y="2350008"/>
            <a:ext cx="0" cy="2231136"/>
          </a:xfrm>
          <a:prstGeom prst="line">
            <a:avLst/>
          </a:prstGeom>
          <a:noFill/>
          <a:ln w="9525">
            <a:solidFill>
              <a:srgbClr val="5B6770"/>
            </a:solidFill>
            <a:prstDash val="dash"/>
          </a:ln>
        </p:spPr>
      </p:sp>
      <p:sp>
        <p:nvSpPr>
          <p:cNvPr id="128" name="msep"/>
          <p:cNvSpPr/>
          <p:nvPr/>
        </p:nvSpPr>
        <p:spPr>
          <a:xfrm>
            <a:off x="6126480" y="2350008"/>
            <a:ext cx="0" cy="2231136"/>
          </a:xfrm>
          <a:prstGeom prst="line">
            <a:avLst/>
          </a:prstGeom>
          <a:noFill/>
          <a:ln w="9525">
            <a:solidFill>
              <a:srgbClr val="5B6770"/>
            </a:solidFill>
            <a:prstDash val="dash"/>
          </a:ln>
        </p:spPr>
      </p:sp>
      <p:sp>
        <p:nvSpPr>
          <p:cNvPr id="129" name="msep"/>
          <p:cNvSpPr/>
          <p:nvPr/>
        </p:nvSpPr>
        <p:spPr>
          <a:xfrm>
            <a:off x="4160520" y="3465576"/>
            <a:ext cx="2231136" cy="0"/>
          </a:xfrm>
          <a:prstGeom prst="line">
            <a:avLst/>
          </a:prstGeom>
          <a:noFill/>
          <a:ln w="9525">
            <a:solidFill>
              <a:srgbClr val="5B6770"/>
            </a:solidFill>
            <a:prstDash val="dash"/>
          </a:ln>
        </p:spPr>
      </p:sp>
      <p:sp>
        <p:nvSpPr>
          <p:cNvPr id="130" name="mbr"/>
          <p:cNvSpPr/>
          <p:nvPr/>
        </p:nvSpPr>
        <p:spPr>
          <a:xfrm>
            <a:off x="4114800" y="2304288"/>
            <a:ext cx="0" cy="2322576"/>
          </a:xfrm>
          <a:prstGeom prst="line">
            <a:avLst/>
          </a:prstGeom>
          <a:noFill/>
          <a:ln w="15875">
            <a:solidFill>
              <a:srgbClr val="1E2A32"/>
            </a:solidFill>
            <a:prstDash val="solid"/>
          </a:ln>
        </p:spPr>
      </p:sp>
      <p:sp>
        <p:nvSpPr>
          <p:cNvPr id="131" name="mbr"/>
          <p:cNvSpPr/>
          <p:nvPr/>
        </p:nvSpPr>
        <p:spPr>
          <a:xfrm>
            <a:off x="4114800" y="2304288"/>
            <a:ext cx="73152" cy="0"/>
          </a:xfrm>
          <a:prstGeom prst="line">
            <a:avLst/>
          </a:prstGeom>
          <a:noFill/>
          <a:ln w="15875">
            <a:solidFill>
              <a:srgbClr val="1E2A32"/>
            </a:solidFill>
            <a:prstDash val="solid"/>
          </a:ln>
        </p:spPr>
      </p:sp>
      <p:sp>
        <p:nvSpPr>
          <p:cNvPr id="132" name="mbr"/>
          <p:cNvSpPr/>
          <p:nvPr/>
        </p:nvSpPr>
        <p:spPr>
          <a:xfrm>
            <a:off x="4114800" y="4626864"/>
            <a:ext cx="73152" cy="0"/>
          </a:xfrm>
          <a:prstGeom prst="line">
            <a:avLst/>
          </a:prstGeom>
          <a:noFill/>
          <a:ln w="15875">
            <a:solidFill>
              <a:srgbClr val="1E2A32"/>
            </a:solidFill>
            <a:prstDash val="solid"/>
          </a:ln>
        </p:spPr>
      </p:sp>
      <p:sp>
        <p:nvSpPr>
          <p:cNvPr id="133" name="mbr"/>
          <p:cNvSpPr/>
          <p:nvPr/>
        </p:nvSpPr>
        <p:spPr>
          <a:xfrm>
            <a:off x="6437376" y="2304288"/>
            <a:ext cx="0" cy="2322576"/>
          </a:xfrm>
          <a:prstGeom prst="line">
            <a:avLst/>
          </a:prstGeom>
          <a:noFill/>
          <a:ln w="15875">
            <a:solidFill>
              <a:srgbClr val="1E2A32"/>
            </a:solidFill>
            <a:prstDash val="solid"/>
          </a:ln>
        </p:spPr>
      </p:sp>
      <p:sp>
        <p:nvSpPr>
          <p:cNvPr id="134" name="mbr"/>
          <p:cNvSpPr/>
          <p:nvPr/>
        </p:nvSpPr>
        <p:spPr>
          <a:xfrm>
            <a:off x="6364224" y="2304288"/>
            <a:ext cx="73152" cy="0"/>
          </a:xfrm>
          <a:prstGeom prst="line">
            <a:avLst/>
          </a:prstGeom>
          <a:noFill/>
          <a:ln w="15875">
            <a:solidFill>
              <a:srgbClr val="1E2A32"/>
            </a:solidFill>
            <a:prstDash val="solid"/>
          </a:ln>
        </p:spPr>
      </p:sp>
      <p:sp>
        <p:nvSpPr>
          <p:cNvPr id="135" name="mbr"/>
          <p:cNvSpPr/>
          <p:nvPr/>
        </p:nvSpPr>
        <p:spPr>
          <a:xfrm>
            <a:off x="6364224" y="4626864"/>
            <a:ext cx="73152" cy="0"/>
          </a:xfrm>
          <a:prstGeom prst="line">
            <a:avLst/>
          </a:prstGeom>
          <a:noFill/>
          <a:ln w="15875">
            <a:solidFill>
              <a:srgbClr val="1E2A32"/>
            </a:solidFill>
            <a:prstDash val="solid"/>
          </a:ln>
        </p:spPr>
      </p:sp>
      <p:sp>
        <p:nvSpPr>
          <p:cNvPr id="136" name="mlab"/>
          <p:cNvSpPr txBox="1"/>
          <p:nvPr/>
        </p:nvSpPr>
        <p:spPr>
          <a:xfrm>
            <a:off x="4096512"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137" name="mlab"/>
          <p:cNvSpPr txBox="1"/>
          <p:nvPr/>
        </p:nvSpPr>
        <p:spPr>
          <a:xfrm>
            <a:off x="4379976"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138" name="mlab"/>
          <p:cNvSpPr txBox="1"/>
          <p:nvPr/>
        </p:nvSpPr>
        <p:spPr>
          <a:xfrm>
            <a:off x="4663440"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39" name="mlab"/>
          <p:cNvSpPr txBox="1"/>
          <p:nvPr/>
        </p:nvSpPr>
        <p:spPr>
          <a:xfrm>
            <a:off x="4946904"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40" name="mlab"/>
          <p:cNvSpPr txBox="1"/>
          <p:nvPr/>
        </p:nvSpPr>
        <p:spPr>
          <a:xfrm>
            <a:off x="5230368"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141" name="mlab"/>
          <p:cNvSpPr txBox="1"/>
          <p:nvPr/>
        </p:nvSpPr>
        <p:spPr>
          <a:xfrm>
            <a:off x="5513832"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142" name="mlab"/>
          <p:cNvSpPr txBox="1"/>
          <p:nvPr/>
        </p:nvSpPr>
        <p:spPr>
          <a:xfrm>
            <a:off x="5797296"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143" name="mlab"/>
          <p:cNvSpPr txBox="1"/>
          <p:nvPr/>
        </p:nvSpPr>
        <p:spPr>
          <a:xfrm>
            <a:off x="6080760" y="209397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144" name="mgrp"/>
          <p:cNvSpPr txBox="1"/>
          <p:nvPr/>
        </p:nvSpPr>
        <p:spPr>
          <a:xfrm>
            <a:off x="4142232" y="1856232"/>
            <a:ext cx="566928"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145" name="mgrp"/>
          <p:cNvSpPr txBox="1"/>
          <p:nvPr/>
        </p:nvSpPr>
        <p:spPr>
          <a:xfrm>
            <a:off x="4709160" y="1856232"/>
            <a:ext cx="141732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146" name="mgrp"/>
          <p:cNvSpPr txBox="1"/>
          <p:nvPr/>
        </p:nvSpPr>
        <p:spPr>
          <a:xfrm>
            <a:off x="6126480" y="1856232"/>
            <a:ext cx="283464"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147" name="mlab"/>
          <p:cNvSpPr txBox="1"/>
          <p:nvPr/>
        </p:nvSpPr>
        <p:spPr>
          <a:xfrm>
            <a:off x="3739896" y="2331720"/>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j₀</a:t>
            </a:r>
            <a:endParaRPr lang="en-US" sz="1000" dirty="0"/>
          </a:p>
        </p:txBody>
      </p:sp>
      <p:sp>
        <p:nvSpPr>
          <p:cNvPr id="148" name="mlab"/>
          <p:cNvSpPr txBox="1"/>
          <p:nvPr/>
        </p:nvSpPr>
        <p:spPr>
          <a:xfrm>
            <a:off x="3739896" y="2615184"/>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j₁</a:t>
            </a:r>
            <a:endParaRPr lang="en-US" sz="1000" dirty="0"/>
          </a:p>
        </p:txBody>
      </p:sp>
      <p:sp>
        <p:nvSpPr>
          <p:cNvPr id="149" name="mlab"/>
          <p:cNvSpPr txBox="1"/>
          <p:nvPr/>
        </p:nvSpPr>
        <p:spPr>
          <a:xfrm>
            <a:off x="3739896" y="2898648"/>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j₂</a:t>
            </a:r>
            <a:endParaRPr lang="en-US" sz="1000" dirty="0"/>
          </a:p>
        </p:txBody>
      </p:sp>
      <p:sp>
        <p:nvSpPr>
          <p:cNvPr id="150" name="mlab"/>
          <p:cNvSpPr txBox="1"/>
          <p:nvPr/>
        </p:nvSpPr>
        <p:spPr>
          <a:xfrm>
            <a:off x="3739896" y="3182112"/>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j₃</a:t>
            </a:r>
            <a:endParaRPr lang="en-US" sz="1000" dirty="0"/>
          </a:p>
        </p:txBody>
      </p:sp>
      <p:sp>
        <p:nvSpPr>
          <p:cNvPr id="151" name="mlab"/>
          <p:cNvSpPr txBox="1"/>
          <p:nvPr/>
        </p:nvSpPr>
        <p:spPr>
          <a:xfrm>
            <a:off x="3739896" y="3465576"/>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152" name="mlab"/>
          <p:cNvSpPr txBox="1"/>
          <p:nvPr/>
        </p:nvSpPr>
        <p:spPr>
          <a:xfrm>
            <a:off x="3739896" y="3749040"/>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153" name="mlab"/>
          <p:cNvSpPr txBox="1"/>
          <p:nvPr/>
        </p:nvSpPr>
        <p:spPr>
          <a:xfrm>
            <a:off x="3739896" y="4032504"/>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154" name="mlab"/>
          <p:cNvSpPr txBox="1"/>
          <p:nvPr/>
        </p:nvSpPr>
        <p:spPr>
          <a:xfrm>
            <a:off x="3739896" y="4315968"/>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155" name="mname"/>
          <p:cNvSpPr txBox="1"/>
          <p:nvPr/>
        </p:nvSpPr>
        <p:spPr>
          <a:xfrm>
            <a:off x="3867912" y="4654296"/>
            <a:ext cx="281635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 (j rows removed)</a:t>
            </a:r>
            <a:endParaRPr lang="en-US" sz="1300" dirty="0"/>
          </a:p>
        </p:txBody>
      </p:sp>
      <p:sp>
        <p:nvSpPr>
          <p:cNvPr id="156" name="op"/>
          <p:cNvSpPr txBox="1"/>
          <p:nvPr/>
        </p:nvSpPr>
        <p:spPr>
          <a:xfrm>
            <a:off x="6501384" y="3081528"/>
            <a:ext cx="457200" cy="457200"/>
          </a:xfrm>
          <a:prstGeom prst="rect">
            <a:avLst/>
          </a:prstGeom>
          <a:noFill/>
          <a:ln/>
        </p:spPr>
        <p:txBody>
          <a:bodyPr wrap="square" lIns="0" tIns="0" rIns="0" bIns="0" rtlCol="0" anchor="ctr"/>
          <a:lstStyle/>
          <a:p>
            <a:pPr algn="ctr" indent="0" marL="0">
              <a:buNone/>
            </a:pPr>
            <a:r>
              <a:rPr lang="en-US" sz="2400" dirty="0">
                <a:solidFill>
                  <a:srgbClr val="5B6770"/>
                </a:solidFill>
                <a:latin typeface="Calibri" pitchFamily="34" charset="0"/>
                <a:ea typeface="Calibri" pitchFamily="34" charset="-122"/>
                <a:cs typeface="Calibri" pitchFamily="34" charset="-120"/>
              </a:rPr>
              <a:t>=</a:t>
            </a:r>
            <a:endParaRPr lang="en-US" sz="2400" dirty="0"/>
          </a:p>
        </p:txBody>
      </p:sp>
      <p:sp>
        <p:nvSpPr>
          <p:cNvPr id="157" name="mcol"/>
          <p:cNvSpPr/>
          <p:nvPr/>
        </p:nvSpPr>
        <p:spPr>
          <a:xfrm>
            <a:off x="7278624" y="2743200"/>
            <a:ext cx="283464" cy="1133856"/>
          </a:xfrm>
          <a:prstGeom prst="rect">
            <a:avLst/>
          </a:prstGeom>
          <a:solidFill>
            <a:srgbClr val="FFF0CC"/>
          </a:solidFill>
          <a:ln/>
        </p:spPr>
      </p:sp>
      <p:sp>
        <p:nvSpPr>
          <p:cNvPr id="158" name="mcol"/>
          <p:cNvSpPr/>
          <p:nvPr/>
        </p:nvSpPr>
        <p:spPr>
          <a:xfrm>
            <a:off x="7845552" y="2743200"/>
            <a:ext cx="283464" cy="1133856"/>
          </a:xfrm>
          <a:prstGeom prst="rect">
            <a:avLst/>
          </a:prstGeom>
          <a:solidFill>
            <a:srgbClr val="FFF0CC"/>
          </a:solidFill>
          <a:ln/>
        </p:spPr>
      </p:sp>
      <p:sp>
        <p:nvSpPr>
          <p:cNvPr id="159" name="mcol"/>
          <p:cNvSpPr/>
          <p:nvPr/>
        </p:nvSpPr>
        <p:spPr>
          <a:xfrm>
            <a:off x="8129016" y="2743200"/>
            <a:ext cx="283464" cy="1133856"/>
          </a:xfrm>
          <a:prstGeom prst="rect">
            <a:avLst/>
          </a:prstGeom>
          <a:solidFill>
            <a:srgbClr val="FFF0CC"/>
          </a:solidFill>
          <a:ln/>
        </p:spPr>
      </p:sp>
      <p:sp>
        <p:nvSpPr>
          <p:cNvPr id="160" name="mcol"/>
          <p:cNvSpPr/>
          <p:nvPr/>
        </p:nvSpPr>
        <p:spPr>
          <a:xfrm>
            <a:off x="8412480" y="2743200"/>
            <a:ext cx="283464" cy="1133856"/>
          </a:xfrm>
          <a:prstGeom prst="rect">
            <a:avLst/>
          </a:prstGeom>
          <a:solidFill>
            <a:srgbClr val="FFF0CC"/>
          </a:solidFill>
          <a:ln/>
        </p:spPr>
      </p:sp>
      <p:sp>
        <p:nvSpPr>
          <p:cNvPr id="161" name="mcell"/>
          <p:cNvSpPr txBox="1"/>
          <p:nvPr/>
        </p:nvSpPr>
        <p:spPr>
          <a:xfrm>
            <a:off x="7278624"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2" name="mcell"/>
          <p:cNvSpPr txBox="1"/>
          <p:nvPr/>
        </p:nvSpPr>
        <p:spPr>
          <a:xfrm>
            <a:off x="7562088" y="2743200"/>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63" name="mcell"/>
          <p:cNvSpPr txBox="1"/>
          <p:nvPr/>
        </p:nvSpPr>
        <p:spPr>
          <a:xfrm>
            <a:off x="7845552"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4" name="mcell"/>
          <p:cNvSpPr txBox="1"/>
          <p:nvPr/>
        </p:nvSpPr>
        <p:spPr>
          <a:xfrm>
            <a:off x="8129016"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5" name="mcell"/>
          <p:cNvSpPr txBox="1"/>
          <p:nvPr/>
        </p:nvSpPr>
        <p:spPr>
          <a:xfrm>
            <a:off x="8412480"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6" name="mcell"/>
          <p:cNvSpPr txBox="1"/>
          <p:nvPr/>
        </p:nvSpPr>
        <p:spPr>
          <a:xfrm>
            <a:off x="8695944"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7" name="mcell"/>
          <p:cNvSpPr txBox="1"/>
          <p:nvPr/>
        </p:nvSpPr>
        <p:spPr>
          <a:xfrm>
            <a:off x="8979408"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8" name="mcell"/>
          <p:cNvSpPr txBox="1"/>
          <p:nvPr/>
        </p:nvSpPr>
        <p:spPr>
          <a:xfrm>
            <a:off x="9262872" y="2743200"/>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9" name="mcell"/>
          <p:cNvSpPr txBox="1"/>
          <p:nvPr/>
        </p:nvSpPr>
        <p:spPr>
          <a:xfrm>
            <a:off x="7278624"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0" name="mcell"/>
          <p:cNvSpPr txBox="1"/>
          <p:nvPr/>
        </p:nvSpPr>
        <p:spPr>
          <a:xfrm>
            <a:off x="7562088"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1" name="mcell"/>
          <p:cNvSpPr txBox="1"/>
          <p:nvPr/>
        </p:nvSpPr>
        <p:spPr>
          <a:xfrm>
            <a:off x="7845552"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2" name="mcell"/>
          <p:cNvSpPr txBox="1"/>
          <p:nvPr/>
        </p:nvSpPr>
        <p:spPr>
          <a:xfrm>
            <a:off x="8129016"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3" name="mcell"/>
          <p:cNvSpPr txBox="1"/>
          <p:nvPr/>
        </p:nvSpPr>
        <p:spPr>
          <a:xfrm>
            <a:off x="8412480"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4" name="mcell"/>
          <p:cNvSpPr txBox="1"/>
          <p:nvPr/>
        </p:nvSpPr>
        <p:spPr>
          <a:xfrm>
            <a:off x="8695944" y="3026664"/>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75" name="mcell"/>
          <p:cNvSpPr txBox="1"/>
          <p:nvPr/>
        </p:nvSpPr>
        <p:spPr>
          <a:xfrm>
            <a:off x="8979408"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6" name="mcell"/>
          <p:cNvSpPr txBox="1"/>
          <p:nvPr/>
        </p:nvSpPr>
        <p:spPr>
          <a:xfrm>
            <a:off x="9262872" y="3026664"/>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7" name="mcell"/>
          <p:cNvSpPr txBox="1"/>
          <p:nvPr/>
        </p:nvSpPr>
        <p:spPr>
          <a:xfrm>
            <a:off x="7278624"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8" name="mcell"/>
          <p:cNvSpPr txBox="1"/>
          <p:nvPr/>
        </p:nvSpPr>
        <p:spPr>
          <a:xfrm>
            <a:off x="7562088"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79" name="mcell"/>
          <p:cNvSpPr txBox="1"/>
          <p:nvPr/>
        </p:nvSpPr>
        <p:spPr>
          <a:xfrm>
            <a:off x="7845552"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0" name="mcell"/>
          <p:cNvSpPr txBox="1"/>
          <p:nvPr/>
        </p:nvSpPr>
        <p:spPr>
          <a:xfrm>
            <a:off x="8129016"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1" name="mcell"/>
          <p:cNvSpPr txBox="1"/>
          <p:nvPr/>
        </p:nvSpPr>
        <p:spPr>
          <a:xfrm>
            <a:off x="8412480"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2" name="mcell"/>
          <p:cNvSpPr txBox="1"/>
          <p:nvPr/>
        </p:nvSpPr>
        <p:spPr>
          <a:xfrm>
            <a:off x="8695944"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3" name="mcell"/>
          <p:cNvSpPr txBox="1"/>
          <p:nvPr/>
        </p:nvSpPr>
        <p:spPr>
          <a:xfrm>
            <a:off x="8979408" y="3310128"/>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84" name="mcell"/>
          <p:cNvSpPr txBox="1"/>
          <p:nvPr/>
        </p:nvSpPr>
        <p:spPr>
          <a:xfrm>
            <a:off x="9262872" y="3310128"/>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5" name="mcell"/>
          <p:cNvSpPr txBox="1"/>
          <p:nvPr/>
        </p:nvSpPr>
        <p:spPr>
          <a:xfrm>
            <a:off x="7278624"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6" name="mcell"/>
          <p:cNvSpPr txBox="1"/>
          <p:nvPr/>
        </p:nvSpPr>
        <p:spPr>
          <a:xfrm>
            <a:off x="7562088"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7" name="mcell"/>
          <p:cNvSpPr txBox="1"/>
          <p:nvPr/>
        </p:nvSpPr>
        <p:spPr>
          <a:xfrm>
            <a:off x="7845552"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8" name="mcell"/>
          <p:cNvSpPr txBox="1"/>
          <p:nvPr/>
        </p:nvSpPr>
        <p:spPr>
          <a:xfrm>
            <a:off x="8129016"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9" name="mcell"/>
          <p:cNvSpPr txBox="1"/>
          <p:nvPr/>
        </p:nvSpPr>
        <p:spPr>
          <a:xfrm>
            <a:off x="8412480"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90" name="mcell"/>
          <p:cNvSpPr txBox="1"/>
          <p:nvPr/>
        </p:nvSpPr>
        <p:spPr>
          <a:xfrm>
            <a:off x="8695944"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91" name="mcell"/>
          <p:cNvSpPr txBox="1"/>
          <p:nvPr/>
        </p:nvSpPr>
        <p:spPr>
          <a:xfrm>
            <a:off x="8979408" y="3593592"/>
            <a:ext cx="283464" cy="283464"/>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92" name="mcell"/>
          <p:cNvSpPr txBox="1"/>
          <p:nvPr/>
        </p:nvSpPr>
        <p:spPr>
          <a:xfrm>
            <a:off x="9262872" y="3593592"/>
            <a:ext cx="283464" cy="283464"/>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93" name="msep"/>
          <p:cNvSpPr/>
          <p:nvPr/>
        </p:nvSpPr>
        <p:spPr>
          <a:xfrm>
            <a:off x="7845552" y="2761488"/>
            <a:ext cx="0" cy="1097280"/>
          </a:xfrm>
          <a:prstGeom prst="line">
            <a:avLst/>
          </a:prstGeom>
          <a:noFill/>
          <a:ln w="9525">
            <a:solidFill>
              <a:srgbClr val="5B6770"/>
            </a:solidFill>
            <a:prstDash val="dash"/>
          </a:ln>
        </p:spPr>
      </p:sp>
      <p:sp>
        <p:nvSpPr>
          <p:cNvPr id="194" name="msep"/>
          <p:cNvSpPr/>
          <p:nvPr/>
        </p:nvSpPr>
        <p:spPr>
          <a:xfrm>
            <a:off x="9262872" y="2761488"/>
            <a:ext cx="0" cy="1097280"/>
          </a:xfrm>
          <a:prstGeom prst="line">
            <a:avLst/>
          </a:prstGeom>
          <a:noFill/>
          <a:ln w="9525">
            <a:solidFill>
              <a:srgbClr val="5B6770"/>
            </a:solidFill>
            <a:prstDash val="dash"/>
          </a:ln>
        </p:spPr>
      </p:sp>
      <p:sp>
        <p:nvSpPr>
          <p:cNvPr id="195" name="mbr"/>
          <p:cNvSpPr/>
          <p:nvPr/>
        </p:nvSpPr>
        <p:spPr>
          <a:xfrm>
            <a:off x="7251192" y="2715768"/>
            <a:ext cx="0" cy="1188720"/>
          </a:xfrm>
          <a:prstGeom prst="line">
            <a:avLst/>
          </a:prstGeom>
          <a:noFill/>
          <a:ln w="15875">
            <a:solidFill>
              <a:srgbClr val="1E2A32"/>
            </a:solidFill>
            <a:prstDash val="solid"/>
          </a:ln>
        </p:spPr>
      </p:sp>
      <p:sp>
        <p:nvSpPr>
          <p:cNvPr id="196" name="mbr"/>
          <p:cNvSpPr/>
          <p:nvPr/>
        </p:nvSpPr>
        <p:spPr>
          <a:xfrm>
            <a:off x="7251192" y="2715768"/>
            <a:ext cx="73152" cy="0"/>
          </a:xfrm>
          <a:prstGeom prst="line">
            <a:avLst/>
          </a:prstGeom>
          <a:noFill/>
          <a:ln w="15875">
            <a:solidFill>
              <a:srgbClr val="1E2A32"/>
            </a:solidFill>
            <a:prstDash val="solid"/>
          </a:ln>
        </p:spPr>
      </p:sp>
      <p:sp>
        <p:nvSpPr>
          <p:cNvPr id="197" name="mbr"/>
          <p:cNvSpPr/>
          <p:nvPr/>
        </p:nvSpPr>
        <p:spPr>
          <a:xfrm>
            <a:off x="7251192" y="3904488"/>
            <a:ext cx="73152" cy="0"/>
          </a:xfrm>
          <a:prstGeom prst="line">
            <a:avLst/>
          </a:prstGeom>
          <a:noFill/>
          <a:ln w="15875">
            <a:solidFill>
              <a:srgbClr val="1E2A32"/>
            </a:solidFill>
            <a:prstDash val="solid"/>
          </a:ln>
        </p:spPr>
      </p:sp>
      <p:sp>
        <p:nvSpPr>
          <p:cNvPr id="198" name="mbr"/>
          <p:cNvSpPr/>
          <p:nvPr/>
        </p:nvSpPr>
        <p:spPr>
          <a:xfrm>
            <a:off x="9573768" y="2715768"/>
            <a:ext cx="0" cy="1188720"/>
          </a:xfrm>
          <a:prstGeom prst="line">
            <a:avLst/>
          </a:prstGeom>
          <a:noFill/>
          <a:ln w="15875">
            <a:solidFill>
              <a:srgbClr val="1E2A32"/>
            </a:solidFill>
            <a:prstDash val="solid"/>
          </a:ln>
        </p:spPr>
      </p:sp>
      <p:sp>
        <p:nvSpPr>
          <p:cNvPr id="199" name="mbr"/>
          <p:cNvSpPr/>
          <p:nvPr/>
        </p:nvSpPr>
        <p:spPr>
          <a:xfrm>
            <a:off x="9500616" y="2715768"/>
            <a:ext cx="73152" cy="0"/>
          </a:xfrm>
          <a:prstGeom prst="line">
            <a:avLst/>
          </a:prstGeom>
          <a:noFill/>
          <a:ln w="15875">
            <a:solidFill>
              <a:srgbClr val="1E2A32"/>
            </a:solidFill>
            <a:prstDash val="solid"/>
          </a:ln>
        </p:spPr>
      </p:sp>
      <p:sp>
        <p:nvSpPr>
          <p:cNvPr id="200" name="mbr"/>
          <p:cNvSpPr/>
          <p:nvPr/>
        </p:nvSpPr>
        <p:spPr>
          <a:xfrm>
            <a:off x="9500616" y="3904488"/>
            <a:ext cx="73152" cy="0"/>
          </a:xfrm>
          <a:prstGeom prst="line">
            <a:avLst/>
          </a:prstGeom>
          <a:noFill/>
          <a:ln w="15875">
            <a:solidFill>
              <a:srgbClr val="1E2A32"/>
            </a:solidFill>
            <a:prstDash val="solid"/>
          </a:ln>
        </p:spPr>
      </p:sp>
      <p:sp>
        <p:nvSpPr>
          <p:cNvPr id="201" name="mlab"/>
          <p:cNvSpPr txBox="1"/>
          <p:nvPr/>
        </p:nvSpPr>
        <p:spPr>
          <a:xfrm>
            <a:off x="7232904"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q₀</a:t>
            </a:r>
            <a:endParaRPr lang="en-US" sz="1000" dirty="0"/>
          </a:p>
        </p:txBody>
      </p:sp>
      <p:sp>
        <p:nvSpPr>
          <p:cNvPr id="202" name="mlab"/>
          <p:cNvSpPr txBox="1"/>
          <p:nvPr/>
        </p:nvSpPr>
        <p:spPr>
          <a:xfrm>
            <a:off x="7516368"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q₁</a:t>
            </a:r>
            <a:endParaRPr lang="en-US" sz="1000" dirty="0"/>
          </a:p>
        </p:txBody>
      </p:sp>
      <p:sp>
        <p:nvSpPr>
          <p:cNvPr id="203" name="mlab"/>
          <p:cNvSpPr txBox="1"/>
          <p:nvPr/>
        </p:nvSpPr>
        <p:spPr>
          <a:xfrm>
            <a:off x="7799832"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204" name="mlab"/>
          <p:cNvSpPr txBox="1"/>
          <p:nvPr/>
        </p:nvSpPr>
        <p:spPr>
          <a:xfrm>
            <a:off x="8083296"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205" name="mlab"/>
          <p:cNvSpPr txBox="1"/>
          <p:nvPr/>
        </p:nvSpPr>
        <p:spPr>
          <a:xfrm>
            <a:off x="8366760"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206" name="mlab"/>
          <p:cNvSpPr txBox="1"/>
          <p:nvPr/>
        </p:nvSpPr>
        <p:spPr>
          <a:xfrm>
            <a:off x="8650224"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207" name="mlab"/>
          <p:cNvSpPr txBox="1"/>
          <p:nvPr/>
        </p:nvSpPr>
        <p:spPr>
          <a:xfrm>
            <a:off x="8933688"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208" name="mlab"/>
          <p:cNvSpPr txBox="1"/>
          <p:nvPr/>
        </p:nvSpPr>
        <p:spPr>
          <a:xfrm>
            <a:off x="9217152" y="2505456"/>
            <a:ext cx="374904"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w</a:t>
            </a:r>
            <a:endParaRPr lang="en-US" sz="1000" dirty="0"/>
          </a:p>
        </p:txBody>
      </p:sp>
      <p:sp>
        <p:nvSpPr>
          <p:cNvPr id="209" name="mgrp"/>
          <p:cNvSpPr txBox="1"/>
          <p:nvPr/>
        </p:nvSpPr>
        <p:spPr>
          <a:xfrm>
            <a:off x="7278624" y="2267712"/>
            <a:ext cx="566928"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210" name="mgrp"/>
          <p:cNvSpPr txBox="1"/>
          <p:nvPr/>
        </p:nvSpPr>
        <p:spPr>
          <a:xfrm>
            <a:off x="7845552" y="2267712"/>
            <a:ext cx="1417320"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211" name="mgrp"/>
          <p:cNvSpPr txBox="1"/>
          <p:nvPr/>
        </p:nvSpPr>
        <p:spPr>
          <a:xfrm>
            <a:off x="9262872" y="2267712"/>
            <a:ext cx="283464"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Wrp</a:t>
            </a:r>
            <a:endParaRPr lang="en-US" sz="1000" dirty="0"/>
          </a:p>
        </p:txBody>
      </p:sp>
      <p:sp>
        <p:nvSpPr>
          <p:cNvPr id="212" name="mlab"/>
          <p:cNvSpPr txBox="1"/>
          <p:nvPr/>
        </p:nvSpPr>
        <p:spPr>
          <a:xfrm>
            <a:off x="6876288" y="2743200"/>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i₀</a:t>
            </a:r>
            <a:endParaRPr lang="en-US" sz="1000" dirty="0"/>
          </a:p>
        </p:txBody>
      </p:sp>
      <p:sp>
        <p:nvSpPr>
          <p:cNvPr id="213" name="mlab"/>
          <p:cNvSpPr txBox="1"/>
          <p:nvPr/>
        </p:nvSpPr>
        <p:spPr>
          <a:xfrm>
            <a:off x="6876288" y="3026664"/>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i₁</a:t>
            </a:r>
            <a:endParaRPr lang="en-US" sz="1000" dirty="0"/>
          </a:p>
        </p:txBody>
      </p:sp>
      <p:sp>
        <p:nvSpPr>
          <p:cNvPr id="214" name="mlab"/>
          <p:cNvSpPr txBox="1"/>
          <p:nvPr/>
        </p:nvSpPr>
        <p:spPr>
          <a:xfrm>
            <a:off x="6876288" y="3310128"/>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i₂</a:t>
            </a:r>
            <a:endParaRPr lang="en-US" sz="1000" dirty="0"/>
          </a:p>
        </p:txBody>
      </p:sp>
      <p:sp>
        <p:nvSpPr>
          <p:cNvPr id="215" name="mlab"/>
          <p:cNvSpPr txBox="1"/>
          <p:nvPr/>
        </p:nvSpPr>
        <p:spPr>
          <a:xfrm>
            <a:off x="6876288" y="3593592"/>
            <a:ext cx="347472" cy="283464"/>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i₃</a:t>
            </a:r>
            <a:endParaRPr lang="en-US" sz="1000" dirty="0"/>
          </a:p>
        </p:txBody>
      </p:sp>
      <p:sp>
        <p:nvSpPr>
          <p:cNvPr id="216" name="mname"/>
          <p:cNvSpPr txBox="1"/>
          <p:nvPr/>
        </p:nvSpPr>
        <p:spPr>
          <a:xfrm>
            <a:off x="7004304" y="3931920"/>
            <a:ext cx="281635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A_slice = D·A</a:t>
            </a:r>
            <a:endParaRPr lang="en-US" sz="1300" dirty="0"/>
          </a:p>
        </p:txBody>
      </p:sp>
      <p:sp>
        <p:nvSpPr>
          <p:cNvPr id="217" name="bullets"/>
          <p:cNvSpPr txBox="1"/>
          <p:nvPr/>
        </p:nvSpPr>
        <p:spPr>
          <a:xfrm>
            <a:off x="502920" y="5074920"/>
            <a:ext cx="11201400" cy="1051560"/>
          </a:xfrm>
          <a:prstGeom prst="rect">
            <a:avLst/>
          </a:prstGeom>
          <a:noFill/>
          <a:ln/>
        </p:spPr>
        <p:txBody>
          <a:bodyPr wrap="square" lIns="25400" tIns="25400" rIns="25400" bIns="25400" rtlCol="0" anchor="t"/>
          <a:lstStyle/>
          <a:p>
            <a:pPr marL="203200" indent="-203200">
              <a:spcAft>
                <a:spcPts val="400"/>
              </a:spcAft>
              <a:buSzPct val="100000"/>
              <a:buChar char="•"/>
            </a:pPr>
            <a:r>
              <a:rPr lang="en-US" sz="1500" dirty="0">
                <a:solidFill>
                  <a:srgbClr val="1E2A32"/>
                </a:solidFill>
                <a:latin typeface="Calibri" pitchFamily="34" charset="0"/>
                <a:ea typeface="Calibri" pitchFamily="34" charset="-122"/>
                <a:cs typeface="Calibri" pitchFamily="34" charset="-120"/>
              </a:rPr>
              <a:t>Columns </a:t>
            </a:r>
            <a:r>
              <a:rPr lang="en-US" sz="1500" b="1" dirty="0">
                <a:solidFill>
                  <a:srgbClr val="1E2A32"/>
                </a:solidFill>
                <a:latin typeface="Calibri" pitchFamily="34" charset="0"/>
                <a:ea typeface="Calibri" pitchFamily="34" charset="-122"/>
                <a:cs typeface="Calibri" pitchFamily="34" charset="-120"/>
              </a:rPr>
              <a:t>q₀, t₀, t₁, t₂</a:t>
            </a:r>
            <a:r>
              <a:rPr lang="en-US" sz="1500" dirty="0">
                <a:solidFill>
                  <a:srgbClr val="1E2A32"/>
                </a:solidFill>
                <a:latin typeface="Calibri" pitchFamily="34" charset="0"/>
                <a:ea typeface="Calibri" pitchFamily="34" charset="-122"/>
                <a:cs typeface="Calibri" pitchFamily="34" charset="-120"/>
              </a:rPr>
              <a:t> become zero: those bits only moved along j.</a:t>
            </a:r>
            <a:endParaRPr lang="en-US" sz="1500" dirty="0"/>
          </a:p>
          <a:p>
            <a:pPr marL="203200" indent="-203200">
              <a:spcAft>
                <a:spcPts val="400"/>
              </a:spcAft>
              <a:buSzPct val="100000"/>
              <a:buChar char="•"/>
            </a:pPr>
            <a:r>
              <a:rPr lang="en-US" sz="1500" b="1" dirty="0">
                <a:solidFill>
                  <a:srgbClr val="1E2A32"/>
                </a:solidFill>
                <a:latin typeface="Calibri" pitchFamily="34" charset="0"/>
                <a:ea typeface="Calibri" pitchFamily="34" charset="-122"/>
                <a:cs typeface="Calibri" pitchFamily="34" charset="-120"/>
              </a:rPr>
              <a:t>Surjective:</a:t>
            </a:r>
            <a:r>
              <a:rPr lang="en-US" sz="1500" dirty="0">
                <a:solidFill>
                  <a:srgbClr val="1E2A32"/>
                </a:solidFill>
                <a:latin typeface="Calibri" pitchFamily="34" charset="0"/>
                <a:ea typeface="Calibri" pitchFamily="34" charset="-122"/>
                <a:cs typeface="Calibri" pitchFamily="34" charset="-120"/>
              </a:rPr>
              <a:t> rank 4 = 4 rows — every row i is still held.</a:t>
            </a:r>
            <a:endParaRPr lang="en-US" sz="1500" dirty="0"/>
          </a:p>
          <a:p>
            <a:pPr marL="203200" indent="-203200">
              <a:spcAft>
                <a:spcPts val="400"/>
              </a:spcAft>
              <a:buSzPct val="100000"/>
              <a:buChar char="•"/>
            </a:pPr>
            <a:r>
              <a:rPr lang="en-US" sz="1500" b="1" dirty="0">
                <a:solidFill>
                  <a:srgbClr val="1E2A32"/>
                </a:solidFill>
                <a:latin typeface="Calibri" pitchFamily="34" charset="0"/>
                <a:ea typeface="Calibri" pitchFamily="34" charset="-122"/>
                <a:cs typeface="Calibri" pitchFamily="34" charset="-120"/>
              </a:rPr>
              <a:t>Not injective:</a:t>
            </a:r>
            <a:r>
              <a:rPr lang="en-US" sz="1500" dirty="0">
                <a:solidFill>
                  <a:srgbClr val="1E2A32"/>
                </a:solidFill>
                <a:latin typeface="Calibri" pitchFamily="34" charset="0"/>
                <a:ea typeface="Calibri" pitchFamily="34" charset="-122"/>
                <a:cs typeface="Calibri" pitchFamily="34" charset="-120"/>
              </a:rPr>
              <a:t> 2⁴ = 16 locations (2 registers × 8 threads) hold each i, e.g. i = 2.</a:t>
            </a:r>
            <a:endParaRPr lang="en-US" sz="1500" dirty="0"/>
          </a:p>
        </p:txBody>
      </p:sp>
      <p:sp>
        <p:nvSpPr>
          <p:cNvPr id="218" name="tag"/>
          <p:cNvSpPr txBox="1"/>
          <p:nvPr/>
        </p:nvSpPr>
        <p:spPr>
          <a:xfrm>
            <a:off x="7187184" y="1874520"/>
            <a:ext cx="128016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Paper’s matrix A</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THEOREM 4.9 + DEFINITION 4.10</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Distributed layouts = permutation matrices with zero columns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Theorem 4.9 and Definition 4.10, p. 137</a:t>
            </a:r>
            <a:endParaRPr lang="en-US" sz="1000" dirty="0"/>
          </a:p>
        </p:txBody>
      </p:sp>
      <p:sp>
        <p:nvSpPr>
          <p:cNvPr id="6" name="callout"/>
          <p:cNvSpPr/>
          <p:nvPr/>
        </p:nvSpPr>
        <p:spPr>
          <a:xfrm>
            <a:off x="502920" y="1234440"/>
            <a:ext cx="11201400" cy="960120"/>
          </a:xfrm>
          <a:prstGeom prst="roundRect">
            <a:avLst>
              <a:gd name="adj" fmla="val 7619"/>
            </a:avLst>
          </a:prstGeom>
          <a:solidFill>
            <a:srgbClr val="DDEFF1"/>
          </a:solidFill>
          <a:ln/>
        </p:spPr>
      </p:sp>
      <p:sp>
        <p:nvSpPr>
          <p:cNvPr id="7" name="callout-text"/>
          <p:cNvSpPr txBox="1"/>
          <p:nvPr/>
        </p:nvSpPr>
        <p:spPr>
          <a:xfrm>
            <a:off x="640080" y="1289304"/>
            <a:ext cx="10927080" cy="850392"/>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Theorem 4.9.</a:t>
            </a:r>
            <a:r>
              <a:rPr lang="en-US" sz="1500" dirty="0">
                <a:solidFill>
                  <a:srgbClr val="0A4F58"/>
                </a:solidFill>
                <a:latin typeface="Calibri" pitchFamily="34" charset="0"/>
                <a:ea typeface="Calibri" pitchFamily="34" charset="-122"/>
                <a:cs typeface="Calibri" pitchFamily="34" charset="-120"/>
              </a:rPr>
              <a:t> Every distributed layout is a linear layout.
</a:t>
            </a:r>
            <a:r>
              <a:rPr lang="en-US" sz="1500" b="1" dirty="0">
                <a:solidFill>
                  <a:srgbClr val="0A4F58"/>
                </a:solidFill>
                <a:latin typeface="Calibri" pitchFamily="34" charset="0"/>
                <a:ea typeface="Calibri" pitchFamily="34" charset="-122"/>
                <a:cs typeface="Calibri" pitchFamily="34" charset="-120"/>
              </a:rPr>
              <a:t>Definition 4.10.</a:t>
            </a:r>
            <a:r>
              <a:rPr lang="en-US" sz="1500" dirty="0">
                <a:solidFill>
                  <a:srgbClr val="0A4F58"/>
                </a:solidFill>
                <a:latin typeface="Calibri" pitchFamily="34" charset="0"/>
                <a:ea typeface="Calibri" pitchFamily="34" charset="-122"/>
                <a:cs typeface="Calibri" pitchFamily="34" charset="-120"/>
              </a:rPr>
              <a:t> A distributed layout is a </a:t>
            </a:r>
            <a:r>
              <a:rPr lang="en-US" sz="1500" b="1" dirty="0">
                <a:solidFill>
                  <a:srgbClr val="0A4F58"/>
                </a:solidFill>
                <a:latin typeface="Calibri" pitchFamily="34" charset="0"/>
                <a:ea typeface="Calibri" pitchFamily="34" charset="-122"/>
                <a:cs typeface="Calibri" pitchFamily="34" charset="-120"/>
              </a:rPr>
              <a:t>surjective</a:t>
            </a:r>
            <a:r>
              <a:rPr lang="en-US" sz="1500" dirty="0">
                <a:solidFill>
                  <a:srgbClr val="0A4F58"/>
                </a:solidFill>
                <a:latin typeface="Calibri" pitchFamily="34" charset="0"/>
                <a:ea typeface="Calibri" pitchFamily="34" charset="-122"/>
                <a:cs typeface="Calibri" pitchFamily="34" charset="-120"/>
              </a:rPr>
              <a:t> linear layout Reg×Thr×Wrp → tensor where every column has </a:t>
            </a:r>
            <a:r>
              <a:rPr lang="en-US" sz="1500" b="1" dirty="0">
                <a:solidFill>
                  <a:srgbClr val="0A4F58"/>
                </a:solidFill>
                <a:latin typeface="Calibri" pitchFamily="34" charset="0"/>
                <a:ea typeface="Calibri" pitchFamily="34" charset="-122"/>
                <a:cs typeface="Calibri" pitchFamily="34" charset="-120"/>
              </a:rPr>
              <a:t>at most one 1</a:t>
            </a:r>
            <a:r>
              <a:rPr lang="en-US" sz="1500" dirty="0">
                <a:solidFill>
                  <a:srgbClr val="0A4F58"/>
                </a:solidFill>
                <a:latin typeface="Calibri" pitchFamily="34" charset="0"/>
                <a:ea typeface="Calibri" pitchFamily="34" charset="-122"/>
                <a:cs typeface="Calibri" pitchFamily="34" charset="-120"/>
              </a:rPr>
              <a:t> and </a:t>
            </a:r>
            <a:r>
              <a:rPr lang="en-US" sz="1500" b="1" dirty="0">
                <a:solidFill>
                  <a:srgbClr val="0A4F58"/>
                </a:solidFill>
                <a:latin typeface="Calibri" pitchFamily="34" charset="0"/>
                <a:ea typeface="Calibri" pitchFamily="34" charset="-122"/>
                <a:cs typeface="Calibri" pitchFamily="34" charset="-120"/>
              </a:rPr>
              <a:t>no two non-zero columns are equal</a:t>
            </a:r>
            <a:r>
              <a:rPr lang="en-US" sz="1500" dirty="0">
                <a:solidFill>
                  <a:srgbClr val="0A4F58"/>
                </a:solidFill>
                <a:latin typeface="Calibri" pitchFamily="34" charset="0"/>
                <a:ea typeface="Calibri" pitchFamily="34" charset="-122"/>
                <a:cs typeface="Calibri" pitchFamily="34" charset="-120"/>
              </a:rPr>
              <a:t>.</a:t>
            </a:r>
            <a:endParaRPr lang="en-US" sz="1500" dirty="0"/>
          </a:p>
        </p:txBody>
      </p:sp>
      <p:sp>
        <p:nvSpPr>
          <p:cNvPr id="8" name="panel"/>
          <p:cNvSpPr/>
          <p:nvPr/>
        </p:nvSpPr>
        <p:spPr>
          <a:xfrm>
            <a:off x="502920" y="2423160"/>
            <a:ext cx="2651760" cy="3154680"/>
          </a:xfrm>
          <a:prstGeom prst="roundRect">
            <a:avLst>
              <a:gd name="adj" fmla="val 2759"/>
            </a:avLst>
          </a:prstGeom>
          <a:solidFill>
            <a:srgbClr val="E3F2E4"/>
          </a:solidFill>
          <a:ln/>
        </p:spPr>
      </p:sp>
      <p:sp>
        <p:nvSpPr>
          <p:cNvPr id="9" name="mcell"/>
          <p:cNvSpPr txBox="1"/>
          <p:nvPr/>
        </p:nvSpPr>
        <p:spPr>
          <a:xfrm>
            <a:off x="1280160" y="2971800"/>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0" name="mcell"/>
          <p:cNvSpPr txBox="1"/>
          <p:nvPr/>
        </p:nvSpPr>
        <p:spPr>
          <a:xfrm>
            <a:off x="1664208" y="297180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 name="mcell"/>
          <p:cNvSpPr txBox="1"/>
          <p:nvPr/>
        </p:nvSpPr>
        <p:spPr>
          <a:xfrm>
            <a:off x="2048256" y="297180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2" name="mcell"/>
          <p:cNvSpPr txBox="1"/>
          <p:nvPr/>
        </p:nvSpPr>
        <p:spPr>
          <a:xfrm>
            <a:off x="1280160" y="3355848"/>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3" name="mcell"/>
          <p:cNvSpPr txBox="1"/>
          <p:nvPr/>
        </p:nvSpPr>
        <p:spPr>
          <a:xfrm>
            <a:off x="1664208" y="3355848"/>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4" name="mcell"/>
          <p:cNvSpPr txBox="1"/>
          <p:nvPr/>
        </p:nvSpPr>
        <p:spPr>
          <a:xfrm>
            <a:off x="2048256" y="3355848"/>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5" name="mbr"/>
          <p:cNvSpPr/>
          <p:nvPr/>
        </p:nvSpPr>
        <p:spPr>
          <a:xfrm>
            <a:off x="1252728" y="2944368"/>
            <a:ext cx="0" cy="822960"/>
          </a:xfrm>
          <a:prstGeom prst="line">
            <a:avLst/>
          </a:prstGeom>
          <a:noFill/>
          <a:ln w="15875">
            <a:solidFill>
              <a:srgbClr val="1E2A32"/>
            </a:solidFill>
            <a:prstDash val="solid"/>
          </a:ln>
        </p:spPr>
      </p:sp>
      <p:sp>
        <p:nvSpPr>
          <p:cNvPr id="16" name="mbr"/>
          <p:cNvSpPr/>
          <p:nvPr/>
        </p:nvSpPr>
        <p:spPr>
          <a:xfrm>
            <a:off x="1252728" y="2944368"/>
            <a:ext cx="73152" cy="0"/>
          </a:xfrm>
          <a:prstGeom prst="line">
            <a:avLst/>
          </a:prstGeom>
          <a:noFill/>
          <a:ln w="15875">
            <a:solidFill>
              <a:srgbClr val="1E2A32"/>
            </a:solidFill>
            <a:prstDash val="solid"/>
          </a:ln>
        </p:spPr>
      </p:sp>
      <p:sp>
        <p:nvSpPr>
          <p:cNvPr id="17" name="mbr"/>
          <p:cNvSpPr/>
          <p:nvPr/>
        </p:nvSpPr>
        <p:spPr>
          <a:xfrm>
            <a:off x="1252728" y="3767328"/>
            <a:ext cx="73152" cy="0"/>
          </a:xfrm>
          <a:prstGeom prst="line">
            <a:avLst/>
          </a:prstGeom>
          <a:noFill/>
          <a:ln w="15875">
            <a:solidFill>
              <a:srgbClr val="1E2A32"/>
            </a:solidFill>
            <a:prstDash val="solid"/>
          </a:ln>
        </p:spPr>
      </p:sp>
      <p:sp>
        <p:nvSpPr>
          <p:cNvPr id="18" name="mbr"/>
          <p:cNvSpPr/>
          <p:nvPr/>
        </p:nvSpPr>
        <p:spPr>
          <a:xfrm>
            <a:off x="2459736" y="2944368"/>
            <a:ext cx="0" cy="822960"/>
          </a:xfrm>
          <a:prstGeom prst="line">
            <a:avLst/>
          </a:prstGeom>
          <a:noFill/>
          <a:ln w="15875">
            <a:solidFill>
              <a:srgbClr val="1E2A32"/>
            </a:solidFill>
            <a:prstDash val="solid"/>
          </a:ln>
        </p:spPr>
      </p:sp>
      <p:sp>
        <p:nvSpPr>
          <p:cNvPr id="19" name="mbr"/>
          <p:cNvSpPr/>
          <p:nvPr/>
        </p:nvSpPr>
        <p:spPr>
          <a:xfrm>
            <a:off x="2386584" y="2944368"/>
            <a:ext cx="73152" cy="0"/>
          </a:xfrm>
          <a:prstGeom prst="line">
            <a:avLst/>
          </a:prstGeom>
          <a:noFill/>
          <a:ln w="15875">
            <a:solidFill>
              <a:srgbClr val="1E2A32"/>
            </a:solidFill>
            <a:prstDash val="solid"/>
          </a:ln>
        </p:spPr>
      </p:sp>
      <p:sp>
        <p:nvSpPr>
          <p:cNvPr id="20" name="mbr"/>
          <p:cNvSpPr/>
          <p:nvPr/>
        </p:nvSpPr>
        <p:spPr>
          <a:xfrm>
            <a:off x="2386584" y="3767328"/>
            <a:ext cx="73152" cy="0"/>
          </a:xfrm>
          <a:prstGeom prst="line">
            <a:avLst/>
          </a:prstGeom>
          <a:noFill/>
          <a:ln w="15875">
            <a:solidFill>
              <a:srgbClr val="1E2A32"/>
            </a:solidFill>
            <a:prstDash val="solid"/>
          </a:ln>
        </p:spPr>
      </p:sp>
      <p:sp>
        <p:nvSpPr>
          <p:cNvPr id="21" name="mlab"/>
          <p:cNvSpPr txBox="1"/>
          <p:nvPr/>
        </p:nvSpPr>
        <p:spPr>
          <a:xfrm>
            <a:off x="1234440"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22" name="mlab"/>
          <p:cNvSpPr txBox="1"/>
          <p:nvPr/>
        </p:nvSpPr>
        <p:spPr>
          <a:xfrm>
            <a:off x="1618488"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23" name="mlab"/>
          <p:cNvSpPr txBox="1"/>
          <p:nvPr/>
        </p:nvSpPr>
        <p:spPr>
          <a:xfrm>
            <a:off x="2002536"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24" name="mlab"/>
          <p:cNvSpPr txBox="1"/>
          <p:nvPr/>
        </p:nvSpPr>
        <p:spPr>
          <a:xfrm>
            <a:off x="877824" y="2971800"/>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e₀</a:t>
            </a:r>
            <a:endParaRPr lang="en-US" sz="1300" dirty="0"/>
          </a:p>
        </p:txBody>
      </p:sp>
      <p:sp>
        <p:nvSpPr>
          <p:cNvPr id="25" name="mlab"/>
          <p:cNvSpPr txBox="1"/>
          <p:nvPr/>
        </p:nvSpPr>
        <p:spPr>
          <a:xfrm>
            <a:off x="877824" y="3355848"/>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e₁</a:t>
            </a:r>
            <a:endParaRPr lang="en-US" sz="1300" dirty="0"/>
          </a:p>
        </p:txBody>
      </p:sp>
      <p:sp>
        <p:nvSpPr>
          <p:cNvPr id="26" name="Text 23"/>
          <p:cNvSpPr txBox="1"/>
          <p:nvPr/>
        </p:nvSpPr>
        <p:spPr>
          <a:xfrm>
            <a:off x="594360" y="4023360"/>
            <a:ext cx="2468880" cy="320040"/>
          </a:xfrm>
          <a:prstGeom prst="rect">
            <a:avLst/>
          </a:prstGeom>
          <a:noFill/>
          <a:ln/>
        </p:spPr>
        <p:txBody>
          <a:bodyPr wrap="square" lIns="0" tIns="0" rIns="0" bIns="0" rtlCol="0" anchor="t"/>
          <a:lstStyle/>
          <a:p>
            <a:pPr algn="ctr" indent="0" marL="0">
              <a:buNone/>
            </a:pPr>
            <a:r>
              <a:rPr lang="en-US" sz="1700" b="1" dirty="0">
                <a:solidFill>
                  <a:srgbClr val="2E7D32"/>
                </a:solidFill>
                <a:latin typeface="Calibri" pitchFamily="34" charset="0"/>
                <a:ea typeface="Calibri" pitchFamily="34" charset="-122"/>
                <a:cs typeface="Calibri" pitchFamily="34" charset="-120"/>
              </a:rPr>
              <a:t>✓ distributed</a:t>
            </a:r>
            <a:endParaRPr lang="en-US" sz="1700" dirty="0"/>
          </a:p>
        </p:txBody>
      </p:sp>
      <p:sp>
        <p:nvSpPr>
          <p:cNvPr id="27" name="Text 24"/>
          <p:cNvSpPr txBox="1"/>
          <p:nvPr/>
        </p:nvSpPr>
        <p:spPr>
          <a:xfrm>
            <a:off x="594360" y="4434840"/>
            <a:ext cx="2468880" cy="1005840"/>
          </a:xfrm>
          <a:prstGeom prst="rect">
            <a:avLst/>
          </a:prstGeom>
          <a:noFill/>
          <a:ln/>
        </p:spPr>
        <p:txBody>
          <a:bodyPr wrap="square" lIns="0" tIns="0" rIns="0" bIns="0" rtlCol="0" anchor="t"/>
          <a:lstStyle/>
          <a:p>
            <a:pPr algn="ctr" indent="0" marL="0">
              <a:buNone/>
            </a:pPr>
            <a:r>
              <a:rPr lang="en-US" sz="1300" dirty="0">
                <a:solidFill>
                  <a:srgbClr val="1E2A32"/>
                </a:solidFill>
                <a:latin typeface="Calibri" pitchFamily="34" charset="0"/>
                <a:ea typeface="Calibri" pitchFamily="34" charset="-122"/>
                <a:cs typeface="Calibri" pitchFamily="34" charset="-120"/>
              </a:rPr>
              <a:t>permutation + zero column (duplicate along r₂)</a:t>
            </a:r>
            <a:endParaRPr lang="en-US" sz="1300" dirty="0"/>
          </a:p>
        </p:txBody>
      </p:sp>
      <p:sp>
        <p:nvSpPr>
          <p:cNvPr id="28" name="panel"/>
          <p:cNvSpPr/>
          <p:nvPr/>
        </p:nvSpPr>
        <p:spPr>
          <a:xfrm>
            <a:off x="3337560" y="2423160"/>
            <a:ext cx="2651760" cy="3154680"/>
          </a:xfrm>
          <a:prstGeom prst="roundRect">
            <a:avLst>
              <a:gd name="adj" fmla="val 2759"/>
            </a:avLst>
          </a:prstGeom>
          <a:solidFill>
            <a:srgbClr val="FBE3E1"/>
          </a:solidFill>
          <a:ln/>
        </p:spPr>
      </p:sp>
      <p:sp>
        <p:nvSpPr>
          <p:cNvPr id="29" name="mcell"/>
          <p:cNvSpPr txBox="1"/>
          <p:nvPr/>
        </p:nvSpPr>
        <p:spPr>
          <a:xfrm>
            <a:off x="4114800" y="2971800"/>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30" name="mcell"/>
          <p:cNvSpPr txBox="1"/>
          <p:nvPr/>
        </p:nvSpPr>
        <p:spPr>
          <a:xfrm>
            <a:off x="4498848" y="297180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31" name="mcell"/>
          <p:cNvSpPr txBox="1"/>
          <p:nvPr/>
        </p:nvSpPr>
        <p:spPr>
          <a:xfrm>
            <a:off x="4882896" y="2971800"/>
            <a:ext cx="384048" cy="384048"/>
          </a:xfrm>
          <a:prstGeom prst="rect">
            <a:avLst/>
          </a:prstGeom>
          <a:solidFill>
            <a:srgbClr val="FFFFFF"/>
          </a:solidFill>
          <a:ln/>
        </p:spPr>
        <p:txBody>
          <a:bodyPr wrap="square" lIns="0" tIns="0" rIns="0" bIns="0" rtlCol="0" anchor="ctr"/>
          <a:lstStyle/>
          <a:p>
            <a:pPr algn="ctr" indent="0" marL="0">
              <a:buNone/>
            </a:pPr>
            <a:r>
              <a:rPr lang="en-US" sz="1600" b="1" dirty="0">
                <a:solidFill>
                  <a:srgbClr val="B3261E"/>
                </a:solidFill>
                <a:latin typeface="Calibri" pitchFamily="34" charset="0"/>
                <a:ea typeface="Calibri" pitchFamily="34" charset="-122"/>
                <a:cs typeface="Calibri" pitchFamily="34" charset="-120"/>
              </a:rPr>
              <a:t>1</a:t>
            </a:r>
            <a:endParaRPr lang="en-US" sz="1600" dirty="0"/>
          </a:p>
        </p:txBody>
      </p:sp>
      <p:sp>
        <p:nvSpPr>
          <p:cNvPr id="32" name="mcell"/>
          <p:cNvSpPr txBox="1"/>
          <p:nvPr/>
        </p:nvSpPr>
        <p:spPr>
          <a:xfrm>
            <a:off x="4114800" y="3355848"/>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33" name="mcell"/>
          <p:cNvSpPr txBox="1"/>
          <p:nvPr/>
        </p:nvSpPr>
        <p:spPr>
          <a:xfrm>
            <a:off x="4498848" y="3355848"/>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34" name="mcell"/>
          <p:cNvSpPr txBox="1"/>
          <p:nvPr/>
        </p:nvSpPr>
        <p:spPr>
          <a:xfrm>
            <a:off x="4882896" y="3355848"/>
            <a:ext cx="384048" cy="384048"/>
          </a:xfrm>
          <a:prstGeom prst="rect">
            <a:avLst/>
          </a:prstGeom>
          <a:solidFill>
            <a:srgbClr val="FFFFFF"/>
          </a:solidFill>
          <a:ln/>
        </p:spPr>
        <p:txBody>
          <a:bodyPr wrap="square" lIns="0" tIns="0" rIns="0" bIns="0" rtlCol="0" anchor="ctr"/>
          <a:lstStyle/>
          <a:p>
            <a:pPr algn="ctr" indent="0" marL="0">
              <a:buNone/>
            </a:pPr>
            <a:r>
              <a:rPr lang="en-US" sz="1600" b="1" dirty="0">
                <a:solidFill>
                  <a:srgbClr val="B3261E"/>
                </a:solidFill>
                <a:latin typeface="Calibri" pitchFamily="34" charset="0"/>
                <a:ea typeface="Calibri" pitchFamily="34" charset="-122"/>
                <a:cs typeface="Calibri" pitchFamily="34" charset="-120"/>
              </a:rPr>
              <a:t>1</a:t>
            </a:r>
            <a:endParaRPr lang="en-US" sz="1600" dirty="0"/>
          </a:p>
        </p:txBody>
      </p:sp>
      <p:sp>
        <p:nvSpPr>
          <p:cNvPr id="35" name="mbr"/>
          <p:cNvSpPr/>
          <p:nvPr/>
        </p:nvSpPr>
        <p:spPr>
          <a:xfrm>
            <a:off x="4087368" y="2944368"/>
            <a:ext cx="0" cy="822960"/>
          </a:xfrm>
          <a:prstGeom prst="line">
            <a:avLst/>
          </a:prstGeom>
          <a:noFill/>
          <a:ln w="15875">
            <a:solidFill>
              <a:srgbClr val="1E2A32"/>
            </a:solidFill>
            <a:prstDash val="solid"/>
          </a:ln>
        </p:spPr>
      </p:sp>
      <p:sp>
        <p:nvSpPr>
          <p:cNvPr id="36" name="mbr"/>
          <p:cNvSpPr/>
          <p:nvPr/>
        </p:nvSpPr>
        <p:spPr>
          <a:xfrm>
            <a:off x="4087368" y="2944368"/>
            <a:ext cx="73152" cy="0"/>
          </a:xfrm>
          <a:prstGeom prst="line">
            <a:avLst/>
          </a:prstGeom>
          <a:noFill/>
          <a:ln w="15875">
            <a:solidFill>
              <a:srgbClr val="1E2A32"/>
            </a:solidFill>
            <a:prstDash val="solid"/>
          </a:ln>
        </p:spPr>
      </p:sp>
      <p:sp>
        <p:nvSpPr>
          <p:cNvPr id="37" name="mbr"/>
          <p:cNvSpPr/>
          <p:nvPr/>
        </p:nvSpPr>
        <p:spPr>
          <a:xfrm>
            <a:off x="4087368" y="3767328"/>
            <a:ext cx="73152" cy="0"/>
          </a:xfrm>
          <a:prstGeom prst="line">
            <a:avLst/>
          </a:prstGeom>
          <a:noFill/>
          <a:ln w="15875">
            <a:solidFill>
              <a:srgbClr val="1E2A32"/>
            </a:solidFill>
            <a:prstDash val="solid"/>
          </a:ln>
        </p:spPr>
      </p:sp>
      <p:sp>
        <p:nvSpPr>
          <p:cNvPr id="38" name="mbr"/>
          <p:cNvSpPr/>
          <p:nvPr/>
        </p:nvSpPr>
        <p:spPr>
          <a:xfrm>
            <a:off x="5294376" y="2944368"/>
            <a:ext cx="0" cy="822960"/>
          </a:xfrm>
          <a:prstGeom prst="line">
            <a:avLst/>
          </a:prstGeom>
          <a:noFill/>
          <a:ln w="15875">
            <a:solidFill>
              <a:srgbClr val="1E2A32"/>
            </a:solidFill>
            <a:prstDash val="solid"/>
          </a:ln>
        </p:spPr>
      </p:sp>
      <p:sp>
        <p:nvSpPr>
          <p:cNvPr id="39" name="mbr"/>
          <p:cNvSpPr/>
          <p:nvPr/>
        </p:nvSpPr>
        <p:spPr>
          <a:xfrm>
            <a:off x="5221224" y="2944368"/>
            <a:ext cx="73152" cy="0"/>
          </a:xfrm>
          <a:prstGeom prst="line">
            <a:avLst/>
          </a:prstGeom>
          <a:noFill/>
          <a:ln w="15875">
            <a:solidFill>
              <a:srgbClr val="1E2A32"/>
            </a:solidFill>
            <a:prstDash val="solid"/>
          </a:ln>
        </p:spPr>
      </p:sp>
      <p:sp>
        <p:nvSpPr>
          <p:cNvPr id="40" name="mbr"/>
          <p:cNvSpPr/>
          <p:nvPr/>
        </p:nvSpPr>
        <p:spPr>
          <a:xfrm>
            <a:off x="5221224" y="3767328"/>
            <a:ext cx="73152" cy="0"/>
          </a:xfrm>
          <a:prstGeom prst="line">
            <a:avLst/>
          </a:prstGeom>
          <a:noFill/>
          <a:ln w="15875">
            <a:solidFill>
              <a:srgbClr val="1E2A32"/>
            </a:solidFill>
            <a:prstDash val="solid"/>
          </a:ln>
        </p:spPr>
      </p:sp>
      <p:sp>
        <p:nvSpPr>
          <p:cNvPr id="41" name="mlab"/>
          <p:cNvSpPr txBox="1"/>
          <p:nvPr/>
        </p:nvSpPr>
        <p:spPr>
          <a:xfrm>
            <a:off x="4069080"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42" name="mlab"/>
          <p:cNvSpPr txBox="1"/>
          <p:nvPr/>
        </p:nvSpPr>
        <p:spPr>
          <a:xfrm>
            <a:off x="4453128"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43" name="mlab"/>
          <p:cNvSpPr txBox="1"/>
          <p:nvPr/>
        </p:nvSpPr>
        <p:spPr>
          <a:xfrm>
            <a:off x="4837176"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44" name="mlab"/>
          <p:cNvSpPr txBox="1"/>
          <p:nvPr/>
        </p:nvSpPr>
        <p:spPr>
          <a:xfrm>
            <a:off x="3712464" y="2971800"/>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e₀</a:t>
            </a:r>
            <a:endParaRPr lang="en-US" sz="1300" dirty="0"/>
          </a:p>
        </p:txBody>
      </p:sp>
      <p:sp>
        <p:nvSpPr>
          <p:cNvPr id="45" name="mlab"/>
          <p:cNvSpPr txBox="1"/>
          <p:nvPr/>
        </p:nvSpPr>
        <p:spPr>
          <a:xfrm>
            <a:off x="3712464" y="3355848"/>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e₁</a:t>
            </a:r>
            <a:endParaRPr lang="en-US" sz="1300" dirty="0"/>
          </a:p>
        </p:txBody>
      </p:sp>
      <p:sp>
        <p:nvSpPr>
          <p:cNvPr id="46" name="Text 43"/>
          <p:cNvSpPr txBox="1"/>
          <p:nvPr/>
        </p:nvSpPr>
        <p:spPr>
          <a:xfrm>
            <a:off x="3429000" y="4023360"/>
            <a:ext cx="2468880" cy="320040"/>
          </a:xfrm>
          <a:prstGeom prst="rect">
            <a:avLst/>
          </a:prstGeom>
          <a:noFill/>
          <a:ln/>
        </p:spPr>
        <p:txBody>
          <a:bodyPr wrap="square" lIns="0" tIns="0" rIns="0" bIns="0" rtlCol="0" anchor="t"/>
          <a:lstStyle/>
          <a:p>
            <a:pPr algn="ctr" indent="0" marL="0">
              <a:buNone/>
            </a:pPr>
            <a:r>
              <a:rPr lang="en-US" sz="1700" b="1" dirty="0">
                <a:solidFill>
                  <a:srgbClr val="B3261E"/>
                </a:solidFill>
                <a:latin typeface="Calibri" pitchFamily="34" charset="0"/>
                <a:ea typeface="Calibri" pitchFamily="34" charset="-122"/>
                <a:cs typeface="Calibri" pitchFamily="34" charset="-120"/>
              </a:rPr>
              <a:t>✗ rejected</a:t>
            </a:r>
            <a:endParaRPr lang="en-US" sz="1700" dirty="0"/>
          </a:p>
        </p:txBody>
      </p:sp>
      <p:sp>
        <p:nvSpPr>
          <p:cNvPr id="47" name="Text 44"/>
          <p:cNvSpPr txBox="1"/>
          <p:nvPr/>
        </p:nvSpPr>
        <p:spPr>
          <a:xfrm>
            <a:off x="3429000" y="4434840"/>
            <a:ext cx="2468880" cy="1005840"/>
          </a:xfrm>
          <a:prstGeom prst="rect">
            <a:avLst/>
          </a:prstGeom>
          <a:noFill/>
          <a:ln/>
        </p:spPr>
        <p:txBody>
          <a:bodyPr wrap="square" lIns="0" tIns="0" rIns="0" bIns="0" rtlCol="0" anchor="t"/>
          <a:lstStyle/>
          <a:p>
            <a:pPr algn="ctr" indent="0" marL="0">
              <a:buNone/>
            </a:pPr>
            <a:r>
              <a:rPr lang="en-US" sz="1300" dirty="0">
                <a:solidFill>
                  <a:srgbClr val="1E2A32"/>
                </a:solidFill>
                <a:latin typeface="Calibri" pitchFamily="34" charset="0"/>
                <a:ea typeface="Calibri" pitchFamily="34" charset="-122"/>
                <a:cs typeface="Calibri" pitchFamily="34" charset="-120"/>
              </a:rPr>
              <a:t>column r₂ has two 1s</a:t>
            </a:r>
            <a:endParaRPr lang="en-US" sz="1300" dirty="0"/>
          </a:p>
        </p:txBody>
      </p:sp>
      <p:sp>
        <p:nvSpPr>
          <p:cNvPr id="48" name="panel"/>
          <p:cNvSpPr/>
          <p:nvPr/>
        </p:nvSpPr>
        <p:spPr>
          <a:xfrm>
            <a:off x="6172200" y="2423160"/>
            <a:ext cx="2651760" cy="3154680"/>
          </a:xfrm>
          <a:prstGeom prst="roundRect">
            <a:avLst>
              <a:gd name="adj" fmla="val 2759"/>
            </a:avLst>
          </a:prstGeom>
          <a:solidFill>
            <a:srgbClr val="FBE3E1"/>
          </a:solidFill>
          <a:ln/>
        </p:spPr>
      </p:sp>
      <p:sp>
        <p:nvSpPr>
          <p:cNvPr id="49" name="mcell"/>
          <p:cNvSpPr txBox="1"/>
          <p:nvPr/>
        </p:nvSpPr>
        <p:spPr>
          <a:xfrm>
            <a:off x="6949440" y="2971800"/>
            <a:ext cx="384048" cy="384048"/>
          </a:xfrm>
          <a:prstGeom prst="rect">
            <a:avLst/>
          </a:prstGeom>
          <a:solidFill>
            <a:srgbClr val="FFFFFF"/>
          </a:solidFill>
          <a:ln/>
        </p:spPr>
        <p:txBody>
          <a:bodyPr wrap="square" lIns="0" tIns="0" rIns="0" bIns="0" rtlCol="0" anchor="ctr"/>
          <a:lstStyle/>
          <a:p>
            <a:pPr algn="ctr" indent="0" marL="0">
              <a:buNone/>
            </a:pPr>
            <a:r>
              <a:rPr lang="en-US" sz="1600" b="1" dirty="0">
                <a:solidFill>
                  <a:srgbClr val="B3261E"/>
                </a:solidFill>
                <a:latin typeface="Calibri" pitchFamily="34" charset="0"/>
                <a:ea typeface="Calibri" pitchFamily="34" charset="-122"/>
                <a:cs typeface="Calibri" pitchFamily="34" charset="-120"/>
              </a:rPr>
              <a:t>1</a:t>
            </a:r>
            <a:endParaRPr lang="en-US" sz="1600" dirty="0"/>
          </a:p>
        </p:txBody>
      </p:sp>
      <p:sp>
        <p:nvSpPr>
          <p:cNvPr id="50" name="mcell"/>
          <p:cNvSpPr txBox="1"/>
          <p:nvPr/>
        </p:nvSpPr>
        <p:spPr>
          <a:xfrm>
            <a:off x="7333488" y="297180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1" name="mcell"/>
          <p:cNvSpPr txBox="1"/>
          <p:nvPr/>
        </p:nvSpPr>
        <p:spPr>
          <a:xfrm>
            <a:off x="7717536" y="2971800"/>
            <a:ext cx="384048" cy="384048"/>
          </a:xfrm>
          <a:prstGeom prst="rect">
            <a:avLst/>
          </a:prstGeom>
          <a:solidFill>
            <a:srgbClr val="FFFFFF"/>
          </a:solidFill>
          <a:ln/>
        </p:spPr>
        <p:txBody>
          <a:bodyPr wrap="square" lIns="0" tIns="0" rIns="0" bIns="0" rtlCol="0" anchor="ctr"/>
          <a:lstStyle/>
          <a:p>
            <a:pPr algn="ctr" indent="0" marL="0">
              <a:buNone/>
            </a:pPr>
            <a:r>
              <a:rPr lang="en-US" sz="1600" b="1" dirty="0">
                <a:solidFill>
                  <a:srgbClr val="B3261E"/>
                </a:solidFill>
                <a:latin typeface="Calibri" pitchFamily="34" charset="0"/>
                <a:ea typeface="Calibri" pitchFamily="34" charset="-122"/>
                <a:cs typeface="Calibri" pitchFamily="34" charset="-120"/>
              </a:rPr>
              <a:t>1</a:t>
            </a:r>
            <a:endParaRPr lang="en-US" sz="1600" dirty="0"/>
          </a:p>
        </p:txBody>
      </p:sp>
      <p:sp>
        <p:nvSpPr>
          <p:cNvPr id="52" name="mcell"/>
          <p:cNvSpPr txBox="1"/>
          <p:nvPr/>
        </p:nvSpPr>
        <p:spPr>
          <a:xfrm>
            <a:off x="6949440" y="3355848"/>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3" name="mcell"/>
          <p:cNvSpPr txBox="1"/>
          <p:nvPr/>
        </p:nvSpPr>
        <p:spPr>
          <a:xfrm>
            <a:off x="7333488" y="3355848"/>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4" name="mcell"/>
          <p:cNvSpPr txBox="1"/>
          <p:nvPr/>
        </p:nvSpPr>
        <p:spPr>
          <a:xfrm>
            <a:off x="7717536" y="3355848"/>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5" name="mbr"/>
          <p:cNvSpPr/>
          <p:nvPr/>
        </p:nvSpPr>
        <p:spPr>
          <a:xfrm>
            <a:off x="6922008" y="2944368"/>
            <a:ext cx="0" cy="822960"/>
          </a:xfrm>
          <a:prstGeom prst="line">
            <a:avLst/>
          </a:prstGeom>
          <a:noFill/>
          <a:ln w="15875">
            <a:solidFill>
              <a:srgbClr val="1E2A32"/>
            </a:solidFill>
            <a:prstDash val="solid"/>
          </a:ln>
        </p:spPr>
      </p:sp>
      <p:sp>
        <p:nvSpPr>
          <p:cNvPr id="56" name="mbr"/>
          <p:cNvSpPr/>
          <p:nvPr/>
        </p:nvSpPr>
        <p:spPr>
          <a:xfrm>
            <a:off x="6922008" y="2944368"/>
            <a:ext cx="73152" cy="0"/>
          </a:xfrm>
          <a:prstGeom prst="line">
            <a:avLst/>
          </a:prstGeom>
          <a:noFill/>
          <a:ln w="15875">
            <a:solidFill>
              <a:srgbClr val="1E2A32"/>
            </a:solidFill>
            <a:prstDash val="solid"/>
          </a:ln>
        </p:spPr>
      </p:sp>
      <p:sp>
        <p:nvSpPr>
          <p:cNvPr id="57" name="mbr"/>
          <p:cNvSpPr/>
          <p:nvPr/>
        </p:nvSpPr>
        <p:spPr>
          <a:xfrm>
            <a:off x="6922008" y="3767328"/>
            <a:ext cx="73152" cy="0"/>
          </a:xfrm>
          <a:prstGeom prst="line">
            <a:avLst/>
          </a:prstGeom>
          <a:noFill/>
          <a:ln w="15875">
            <a:solidFill>
              <a:srgbClr val="1E2A32"/>
            </a:solidFill>
            <a:prstDash val="solid"/>
          </a:ln>
        </p:spPr>
      </p:sp>
      <p:sp>
        <p:nvSpPr>
          <p:cNvPr id="58" name="mbr"/>
          <p:cNvSpPr/>
          <p:nvPr/>
        </p:nvSpPr>
        <p:spPr>
          <a:xfrm>
            <a:off x="8129016" y="2944368"/>
            <a:ext cx="0" cy="822960"/>
          </a:xfrm>
          <a:prstGeom prst="line">
            <a:avLst/>
          </a:prstGeom>
          <a:noFill/>
          <a:ln w="15875">
            <a:solidFill>
              <a:srgbClr val="1E2A32"/>
            </a:solidFill>
            <a:prstDash val="solid"/>
          </a:ln>
        </p:spPr>
      </p:sp>
      <p:sp>
        <p:nvSpPr>
          <p:cNvPr id="59" name="mbr"/>
          <p:cNvSpPr/>
          <p:nvPr/>
        </p:nvSpPr>
        <p:spPr>
          <a:xfrm>
            <a:off x="8055864" y="2944368"/>
            <a:ext cx="73152" cy="0"/>
          </a:xfrm>
          <a:prstGeom prst="line">
            <a:avLst/>
          </a:prstGeom>
          <a:noFill/>
          <a:ln w="15875">
            <a:solidFill>
              <a:srgbClr val="1E2A32"/>
            </a:solidFill>
            <a:prstDash val="solid"/>
          </a:ln>
        </p:spPr>
      </p:sp>
      <p:sp>
        <p:nvSpPr>
          <p:cNvPr id="60" name="mbr"/>
          <p:cNvSpPr/>
          <p:nvPr/>
        </p:nvSpPr>
        <p:spPr>
          <a:xfrm>
            <a:off x="8055864" y="3767328"/>
            <a:ext cx="73152" cy="0"/>
          </a:xfrm>
          <a:prstGeom prst="line">
            <a:avLst/>
          </a:prstGeom>
          <a:noFill/>
          <a:ln w="15875">
            <a:solidFill>
              <a:srgbClr val="1E2A32"/>
            </a:solidFill>
            <a:prstDash val="solid"/>
          </a:ln>
        </p:spPr>
      </p:sp>
      <p:sp>
        <p:nvSpPr>
          <p:cNvPr id="61" name="mlab"/>
          <p:cNvSpPr txBox="1"/>
          <p:nvPr/>
        </p:nvSpPr>
        <p:spPr>
          <a:xfrm>
            <a:off x="6903720"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62" name="mlab"/>
          <p:cNvSpPr txBox="1"/>
          <p:nvPr/>
        </p:nvSpPr>
        <p:spPr>
          <a:xfrm>
            <a:off x="7287768"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63" name="mlab"/>
          <p:cNvSpPr txBox="1"/>
          <p:nvPr/>
        </p:nvSpPr>
        <p:spPr>
          <a:xfrm>
            <a:off x="7671816"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64" name="mlab"/>
          <p:cNvSpPr txBox="1"/>
          <p:nvPr/>
        </p:nvSpPr>
        <p:spPr>
          <a:xfrm>
            <a:off x="6547104" y="2971800"/>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e₀</a:t>
            </a:r>
            <a:endParaRPr lang="en-US" sz="1300" dirty="0"/>
          </a:p>
        </p:txBody>
      </p:sp>
      <p:sp>
        <p:nvSpPr>
          <p:cNvPr id="65" name="mlab"/>
          <p:cNvSpPr txBox="1"/>
          <p:nvPr/>
        </p:nvSpPr>
        <p:spPr>
          <a:xfrm>
            <a:off x="6547104" y="3355848"/>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e₁</a:t>
            </a:r>
            <a:endParaRPr lang="en-US" sz="1300" dirty="0"/>
          </a:p>
        </p:txBody>
      </p:sp>
      <p:sp>
        <p:nvSpPr>
          <p:cNvPr id="66" name="Text 63"/>
          <p:cNvSpPr txBox="1"/>
          <p:nvPr/>
        </p:nvSpPr>
        <p:spPr>
          <a:xfrm>
            <a:off x="6263640" y="4023360"/>
            <a:ext cx="2468880" cy="320040"/>
          </a:xfrm>
          <a:prstGeom prst="rect">
            <a:avLst/>
          </a:prstGeom>
          <a:noFill/>
          <a:ln/>
        </p:spPr>
        <p:txBody>
          <a:bodyPr wrap="square" lIns="0" tIns="0" rIns="0" bIns="0" rtlCol="0" anchor="t"/>
          <a:lstStyle/>
          <a:p>
            <a:pPr algn="ctr" indent="0" marL="0">
              <a:buNone/>
            </a:pPr>
            <a:r>
              <a:rPr lang="en-US" sz="1700" b="1" dirty="0">
                <a:solidFill>
                  <a:srgbClr val="B3261E"/>
                </a:solidFill>
                <a:latin typeface="Calibri" pitchFamily="34" charset="0"/>
                <a:ea typeface="Calibri" pitchFamily="34" charset="-122"/>
                <a:cs typeface="Calibri" pitchFamily="34" charset="-120"/>
              </a:rPr>
              <a:t>✗ rejected</a:t>
            </a:r>
            <a:endParaRPr lang="en-US" sz="1700" dirty="0"/>
          </a:p>
        </p:txBody>
      </p:sp>
      <p:sp>
        <p:nvSpPr>
          <p:cNvPr id="67" name="Text 64"/>
          <p:cNvSpPr txBox="1"/>
          <p:nvPr/>
        </p:nvSpPr>
        <p:spPr>
          <a:xfrm>
            <a:off x="6263640" y="4434840"/>
            <a:ext cx="2468880" cy="1005840"/>
          </a:xfrm>
          <a:prstGeom prst="rect">
            <a:avLst/>
          </a:prstGeom>
          <a:noFill/>
          <a:ln/>
        </p:spPr>
        <p:txBody>
          <a:bodyPr wrap="square" lIns="0" tIns="0" rIns="0" bIns="0" rtlCol="0" anchor="t"/>
          <a:lstStyle/>
          <a:p>
            <a:pPr algn="ctr" indent="0" marL="0">
              <a:buNone/>
            </a:pPr>
            <a:r>
              <a:rPr lang="en-US" sz="1300" dirty="0">
                <a:solidFill>
                  <a:srgbClr val="1E2A32"/>
                </a:solidFill>
                <a:latin typeface="Calibri" pitchFamily="34" charset="0"/>
                <a:ea typeface="Calibri" pitchFamily="34" charset="-122"/>
                <a:cs typeface="Calibri" pitchFamily="34" charset="-120"/>
              </a:rPr>
              <a:t>non-zero column repeated (r₀ = r₂)</a:t>
            </a:r>
            <a:endParaRPr lang="en-US" sz="1300" dirty="0"/>
          </a:p>
        </p:txBody>
      </p:sp>
      <p:sp>
        <p:nvSpPr>
          <p:cNvPr id="68" name="panel"/>
          <p:cNvSpPr/>
          <p:nvPr/>
        </p:nvSpPr>
        <p:spPr>
          <a:xfrm>
            <a:off x="9006840" y="2423160"/>
            <a:ext cx="2651760" cy="3154680"/>
          </a:xfrm>
          <a:prstGeom prst="roundRect">
            <a:avLst>
              <a:gd name="adj" fmla="val 2759"/>
            </a:avLst>
          </a:prstGeom>
          <a:solidFill>
            <a:srgbClr val="FBE3E1"/>
          </a:solidFill>
          <a:ln/>
        </p:spPr>
      </p:sp>
      <p:sp>
        <p:nvSpPr>
          <p:cNvPr id="69" name="mcell"/>
          <p:cNvSpPr txBox="1"/>
          <p:nvPr/>
        </p:nvSpPr>
        <p:spPr>
          <a:xfrm>
            <a:off x="9784080" y="2971800"/>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70" name="mcell"/>
          <p:cNvSpPr txBox="1"/>
          <p:nvPr/>
        </p:nvSpPr>
        <p:spPr>
          <a:xfrm>
            <a:off x="10168128" y="297180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1" name="mcell"/>
          <p:cNvSpPr txBox="1"/>
          <p:nvPr/>
        </p:nvSpPr>
        <p:spPr>
          <a:xfrm>
            <a:off x="10552176" y="297180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2" name="mcell"/>
          <p:cNvSpPr txBox="1"/>
          <p:nvPr/>
        </p:nvSpPr>
        <p:spPr>
          <a:xfrm>
            <a:off x="9784080" y="3355848"/>
            <a:ext cx="384048" cy="384048"/>
          </a:xfrm>
          <a:prstGeom prst="rect">
            <a:avLst/>
          </a:prstGeom>
          <a:solidFill>
            <a:srgbClr val="FFFFFF"/>
          </a:solidFill>
          <a:ln/>
        </p:spPr>
        <p:txBody>
          <a:bodyPr wrap="square" lIns="0" tIns="0" rIns="0" bIns="0" rtlCol="0" anchor="ctr"/>
          <a:lstStyle/>
          <a:p>
            <a:pPr algn="ctr" indent="0" marL="0">
              <a:buNone/>
            </a:pPr>
            <a:r>
              <a:rPr lang="en-US" sz="1600" dirty="0">
                <a:solidFill>
                  <a:srgbClr val="B3261E"/>
                </a:solidFill>
                <a:latin typeface="Calibri" pitchFamily="34" charset="0"/>
                <a:ea typeface="Calibri" pitchFamily="34" charset="-122"/>
                <a:cs typeface="Calibri" pitchFamily="34" charset="-120"/>
              </a:rPr>
              <a:t>0</a:t>
            </a:r>
            <a:endParaRPr lang="en-US" sz="1600" dirty="0"/>
          </a:p>
        </p:txBody>
      </p:sp>
      <p:sp>
        <p:nvSpPr>
          <p:cNvPr id="73" name="mcell"/>
          <p:cNvSpPr txBox="1"/>
          <p:nvPr/>
        </p:nvSpPr>
        <p:spPr>
          <a:xfrm>
            <a:off x="10168128" y="3355848"/>
            <a:ext cx="384048" cy="384048"/>
          </a:xfrm>
          <a:prstGeom prst="rect">
            <a:avLst/>
          </a:prstGeom>
          <a:solidFill>
            <a:srgbClr val="FFFFFF"/>
          </a:solidFill>
          <a:ln/>
        </p:spPr>
        <p:txBody>
          <a:bodyPr wrap="square" lIns="0" tIns="0" rIns="0" bIns="0" rtlCol="0" anchor="ctr"/>
          <a:lstStyle/>
          <a:p>
            <a:pPr algn="ctr" indent="0" marL="0">
              <a:buNone/>
            </a:pPr>
            <a:r>
              <a:rPr lang="en-US" sz="1600" dirty="0">
                <a:solidFill>
                  <a:srgbClr val="B3261E"/>
                </a:solidFill>
                <a:latin typeface="Calibri" pitchFamily="34" charset="0"/>
                <a:ea typeface="Calibri" pitchFamily="34" charset="-122"/>
                <a:cs typeface="Calibri" pitchFamily="34" charset="-120"/>
              </a:rPr>
              <a:t>0</a:t>
            </a:r>
            <a:endParaRPr lang="en-US" sz="1600" dirty="0"/>
          </a:p>
        </p:txBody>
      </p:sp>
      <p:sp>
        <p:nvSpPr>
          <p:cNvPr id="74" name="mcell"/>
          <p:cNvSpPr txBox="1"/>
          <p:nvPr/>
        </p:nvSpPr>
        <p:spPr>
          <a:xfrm>
            <a:off x="10552176" y="3355848"/>
            <a:ext cx="384048" cy="384048"/>
          </a:xfrm>
          <a:prstGeom prst="rect">
            <a:avLst/>
          </a:prstGeom>
          <a:solidFill>
            <a:srgbClr val="FFFFFF"/>
          </a:solidFill>
          <a:ln/>
        </p:spPr>
        <p:txBody>
          <a:bodyPr wrap="square" lIns="0" tIns="0" rIns="0" bIns="0" rtlCol="0" anchor="ctr"/>
          <a:lstStyle/>
          <a:p>
            <a:pPr algn="ctr" indent="0" marL="0">
              <a:buNone/>
            </a:pPr>
            <a:r>
              <a:rPr lang="en-US" sz="1600" dirty="0">
                <a:solidFill>
                  <a:srgbClr val="B3261E"/>
                </a:solidFill>
                <a:latin typeface="Calibri" pitchFamily="34" charset="0"/>
                <a:ea typeface="Calibri" pitchFamily="34" charset="-122"/>
                <a:cs typeface="Calibri" pitchFamily="34" charset="-120"/>
              </a:rPr>
              <a:t>0</a:t>
            </a:r>
            <a:endParaRPr lang="en-US" sz="1600" dirty="0"/>
          </a:p>
        </p:txBody>
      </p:sp>
      <p:sp>
        <p:nvSpPr>
          <p:cNvPr id="75" name="mbr"/>
          <p:cNvSpPr/>
          <p:nvPr/>
        </p:nvSpPr>
        <p:spPr>
          <a:xfrm>
            <a:off x="9756648" y="2944368"/>
            <a:ext cx="0" cy="822960"/>
          </a:xfrm>
          <a:prstGeom prst="line">
            <a:avLst/>
          </a:prstGeom>
          <a:noFill/>
          <a:ln w="15875">
            <a:solidFill>
              <a:srgbClr val="1E2A32"/>
            </a:solidFill>
            <a:prstDash val="solid"/>
          </a:ln>
        </p:spPr>
      </p:sp>
      <p:sp>
        <p:nvSpPr>
          <p:cNvPr id="76" name="mbr"/>
          <p:cNvSpPr/>
          <p:nvPr/>
        </p:nvSpPr>
        <p:spPr>
          <a:xfrm>
            <a:off x="9756648" y="2944368"/>
            <a:ext cx="73152" cy="0"/>
          </a:xfrm>
          <a:prstGeom prst="line">
            <a:avLst/>
          </a:prstGeom>
          <a:noFill/>
          <a:ln w="15875">
            <a:solidFill>
              <a:srgbClr val="1E2A32"/>
            </a:solidFill>
            <a:prstDash val="solid"/>
          </a:ln>
        </p:spPr>
      </p:sp>
      <p:sp>
        <p:nvSpPr>
          <p:cNvPr id="77" name="mbr"/>
          <p:cNvSpPr/>
          <p:nvPr/>
        </p:nvSpPr>
        <p:spPr>
          <a:xfrm>
            <a:off x="9756648" y="3767328"/>
            <a:ext cx="73152" cy="0"/>
          </a:xfrm>
          <a:prstGeom prst="line">
            <a:avLst/>
          </a:prstGeom>
          <a:noFill/>
          <a:ln w="15875">
            <a:solidFill>
              <a:srgbClr val="1E2A32"/>
            </a:solidFill>
            <a:prstDash val="solid"/>
          </a:ln>
        </p:spPr>
      </p:sp>
      <p:sp>
        <p:nvSpPr>
          <p:cNvPr id="78" name="mbr"/>
          <p:cNvSpPr/>
          <p:nvPr/>
        </p:nvSpPr>
        <p:spPr>
          <a:xfrm>
            <a:off x="10963656" y="2944368"/>
            <a:ext cx="0" cy="822960"/>
          </a:xfrm>
          <a:prstGeom prst="line">
            <a:avLst/>
          </a:prstGeom>
          <a:noFill/>
          <a:ln w="15875">
            <a:solidFill>
              <a:srgbClr val="1E2A32"/>
            </a:solidFill>
            <a:prstDash val="solid"/>
          </a:ln>
        </p:spPr>
      </p:sp>
      <p:sp>
        <p:nvSpPr>
          <p:cNvPr id="79" name="mbr"/>
          <p:cNvSpPr/>
          <p:nvPr/>
        </p:nvSpPr>
        <p:spPr>
          <a:xfrm>
            <a:off x="10890504" y="2944368"/>
            <a:ext cx="73152" cy="0"/>
          </a:xfrm>
          <a:prstGeom prst="line">
            <a:avLst/>
          </a:prstGeom>
          <a:noFill/>
          <a:ln w="15875">
            <a:solidFill>
              <a:srgbClr val="1E2A32"/>
            </a:solidFill>
            <a:prstDash val="solid"/>
          </a:ln>
        </p:spPr>
      </p:sp>
      <p:sp>
        <p:nvSpPr>
          <p:cNvPr id="80" name="mbr"/>
          <p:cNvSpPr/>
          <p:nvPr/>
        </p:nvSpPr>
        <p:spPr>
          <a:xfrm>
            <a:off x="10890504" y="3767328"/>
            <a:ext cx="73152" cy="0"/>
          </a:xfrm>
          <a:prstGeom prst="line">
            <a:avLst/>
          </a:prstGeom>
          <a:noFill/>
          <a:ln w="15875">
            <a:solidFill>
              <a:srgbClr val="1E2A32"/>
            </a:solidFill>
            <a:prstDash val="solid"/>
          </a:ln>
        </p:spPr>
      </p:sp>
      <p:sp>
        <p:nvSpPr>
          <p:cNvPr id="81" name="mlab"/>
          <p:cNvSpPr txBox="1"/>
          <p:nvPr/>
        </p:nvSpPr>
        <p:spPr>
          <a:xfrm>
            <a:off x="9738360"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82" name="mlab"/>
          <p:cNvSpPr txBox="1"/>
          <p:nvPr/>
        </p:nvSpPr>
        <p:spPr>
          <a:xfrm>
            <a:off x="10122408"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83" name="mlab"/>
          <p:cNvSpPr txBox="1"/>
          <p:nvPr/>
        </p:nvSpPr>
        <p:spPr>
          <a:xfrm>
            <a:off x="10506456" y="273405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84" name="mlab"/>
          <p:cNvSpPr txBox="1"/>
          <p:nvPr/>
        </p:nvSpPr>
        <p:spPr>
          <a:xfrm>
            <a:off x="9381744" y="2971800"/>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e₀</a:t>
            </a:r>
            <a:endParaRPr lang="en-US" sz="1300" dirty="0"/>
          </a:p>
        </p:txBody>
      </p:sp>
      <p:sp>
        <p:nvSpPr>
          <p:cNvPr id="85" name="mlab"/>
          <p:cNvSpPr txBox="1"/>
          <p:nvPr/>
        </p:nvSpPr>
        <p:spPr>
          <a:xfrm>
            <a:off x="9381744" y="3355848"/>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e₁</a:t>
            </a:r>
            <a:endParaRPr lang="en-US" sz="1300" dirty="0"/>
          </a:p>
        </p:txBody>
      </p:sp>
      <p:sp>
        <p:nvSpPr>
          <p:cNvPr id="86" name="Text 83"/>
          <p:cNvSpPr txBox="1"/>
          <p:nvPr/>
        </p:nvSpPr>
        <p:spPr>
          <a:xfrm>
            <a:off x="9098280" y="4023360"/>
            <a:ext cx="2468880" cy="320040"/>
          </a:xfrm>
          <a:prstGeom prst="rect">
            <a:avLst/>
          </a:prstGeom>
          <a:noFill/>
          <a:ln/>
        </p:spPr>
        <p:txBody>
          <a:bodyPr wrap="square" lIns="0" tIns="0" rIns="0" bIns="0" rtlCol="0" anchor="t"/>
          <a:lstStyle/>
          <a:p>
            <a:pPr algn="ctr" indent="0" marL="0">
              <a:buNone/>
            </a:pPr>
            <a:r>
              <a:rPr lang="en-US" sz="1700" b="1" dirty="0">
                <a:solidFill>
                  <a:srgbClr val="B3261E"/>
                </a:solidFill>
                <a:latin typeface="Calibri" pitchFamily="34" charset="0"/>
                <a:ea typeface="Calibri" pitchFamily="34" charset="-122"/>
                <a:cs typeface="Calibri" pitchFamily="34" charset="-120"/>
              </a:rPr>
              <a:t>✗ rejected</a:t>
            </a:r>
            <a:endParaRPr lang="en-US" sz="1700" dirty="0"/>
          </a:p>
        </p:txBody>
      </p:sp>
      <p:sp>
        <p:nvSpPr>
          <p:cNvPr id="87" name="Text 84"/>
          <p:cNvSpPr txBox="1"/>
          <p:nvPr/>
        </p:nvSpPr>
        <p:spPr>
          <a:xfrm>
            <a:off x="9098280" y="4434840"/>
            <a:ext cx="2468880" cy="1005840"/>
          </a:xfrm>
          <a:prstGeom prst="rect">
            <a:avLst/>
          </a:prstGeom>
          <a:noFill/>
          <a:ln/>
        </p:spPr>
        <p:txBody>
          <a:bodyPr wrap="square" lIns="0" tIns="0" rIns="0" bIns="0" rtlCol="0" anchor="t"/>
          <a:lstStyle/>
          <a:p>
            <a:pPr algn="ctr" indent="0" marL="0">
              <a:buNone/>
            </a:pPr>
            <a:r>
              <a:rPr lang="en-US" sz="1300" dirty="0">
                <a:solidFill>
                  <a:srgbClr val="1E2A32"/>
                </a:solidFill>
                <a:latin typeface="Calibri" pitchFamily="34" charset="0"/>
                <a:ea typeface="Calibri" pitchFamily="34" charset="-122"/>
                <a:cs typeface="Calibri" pitchFamily="34" charset="-120"/>
              </a:rPr>
              <a:t>not surjective (row e₁ never reached)</a:t>
            </a:r>
            <a:endParaRPr lang="en-US" sz="1300" dirty="0"/>
          </a:p>
        </p:txBody>
      </p:sp>
      <p:sp>
        <p:nvSpPr>
          <p:cNvPr id="88" name="Text 85"/>
          <p:cNvSpPr txBox="1"/>
          <p:nvPr/>
        </p:nvSpPr>
        <p:spPr>
          <a:xfrm>
            <a:off x="502920" y="5669280"/>
            <a:ext cx="11201400" cy="45720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Paper’s A passes: one 1 per column, all columns distinct, rank 8.  The family is strictly larger than legacy layouts (e.g. it contains the transpose of an MMA layout).</a:t>
            </a:r>
            <a:endParaRPr lang="en-US" sz="13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DEFINITION 4.11</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MMA swizzling: XOR a row phase into the column group</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Definition 4.11, p. 137; Figure 3 (Swizzled) for visual context</a:t>
            </a:r>
            <a:endParaRPr lang="en-US" sz="1000" dirty="0"/>
          </a:p>
        </p:txBody>
      </p:sp>
      <p:sp>
        <p:nvSpPr>
          <p:cNvPr id="6" name="callout"/>
          <p:cNvSpPr/>
          <p:nvPr/>
        </p:nvSpPr>
        <p:spPr>
          <a:xfrm>
            <a:off x="502920" y="1234440"/>
            <a:ext cx="11201400" cy="594360"/>
          </a:xfrm>
          <a:prstGeom prst="roundRect">
            <a:avLst>
              <a:gd name="adj" fmla="val 12308"/>
            </a:avLst>
          </a:prstGeom>
          <a:solidFill>
            <a:srgbClr val="DDEFF1"/>
          </a:solidFill>
          <a:ln/>
        </p:spPr>
      </p:sp>
      <p:sp>
        <p:nvSpPr>
          <p:cNvPr id="7" name="callout-text"/>
          <p:cNvSpPr txBox="1"/>
          <p:nvPr/>
        </p:nvSpPr>
        <p:spPr>
          <a:xfrm>
            <a:off x="640080" y="1289304"/>
            <a:ext cx="10927080" cy="484632"/>
          </a:xfrm>
          <a:prstGeom prst="rect">
            <a:avLst/>
          </a:prstGeom>
          <a:noFill/>
          <a:ln/>
        </p:spPr>
        <p:txBody>
          <a:bodyPr wrap="square" lIns="0" tIns="0" rIns="0" bIns="0" rtlCol="0" anchor="ctr"/>
          <a:lstStyle/>
          <a:p>
            <a:pPr algn="l" indent="0" marL="0">
              <a:buNone/>
            </a:pPr>
            <a:r>
              <a:rPr lang="en-US" sz="1700" b="1" dirty="0">
                <a:solidFill>
                  <a:srgbClr val="0A4F58"/>
                </a:solidFill>
                <a:latin typeface="Calibri" pitchFamily="34" charset="0"/>
                <a:ea typeface="Calibri" pitchFamily="34" charset="-122"/>
                <a:cs typeface="Calibri" pitchFamily="34" charset="-120"/>
              </a:rPr>
              <a:t>Definition 4.11.</a:t>
            </a:r>
            <a:r>
              <a:rPr lang="en-US" sz="1700" dirty="0">
                <a:solidFill>
                  <a:srgbClr val="0A4F58"/>
                </a:solidFill>
                <a:latin typeface="Calibri" pitchFamily="34" charset="0"/>
                <a:ea typeface="Calibri" pitchFamily="34" charset="-122"/>
                <a:cs typeface="Calibri" pitchFamily="34" charset="-120"/>
              </a:rPr>
              <a:t>  offset(i, j) = ( ( ⌊i / per_phase⌋ mod max_phase ) ⊕ ⌊j / vec⌋ ) · vec  ⊕  ( j mod vec )</a:t>
            </a:r>
            <a:endParaRPr lang="en-US" sz="1700" dirty="0"/>
          </a:p>
        </p:txBody>
      </p:sp>
      <p:sp>
        <p:nvSpPr>
          <p:cNvPr id="8" name="bullets"/>
          <p:cNvSpPr txBox="1"/>
          <p:nvPr/>
        </p:nvSpPr>
        <p:spPr>
          <a:xfrm>
            <a:off x="502920" y="2011680"/>
            <a:ext cx="4754880" cy="1828800"/>
          </a:xfrm>
          <a:prstGeom prst="rect">
            <a:avLst/>
          </a:prstGeom>
          <a:noFill/>
          <a:ln/>
        </p:spPr>
        <p:txBody>
          <a:bodyPr wrap="square" lIns="25400" tIns="25400" rIns="25400" bIns="25400" rtlCol="0" anchor="t"/>
          <a:lstStyle/>
          <a:p>
            <a:pPr marL="203200" indent="-203200">
              <a:spcAft>
                <a:spcPts val="400"/>
              </a:spcAft>
              <a:buSzPct val="100000"/>
              <a:buChar char="•"/>
            </a:pPr>
            <a:r>
              <a:rPr lang="en-US" sz="1500" b="1" dirty="0">
                <a:solidFill>
                  <a:srgbClr val="1E2A32"/>
                </a:solidFill>
                <a:latin typeface="Calibri" pitchFamily="34" charset="0"/>
                <a:ea typeface="Calibri" pitchFamily="34" charset="-122"/>
                <a:cs typeface="Calibri" pitchFamily="34" charset="-120"/>
              </a:rPr>
              <a:t>vec</a:t>
            </a:r>
            <a:r>
              <a:rPr lang="en-US" sz="1500" dirty="0">
                <a:solidFill>
                  <a:srgbClr val="1E2A32"/>
                </a:solidFill>
                <a:latin typeface="Calibri" pitchFamily="34" charset="0"/>
                <a:ea typeface="Calibri" pitchFamily="34" charset="-122"/>
                <a:cs typeface="Calibri" pitchFamily="34" charset="-120"/>
              </a:rPr>
              <a:t> — adjacent elements kept together, in order</a:t>
            </a:r>
            <a:endParaRPr lang="en-US" sz="1500" dirty="0"/>
          </a:p>
          <a:p>
            <a:pPr marL="203200" indent="-203200">
              <a:spcAft>
                <a:spcPts val="400"/>
              </a:spcAft>
              <a:buSzPct val="100000"/>
              <a:buChar char="•"/>
            </a:pPr>
            <a:r>
              <a:rPr lang="en-US" sz="1500" b="1" dirty="0">
                <a:solidFill>
                  <a:srgbClr val="1E2A32"/>
                </a:solidFill>
                <a:latin typeface="Calibri" pitchFamily="34" charset="0"/>
                <a:ea typeface="Calibri" pitchFamily="34" charset="-122"/>
                <a:cs typeface="Calibri" pitchFamily="34" charset="-120"/>
              </a:rPr>
              <a:t>per_phase</a:t>
            </a:r>
            <a:r>
              <a:rPr lang="en-US" sz="1500" dirty="0">
                <a:solidFill>
                  <a:srgbClr val="1E2A32"/>
                </a:solidFill>
                <a:latin typeface="Calibri" pitchFamily="34" charset="0"/>
                <a:ea typeface="Calibri" pitchFamily="34" charset="-122"/>
                <a:cs typeface="Calibri" pitchFamily="34" charset="-120"/>
              </a:rPr>
              <a:t> — rows sharing one phase</a:t>
            </a:r>
            <a:endParaRPr lang="en-US" sz="1500" dirty="0"/>
          </a:p>
          <a:p>
            <a:pPr marL="203200" indent="-203200">
              <a:spcAft>
                <a:spcPts val="400"/>
              </a:spcAft>
              <a:buSzPct val="100000"/>
              <a:buChar char="•"/>
            </a:pPr>
            <a:r>
              <a:rPr lang="en-US" sz="1500" b="1" dirty="0">
                <a:solidFill>
                  <a:srgbClr val="1E2A32"/>
                </a:solidFill>
                <a:latin typeface="Calibri" pitchFamily="34" charset="0"/>
                <a:ea typeface="Calibri" pitchFamily="34" charset="-122"/>
                <a:cs typeface="Calibri" pitchFamily="34" charset="-120"/>
              </a:rPr>
              <a:t>max_phase</a:t>
            </a:r>
            <a:r>
              <a:rPr lang="en-US" sz="1500" dirty="0">
                <a:solidFill>
                  <a:srgbClr val="1E2A32"/>
                </a:solidFill>
                <a:latin typeface="Calibri" pitchFamily="34" charset="0"/>
                <a:ea typeface="Calibri" pitchFamily="34" charset="-122"/>
                <a:cs typeface="Calibri" pitchFamily="34" charset="-120"/>
              </a:rPr>
              <a:t> — number of phases before cycling</a:t>
            </a:r>
            <a:endParaRPr lang="en-US" sz="1500" dirty="0"/>
          </a:p>
          <a:p>
            <a:pPr marL="203200" indent="-203200">
              <a:spcAft>
                <a:spcPts val="400"/>
              </a:spcAft>
              <a:buSzPct val="100000"/>
              <a:buChar char="•"/>
            </a:pPr>
            <a:r>
              <a:rPr lang="en-US" sz="1500" dirty="0">
                <a:solidFill>
                  <a:srgbClr val="1E2A32"/>
                </a:solidFill>
                <a:latin typeface="Calibri" pitchFamily="34" charset="0"/>
                <a:ea typeface="Calibri" pitchFamily="34" charset="-122"/>
                <a:cs typeface="Calibri" pitchFamily="34" charset="-120"/>
              </a:rPr>
              <a:t>All powers of two; ⊕ = XOR.  2D picture: off = row_stride·i + j′</a:t>
            </a:r>
            <a:endParaRPr lang="en-US" sz="1500" dirty="0"/>
          </a:p>
        </p:txBody>
      </p:sp>
      <p:sp>
        <p:nvSpPr>
          <p:cNvPr id="9" name="Text 6"/>
          <p:cNvSpPr txBox="1"/>
          <p:nvPr/>
        </p:nvSpPr>
        <p:spPr>
          <a:xfrm>
            <a:off x="502920" y="3886200"/>
            <a:ext cx="5120640" cy="5029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Worked: 4×4, vec = 2, per_phase = 1, max_phase = 2 — row i = 1 (phase 1)</a:t>
            </a:r>
            <a:endParaRPr lang="en-US" sz="14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02920" y="4434840"/>
          <a:ext cx="4937760" cy="914400"/>
        </p:xfrm>
        <a:graphic>
          <a:graphicData uri="http://schemas.openxmlformats.org/drawingml/2006/table">
            <a:tbl>
              <a:tblPr/>
              <a:tblGrid>
                <a:gridCol w="548640"/>
                <a:gridCol w="822960"/>
                <a:gridCol w="1005840"/>
                <a:gridCol w="1645920"/>
                <a:gridCol w="914400"/>
              </a:tblGrid>
              <a:tr h="274320">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⌊j/2⌋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 phase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·2 ⊕ (j mod 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slot 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274320">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 ⊕ 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r>
              <a:tr h="274320">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 ⊕ 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r>
              <a:tr h="274320">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 ⊕ 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r>
              <a:tr h="274320">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 ⊕ 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r>
            </a:tbl>
          </a:graphicData>
        </a:graphic>
      </p:graphicFrame>
      <p:sp>
        <p:nvSpPr>
          <p:cNvPr id="11" name="gcell"/>
          <p:cNvSpPr txBox="1"/>
          <p:nvPr/>
        </p:nvSpPr>
        <p:spPr>
          <a:xfrm>
            <a:off x="6217920" y="23774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2" name="gcell"/>
          <p:cNvSpPr txBox="1"/>
          <p:nvPr/>
        </p:nvSpPr>
        <p:spPr>
          <a:xfrm>
            <a:off x="6720840" y="23774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13" name="gcell"/>
          <p:cNvSpPr txBox="1"/>
          <p:nvPr/>
        </p:nvSpPr>
        <p:spPr>
          <a:xfrm>
            <a:off x="7223760" y="23774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14" name="gcell"/>
          <p:cNvSpPr txBox="1"/>
          <p:nvPr/>
        </p:nvSpPr>
        <p:spPr>
          <a:xfrm>
            <a:off x="7726680" y="23774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15" name="gcell"/>
          <p:cNvSpPr txBox="1"/>
          <p:nvPr/>
        </p:nvSpPr>
        <p:spPr>
          <a:xfrm>
            <a:off x="6217920" y="28346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16" name="gcell"/>
          <p:cNvSpPr txBox="1"/>
          <p:nvPr/>
        </p:nvSpPr>
        <p:spPr>
          <a:xfrm>
            <a:off x="6720840" y="28346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17" name="gcell"/>
          <p:cNvSpPr txBox="1"/>
          <p:nvPr/>
        </p:nvSpPr>
        <p:spPr>
          <a:xfrm>
            <a:off x="7223760" y="28346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18" name="gcell"/>
          <p:cNvSpPr txBox="1"/>
          <p:nvPr/>
        </p:nvSpPr>
        <p:spPr>
          <a:xfrm>
            <a:off x="7726680" y="28346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19" name="gcell"/>
          <p:cNvSpPr txBox="1"/>
          <p:nvPr/>
        </p:nvSpPr>
        <p:spPr>
          <a:xfrm>
            <a:off x="6217920" y="32918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20" name="gcell"/>
          <p:cNvSpPr txBox="1"/>
          <p:nvPr/>
        </p:nvSpPr>
        <p:spPr>
          <a:xfrm>
            <a:off x="6720840" y="32918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21" name="gcell"/>
          <p:cNvSpPr txBox="1"/>
          <p:nvPr/>
        </p:nvSpPr>
        <p:spPr>
          <a:xfrm>
            <a:off x="7223760" y="32918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22" name="gcell"/>
          <p:cNvSpPr txBox="1"/>
          <p:nvPr/>
        </p:nvSpPr>
        <p:spPr>
          <a:xfrm>
            <a:off x="7726680" y="32918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23" name="gcell"/>
          <p:cNvSpPr txBox="1"/>
          <p:nvPr/>
        </p:nvSpPr>
        <p:spPr>
          <a:xfrm>
            <a:off x="6217920" y="37490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24" name="gcell"/>
          <p:cNvSpPr txBox="1"/>
          <p:nvPr/>
        </p:nvSpPr>
        <p:spPr>
          <a:xfrm>
            <a:off x="6720840" y="37490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25" name="gcell"/>
          <p:cNvSpPr txBox="1"/>
          <p:nvPr/>
        </p:nvSpPr>
        <p:spPr>
          <a:xfrm>
            <a:off x="7223760" y="37490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26" name="gcell"/>
          <p:cNvSpPr txBox="1"/>
          <p:nvPr/>
        </p:nvSpPr>
        <p:spPr>
          <a:xfrm>
            <a:off x="7726680" y="3749040"/>
            <a:ext cx="502920" cy="45720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27" name="glab"/>
          <p:cNvSpPr txBox="1"/>
          <p:nvPr/>
        </p:nvSpPr>
        <p:spPr>
          <a:xfrm>
            <a:off x="617220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s0</a:t>
            </a:r>
            <a:endParaRPr lang="en-US" sz="1400" dirty="0"/>
          </a:p>
        </p:txBody>
      </p:sp>
      <p:sp>
        <p:nvSpPr>
          <p:cNvPr id="28" name="glab"/>
          <p:cNvSpPr txBox="1"/>
          <p:nvPr/>
        </p:nvSpPr>
        <p:spPr>
          <a:xfrm>
            <a:off x="667512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s1</a:t>
            </a:r>
            <a:endParaRPr lang="en-US" sz="1400" dirty="0"/>
          </a:p>
        </p:txBody>
      </p:sp>
      <p:sp>
        <p:nvSpPr>
          <p:cNvPr id="29" name="glab"/>
          <p:cNvSpPr txBox="1"/>
          <p:nvPr/>
        </p:nvSpPr>
        <p:spPr>
          <a:xfrm>
            <a:off x="717804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s2</a:t>
            </a:r>
            <a:endParaRPr lang="en-US" sz="1400" dirty="0"/>
          </a:p>
        </p:txBody>
      </p:sp>
      <p:sp>
        <p:nvSpPr>
          <p:cNvPr id="30" name="glab"/>
          <p:cNvSpPr txBox="1"/>
          <p:nvPr/>
        </p:nvSpPr>
        <p:spPr>
          <a:xfrm>
            <a:off x="768096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s3</a:t>
            </a:r>
            <a:endParaRPr lang="en-US" sz="1400" dirty="0"/>
          </a:p>
        </p:txBody>
      </p:sp>
      <p:sp>
        <p:nvSpPr>
          <p:cNvPr id="31" name="glab"/>
          <p:cNvSpPr txBox="1"/>
          <p:nvPr/>
        </p:nvSpPr>
        <p:spPr>
          <a:xfrm>
            <a:off x="5760720" y="23774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i=0</a:t>
            </a:r>
            <a:endParaRPr lang="en-US" sz="1400" dirty="0"/>
          </a:p>
        </p:txBody>
      </p:sp>
      <p:sp>
        <p:nvSpPr>
          <p:cNvPr id="32" name="glab"/>
          <p:cNvSpPr txBox="1"/>
          <p:nvPr/>
        </p:nvSpPr>
        <p:spPr>
          <a:xfrm>
            <a:off x="5760720" y="28346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i=1</a:t>
            </a:r>
            <a:endParaRPr lang="en-US" sz="1400" dirty="0"/>
          </a:p>
        </p:txBody>
      </p:sp>
      <p:sp>
        <p:nvSpPr>
          <p:cNvPr id="33" name="glab"/>
          <p:cNvSpPr txBox="1"/>
          <p:nvPr/>
        </p:nvSpPr>
        <p:spPr>
          <a:xfrm>
            <a:off x="5760720" y="32918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i=2</a:t>
            </a:r>
            <a:endParaRPr lang="en-US" sz="1400" dirty="0"/>
          </a:p>
        </p:txBody>
      </p:sp>
      <p:sp>
        <p:nvSpPr>
          <p:cNvPr id="34" name="glab"/>
          <p:cNvSpPr txBox="1"/>
          <p:nvPr/>
        </p:nvSpPr>
        <p:spPr>
          <a:xfrm>
            <a:off x="5760720" y="37490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i=3</a:t>
            </a:r>
            <a:endParaRPr lang="en-US" sz="1400" dirty="0"/>
          </a:p>
        </p:txBody>
      </p:sp>
      <p:sp>
        <p:nvSpPr>
          <p:cNvPr id="35" name="gtitle"/>
          <p:cNvSpPr txBox="1"/>
          <p:nvPr/>
        </p:nvSpPr>
        <p:spPr>
          <a:xfrm>
            <a:off x="6035040" y="1865376"/>
            <a:ext cx="2377440" cy="256032"/>
          </a:xfrm>
          <a:prstGeom prst="rect">
            <a:avLst/>
          </a:prstGeom>
          <a:noFill/>
          <a:ln/>
        </p:spPr>
        <p:txBody>
          <a:bodyPr wrap="square" lIns="0" tIns="0" rIns="0" bIns="0" rtlCol="0" anchor="b"/>
          <a:lstStyle/>
          <a:p>
            <a:pPr algn="ctr" indent="0" marL="0">
              <a:buNone/>
            </a:pPr>
            <a:r>
              <a:rPr lang="en-US" sz="1200" b="1" dirty="0">
                <a:solidFill>
                  <a:srgbClr val="1E2A32"/>
                </a:solidFill>
                <a:latin typeface="Calibri" pitchFamily="34" charset="0"/>
                <a:ea typeface="Calibri" pitchFamily="34" charset="-122"/>
                <a:cs typeface="Calibri" pitchFamily="34" charset="-120"/>
              </a:rPr>
              <a:t>Unswizzled: slot holds column</a:t>
            </a:r>
            <a:endParaRPr lang="en-US" sz="1200" dirty="0"/>
          </a:p>
        </p:txBody>
      </p:sp>
      <p:sp>
        <p:nvSpPr>
          <p:cNvPr id="36" name="gcell"/>
          <p:cNvSpPr txBox="1"/>
          <p:nvPr/>
        </p:nvSpPr>
        <p:spPr>
          <a:xfrm>
            <a:off x="9189720" y="23774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37" name="gcell"/>
          <p:cNvSpPr txBox="1"/>
          <p:nvPr/>
        </p:nvSpPr>
        <p:spPr>
          <a:xfrm>
            <a:off x="9692640" y="23774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38" name="gcell"/>
          <p:cNvSpPr txBox="1"/>
          <p:nvPr/>
        </p:nvSpPr>
        <p:spPr>
          <a:xfrm>
            <a:off x="10195560" y="23774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39" name="gcell"/>
          <p:cNvSpPr txBox="1"/>
          <p:nvPr/>
        </p:nvSpPr>
        <p:spPr>
          <a:xfrm>
            <a:off x="10698480" y="23774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40" name="gcell"/>
          <p:cNvSpPr txBox="1"/>
          <p:nvPr/>
        </p:nvSpPr>
        <p:spPr>
          <a:xfrm>
            <a:off x="9189720" y="28346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2</a:t>
            </a:r>
            <a:endParaRPr lang="en-US" sz="1500" dirty="0"/>
          </a:p>
        </p:txBody>
      </p:sp>
      <p:sp>
        <p:nvSpPr>
          <p:cNvPr id="41" name="gcell"/>
          <p:cNvSpPr txBox="1"/>
          <p:nvPr/>
        </p:nvSpPr>
        <p:spPr>
          <a:xfrm>
            <a:off x="9692640" y="28346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3</a:t>
            </a:r>
            <a:endParaRPr lang="en-US" sz="1500" dirty="0"/>
          </a:p>
        </p:txBody>
      </p:sp>
      <p:sp>
        <p:nvSpPr>
          <p:cNvPr id="42" name="gcell"/>
          <p:cNvSpPr txBox="1"/>
          <p:nvPr/>
        </p:nvSpPr>
        <p:spPr>
          <a:xfrm>
            <a:off x="10195560" y="28346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0</a:t>
            </a:r>
            <a:endParaRPr lang="en-US" sz="1500" dirty="0"/>
          </a:p>
        </p:txBody>
      </p:sp>
      <p:sp>
        <p:nvSpPr>
          <p:cNvPr id="43" name="gcell"/>
          <p:cNvSpPr txBox="1"/>
          <p:nvPr/>
        </p:nvSpPr>
        <p:spPr>
          <a:xfrm>
            <a:off x="10698480" y="28346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4" name="gcell"/>
          <p:cNvSpPr txBox="1"/>
          <p:nvPr/>
        </p:nvSpPr>
        <p:spPr>
          <a:xfrm>
            <a:off x="9189720" y="32918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45" name="gcell"/>
          <p:cNvSpPr txBox="1"/>
          <p:nvPr/>
        </p:nvSpPr>
        <p:spPr>
          <a:xfrm>
            <a:off x="9692640" y="32918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46" name="gcell"/>
          <p:cNvSpPr txBox="1"/>
          <p:nvPr/>
        </p:nvSpPr>
        <p:spPr>
          <a:xfrm>
            <a:off x="10195560" y="32918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47" name="gcell"/>
          <p:cNvSpPr txBox="1"/>
          <p:nvPr/>
        </p:nvSpPr>
        <p:spPr>
          <a:xfrm>
            <a:off x="10698480" y="3291840"/>
            <a:ext cx="502920" cy="45720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48" name="gcell"/>
          <p:cNvSpPr txBox="1"/>
          <p:nvPr/>
        </p:nvSpPr>
        <p:spPr>
          <a:xfrm>
            <a:off x="9189720" y="37490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2</a:t>
            </a:r>
            <a:endParaRPr lang="en-US" sz="1500" dirty="0"/>
          </a:p>
        </p:txBody>
      </p:sp>
      <p:sp>
        <p:nvSpPr>
          <p:cNvPr id="49" name="gcell"/>
          <p:cNvSpPr txBox="1"/>
          <p:nvPr/>
        </p:nvSpPr>
        <p:spPr>
          <a:xfrm>
            <a:off x="9692640" y="37490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3</a:t>
            </a:r>
            <a:endParaRPr lang="en-US" sz="1500" dirty="0"/>
          </a:p>
        </p:txBody>
      </p:sp>
      <p:sp>
        <p:nvSpPr>
          <p:cNvPr id="50" name="gcell"/>
          <p:cNvSpPr txBox="1"/>
          <p:nvPr/>
        </p:nvSpPr>
        <p:spPr>
          <a:xfrm>
            <a:off x="10195560" y="37490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0</a:t>
            </a:r>
            <a:endParaRPr lang="en-US" sz="1500" dirty="0"/>
          </a:p>
        </p:txBody>
      </p:sp>
      <p:sp>
        <p:nvSpPr>
          <p:cNvPr id="51" name="gcell"/>
          <p:cNvSpPr txBox="1"/>
          <p:nvPr/>
        </p:nvSpPr>
        <p:spPr>
          <a:xfrm>
            <a:off x="10698480" y="3749040"/>
            <a:ext cx="502920" cy="45720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2" name="glab"/>
          <p:cNvSpPr txBox="1"/>
          <p:nvPr/>
        </p:nvSpPr>
        <p:spPr>
          <a:xfrm>
            <a:off x="914400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s0</a:t>
            </a:r>
            <a:endParaRPr lang="en-US" sz="1400" dirty="0"/>
          </a:p>
        </p:txBody>
      </p:sp>
      <p:sp>
        <p:nvSpPr>
          <p:cNvPr id="53" name="glab"/>
          <p:cNvSpPr txBox="1"/>
          <p:nvPr/>
        </p:nvSpPr>
        <p:spPr>
          <a:xfrm>
            <a:off x="964692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s1</a:t>
            </a:r>
            <a:endParaRPr lang="en-US" sz="1400" dirty="0"/>
          </a:p>
        </p:txBody>
      </p:sp>
      <p:sp>
        <p:nvSpPr>
          <p:cNvPr id="54" name="glab"/>
          <p:cNvSpPr txBox="1"/>
          <p:nvPr/>
        </p:nvSpPr>
        <p:spPr>
          <a:xfrm>
            <a:off x="1014984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s2</a:t>
            </a:r>
            <a:endParaRPr lang="en-US" sz="1400" dirty="0"/>
          </a:p>
        </p:txBody>
      </p:sp>
      <p:sp>
        <p:nvSpPr>
          <p:cNvPr id="55" name="glab"/>
          <p:cNvSpPr txBox="1"/>
          <p:nvPr/>
        </p:nvSpPr>
        <p:spPr>
          <a:xfrm>
            <a:off x="10652760" y="2139696"/>
            <a:ext cx="59436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s3</a:t>
            </a:r>
            <a:endParaRPr lang="en-US" sz="1400" dirty="0"/>
          </a:p>
        </p:txBody>
      </p:sp>
      <p:sp>
        <p:nvSpPr>
          <p:cNvPr id="56" name="glab"/>
          <p:cNvSpPr txBox="1"/>
          <p:nvPr/>
        </p:nvSpPr>
        <p:spPr>
          <a:xfrm>
            <a:off x="8732520" y="23774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ph 0</a:t>
            </a:r>
            <a:endParaRPr lang="en-US" sz="1400" dirty="0"/>
          </a:p>
        </p:txBody>
      </p:sp>
      <p:sp>
        <p:nvSpPr>
          <p:cNvPr id="57" name="glab"/>
          <p:cNvSpPr txBox="1"/>
          <p:nvPr/>
        </p:nvSpPr>
        <p:spPr>
          <a:xfrm>
            <a:off x="8732520" y="28346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ph 1</a:t>
            </a:r>
            <a:endParaRPr lang="en-US" sz="1400" dirty="0"/>
          </a:p>
        </p:txBody>
      </p:sp>
      <p:sp>
        <p:nvSpPr>
          <p:cNvPr id="58" name="glab"/>
          <p:cNvSpPr txBox="1"/>
          <p:nvPr/>
        </p:nvSpPr>
        <p:spPr>
          <a:xfrm>
            <a:off x="8732520" y="32918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ph 0</a:t>
            </a:r>
            <a:endParaRPr lang="en-US" sz="1400" dirty="0"/>
          </a:p>
        </p:txBody>
      </p:sp>
      <p:sp>
        <p:nvSpPr>
          <p:cNvPr id="59" name="glab"/>
          <p:cNvSpPr txBox="1"/>
          <p:nvPr/>
        </p:nvSpPr>
        <p:spPr>
          <a:xfrm>
            <a:off x="8732520" y="3749040"/>
            <a:ext cx="411480"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ph 1</a:t>
            </a:r>
            <a:endParaRPr lang="en-US" sz="1400" dirty="0"/>
          </a:p>
        </p:txBody>
      </p:sp>
      <p:sp>
        <p:nvSpPr>
          <p:cNvPr id="60" name="gtitle"/>
          <p:cNvSpPr txBox="1"/>
          <p:nvPr/>
        </p:nvSpPr>
        <p:spPr>
          <a:xfrm>
            <a:off x="9006840" y="1865376"/>
            <a:ext cx="2377440" cy="256032"/>
          </a:xfrm>
          <a:prstGeom prst="rect">
            <a:avLst/>
          </a:prstGeom>
          <a:noFill/>
          <a:ln/>
        </p:spPr>
        <p:txBody>
          <a:bodyPr wrap="square" lIns="0" tIns="0" rIns="0" bIns="0" rtlCol="0" anchor="b"/>
          <a:lstStyle/>
          <a:p>
            <a:pPr algn="ctr" indent="0" marL="0">
              <a:buNone/>
            </a:pPr>
            <a:r>
              <a:rPr lang="en-US" sz="1200" b="1" dirty="0">
                <a:solidFill>
                  <a:srgbClr val="1E2A32"/>
                </a:solidFill>
                <a:latin typeface="Calibri" pitchFamily="34" charset="0"/>
                <a:ea typeface="Calibri" pitchFamily="34" charset="-122"/>
                <a:cs typeface="Calibri" pitchFamily="34" charset="-120"/>
              </a:rPr>
              <a:t>Swizzled: slot holds column</a:t>
            </a:r>
            <a:endParaRPr lang="en-US" sz="1200" dirty="0"/>
          </a:p>
        </p:txBody>
      </p:sp>
      <p:sp>
        <p:nvSpPr>
          <p:cNvPr id="61" name="Text 57"/>
          <p:cNvSpPr txBox="1"/>
          <p:nvPr/>
        </p:nvSpPr>
        <p:spPr>
          <a:xfrm>
            <a:off x="5852160" y="4389120"/>
            <a:ext cx="5852160" cy="5943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Physical slot sₖ in each row (memory offset 4i + k) holds the logical column shown. Phase-1 rows swap the two column groups.</a:t>
            </a:r>
            <a:endParaRPr lang="en-US" sz="1300" dirty="0"/>
          </a:p>
        </p:txBody>
      </p:sp>
      <p:sp>
        <p:nvSpPr>
          <p:cNvPr id="62" name="callout"/>
          <p:cNvSpPr/>
          <p:nvPr/>
        </p:nvSpPr>
        <p:spPr>
          <a:xfrm>
            <a:off x="5852160" y="4983480"/>
            <a:ext cx="5852160" cy="685800"/>
          </a:xfrm>
          <a:prstGeom prst="roundRect">
            <a:avLst>
              <a:gd name="adj" fmla="val 10667"/>
            </a:avLst>
          </a:prstGeom>
          <a:solidFill>
            <a:srgbClr val="DDEFF1"/>
          </a:solidFill>
          <a:ln/>
        </p:spPr>
      </p:sp>
      <p:sp>
        <p:nvSpPr>
          <p:cNvPr id="63" name="callout-text"/>
          <p:cNvSpPr txBox="1"/>
          <p:nvPr/>
        </p:nvSpPr>
        <p:spPr>
          <a:xfrm>
            <a:off x="5989320" y="5038344"/>
            <a:ext cx="5577840" cy="57607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Same values, </a:t>
            </a:r>
            <a:r>
              <a:rPr lang="en-US" sz="1400" b="1" dirty="0">
                <a:solidFill>
                  <a:srgbClr val="0A4F58"/>
                </a:solidFill>
                <a:latin typeface="Calibri" pitchFamily="34" charset="0"/>
                <a:ea typeface="Calibri" pitchFamily="34" charset="-122"/>
                <a:cs typeface="Calibri" pitchFamily="34" charset="-120"/>
              </a:rPr>
              <a:t>permuted offsets</a:t>
            </a:r>
            <a:r>
              <a:rPr lang="en-US" sz="1400" dirty="0">
                <a:solidFill>
                  <a:srgbClr val="0A4F58"/>
                </a:solidFill>
                <a:latin typeface="Calibri" pitchFamily="34" charset="0"/>
                <a:ea typeface="Calibri" pitchFamily="34" charset="-122"/>
                <a:cs typeface="Calibri" pitchFamily="34" charset="-120"/>
              </a:rPr>
              <a:t>. Group bits and in-group bits never overlap, so “⊕” and “+” agree.</a:t>
            </a:r>
            <a:endParaRPr lang="en-US" sz="1400" dirty="0"/>
          </a:p>
        </p:txBody>
      </p:sp>
      <p:sp>
        <p:nvSpPr>
          <p:cNvPr id="64" name="tag"/>
          <p:cNvSpPr txBox="1"/>
          <p:nvPr/>
        </p:nvSpPr>
        <p:spPr>
          <a:xfrm>
            <a:off x="5852160" y="578815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WHY SWIZZLE?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Swizzling spreads a column across banks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Motivation for Definition 4.11 (bank conflicts), p. 137; simplified bank model</a:t>
            </a:r>
            <a:endParaRPr lang="en-US" sz="1000" dirty="0"/>
          </a:p>
        </p:txBody>
      </p:sp>
      <p:sp>
        <p:nvSpPr>
          <p:cNvPr id="6" name="gcell"/>
          <p:cNvSpPr txBox="1"/>
          <p:nvPr/>
        </p:nvSpPr>
        <p:spPr>
          <a:xfrm>
            <a:off x="1280160" y="2148840"/>
            <a:ext cx="822960" cy="502920"/>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(0,0)</a:t>
            </a:r>
            <a:endParaRPr lang="en-US" sz="1400" dirty="0"/>
          </a:p>
        </p:txBody>
      </p:sp>
      <p:sp>
        <p:nvSpPr>
          <p:cNvPr id="7" name="gcell"/>
          <p:cNvSpPr txBox="1"/>
          <p:nvPr/>
        </p:nvSpPr>
        <p:spPr>
          <a:xfrm>
            <a:off x="2103120" y="214884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(0,1)</a:t>
            </a:r>
            <a:endParaRPr lang="en-US" sz="1400" dirty="0"/>
          </a:p>
        </p:txBody>
      </p:sp>
      <p:sp>
        <p:nvSpPr>
          <p:cNvPr id="8" name="gcell"/>
          <p:cNvSpPr txBox="1"/>
          <p:nvPr/>
        </p:nvSpPr>
        <p:spPr>
          <a:xfrm>
            <a:off x="2926080" y="214884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(0,2)</a:t>
            </a:r>
            <a:endParaRPr lang="en-US" sz="1400" dirty="0"/>
          </a:p>
        </p:txBody>
      </p:sp>
      <p:sp>
        <p:nvSpPr>
          <p:cNvPr id="9" name="gcell"/>
          <p:cNvSpPr txBox="1"/>
          <p:nvPr/>
        </p:nvSpPr>
        <p:spPr>
          <a:xfrm>
            <a:off x="3749040" y="214884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(0,3)</a:t>
            </a:r>
            <a:endParaRPr lang="en-US" sz="1400" dirty="0"/>
          </a:p>
        </p:txBody>
      </p:sp>
      <p:sp>
        <p:nvSpPr>
          <p:cNvPr id="10" name="gcell"/>
          <p:cNvSpPr txBox="1"/>
          <p:nvPr/>
        </p:nvSpPr>
        <p:spPr>
          <a:xfrm>
            <a:off x="1280160" y="2651760"/>
            <a:ext cx="822960" cy="502920"/>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(1,0)</a:t>
            </a:r>
            <a:endParaRPr lang="en-US" sz="1400" dirty="0"/>
          </a:p>
        </p:txBody>
      </p:sp>
      <p:sp>
        <p:nvSpPr>
          <p:cNvPr id="11" name="gcell"/>
          <p:cNvSpPr txBox="1"/>
          <p:nvPr/>
        </p:nvSpPr>
        <p:spPr>
          <a:xfrm>
            <a:off x="2103120" y="265176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(1,1)</a:t>
            </a:r>
            <a:endParaRPr lang="en-US" sz="1400" dirty="0"/>
          </a:p>
        </p:txBody>
      </p:sp>
      <p:sp>
        <p:nvSpPr>
          <p:cNvPr id="12" name="gcell"/>
          <p:cNvSpPr txBox="1"/>
          <p:nvPr/>
        </p:nvSpPr>
        <p:spPr>
          <a:xfrm>
            <a:off x="2926080" y="265176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(1,2)</a:t>
            </a:r>
            <a:endParaRPr lang="en-US" sz="1400" dirty="0"/>
          </a:p>
        </p:txBody>
      </p:sp>
      <p:sp>
        <p:nvSpPr>
          <p:cNvPr id="13" name="gcell"/>
          <p:cNvSpPr txBox="1"/>
          <p:nvPr/>
        </p:nvSpPr>
        <p:spPr>
          <a:xfrm>
            <a:off x="3749040" y="265176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(1,3)</a:t>
            </a:r>
            <a:endParaRPr lang="en-US" sz="1400" dirty="0"/>
          </a:p>
        </p:txBody>
      </p:sp>
      <p:sp>
        <p:nvSpPr>
          <p:cNvPr id="14" name="gcell"/>
          <p:cNvSpPr txBox="1"/>
          <p:nvPr/>
        </p:nvSpPr>
        <p:spPr>
          <a:xfrm>
            <a:off x="1280160" y="3154680"/>
            <a:ext cx="822960" cy="502920"/>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(2,0)</a:t>
            </a:r>
            <a:endParaRPr lang="en-US" sz="1400" dirty="0"/>
          </a:p>
        </p:txBody>
      </p:sp>
      <p:sp>
        <p:nvSpPr>
          <p:cNvPr id="15" name="gcell"/>
          <p:cNvSpPr txBox="1"/>
          <p:nvPr/>
        </p:nvSpPr>
        <p:spPr>
          <a:xfrm>
            <a:off x="2103120" y="315468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(2,1)</a:t>
            </a:r>
            <a:endParaRPr lang="en-US" sz="1400" dirty="0"/>
          </a:p>
        </p:txBody>
      </p:sp>
      <p:sp>
        <p:nvSpPr>
          <p:cNvPr id="16" name="gcell"/>
          <p:cNvSpPr txBox="1"/>
          <p:nvPr/>
        </p:nvSpPr>
        <p:spPr>
          <a:xfrm>
            <a:off x="2926080" y="315468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(2,2)</a:t>
            </a:r>
            <a:endParaRPr lang="en-US" sz="1400" dirty="0"/>
          </a:p>
        </p:txBody>
      </p:sp>
      <p:sp>
        <p:nvSpPr>
          <p:cNvPr id="17" name="gcell"/>
          <p:cNvSpPr txBox="1"/>
          <p:nvPr/>
        </p:nvSpPr>
        <p:spPr>
          <a:xfrm>
            <a:off x="3749040" y="315468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(2,3)</a:t>
            </a:r>
            <a:endParaRPr lang="en-US" sz="1400" dirty="0"/>
          </a:p>
        </p:txBody>
      </p:sp>
      <p:sp>
        <p:nvSpPr>
          <p:cNvPr id="18" name="gcell"/>
          <p:cNvSpPr txBox="1"/>
          <p:nvPr/>
        </p:nvSpPr>
        <p:spPr>
          <a:xfrm>
            <a:off x="1280160" y="3657600"/>
            <a:ext cx="822960" cy="502920"/>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(3,0)</a:t>
            </a:r>
            <a:endParaRPr lang="en-US" sz="1400" dirty="0"/>
          </a:p>
        </p:txBody>
      </p:sp>
      <p:sp>
        <p:nvSpPr>
          <p:cNvPr id="19" name="gcell"/>
          <p:cNvSpPr txBox="1"/>
          <p:nvPr/>
        </p:nvSpPr>
        <p:spPr>
          <a:xfrm>
            <a:off x="2103120" y="365760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(3,1)</a:t>
            </a:r>
            <a:endParaRPr lang="en-US" sz="1400" dirty="0"/>
          </a:p>
        </p:txBody>
      </p:sp>
      <p:sp>
        <p:nvSpPr>
          <p:cNvPr id="20" name="gcell"/>
          <p:cNvSpPr txBox="1"/>
          <p:nvPr/>
        </p:nvSpPr>
        <p:spPr>
          <a:xfrm>
            <a:off x="2926080" y="365760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(3,2)</a:t>
            </a:r>
            <a:endParaRPr lang="en-US" sz="1400" dirty="0"/>
          </a:p>
        </p:txBody>
      </p:sp>
      <p:sp>
        <p:nvSpPr>
          <p:cNvPr id="21" name="gcell"/>
          <p:cNvSpPr txBox="1"/>
          <p:nvPr/>
        </p:nvSpPr>
        <p:spPr>
          <a:xfrm>
            <a:off x="3749040" y="365760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(3,3)</a:t>
            </a:r>
            <a:endParaRPr lang="en-US" sz="1400" dirty="0"/>
          </a:p>
        </p:txBody>
      </p:sp>
      <p:sp>
        <p:nvSpPr>
          <p:cNvPr id="22" name="glab"/>
          <p:cNvSpPr txBox="1"/>
          <p:nvPr/>
        </p:nvSpPr>
        <p:spPr>
          <a:xfrm>
            <a:off x="123444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0</a:t>
            </a:r>
            <a:endParaRPr lang="en-US" sz="1300" dirty="0"/>
          </a:p>
        </p:txBody>
      </p:sp>
      <p:sp>
        <p:nvSpPr>
          <p:cNvPr id="23" name="glab"/>
          <p:cNvSpPr txBox="1"/>
          <p:nvPr/>
        </p:nvSpPr>
        <p:spPr>
          <a:xfrm>
            <a:off x="205740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1</a:t>
            </a:r>
            <a:endParaRPr lang="en-US" sz="1300" dirty="0"/>
          </a:p>
        </p:txBody>
      </p:sp>
      <p:sp>
        <p:nvSpPr>
          <p:cNvPr id="24" name="glab"/>
          <p:cNvSpPr txBox="1"/>
          <p:nvPr/>
        </p:nvSpPr>
        <p:spPr>
          <a:xfrm>
            <a:off x="288036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2</a:t>
            </a:r>
            <a:endParaRPr lang="en-US" sz="1300" dirty="0"/>
          </a:p>
        </p:txBody>
      </p:sp>
      <p:sp>
        <p:nvSpPr>
          <p:cNvPr id="25" name="glab"/>
          <p:cNvSpPr txBox="1"/>
          <p:nvPr/>
        </p:nvSpPr>
        <p:spPr>
          <a:xfrm>
            <a:off x="370332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3</a:t>
            </a:r>
            <a:endParaRPr lang="en-US" sz="1300" dirty="0"/>
          </a:p>
        </p:txBody>
      </p:sp>
      <p:sp>
        <p:nvSpPr>
          <p:cNvPr id="26" name="glab"/>
          <p:cNvSpPr txBox="1"/>
          <p:nvPr/>
        </p:nvSpPr>
        <p:spPr>
          <a:xfrm>
            <a:off x="822960" y="214884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0</a:t>
            </a:r>
            <a:endParaRPr lang="en-US" sz="1300" dirty="0"/>
          </a:p>
        </p:txBody>
      </p:sp>
      <p:sp>
        <p:nvSpPr>
          <p:cNvPr id="27" name="glab"/>
          <p:cNvSpPr txBox="1"/>
          <p:nvPr/>
        </p:nvSpPr>
        <p:spPr>
          <a:xfrm>
            <a:off x="822960" y="265176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1</a:t>
            </a:r>
            <a:endParaRPr lang="en-US" sz="1300" dirty="0"/>
          </a:p>
        </p:txBody>
      </p:sp>
      <p:sp>
        <p:nvSpPr>
          <p:cNvPr id="28" name="glab"/>
          <p:cNvSpPr txBox="1"/>
          <p:nvPr/>
        </p:nvSpPr>
        <p:spPr>
          <a:xfrm>
            <a:off x="822960" y="315468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2</a:t>
            </a:r>
            <a:endParaRPr lang="en-US" sz="1300" dirty="0"/>
          </a:p>
        </p:txBody>
      </p:sp>
      <p:sp>
        <p:nvSpPr>
          <p:cNvPr id="29" name="glab"/>
          <p:cNvSpPr txBox="1"/>
          <p:nvPr/>
        </p:nvSpPr>
        <p:spPr>
          <a:xfrm>
            <a:off x="822960" y="365760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3</a:t>
            </a:r>
            <a:endParaRPr lang="en-US" sz="1300" dirty="0"/>
          </a:p>
        </p:txBody>
      </p:sp>
      <p:sp>
        <p:nvSpPr>
          <p:cNvPr id="30" name="gtitle"/>
          <p:cNvSpPr txBox="1"/>
          <p:nvPr/>
        </p:nvSpPr>
        <p:spPr>
          <a:xfrm>
            <a:off x="1097280" y="1636776"/>
            <a:ext cx="3657600" cy="256032"/>
          </a:xfrm>
          <a:prstGeom prst="rect">
            <a:avLst/>
          </a:prstGeom>
          <a:noFill/>
          <a:ln/>
        </p:spPr>
        <p:txBody>
          <a:bodyPr wrap="square" lIns="0" tIns="0" rIns="0" bIns="0" rtlCol="0" anchor="b"/>
          <a:lstStyle/>
          <a:p>
            <a:pPr algn="ctr" indent="0" marL="0">
              <a:buNone/>
            </a:pPr>
            <a:r>
              <a:rPr lang="en-US" sz="1500" b="1" dirty="0">
                <a:solidFill>
                  <a:srgbClr val="1E2A32"/>
                </a:solidFill>
                <a:latin typeface="Calibri" pitchFamily="34" charset="0"/>
                <a:ea typeface="Calibri" pitchFamily="34" charset="-122"/>
                <a:cs typeface="Calibri" pitchFamily="34" charset="-120"/>
              </a:rPr>
              <a:t>Unswizzled (row-major)</a:t>
            </a:r>
            <a:endParaRPr lang="en-US" sz="1500" dirty="0"/>
          </a:p>
        </p:txBody>
      </p:sp>
      <p:sp>
        <p:nvSpPr>
          <p:cNvPr id="31" name="callout"/>
          <p:cNvSpPr/>
          <p:nvPr/>
        </p:nvSpPr>
        <p:spPr>
          <a:xfrm>
            <a:off x="685800" y="4343400"/>
            <a:ext cx="4754880" cy="731520"/>
          </a:xfrm>
          <a:prstGeom prst="roundRect">
            <a:avLst>
              <a:gd name="adj" fmla="val 10000"/>
            </a:avLst>
          </a:prstGeom>
          <a:solidFill>
            <a:srgbClr val="FBE3E1"/>
          </a:solidFill>
          <a:ln/>
        </p:spPr>
      </p:sp>
      <p:sp>
        <p:nvSpPr>
          <p:cNvPr id="32" name="callout-text"/>
          <p:cNvSpPr txBox="1"/>
          <p:nvPr/>
        </p:nvSpPr>
        <p:spPr>
          <a:xfrm>
            <a:off x="822960" y="4398264"/>
            <a:ext cx="4480560" cy="621792"/>
          </a:xfrm>
          <a:prstGeom prst="rect">
            <a:avLst/>
          </a:prstGeom>
          <a:noFill/>
          <a:ln/>
        </p:spPr>
        <p:txBody>
          <a:bodyPr wrap="square" lIns="0" tIns="0" rIns="0" bIns="0" rtlCol="0" anchor="ctr"/>
          <a:lstStyle/>
          <a:p>
            <a:pPr algn="l" indent="0" marL="0">
              <a:buNone/>
            </a:pPr>
            <a:r>
              <a:rPr lang="en-US" sz="1500" dirty="0">
                <a:solidFill>
                  <a:srgbClr val="B3261E"/>
                </a:solidFill>
                <a:latin typeface="Calibri" pitchFamily="34" charset="0"/>
                <a:ea typeface="Calibri" pitchFamily="34" charset="-122"/>
                <a:cs typeface="Calibri" pitchFamily="34" charset="-120"/>
              </a:rPr>
              <a:t>Threads read column 0 → all in </a:t>
            </a:r>
            <a:r>
              <a:rPr lang="en-US" sz="1500" b="1" dirty="0">
                <a:solidFill>
                  <a:srgbClr val="B3261E"/>
                </a:solidFill>
                <a:latin typeface="Calibri" pitchFamily="34" charset="0"/>
                <a:ea typeface="Calibri" pitchFamily="34" charset="-122"/>
                <a:cs typeface="Calibri" pitchFamily="34" charset="-120"/>
              </a:rPr>
              <a:t>bank 0</a:t>
            </a:r>
            <a:r>
              <a:rPr lang="en-US" sz="1500" dirty="0">
                <a:solidFill>
                  <a:srgbClr val="B3261E"/>
                </a:solidFill>
                <a:latin typeface="Calibri" pitchFamily="34" charset="0"/>
                <a:ea typeface="Calibri" pitchFamily="34" charset="-122"/>
                <a:cs typeface="Calibri" pitchFamily="34" charset="-120"/>
              </a:rPr>
              <a:t> → </a:t>
            </a:r>
            <a:r>
              <a:rPr lang="en-US" sz="1500" b="1" dirty="0">
                <a:solidFill>
                  <a:srgbClr val="B3261E"/>
                </a:solidFill>
                <a:latin typeface="Calibri" pitchFamily="34" charset="0"/>
                <a:ea typeface="Calibri" pitchFamily="34" charset="-122"/>
                <a:cs typeface="Calibri" pitchFamily="34" charset="-120"/>
              </a:rPr>
              <a:t>4-way conflict</a:t>
            </a:r>
            <a:r>
              <a:rPr lang="en-US" sz="1500" dirty="0">
                <a:solidFill>
                  <a:srgbClr val="B3261E"/>
                </a:solidFill>
                <a:latin typeface="Calibri" pitchFamily="34" charset="0"/>
                <a:ea typeface="Calibri" pitchFamily="34" charset="-122"/>
                <a:cs typeface="Calibri" pitchFamily="34" charset="-120"/>
              </a:rPr>
              <a:t> (serialized).</a:t>
            </a:r>
            <a:endParaRPr lang="en-US" sz="1500" dirty="0"/>
          </a:p>
        </p:txBody>
      </p:sp>
      <p:sp>
        <p:nvSpPr>
          <p:cNvPr id="33" name="gcell"/>
          <p:cNvSpPr txBox="1"/>
          <p:nvPr/>
        </p:nvSpPr>
        <p:spPr>
          <a:xfrm>
            <a:off x="7086600" y="2148840"/>
            <a:ext cx="822960" cy="50292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(0,0)</a:t>
            </a:r>
            <a:endParaRPr lang="en-US" sz="1400" dirty="0"/>
          </a:p>
        </p:txBody>
      </p:sp>
      <p:sp>
        <p:nvSpPr>
          <p:cNvPr id="34" name="gcell"/>
          <p:cNvSpPr txBox="1"/>
          <p:nvPr/>
        </p:nvSpPr>
        <p:spPr>
          <a:xfrm>
            <a:off x="7909560" y="214884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(0,1)</a:t>
            </a:r>
            <a:endParaRPr lang="en-US" sz="1400" dirty="0"/>
          </a:p>
        </p:txBody>
      </p:sp>
      <p:sp>
        <p:nvSpPr>
          <p:cNvPr id="35" name="gcell"/>
          <p:cNvSpPr txBox="1"/>
          <p:nvPr/>
        </p:nvSpPr>
        <p:spPr>
          <a:xfrm>
            <a:off x="8732520" y="214884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(0,2)</a:t>
            </a:r>
            <a:endParaRPr lang="en-US" sz="1400" dirty="0"/>
          </a:p>
        </p:txBody>
      </p:sp>
      <p:sp>
        <p:nvSpPr>
          <p:cNvPr id="36" name="gcell"/>
          <p:cNvSpPr txBox="1"/>
          <p:nvPr/>
        </p:nvSpPr>
        <p:spPr>
          <a:xfrm>
            <a:off x="9555480" y="214884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(0,3)</a:t>
            </a:r>
            <a:endParaRPr lang="en-US" sz="1400" dirty="0"/>
          </a:p>
        </p:txBody>
      </p:sp>
      <p:sp>
        <p:nvSpPr>
          <p:cNvPr id="37" name="gcell"/>
          <p:cNvSpPr txBox="1"/>
          <p:nvPr/>
        </p:nvSpPr>
        <p:spPr>
          <a:xfrm>
            <a:off x="7086600" y="265176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(1,1)</a:t>
            </a:r>
            <a:endParaRPr lang="en-US" sz="1400" dirty="0"/>
          </a:p>
        </p:txBody>
      </p:sp>
      <p:sp>
        <p:nvSpPr>
          <p:cNvPr id="38" name="gcell"/>
          <p:cNvSpPr txBox="1"/>
          <p:nvPr/>
        </p:nvSpPr>
        <p:spPr>
          <a:xfrm>
            <a:off x="7909560" y="2651760"/>
            <a:ext cx="822960" cy="50292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(1,0)</a:t>
            </a:r>
            <a:endParaRPr lang="en-US" sz="1400" dirty="0"/>
          </a:p>
        </p:txBody>
      </p:sp>
      <p:sp>
        <p:nvSpPr>
          <p:cNvPr id="39" name="gcell"/>
          <p:cNvSpPr txBox="1"/>
          <p:nvPr/>
        </p:nvSpPr>
        <p:spPr>
          <a:xfrm>
            <a:off x="8732520" y="265176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(1,3)</a:t>
            </a:r>
            <a:endParaRPr lang="en-US" sz="1400" dirty="0"/>
          </a:p>
        </p:txBody>
      </p:sp>
      <p:sp>
        <p:nvSpPr>
          <p:cNvPr id="40" name="gcell"/>
          <p:cNvSpPr txBox="1"/>
          <p:nvPr/>
        </p:nvSpPr>
        <p:spPr>
          <a:xfrm>
            <a:off x="9555480" y="265176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(1,2)</a:t>
            </a:r>
            <a:endParaRPr lang="en-US" sz="1400" dirty="0"/>
          </a:p>
        </p:txBody>
      </p:sp>
      <p:sp>
        <p:nvSpPr>
          <p:cNvPr id="41" name="gcell"/>
          <p:cNvSpPr txBox="1"/>
          <p:nvPr/>
        </p:nvSpPr>
        <p:spPr>
          <a:xfrm>
            <a:off x="7086600" y="315468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(2,2)</a:t>
            </a:r>
            <a:endParaRPr lang="en-US" sz="1400" dirty="0"/>
          </a:p>
        </p:txBody>
      </p:sp>
      <p:sp>
        <p:nvSpPr>
          <p:cNvPr id="42" name="gcell"/>
          <p:cNvSpPr txBox="1"/>
          <p:nvPr/>
        </p:nvSpPr>
        <p:spPr>
          <a:xfrm>
            <a:off x="7909560" y="315468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(2,3)</a:t>
            </a:r>
            <a:endParaRPr lang="en-US" sz="1400" dirty="0"/>
          </a:p>
        </p:txBody>
      </p:sp>
      <p:sp>
        <p:nvSpPr>
          <p:cNvPr id="43" name="gcell"/>
          <p:cNvSpPr txBox="1"/>
          <p:nvPr/>
        </p:nvSpPr>
        <p:spPr>
          <a:xfrm>
            <a:off x="8732520" y="3154680"/>
            <a:ext cx="822960" cy="50292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(2,0)</a:t>
            </a:r>
            <a:endParaRPr lang="en-US" sz="1400" dirty="0"/>
          </a:p>
        </p:txBody>
      </p:sp>
      <p:sp>
        <p:nvSpPr>
          <p:cNvPr id="44" name="gcell"/>
          <p:cNvSpPr txBox="1"/>
          <p:nvPr/>
        </p:nvSpPr>
        <p:spPr>
          <a:xfrm>
            <a:off x="9555480" y="315468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(2,1)</a:t>
            </a:r>
            <a:endParaRPr lang="en-US" sz="1400" dirty="0"/>
          </a:p>
        </p:txBody>
      </p:sp>
      <p:sp>
        <p:nvSpPr>
          <p:cNvPr id="45" name="gcell"/>
          <p:cNvSpPr txBox="1"/>
          <p:nvPr/>
        </p:nvSpPr>
        <p:spPr>
          <a:xfrm>
            <a:off x="7086600" y="365760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(3,3)</a:t>
            </a:r>
            <a:endParaRPr lang="en-US" sz="1400" dirty="0"/>
          </a:p>
        </p:txBody>
      </p:sp>
      <p:sp>
        <p:nvSpPr>
          <p:cNvPr id="46" name="gcell"/>
          <p:cNvSpPr txBox="1"/>
          <p:nvPr/>
        </p:nvSpPr>
        <p:spPr>
          <a:xfrm>
            <a:off x="7909560" y="365760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(3,2)</a:t>
            </a:r>
            <a:endParaRPr lang="en-US" sz="1400" dirty="0"/>
          </a:p>
        </p:txBody>
      </p:sp>
      <p:sp>
        <p:nvSpPr>
          <p:cNvPr id="47" name="gcell"/>
          <p:cNvSpPr txBox="1"/>
          <p:nvPr/>
        </p:nvSpPr>
        <p:spPr>
          <a:xfrm>
            <a:off x="8732520" y="3657600"/>
            <a:ext cx="822960" cy="50292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(3,1)</a:t>
            </a:r>
            <a:endParaRPr lang="en-US" sz="1400" dirty="0"/>
          </a:p>
        </p:txBody>
      </p:sp>
      <p:sp>
        <p:nvSpPr>
          <p:cNvPr id="48" name="gcell"/>
          <p:cNvSpPr txBox="1"/>
          <p:nvPr/>
        </p:nvSpPr>
        <p:spPr>
          <a:xfrm>
            <a:off x="9555480" y="3657600"/>
            <a:ext cx="822960" cy="50292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(3,0)</a:t>
            </a:r>
            <a:endParaRPr lang="en-US" sz="1400" dirty="0"/>
          </a:p>
        </p:txBody>
      </p:sp>
      <p:sp>
        <p:nvSpPr>
          <p:cNvPr id="49" name="glab"/>
          <p:cNvSpPr txBox="1"/>
          <p:nvPr/>
        </p:nvSpPr>
        <p:spPr>
          <a:xfrm>
            <a:off x="704088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0</a:t>
            </a:r>
            <a:endParaRPr lang="en-US" sz="1300" dirty="0"/>
          </a:p>
        </p:txBody>
      </p:sp>
      <p:sp>
        <p:nvSpPr>
          <p:cNvPr id="50" name="glab"/>
          <p:cNvSpPr txBox="1"/>
          <p:nvPr/>
        </p:nvSpPr>
        <p:spPr>
          <a:xfrm>
            <a:off x="786384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1</a:t>
            </a:r>
            <a:endParaRPr lang="en-US" sz="1300" dirty="0"/>
          </a:p>
        </p:txBody>
      </p:sp>
      <p:sp>
        <p:nvSpPr>
          <p:cNvPr id="51" name="glab"/>
          <p:cNvSpPr txBox="1"/>
          <p:nvPr/>
        </p:nvSpPr>
        <p:spPr>
          <a:xfrm>
            <a:off x="868680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2</a:t>
            </a:r>
            <a:endParaRPr lang="en-US" sz="1300" dirty="0"/>
          </a:p>
        </p:txBody>
      </p:sp>
      <p:sp>
        <p:nvSpPr>
          <p:cNvPr id="52" name="glab"/>
          <p:cNvSpPr txBox="1"/>
          <p:nvPr/>
        </p:nvSpPr>
        <p:spPr>
          <a:xfrm>
            <a:off x="9509760" y="1911096"/>
            <a:ext cx="91440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bank 3</a:t>
            </a:r>
            <a:endParaRPr lang="en-US" sz="1300" dirty="0"/>
          </a:p>
        </p:txBody>
      </p:sp>
      <p:sp>
        <p:nvSpPr>
          <p:cNvPr id="53" name="glab"/>
          <p:cNvSpPr txBox="1"/>
          <p:nvPr/>
        </p:nvSpPr>
        <p:spPr>
          <a:xfrm>
            <a:off x="6629400" y="214884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0</a:t>
            </a:r>
            <a:endParaRPr lang="en-US" sz="1300" dirty="0"/>
          </a:p>
        </p:txBody>
      </p:sp>
      <p:sp>
        <p:nvSpPr>
          <p:cNvPr id="54" name="glab"/>
          <p:cNvSpPr txBox="1"/>
          <p:nvPr/>
        </p:nvSpPr>
        <p:spPr>
          <a:xfrm>
            <a:off x="6629400" y="265176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1</a:t>
            </a:r>
            <a:endParaRPr lang="en-US" sz="1300" dirty="0"/>
          </a:p>
        </p:txBody>
      </p:sp>
      <p:sp>
        <p:nvSpPr>
          <p:cNvPr id="55" name="glab"/>
          <p:cNvSpPr txBox="1"/>
          <p:nvPr/>
        </p:nvSpPr>
        <p:spPr>
          <a:xfrm>
            <a:off x="6629400" y="315468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2</a:t>
            </a:r>
            <a:endParaRPr lang="en-US" sz="1300" dirty="0"/>
          </a:p>
        </p:txBody>
      </p:sp>
      <p:sp>
        <p:nvSpPr>
          <p:cNvPr id="56" name="glab"/>
          <p:cNvSpPr txBox="1"/>
          <p:nvPr/>
        </p:nvSpPr>
        <p:spPr>
          <a:xfrm>
            <a:off x="6629400" y="3657600"/>
            <a:ext cx="411480" cy="50292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row 3</a:t>
            </a:r>
            <a:endParaRPr lang="en-US" sz="1300" dirty="0"/>
          </a:p>
        </p:txBody>
      </p:sp>
      <p:sp>
        <p:nvSpPr>
          <p:cNvPr id="57" name="gtitle"/>
          <p:cNvSpPr txBox="1"/>
          <p:nvPr/>
        </p:nvSpPr>
        <p:spPr>
          <a:xfrm>
            <a:off x="6903720" y="1636776"/>
            <a:ext cx="3657600" cy="256032"/>
          </a:xfrm>
          <a:prstGeom prst="rect">
            <a:avLst/>
          </a:prstGeom>
          <a:noFill/>
          <a:ln/>
        </p:spPr>
        <p:txBody>
          <a:bodyPr wrap="square" lIns="0" tIns="0" rIns="0" bIns="0" rtlCol="0" anchor="b"/>
          <a:lstStyle/>
          <a:p>
            <a:pPr algn="ctr" indent="0" marL="0">
              <a:buNone/>
            </a:pPr>
            <a:r>
              <a:rPr lang="en-US" sz="1500" b="1" dirty="0">
                <a:solidFill>
                  <a:srgbClr val="1E2A32"/>
                </a:solidFill>
                <a:latin typeface="Calibri" pitchFamily="34" charset="0"/>
                <a:ea typeface="Calibri" pitchFamily="34" charset="-122"/>
                <a:cs typeface="Calibri" pitchFamily="34" charset="-120"/>
              </a:rPr>
              <a:t>Swizzled: vec=1, per_phase=1, max_phase=4  (j′ = j ⊕ i)</a:t>
            </a:r>
            <a:endParaRPr lang="en-US" sz="1500" dirty="0"/>
          </a:p>
        </p:txBody>
      </p:sp>
      <p:sp>
        <p:nvSpPr>
          <p:cNvPr id="58" name="callout"/>
          <p:cNvSpPr/>
          <p:nvPr/>
        </p:nvSpPr>
        <p:spPr>
          <a:xfrm>
            <a:off x="6492240" y="4343400"/>
            <a:ext cx="5212080" cy="731520"/>
          </a:xfrm>
          <a:prstGeom prst="roundRect">
            <a:avLst>
              <a:gd name="adj" fmla="val 10000"/>
            </a:avLst>
          </a:prstGeom>
          <a:solidFill>
            <a:srgbClr val="E3F2E4"/>
          </a:solidFill>
          <a:ln/>
        </p:spPr>
      </p:sp>
      <p:sp>
        <p:nvSpPr>
          <p:cNvPr id="59" name="callout-text"/>
          <p:cNvSpPr txBox="1"/>
          <p:nvPr/>
        </p:nvSpPr>
        <p:spPr>
          <a:xfrm>
            <a:off x="6629400" y="4398264"/>
            <a:ext cx="4937760" cy="621792"/>
          </a:xfrm>
          <a:prstGeom prst="rect">
            <a:avLst/>
          </a:prstGeom>
          <a:noFill/>
          <a:ln/>
        </p:spPr>
        <p:txBody>
          <a:bodyPr wrap="square" lIns="0" tIns="0" rIns="0" bIns="0" rtlCol="0" anchor="ctr"/>
          <a:lstStyle/>
          <a:p>
            <a:pPr algn="l" indent="0" marL="0">
              <a:buNone/>
            </a:pPr>
            <a:r>
              <a:rPr lang="en-US" sz="1500" dirty="0">
                <a:solidFill>
                  <a:srgbClr val="2E7D32"/>
                </a:solidFill>
                <a:latin typeface="Calibri" pitchFamily="34" charset="0"/>
                <a:ea typeface="Calibri" pitchFamily="34" charset="-122"/>
                <a:cs typeface="Calibri" pitchFamily="34" charset="-120"/>
              </a:rPr>
              <a:t>Column 0 lands in banks </a:t>
            </a:r>
            <a:r>
              <a:rPr lang="en-US" sz="1500" b="1" dirty="0">
                <a:solidFill>
                  <a:srgbClr val="2E7D32"/>
                </a:solidFill>
                <a:latin typeface="Calibri" pitchFamily="34" charset="0"/>
                <a:ea typeface="Calibri" pitchFamily="34" charset="-122"/>
                <a:cs typeface="Calibri" pitchFamily="34" charset="-120"/>
              </a:rPr>
              <a:t>0, 1, 2, 3</a:t>
            </a:r>
            <a:r>
              <a:rPr lang="en-US" sz="1500" dirty="0">
                <a:solidFill>
                  <a:srgbClr val="2E7D32"/>
                </a:solidFill>
                <a:latin typeface="Calibri" pitchFamily="34" charset="0"/>
                <a:ea typeface="Calibri" pitchFamily="34" charset="-122"/>
                <a:cs typeface="Calibri" pitchFamily="34" charset="-120"/>
              </a:rPr>
              <a:t> → </a:t>
            </a:r>
            <a:r>
              <a:rPr lang="en-US" sz="1500" b="1" dirty="0">
                <a:solidFill>
                  <a:srgbClr val="2E7D32"/>
                </a:solidFill>
                <a:latin typeface="Calibri" pitchFamily="34" charset="0"/>
                <a:ea typeface="Calibri" pitchFamily="34" charset="-122"/>
                <a:cs typeface="Calibri" pitchFamily="34" charset="-120"/>
              </a:rPr>
              <a:t>conflict-free</a:t>
            </a:r>
            <a:r>
              <a:rPr lang="en-US" sz="1500" dirty="0">
                <a:solidFill>
                  <a:srgbClr val="2E7D32"/>
                </a:solidFill>
                <a:latin typeface="Calibri" pitchFamily="34" charset="0"/>
                <a:ea typeface="Calibri" pitchFamily="34" charset="-122"/>
                <a:cs typeface="Calibri" pitchFamily="34" charset="-120"/>
              </a:rPr>
              <a:t>. Row reads remain conflict-free.</a:t>
            </a:r>
            <a:endParaRPr lang="en-US" sz="1500" dirty="0"/>
          </a:p>
        </p:txBody>
      </p:sp>
      <p:sp>
        <p:nvSpPr>
          <p:cNvPr id="60" name="Text 57"/>
          <p:cNvSpPr txBox="1"/>
          <p:nvPr/>
        </p:nvSpPr>
        <p:spPr>
          <a:xfrm>
            <a:off x="502920" y="5303520"/>
            <a:ext cx="11201400" cy="50292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Each cell shows the logical (i, j) stored there. Model: 4 banks, slot k of every row is bank k (illustrative; real NVIDIA shared memory has 32 four-byte banks).</a:t>
            </a:r>
            <a:endParaRPr lang="en-US" sz="1300" dirty="0"/>
          </a:p>
        </p:txBody>
      </p:sp>
      <p:sp>
        <p:nvSpPr>
          <p:cNvPr id="61"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PROPOSITION 4.12</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MMA swizzling is linear and invertible: M = [ Iₙ C ; 0 Iₘ ]</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Proposition 4.12 and the structure of C, pp. 137–138</a:t>
            </a:r>
            <a:endParaRPr lang="en-US" sz="1000" dirty="0"/>
          </a:p>
        </p:txBody>
      </p:sp>
      <p:sp>
        <p:nvSpPr>
          <p:cNvPr id="6" name="callout"/>
          <p:cNvSpPr/>
          <p:nvPr/>
        </p:nvSpPr>
        <p:spPr>
          <a:xfrm>
            <a:off x="502920" y="1234440"/>
            <a:ext cx="11201400" cy="685800"/>
          </a:xfrm>
          <a:prstGeom prst="roundRect">
            <a:avLst>
              <a:gd name="adj" fmla="val 10667"/>
            </a:avLst>
          </a:prstGeom>
          <a:solidFill>
            <a:srgbClr val="DDEFF1"/>
          </a:solidFill>
          <a:ln/>
        </p:spPr>
      </p:sp>
      <p:sp>
        <p:nvSpPr>
          <p:cNvPr id="7" name="callout-text"/>
          <p:cNvSpPr txBox="1"/>
          <p:nvPr/>
        </p:nvSpPr>
        <p:spPr>
          <a:xfrm>
            <a:off x="640080" y="1289304"/>
            <a:ext cx="10927080" cy="576072"/>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Proposition 4.12.</a:t>
            </a:r>
            <a:r>
              <a:rPr lang="en-US" sz="1500" dirty="0">
                <a:solidFill>
                  <a:srgbClr val="0A4F58"/>
                </a:solidFill>
                <a:latin typeface="Calibri" pitchFamily="34" charset="0"/>
                <a:ea typeface="Calibri" pitchFamily="34" charset="-122"/>
                <a:cs typeface="Calibri" pitchFamily="34" charset="-120"/>
              </a:rPr>
              <a:t> mma-swizzled layouts are linear (and invertible).  Matrix:  </a:t>
            </a:r>
            <a:r>
              <a:rPr lang="en-US" sz="1500" b="1" dirty="0">
                <a:solidFill>
                  <a:srgbClr val="0A4F58"/>
                </a:solidFill>
                <a:latin typeface="Calibri" pitchFamily="34" charset="0"/>
                <a:ea typeface="Calibri" pitchFamily="34" charset="-122"/>
                <a:cs typeface="Calibri" pitchFamily="34" charset="-120"/>
              </a:rPr>
              <a:t>[ Iₙ  C ; 0  Iₘ ]</a:t>
            </a:r>
            <a:r>
              <a:rPr lang="en-US" sz="1500" dirty="0">
                <a:solidFill>
                  <a:srgbClr val="0A4F58"/>
                </a:solidFill>
                <a:latin typeface="Calibri" pitchFamily="34" charset="0"/>
                <a:ea typeface="Calibri" pitchFamily="34" charset="-122"/>
                <a:cs typeface="Calibri" pitchFamily="34" charset="-120"/>
              </a:rPr>
              <a:t>,  column cᵢ of C = ( vec · ( ⌊2ⁱ / per_phase⌋ mod max_phase ) ) mod 2ⁿ.</a:t>
            </a:r>
            <a:endParaRPr lang="en-US" sz="1500" dirty="0"/>
          </a:p>
        </p:txBody>
      </p:sp>
      <p:sp>
        <p:nvSpPr>
          <p:cNvPr id="8" name="Text 5"/>
          <p:cNvSpPr txBox="1"/>
          <p:nvPr/>
        </p:nvSpPr>
        <p:spPr>
          <a:xfrm>
            <a:off x="502920" y="2057400"/>
            <a:ext cx="3383280" cy="5029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Example: vec = 2, per_phase = 1, max_phase = 2  (n = m = 2)</a:t>
            </a:r>
            <a:endParaRPr lang="en-US" sz="1400" dirty="0"/>
          </a:p>
        </p:txBody>
      </p:sp>
      <p:sp>
        <p:nvSpPr>
          <p:cNvPr id="9" name="Text 6"/>
          <p:cNvSpPr txBox="1"/>
          <p:nvPr/>
        </p:nvSpPr>
        <p:spPr>
          <a:xfrm>
            <a:off x="502920" y="2606040"/>
            <a:ext cx="3383280" cy="640080"/>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c₀ = 2·(1 mod 2) = 2 → [0,1]ᵀ</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c₁ = 2·(2 mod 2) = 0 → [0,0]ᵀ</a:t>
            </a:r>
            <a:endParaRPr lang="en-US" sz="1400" dirty="0"/>
          </a:p>
        </p:txBody>
      </p:sp>
      <p:sp>
        <p:nvSpPr>
          <p:cNvPr id="10" name="mcell"/>
          <p:cNvSpPr txBox="1"/>
          <p:nvPr/>
        </p:nvSpPr>
        <p:spPr>
          <a:xfrm>
            <a:off x="1143000" y="3657600"/>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1" name="mcell"/>
          <p:cNvSpPr txBox="1"/>
          <p:nvPr/>
        </p:nvSpPr>
        <p:spPr>
          <a:xfrm>
            <a:off x="1563624" y="365760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2" name="mcell"/>
          <p:cNvSpPr txBox="1"/>
          <p:nvPr/>
        </p:nvSpPr>
        <p:spPr>
          <a:xfrm>
            <a:off x="1984248" y="3657600"/>
            <a:ext cx="420624" cy="420624"/>
          </a:xfrm>
          <a:prstGeom prst="rect">
            <a:avLst/>
          </a:prstGeom>
          <a:solidFill>
            <a:srgbClr val="FFF0CC"/>
          </a:solidFill>
          <a:ln/>
        </p:spPr>
        <p:txBody>
          <a:bodyPr wrap="square" lIns="0" tIns="0" rIns="0" bIns="0" rtlCol="0" anchor="ctr"/>
          <a:lstStyle/>
          <a:p>
            <a:pPr algn="ctr" indent="0" marL="0">
              <a:buNone/>
            </a:pPr>
            <a:r>
              <a:rPr lang="en-US" sz="1700" dirty="0">
                <a:solidFill>
                  <a:srgbClr val="1E2A32"/>
                </a:solidFill>
                <a:latin typeface="Calibri" pitchFamily="34" charset="0"/>
                <a:ea typeface="Calibri" pitchFamily="34" charset="-122"/>
                <a:cs typeface="Calibri" pitchFamily="34" charset="-120"/>
              </a:rPr>
              <a:t>0</a:t>
            </a:r>
            <a:endParaRPr lang="en-US" sz="1700" dirty="0"/>
          </a:p>
        </p:txBody>
      </p:sp>
      <p:sp>
        <p:nvSpPr>
          <p:cNvPr id="13" name="mcell"/>
          <p:cNvSpPr txBox="1"/>
          <p:nvPr/>
        </p:nvSpPr>
        <p:spPr>
          <a:xfrm>
            <a:off x="2404872" y="3657600"/>
            <a:ext cx="420624" cy="420624"/>
          </a:xfrm>
          <a:prstGeom prst="rect">
            <a:avLst/>
          </a:prstGeom>
          <a:solidFill>
            <a:srgbClr val="FFF0CC"/>
          </a:solidFill>
          <a:ln/>
        </p:spPr>
        <p:txBody>
          <a:bodyPr wrap="square" lIns="0" tIns="0" rIns="0" bIns="0" rtlCol="0" anchor="ctr"/>
          <a:lstStyle/>
          <a:p>
            <a:pPr algn="ctr" indent="0" marL="0">
              <a:buNone/>
            </a:pPr>
            <a:r>
              <a:rPr lang="en-US" sz="1700" dirty="0">
                <a:solidFill>
                  <a:srgbClr val="1E2A32"/>
                </a:solidFill>
                <a:latin typeface="Calibri" pitchFamily="34" charset="0"/>
                <a:ea typeface="Calibri" pitchFamily="34" charset="-122"/>
                <a:cs typeface="Calibri" pitchFamily="34" charset="-120"/>
              </a:rPr>
              <a:t>0</a:t>
            </a:r>
            <a:endParaRPr lang="en-US" sz="1700" dirty="0"/>
          </a:p>
        </p:txBody>
      </p:sp>
      <p:sp>
        <p:nvSpPr>
          <p:cNvPr id="14" name="mcell"/>
          <p:cNvSpPr txBox="1"/>
          <p:nvPr/>
        </p:nvSpPr>
        <p:spPr>
          <a:xfrm>
            <a:off x="1143000" y="407822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5" name="mcell"/>
          <p:cNvSpPr txBox="1"/>
          <p:nvPr/>
        </p:nvSpPr>
        <p:spPr>
          <a:xfrm>
            <a:off x="1563624" y="4078224"/>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6" name="mcell"/>
          <p:cNvSpPr txBox="1"/>
          <p:nvPr/>
        </p:nvSpPr>
        <p:spPr>
          <a:xfrm>
            <a:off x="1984248" y="4078224"/>
            <a:ext cx="420624" cy="420624"/>
          </a:xfrm>
          <a:prstGeom prst="rect">
            <a:avLst/>
          </a:prstGeom>
          <a:solidFill>
            <a:srgbClr val="FFF0CC"/>
          </a:solid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7" name="mcell"/>
          <p:cNvSpPr txBox="1"/>
          <p:nvPr/>
        </p:nvSpPr>
        <p:spPr>
          <a:xfrm>
            <a:off x="2404872" y="4078224"/>
            <a:ext cx="420624" cy="420624"/>
          </a:xfrm>
          <a:prstGeom prst="rect">
            <a:avLst/>
          </a:prstGeom>
          <a:solidFill>
            <a:srgbClr val="FFF0CC"/>
          </a:solidFill>
          <a:ln/>
        </p:spPr>
        <p:txBody>
          <a:bodyPr wrap="square" lIns="0" tIns="0" rIns="0" bIns="0" rtlCol="0" anchor="ctr"/>
          <a:lstStyle/>
          <a:p>
            <a:pPr algn="ctr" indent="0" marL="0">
              <a:buNone/>
            </a:pPr>
            <a:r>
              <a:rPr lang="en-US" sz="1700" dirty="0">
                <a:solidFill>
                  <a:srgbClr val="1E2A32"/>
                </a:solidFill>
                <a:latin typeface="Calibri" pitchFamily="34" charset="0"/>
                <a:ea typeface="Calibri" pitchFamily="34" charset="-122"/>
                <a:cs typeface="Calibri" pitchFamily="34" charset="-120"/>
              </a:rPr>
              <a:t>0</a:t>
            </a:r>
            <a:endParaRPr lang="en-US" sz="1700" dirty="0"/>
          </a:p>
        </p:txBody>
      </p:sp>
      <p:sp>
        <p:nvSpPr>
          <p:cNvPr id="18" name="mcell"/>
          <p:cNvSpPr txBox="1"/>
          <p:nvPr/>
        </p:nvSpPr>
        <p:spPr>
          <a:xfrm>
            <a:off x="1143000" y="449884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9" name="mcell"/>
          <p:cNvSpPr txBox="1"/>
          <p:nvPr/>
        </p:nvSpPr>
        <p:spPr>
          <a:xfrm>
            <a:off x="1563624" y="449884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0" name="mcell"/>
          <p:cNvSpPr txBox="1"/>
          <p:nvPr/>
        </p:nvSpPr>
        <p:spPr>
          <a:xfrm>
            <a:off x="1984248" y="4498848"/>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21" name="mcell"/>
          <p:cNvSpPr txBox="1"/>
          <p:nvPr/>
        </p:nvSpPr>
        <p:spPr>
          <a:xfrm>
            <a:off x="2404872" y="449884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2" name="mcell"/>
          <p:cNvSpPr txBox="1"/>
          <p:nvPr/>
        </p:nvSpPr>
        <p:spPr>
          <a:xfrm>
            <a:off x="1143000" y="4919472"/>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3" name="mcell"/>
          <p:cNvSpPr txBox="1"/>
          <p:nvPr/>
        </p:nvSpPr>
        <p:spPr>
          <a:xfrm>
            <a:off x="1563624" y="4919472"/>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4" name="mcell"/>
          <p:cNvSpPr txBox="1"/>
          <p:nvPr/>
        </p:nvSpPr>
        <p:spPr>
          <a:xfrm>
            <a:off x="1984248" y="4919472"/>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25" name="mcell"/>
          <p:cNvSpPr txBox="1"/>
          <p:nvPr/>
        </p:nvSpPr>
        <p:spPr>
          <a:xfrm>
            <a:off x="2404872" y="4919472"/>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26" name="msep"/>
          <p:cNvSpPr/>
          <p:nvPr/>
        </p:nvSpPr>
        <p:spPr>
          <a:xfrm>
            <a:off x="1984248" y="3675888"/>
            <a:ext cx="0" cy="1645920"/>
          </a:xfrm>
          <a:prstGeom prst="line">
            <a:avLst/>
          </a:prstGeom>
          <a:noFill/>
          <a:ln w="9525">
            <a:solidFill>
              <a:srgbClr val="5B6770"/>
            </a:solidFill>
            <a:prstDash val="dash"/>
          </a:ln>
        </p:spPr>
      </p:sp>
      <p:sp>
        <p:nvSpPr>
          <p:cNvPr id="27" name="msep"/>
          <p:cNvSpPr/>
          <p:nvPr/>
        </p:nvSpPr>
        <p:spPr>
          <a:xfrm>
            <a:off x="1161288" y="4498848"/>
            <a:ext cx="1645920" cy="0"/>
          </a:xfrm>
          <a:prstGeom prst="line">
            <a:avLst/>
          </a:prstGeom>
          <a:noFill/>
          <a:ln w="9525">
            <a:solidFill>
              <a:srgbClr val="5B6770"/>
            </a:solidFill>
            <a:prstDash val="dash"/>
          </a:ln>
        </p:spPr>
      </p:sp>
      <p:sp>
        <p:nvSpPr>
          <p:cNvPr id="28" name="mbr"/>
          <p:cNvSpPr/>
          <p:nvPr/>
        </p:nvSpPr>
        <p:spPr>
          <a:xfrm>
            <a:off x="1115568" y="3630168"/>
            <a:ext cx="0" cy="1737360"/>
          </a:xfrm>
          <a:prstGeom prst="line">
            <a:avLst/>
          </a:prstGeom>
          <a:noFill/>
          <a:ln w="15875">
            <a:solidFill>
              <a:srgbClr val="1E2A32"/>
            </a:solidFill>
            <a:prstDash val="solid"/>
          </a:ln>
        </p:spPr>
      </p:sp>
      <p:sp>
        <p:nvSpPr>
          <p:cNvPr id="29" name="mbr"/>
          <p:cNvSpPr/>
          <p:nvPr/>
        </p:nvSpPr>
        <p:spPr>
          <a:xfrm>
            <a:off x="1115568" y="3630168"/>
            <a:ext cx="73152" cy="0"/>
          </a:xfrm>
          <a:prstGeom prst="line">
            <a:avLst/>
          </a:prstGeom>
          <a:noFill/>
          <a:ln w="15875">
            <a:solidFill>
              <a:srgbClr val="1E2A32"/>
            </a:solidFill>
            <a:prstDash val="solid"/>
          </a:ln>
        </p:spPr>
      </p:sp>
      <p:sp>
        <p:nvSpPr>
          <p:cNvPr id="30" name="mbr"/>
          <p:cNvSpPr/>
          <p:nvPr/>
        </p:nvSpPr>
        <p:spPr>
          <a:xfrm>
            <a:off x="1115568" y="5367528"/>
            <a:ext cx="73152" cy="0"/>
          </a:xfrm>
          <a:prstGeom prst="line">
            <a:avLst/>
          </a:prstGeom>
          <a:noFill/>
          <a:ln w="15875">
            <a:solidFill>
              <a:srgbClr val="1E2A32"/>
            </a:solidFill>
            <a:prstDash val="solid"/>
          </a:ln>
        </p:spPr>
      </p:sp>
      <p:sp>
        <p:nvSpPr>
          <p:cNvPr id="31" name="mbr"/>
          <p:cNvSpPr/>
          <p:nvPr/>
        </p:nvSpPr>
        <p:spPr>
          <a:xfrm>
            <a:off x="2852928" y="3630168"/>
            <a:ext cx="0" cy="1737360"/>
          </a:xfrm>
          <a:prstGeom prst="line">
            <a:avLst/>
          </a:prstGeom>
          <a:noFill/>
          <a:ln w="15875">
            <a:solidFill>
              <a:srgbClr val="1E2A32"/>
            </a:solidFill>
            <a:prstDash val="solid"/>
          </a:ln>
        </p:spPr>
      </p:sp>
      <p:sp>
        <p:nvSpPr>
          <p:cNvPr id="32" name="mbr"/>
          <p:cNvSpPr/>
          <p:nvPr/>
        </p:nvSpPr>
        <p:spPr>
          <a:xfrm>
            <a:off x="2779776" y="3630168"/>
            <a:ext cx="73152" cy="0"/>
          </a:xfrm>
          <a:prstGeom prst="line">
            <a:avLst/>
          </a:prstGeom>
          <a:noFill/>
          <a:ln w="15875">
            <a:solidFill>
              <a:srgbClr val="1E2A32"/>
            </a:solidFill>
            <a:prstDash val="solid"/>
          </a:ln>
        </p:spPr>
      </p:sp>
      <p:sp>
        <p:nvSpPr>
          <p:cNvPr id="33" name="mbr"/>
          <p:cNvSpPr/>
          <p:nvPr/>
        </p:nvSpPr>
        <p:spPr>
          <a:xfrm>
            <a:off x="2779776" y="5367528"/>
            <a:ext cx="73152" cy="0"/>
          </a:xfrm>
          <a:prstGeom prst="line">
            <a:avLst/>
          </a:prstGeom>
          <a:noFill/>
          <a:ln w="15875">
            <a:solidFill>
              <a:srgbClr val="1E2A32"/>
            </a:solidFill>
            <a:prstDash val="solid"/>
          </a:ln>
        </p:spPr>
      </p:sp>
      <p:sp>
        <p:nvSpPr>
          <p:cNvPr id="34" name="mlab"/>
          <p:cNvSpPr txBox="1"/>
          <p:nvPr/>
        </p:nvSpPr>
        <p:spPr>
          <a:xfrm>
            <a:off x="1097280" y="341985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o₀</a:t>
            </a:r>
            <a:endParaRPr lang="en-US" sz="1400" dirty="0"/>
          </a:p>
        </p:txBody>
      </p:sp>
      <p:sp>
        <p:nvSpPr>
          <p:cNvPr id="35" name="mlab"/>
          <p:cNvSpPr txBox="1"/>
          <p:nvPr/>
        </p:nvSpPr>
        <p:spPr>
          <a:xfrm>
            <a:off x="1517904" y="341985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o₁</a:t>
            </a:r>
            <a:endParaRPr lang="en-US" sz="1400" dirty="0"/>
          </a:p>
        </p:txBody>
      </p:sp>
      <p:sp>
        <p:nvSpPr>
          <p:cNvPr id="36" name="mlab"/>
          <p:cNvSpPr txBox="1"/>
          <p:nvPr/>
        </p:nvSpPr>
        <p:spPr>
          <a:xfrm>
            <a:off x="1938528" y="341985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o₂</a:t>
            </a:r>
            <a:endParaRPr lang="en-US" sz="1400" dirty="0"/>
          </a:p>
        </p:txBody>
      </p:sp>
      <p:sp>
        <p:nvSpPr>
          <p:cNvPr id="37" name="mlab"/>
          <p:cNvSpPr txBox="1"/>
          <p:nvPr/>
        </p:nvSpPr>
        <p:spPr>
          <a:xfrm>
            <a:off x="2359152" y="341985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o₃</a:t>
            </a:r>
            <a:endParaRPr lang="en-US" sz="1400" dirty="0"/>
          </a:p>
        </p:txBody>
      </p:sp>
      <p:sp>
        <p:nvSpPr>
          <p:cNvPr id="38" name="mgrp"/>
          <p:cNvSpPr txBox="1"/>
          <p:nvPr/>
        </p:nvSpPr>
        <p:spPr>
          <a:xfrm>
            <a:off x="1143000" y="3182112"/>
            <a:ext cx="841248"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slot</a:t>
            </a:r>
            <a:endParaRPr lang="en-US" sz="1400" dirty="0"/>
          </a:p>
        </p:txBody>
      </p:sp>
      <p:sp>
        <p:nvSpPr>
          <p:cNvPr id="39" name="mgrp"/>
          <p:cNvSpPr txBox="1"/>
          <p:nvPr/>
        </p:nvSpPr>
        <p:spPr>
          <a:xfrm>
            <a:off x="1984248" y="3182112"/>
            <a:ext cx="841248"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row</a:t>
            </a:r>
            <a:endParaRPr lang="en-US" sz="1400" dirty="0"/>
          </a:p>
        </p:txBody>
      </p:sp>
      <p:sp>
        <p:nvSpPr>
          <p:cNvPr id="40" name="mlab"/>
          <p:cNvSpPr txBox="1"/>
          <p:nvPr/>
        </p:nvSpPr>
        <p:spPr>
          <a:xfrm>
            <a:off x="740664" y="3657600"/>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41" name="mlab"/>
          <p:cNvSpPr txBox="1"/>
          <p:nvPr/>
        </p:nvSpPr>
        <p:spPr>
          <a:xfrm>
            <a:off x="740664" y="4078224"/>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42" name="mlab"/>
          <p:cNvSpPr txBox="1"/>
          <p:nvPr/>
        </p:nvSpPr>
        <p:spPr>
          <a:xfrm>
            <a:off x="740664" y="4498848"/>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i₀</a:t>
            </a:r>
            <a:endParaRPr lang="en-US" sz="1400" dirty="0"/>
          </a:p>
        </p:txBody>
      </p:sp>
      <p:sp>
        <p:nvSpPr>
          <p:cNvPr id="43" name="mlab"/>
          <p:cNvSpPr txBox="1"/>
          <p:nvPr/>
        </p:nvSpPr>
        <p:spPr>
          <a:xfrm>
            <a:off x="740664" y="4919472"/>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i₁</a:t>
            </a:r>
            <a:endParaRPr lang="en-US" sz="1400" dirty="0"/>
          </a:p>
        </p:txBody>
      </p:sp>
      <p:sp>
        <p:nvSpPr>
          <p:cNvPr id="44" name="mname"/>
          <p:cNvSpPr txBox="1"/>
          <p:nvPr/>
        </p:nvSpPr>
        <p:spPr>
          <a:xfrm>
            <a:off x="868680" y="5394960"/>
            <a:ext cx="223113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 : Off → (i, j)</a:t>
            </a:r>
            <a:endParaRPr lang="en-US" sz="1300" dirty="0"/>
          </a:p>
        </p:txBody>
      </p:sp>
      <p:sp>
        <p:nvSpPr>
          <p:cNvPr id="45" name="Text 42"/>
          <p:cNvSpPr txBox="1"/>
          <p:nvPr/>
        </p:nvSpPr>
        <p:spPr>
          <a:xfrm>
            <a:off x="4160520" y="2057400"/>
            <a:ext cx="36576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Trace offset 6 (row 1, slot 2)</a:t>
            </a:r>
            <a:endParaRPr lang="en-US" sz="1500" dirty="0"/>
          </a:p>
        </p:txBody>
      </p:sp>
      <p:sp>
        <p:nvSpPr>
          <p:cNvPr id="46" name="mcol"/>
          <p:cNvSpPr/>
          <p:nvPr/>
        </p:nvSpPr>
        <p:spPr>
          <a:xfrm>
            <a:off x="4654296" y="2697480"/>
            <a:ext cx="310896" cy="1243584"/>
          </a:xfrm>
          <a:prstGeom prst="rect">
            <a:avLst/>
          </a:prstGeom>
          <a:solidFill>
            <a:srgbClr val="FFF0CC"/>
          </a:solidFill>
          <a:ln/>
        </p:spPr>
      </p:sp>
      <p:sp>
        <p:nvSpPr>
          <p:cNvPr id="47" name="mcol"/>
          <p:cNvSpPr/>
          <p:nvPr/>
        </p:nvSpPr>
        <p:spPr>
          <a:xfrm>
            <a:off x="4965192" y="2697480"/>
            <a:ext cx="310896" cy="1243584"/>
          </a:xfrm>
          <a:prstGeom prst="rect">
            <a:avLst/>
          </a:prstGeom>
          <a:solidFill>
            <a:srgbClr val="FFF0CC"/>
          </a:solidFill>
          <a:ln/>
        </p:spPr>
      </p:sp>
      <p:sp>
        <p:nvSpPr>
          <p:cNvPr id="48" name="mcell"/>
          <p:cNvSpPr txBox="1"/>
          <p:nvPr/>
        </p:nvSpPr>
        <p:spPr>
          <a:xfrm>
            <a:off x="4343400" y="269748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9" name="mcell"/>
          <p:cNvSpPr txBox="1"/>
          <p:nvPr/>
        </p:nvSpPr>
        <p:spPr>
          <a:xfrm>
            <a:off x="4654296" y="269748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0" name="mcell"/>
          <p:cNvSpPr txBox="1"/>
          <p:nvPr/>
        </p:nvSpPr>
        <p:spPr>
          <a:xfrm>
            <a:off x="4965192" y="269748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1" name="mcell"/>
          <p:cNvSpPr txBox="1"/>
          <p:nvPr/>
        </p:nvSpPr>
        <p:spPr>
          <a:xfrm>
            <a:off x="5276088" y="269748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2" name="mcell"/>
          <p:cNvSpPr txBox="1"/>
          <p:nvPr/>
        </p:nvSpPr>
        <p:spPr>
          <a:xfrm>
            <a:off x="4343400" y="300837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3" name="mcell"/>
          <p:cNvSpPr txBox="1"/>
          <p:nvPr/>
        </p:nvSpPr>
        <p:spPr>
          <a:xfrm>
            <a:off x="4654296" y="300837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4" name="mcell"/>
          <p:cNvSpPr txBox="1"/>
          <p:nvPr/>
        </p:nvSpPr>
        <p:spPr>
          <a:xfrm>
            <a:off x="4965192" y="300837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5" name="mcell"/>
          <p:cNvSpPr txBox="1"/>
          <p:nvPr/>
        </p:nvSpPr>
        <p:spPr>
          <a:xfrm>
            <a:off x="5276088" y="300837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6" name="mcell"/>
          <p:cNvSpPr txBox="1"/>
          <p:nvPr/>
        </p:nvSpPr>
        <p:spPr>
          <a:xfrm>
            <a:off x="4343400" y="331927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7" name="mcell"/>
          <p:cNvSpPr txBox="1"/>
          <p:nvPr/>
        </p:nvSpPr>
        <p:spPr>
          <a:xfrm>
            <a:off x="4654296" y="331927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58" name="mcell"/>
          <p:cNvSpPr txBox="1"/>
          <p:nvPr/>
        </p:nvSpPr>
        <p:spPr>
          <a:xfrm>
            <a:off x="4965192" y="3319272"/>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9" name="mcell"/>
          <p:cNvSpPr txBox="1"/>
          <p:nvPr/>
        </p:nvSpPr>
        <p:spPr>
          <a:xfrm>
            <a:off x="5276088" y="331927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0" name="mcell"/>
          <p:cNvSpPr txBox="1"/>
          <p:nvPr/>
        </p:nvSpPr>
        <p:spPr>
          <a:xfrm>
            <a:off x="4343400" y="363016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1" name="mcell"/>
          <p:cNvSpPr txBox="1"/>
          <p:nvPr/>
        </p:nvSpPr>
        <p:spPr>
          <a:xfrm>
            <a:off x="4654296" y="363016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2" name="mcell"/>
          <p:cNvSpPr txBox="1"/>
          <p:nvPr/>
        </p:nvSpPr>
        <p:spPr>
          <a:xfrm>
            <a:off x="4965192" y="363016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3" name="mcell"/>
          <p:cNvSpPr txBox="1"/>
          <p:nvPr/>
        </p:nvSpPr>
        <p:spPr>
          <a:xfrm>
            <a:off x="5276088" y="3630168"/>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4" name="mbr"/>
          <p:cNvSpPr/>
          <p:nvPr/>
        </p:nvSpPr>
        <p:spPr>
          <a:xfrm>
            <a:off x="4315968" y="2670048"/>
            <a:ext cx="0" cy="1298448"/>
          </a:xfrm>
          <a:prstGeom prst="line">
            <a:avLst/>
          </a:prstGeom>
          <a:noFill/>
          <a:ln w="15875">
            <a:solidFill>
              <a:srgbClr val="1E2A32"/>
            </a:solidFill>
            <a:prstDash val="solid"/>
          </a:ln>
        </p:spPr>
      </p:sp>
      <p:sp>
        <p:nvSpPr>
          <p:cNvPr id="65" name="mbr"/>
          <p:cNvSpPr/>
          <p:nvPr/>
        </p:nvSpPr>
        <p:spPr>
          <a:xfrm>
            <a:off x="4315968" y="2670048"/>
            <a:ext cx="73152" cy="0"/>
          </a:xfrm>
          <a:prstGeom prst="line">
            <a:avLst/>
          </a:prstGeom>
          <a:noFill/>
          <a:ln w="15875">
            <a:solidFill>
              <a:srgbClr val="1E2A32"/>
            </a:solidFill>
            <a:prstDash val="solid"/>
          </a:ln>
        </p:spPr>
      </p:sp>
      <p:sp>
        <p:nvSpPr>
          <p:cNvPr id="66" name="mbr"/>
          <p:cNvSpPr/>
          <p:nvPr/>
        </p:nvSpPr>
        <p:spPr>
          <a:xfrm>
            <a:off x="4315968" y="3968496"/>
            <a:ext cx="73152" cy="0"/>
          </a:xfrm>
          <a:prstGeom prst="line">
            <a:avLst/>
          </a:prstGeom>
          <a:noFill/>
          <a:ln w="15875">
            <a:solidFill>
              <a:srgbClr val="1E2A32"/>
            </a:solidFill>
            <a:prstDash val="solid"/>
          </a:ln>
        </p:spPr>
      </p:sp>
      <p:sp>
        <p:nvSpPr>
          <p:cNvPr id="67" name="mbr"/>
          <p:cNvSpPr/>
          <p:nvPr/>
        </p:nvSpPr>
        <p:spPr>
          <a:xfrm>
            <a:off x="5614416" y="2670048"/>
            <a:ext cx="0" cy="1298448"/>
          </a:xfrm>
          <a:prstGeom prst="line">
            <a:avLst/>
          </a:prstGeom>
          <a:noFill/>
          <a:ln w="15875">
            <a:solidFill>
              <a:srgbClr val="1E2A32"/>
            </a:solidFill>
            <a:prstDash val="solid"/>
          </a:ln>
        </p:spPr>
      </p:sp>
      <p:sp>
        <p:nvSpPr>
          <p:cNvPr id="68" name="mbr"/>
          <p:cNvSpPr/>
          <p:nvPr/>
        </p:nvSpPr>
        <p:spPr>
          <a:xfrm>
            <a:off x="5541264" y="2670048"/>
            <a:ext cx="73152" cy="0"/>
          </a:xfrm>
          <a:prstGeom prst="line">
            <a:avLst/>
          </a:prstGeom>
          <a:noFill/>
          <a:ln w="15875">
            <a:solidFill>
              <a:srgbClr val="1E2A32"/>
            </a:solidFill>
            <a:prstDash val="solid"/>
          </a:ln>
        </p:spPr>
      </p:sp>
      <p:sp>
        <p:nvSpPr>
          <p:cNvPr id="69" name="mbr"/>
          <p:cNvSpPr/>
          <p:nvPr/>
        </p:nvSpPr>
        <p:spPr>
          <a:xfrm>
            <a:off x="5541264" y="3968496"/>
            <a:ext cx="73152" cy="0"/>
          </a:xfrm>
          <a:prstGeom prst="line">
            <a:avLst/>
          </a:prstGeom>
          <a:noFill/>
          <a:ln w="15875">
            <a:solidFill>
              <a:srgbClr val="1E2A32"/>
            </a:solidFill>
            <a:prstDash val="solid"/>
          </a:ln>
        </p:spPr>
      </p:sp>
      <p:sp>
        <p:nvSpPr>
          <p:cNvPr id="70" name="op"/>
          <p:cNvSpPr txBox="1"/>
          <p:nvPr/>
        </p:nvSpPr>
        <p:spPr>
          <a:xfrm>
            <a:off x="5614416" y="3090672"/>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71" name="mcell"/>
          <p:cNvSpPr txBox="1"/>
          <p:nvPr/>
        </p:nvSpPr>
        <p:spPr>
          <a:xfrm>
            <a:off x="6089904" y="269748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2" name="mcell"/>
          <p:cNvSpPr txBox="1"/>
          <p:nvPr/>
        </p:nvSpPr>
        <p:spPr>
          <a:xfrm>
            <a:off x="6089904" y="300837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3" name="mcell"/>
          <p:cNvSpPr txBox="1"/>
          <p:nvPr/>
        </p:nvSpPr>
        <p:spPr>
          <a:xfrm>
            <a:off x="6089904" y="3319272"/>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4" name="mcell"/>
          <p:cNvSpPr txBox="1"/>
          <p:nvPr/>
        </p:nvSpPr>
        <p:spPr>
          <a:xfrm>
            <a:off x="6089904" y="363016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5" name="mbr"/>
          <p:cNvSpPr/>
          <p:nvPr/>
        </p:nvSpPr>
        <p:spPr>
          <a:xfrm>
            <a:off x="6062472" y="2670048"/>
            <a:ext cx="0" cy="1298448"/>
          </a:xfrm>
          <a:prstGeom prst="line">
            <a:avLst/>
          </a:prstGeom>
          <a:noFill/>
          <a:ln w="15875">
            <a:solidFill>
              <a:srgbClr val="1E2A32"/>
            </a:solidFill>
            <a:prstDash val="solid"/>
          </a:ln>
        </p:spPr>
      </p:sp>
      <p:sp>
        <p:nvSpPr>
          <p:cNvPr id="76" name="mbr"/>
          <p:cNvSpPr/>
          <p:nvPr/>
        </p:nvSpPr>
        <p:spPr>
          <a:xfrm>
            <a:off x="6062472" y="2670048"/>
            <a:ext cx="73152" cy="0"/>
          </a:xfrm>
          <a:prstGeom prst="line">
            <a:avLst/>
          </a:prstGeom>
          <a:noFill/>
          <a:ln w="15875">
            <a:solidFill>
              <a:srgbClr val="1E2A32"/>
            </a:solidFill>
            <a:prstDash val="solid"/>
          </a:ln>
        </p:spPr>
      </p:sp>
      <p:sp>
        <p:nvSpPr>
          <p:cNvPr id="77" name="mbr"/>
          <p:cNvSpPr/>
          <p:nvPr/>
        </p:nvSpPr>
        <p:spPr>
          <a:xfrm>
            <a:off x="6062472" y="3968496"/>
            <a:ext cx="73152" cy="0"/>
          </a:xfrm>
          <a:prstGeom prst="line">
            <a:avLst/>
          </a:prstGeom>
          <a:noFill/>
          <a:ln w="15875">
            <a:solidFill>
              <a:srgbClr val="1E2A32"/>
            </a:solidFill>
            <a:prstDash val="solid"/>
          </a:ln>
        </p:spPr>
      </p:sp>
      <p:sp>
        <p:nvSpPr>
          <p:cNvPr id="78" name="mbr"/>
          <p:cNvSpPr/>
          <p:nvPr/>
        </p:nvSpPr>
        <p:spPr>
          <a:xfrm>
            <a:off x="6428232" y="2670048"/>
            <a:ext cx="0" cy="1298448"/>
          </a:xfrm>
          <a:prstGeom prst="line">
            <a:avLst/>
          </a:prstGeom>
          <a:noFill/>
          <a:ln w="15875">
            <a:solidFill>
              <a:srgbClr val="1E2A32"/>
            </a:solidFill>
            <a:prstDash val="solid"/>
          </a:ln>
        </p:spPr>
      </p:sp>
      <p:sp>
        <p:nvSpPr>
          <p:cNvPr id="79" name="mbr"/>
          <p:cNvSpPr/>
          <p:nvPr/>
        </p:nvSpPr>
        <p:spPr>
          <a:xfrm>
            <a:off x="6355080" y="2670048"/>
            <a:ext cx="73152" cy="0"/>
          </a:xfrm>
          <a:prstGeom prst="line">
            <a:avLst/>
          </a:prstGeom>
          <a:noFill/>
          <a:ln w="15875">
            <a:solidFill>
              <a:srgbClr val="1E2A32"/>
            </a:solidFill>
            <a:prstDash val="solid"/>
          </a:ln>
        </p:spPr>
      </p:sp>
      <p:sp>
        <p:nvSpPr>
          <p:cNvPr id="80" name="mbr"/>
          <p:cNvSpPr/>
          <p:nvPr/>
        </p:nvSpPr>
        <p:spPr>
          <a:xfrm>
            <a:off x="6355080" y="3968496"/>
            <a:ext cx="73152" cy="0"/>
          </a:xfrm>
          <a:prstGeom prst="line">
            <a:avLst/>
          </a:prstGeom>
          <a:noFill/>
          <a:ln w="15875">
            <a:solidFill>
              <a:srgbClr val="1E2A32"/>
            </a:solidFill>
            <a:prstDash val="solid"/>
          </a:ln>
        </p:spPr>
      </p:sp>
      <p:sp>
        <p:nvSpPr>
          <p:cNvPr id="81" name="op"/>
          <p:cNvSpPr txBox="1"/>
          <p:nvPr/>
        </p:nvSpPr>
        <p:spPr>
          <a:xfrm>
            <a:off x="6428232" y="3090672"/>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82" name="mcell"/>
          <p:cNvSpPr txBox="1"/>
          <p:nvPr/>
        </p:nvSpPr>
        <p:spPr>
          <a:xfrm>
            <a:off x="6903720" y="269748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3" name="mcell"/>
          <p:cNvSpPr txBox="1"/>
          <p:nvPr/>
        </p:nvSpPr>
        <p:spPr>
          <a:xfrm>
            <a:off x="6903720" y="300837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4" name="mcell"/>
          <p:cNvSpPr txBox="1"/>
          <p:nvPr/>
        </p:nvSpPr>
        <p:spPr>
          <a:xfrm>
            <a:off x="6903720" y="3319272"/>
            <a:ext cx="310896" cy="310896"/>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5" name="mcell"/>
          <p:cNvSpPr txBox="1"/>
          <p:nvPr/>
        </p:nvSpPr>
        <p:spPr>
          <a:xfrm>
            <a:off x="6903720" y="3630168"/>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6" name="mbr"/>
          <p:cNvSpPr/>
          <p:nvPr/>
        </p:nvSpPr>
        <p:spPr>
          <a:xfrm>
            <a:off x="6876288" y="2670048"/>
            <a:ext cx="0" cy="1298448"/>
          </a:xfrm>
          <a:prstGeom prst="line">
            <a:avLst/>
          </a:prstGeom>
          <a:noFill/>
          <a:ln w="15875">
            <a:solidFill>
              <a:srgbClr val="1E2A32"/>
            </a:solidFill>
            <a:prstDash val="solid"/>
          </a:ln>
        </p:spPr>
      </p:sp>
      <p:sp>
        <p:nvSpPr>
          <p:cNvPr id="87" name="mbr"/>
          <p:cNvSpPr/>
          <p:nvPr/>
        </p:nvSpPr>
        <p:spPr>
          <a:xfrm>
            <a:off x="6876288" y="2670048"/>
            <a:ext cx="73152" cy="0"/>
          </a:xfrm>
          <a:prstGeom prst="line">
            <a:avLst/>
          </a:prstGeom>
          <a:noFill/>
          <a:ln w="15875">
            <a:solidFill>
              <a:srgbClr val="1E2A32"/>
            </a:solidFill>
            <a:prstDash val="solid"/>
          </a:ln>
        </p:spPr>
      </p:sp>
      <p:sp>
        <p:nvSpPr>
          <p:cNvPr id="88" name="mbr"/>
          <p:cNvSpPr/>
          <p:nvPr/>
        </p:nvSpPr>
        <p:spPr>
          <a:xfrm>
            <a:off x="6876288" y="3968496"/>
            <a:ext cx="73152" cy="0"/>
          </a:xfrm>
          <a:prstGeom prst="line">
            <a:avLst/>
          </a:prstGeom>
          <a:noFill/>
          <a:ln w="15875">
            <a:solidFill>
              <a:srgbClr val="1E2A32"/>
            </a:solidFill>
            <a:prstDash val="solid"/>
          </a:ln>
        </p:spPr>
      </p:sp>
      <p:sp>
        <p:nvSpPr>
          <p:cNvPr id="89" name="mbr"/>
          <p:cNvSpPr/>
          <p:nvPr/>
        </p:nvSpPr>
        <p:spPr>
          <a:xfrm>
            <a:off x="7242048" y="2670048"/>
            <a:ext cx="0" cy="1298448"/>
          </a:xfrm>
          <a:prstGeom prst="line">
            <a:avLst/>
          </a:prstGeom>
          <a:noFill/>
          <a:ln w="15875">
            <a:solidFill>
              <a:srgbClr val="1E2A32"/>
            </a:solidFill>
            <a:prstDash val="solid"/>
          </a:ln>
        </p:spPr>
      </p:sp>
      <p:sp>
        <p:nvSpPr>
          <p:cNvPr id="90" name="mbr"/>
          <p:cNvSpPr/>
          <p:nvPr/>
        </p:nvSpPr>
        <p:spPr>
          <a:xfrm>
            <a:off x="7168896" y="2670048"/>
            <a:ext cx="73152" cy="0"/>
          </a:xfrm>
          <a:prstGeom prst="line">
            <a:avLst/>
          </a:prstGeom>
          <a:noFill/>
          <a:ln w="15875">
            <a:solidFill>
              <a:srgbClr val="1E2A32"/>
            </a:solidFill>
            <a:prstDash val="solid"/>
          </a:ln>
        </p:spPr>
      </p:sp>
      <p:sp>
        <p:nvSpPr>
          <p:cNvPr id="91" name="mbr"/>
          <p:cNvSpPr/>
          <p:nvPr/>
        </p:nvSpPr>
        <p:spPr>
          <a:xfrm>
            <a:off x="7168896" y="3968496"/>
            <a:ext cx="73152" cy="0"/>
          </a:xfrm>
          <a:prstGeom prst="line">
            <a:avLst/>
          </a:prstGeom>
          <a:noFill/>
          <a:ln w="15875">
            <a:solidFill>
              <a:srgbClr val="1E2A32"/>
            </a:solidFill>
            <a:prstDash val="solid"/>
          </a:ln>
        </p:spPr>
      </p:sp>
      <p:sp>
        <p:nvSpPr>
          <p:cNvPr id="92" name="Text 89"/>
          <p:cNvSpPr txBox="1"/>
          <p:nvPr/>
        </p:nvSpPr>
        <p:spPr>
          <a:xfrm>
            <a:off x="4160520" y="4069080"/>
            <a:ext cx="3931920" cy="64008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col(o₁) ⊕ col(o₂) = j₁ ⊕ (j₁ ⊕ i₀) = i₀  →  (i, j) = (1, 0) ✓</a:t>
            </a:r>
            <a:endParaRPr lang="en-US" sz="1300" dirty="0"/>
          </a:p>
        </p:txBody>
      </p:sp>
      <p:sp>
        <p:nvSpPr>
          <p:cNvPr id="93" name="Text 90"/>
          <p:cNvSpPr txBox="1"/>
          <p:nvPr/>
        </p:nvSpPr>
        <p:spPr>
          <a:xfrm>
            <a:off x="8321040" y="2057400"/>
            <a:ext cx="338328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Inverse: XOR the phase twice</a:t>
            </a:r>
            <a:endParaRPr lang="en-US" sz="1500" dirty="0"/>
          </a:p>
        </p:txBody>
      </p:sp>
      <p:sp>
        <p:nvSpPr>
          <p:cNvPr id="94" name="mcell"/>
          <p:cNvSpPr txBox="1"/>
          <p:nvPr/>
        </p:nvSpPr>
        <p:spPr>
          <a:xfrm>
            <a:off x="8183880" y="2697480"/>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95" name="mcell"/>
          <p:cNvSpPr txBox="1"/>
          <p:nvPr/>
        </p:nvSpPr>
        <p:spPr>
          <a:xfrm>
            <a:off x="8403336"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96" name="mcell"/>
          <p:cNvSpPr txBox="1"/>
          <p:nvPr/>
        </p:nvSpPr>
        <p:spPr>
          <a:xfrm>
            <a:off x="8622792"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97" name="mcell"/>
          <p:cNvSpPr txBox="1"/>
          <p:nvPr/>
        </p:nvSpPr>
        <p:spPr>
          <a:xfrm>
            <a:off x="8842248"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98" name="mcell"/>
          <p:cNvSpPr txBox="1"/>
          <p:nvPr/>
        </p:nvSpPr>
        <p:spPr>
          <a:xfrm>
            <a:off x="8183880"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99" name="mcell"/>
          <p:cNvSpPr txBox="1"/>
          <p:nvPr/>
        </p:nvSpPr>
        <p:spPr>
          <a:xfrm>
            <a:off x="8403336" y="2916936"/>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00" name="mcell"/>
          <p:cNvSpPr txBox="1"/>
          <p:nvPr/>
        </p:nvSpPr>
        <p:spPr>
          <a:xfrm>
            <a:off x="8622792" y="2916936"/>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01" name="mcell"/>
          <p:cNvSpPr txBox="1"/>
          <p:nvPr/>
        </p:nvSpPr>
        <p:spPr>
          <a:xfrm>
            <a:off x="8842248"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2" name="mcell"/>
          <p:cNvSpPr txBox="1"/>
          <p:nvPr/>
        </p:nvSpPr>
        <p:spPr>
          <a:xfrm>
            <a:off x="8183880"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3" name="mcell"/>
          <p:cNvSpPr txBox="1"/>
          <p:nvPr/>
        </p:nvSpPr>
        <p:spPr>
          <a:xfrm>
            <a:off x="8403336"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4" name="mcell"/>
          <p:cNvSpPr txBox="1"/>
          <p:nvPr/>
        </p:nvSpPr>
        <p:spPr>
          <a:xfrm>
            <a:off x="8622792" y="3136392"/>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05" name="mcell"/>
          <p:cNvSpPr txBox="1"/>
          <p:nvPr/>
        </p:nvSpPr>
        <p:spPr>
          <a:xfrm>
            <a:off x="8842248"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6" name="mcell"/>
          <p:cNvSpPr txBox="1"/>
          <p:nvPr/>
        </p:nvSpPr>
        <p:spPr>
          <a:xfrm>
            <a:off x="8183880"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7" name="mcell"/>
          <p:cNvSpPr txBox="1"/>
          <p:nvPr/>
        </p:nvSpPr>
        <p:spPr>
          <a:xfrm>
            <a:off x="8403336"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8" name="mcell"/>
          <p:cNvSpPr txBox="1"/>
          <p:nvPr/>
        </p:nvSpPr>
        <p:spPr>
          <a:xfrm>
            <a:off x="8622792"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09" name="mcell"/>
          <p:cNvSpPr txBox="1"/>
          <p:nvPr/>
        </p:nvSpPr>
        <p:spPr>
          <a:xfrm>
            <a:off x="8842248" y="3355848"/>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10" name="mbr"/>
          <p:cNvSpPr/>
          <p:nvPr/>
        </p:nvSpPr>
        <p:spPr>
          <a:xfrm>
            <a:off x="8156448" y="2670048"/>
            <a:ext cx="0" cy="932688"/>
          </a:xfrm>
          <a:prstGeom prst="line">
            <a:avLst/>
          </a:prstGeom>
          <a:noFill/>
          <a:ln w="15875">
            <a:solidFill>
              <a:srgbClr val="1E2A32"/>
            </a:solidFill>
            <a:prstDash val="solid"/>
          </a:ln>
        </p:spPr>
      </p:sp>
      <p:sp>
        <p:nvSpPr>
          <p:cNvPr id="111" name="mbr"/>
          <p:cNvSpPr/>
          <p:nvPr/>
        </p:nvSpPr>
        <p:spPr>
          <a:xfrm>
            <a:off x="8156448" y="2670048"/>
            <a:ext cx="65837" cy="0"/>
          </a:xfrm>
          <a:prstGeom prst="line">
            <a:avLst/>
          </a:prstGeom>
          <a:noFill/>
          <a:ln w="15875">
            <a:solidFill>
              <a:srgbClr val="1E2A32"/>
            </a:solidFill>
            <a:prstDash val="solid"/>
          </a:ln>
        </p:spPr>
      </p:sp>
      <p:sp>
        <p:nvSpPr>
          <p:cNvPr id="112" name="mbr"/>
          <p:cNvSpPr/>
          <p:nvPr/>
        </p:nvSpPr>
        <p:spPr>
          <a:xfrm>
            <a:off x="8156448" y="3602736"/>
            <a:ext cx="65837" cy="0"/>
          </a:xfrm>
          <a:prstGeom prst="line">
            <a:avLst/>
          </a:prstGeom>
          <a:noFill/>
          <a:ln w="15875">
            <a:solidFill>
              <a:srgbClr val="1E2A32"/>
            </a:solidFill>
            <a:prstDash val="solid"/>
          </a:ln>
        </p:spPr>
      </p:sp>
      <p:sp>
        <p:nvSpPr>
          <p:cNvPr id="113" name="mbr"/>
          <p:cNvSpPr/>
          <p:nvPr/>
        </p:nvSpPr>
        <p:spPr>
          <a:xfrm>
            <a:off x="9089136" y="2670048"/>
            <a:ext cx="0" cy="932688"/>
          </a:xfrm>
          <a:prstGeom prst="line">
            <a:avLst/>
          </a:prstGeom>
          <a:noFill/>
          <a:ln w="15875">
            <a:solidFill>
              <a:srgbClr val="1E2A32"/>
            </a:solidFill>
            <a:prstDash val="solid"/>
          </a:ln>
        </p:spPr>
      </p:sp>
      <p:sp>
        <p:nvSpPr>
          <p:cNvPr id="114" name="mbr"/>
          <p:cNvSpPr/>
          <p:nvPr/>
        </p:nvSpPr>
        <p:spPr>
          <a:xfrm>
            <a:off x="9023299" y="2670048"/>
            <a:ext cx="65837" cy="0"/>
          </a:xfrm>
          <a:prstGeom prst="line">
            <a:avLst/>
          </a:prstGeom>
          <a:noFill/>
          <a:ln w="15875">
            <a:solidFill>
              <a:srgbClr val="1E2A32"/>
            </a:solidFill>
            <a:prstDash val="solid"/>
          </a:ln>
        </p:spPr>
      </p:sp>
      <p:sp>
        <p:nvSpPr>
          <p:cNvPr id="115" name="mbr"/>
          <p:cNvSpPr/>
          <p:nvPr/>
        </p:nvSpPr>
        <p:spPr>
          <a:xfrm>
            <a:off x="9023299" y="3602736"/>
            <a:ext cx="65837" cy="0"/>
          </a:xfrm>
          <a:prstGeom prst="line">
            <a:avLst/>
          </a:prstGeom>
          <a:noFill/>
          <a:ln w="15875">
            <a:solidFill>
              <a:srgbClr val="1E2A32"/>
            </a:solidFill>
            <a:prstDash val="solid"/>
          </a:ln>
        </p:spPr>
      </p:sp>
      <p:sp>
        <p:nvSpPr>
          <p:cNvPr id="116" name="op"/>
          <p:cNvSpPr txBox="1"/>
          <p:nvPr/>
        </p:nvSpPr>
        <p:spPr>
          <a:xfrm>
            <a:off x="9015984" y="2907792"/>
            <a:ext cx="457200" cy="457200"/>
          </a:xfrm>
          <a:prstGeom prst="rect">
            <a:avLst/>
          </a:prstGeom>
          <a:noFill/>
          <a:ln/>
        </p:spPr>
        <p:txBody>
          <a:bodyPr wrap="square" lIns="0" tIns="0" rIns="0" bIns="0" rtlCol="0" anchor="ctr"/>
          <a:lstStyle/>
          <a:p>
            <a:pPr algn="ctr" indent="0" marL="0">
              <a:buNone/>
            </a:pPr>
            <a:r>
              <a:rPr lang="en-US" sz="2400" dirty="0">
                <a:solidFill>
                  <a:srgbClr val="5B6770"/>
                </a:solidFill>
                <a:latin typeface="Calibri" pitchFamily="34" charset="0"/>
                <a:ea typeface="Calibri" pitchFamily="34" charset="-122"/>
                <a:cs typeface="Calibri" pitchFamily="34" charset="-120"/>
              </a:rPr>
              <a:t>·</a:t>
            </a:r>
            <a:endParaRPr lang="en-US" sz="2400" dirty="0"/>
          </a:p>
        </p:txBody>
      </p:sp>
      <p:sp>
        <p:nvSpPr>
          <p:cNvPr id="117" name="mcell"/>
          <p:cNvSpPr txBox="1"/>
          <p:nvPr/>
        </p:nvSpPr>
        <p:spPr>
          <a:xfrm>
            <a:off x="9445752" y="2697480"/>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18" name="mcell"/>
          <p:cNvSpPr txBox="1"/>
          <p:nvPr/>
        </p:nvSpPr>
        <p:spPr>
          <a:xfrm>
            <a:off x="9665208"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19" name="mcell"/>
          <p:cNvSpPr txBox="1"/>
          <p:nvPr/>
        </p:nvSpPr>
        <p:spPr>
          <a:xfrm>
            <a:off x="9884664"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0" name="mcell"/>
          <p:cNvSpPr txBox="1"/>
          <p:nvPr/>
        </p:nvSpPr>
        <p:spPr>
          <a:xfrm>
            <a:off x="10104120"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1" name="mcell"/>
          <p:cNvSpPr txBox="1"/>
          <p:nvPr/>
        </p:nvSpPr>
        <p:spPr>
          <a:xfrm>
            <a:off x="9445752"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2" name="mcell"/>
          <p:cNvSpPr txBox="1"/>
          <p:nvPr/>
        </p:nvSpPr>
        <p:spPr>
          <a:xfrm>
            <a:off x="9665208" y="2916936"/>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23" name="mcell"/>
          <p:cNvSpPr txBox="1"/>
          <p:nvPr/>
        </p:nvSpPr>
        <p:spPr>
          <a:xfrm>
            <a:off x="9884664" y="2916936"/>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24" name="mcell"/>
          <p:cNvSpPr txBox="1"/>
          <p:nvPr/>
        </p:nvSpPr>
        <p:spPr>
          <a:xfrm>
            <a:off x="10104120"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5" name="mcell"/>
          <p:cNvSpPr txBox="1"/>
          <p:nvPr/>
        </p:nvSpPr>
        <p:spPr>
          <a:xfrm>
            <a:off x="9445752"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6" name="mcell"/>
          <p:cNvSpPr txBox="1"/>
          <p:nvPr/>
        </p:nvSpPr>
        <p:spPr>
          <a:xfrm>
            <a:off x="9665208"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7" name="mcell"/>
          <p:cNvSpPr txBox="1"/>
          <p:nvPr/>
        </p:nvSpPr>
        <p:spPr>
          <a:xfrm>
            <a:off x="9884664" y="3136392"/>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28" name="mcell"/>
          <p:cNvSpPr txBox="1"/>
          <p:nvPr/>
        </p:nvSpPr>
        <p:spPr>
          <a:xfrm>
            <a:off x="10104120"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29" name="mcell"/>
          <p:cNvSpPr txBox="1"/>
          <p:nvPr/>
        </p:nvSpPr>
        <p:spPr>
          <a:xfrm>
            <a:off x="9445752"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30" name="mcell"/>
          <p:cNvSpPr txBox="1"/>
          <p:nvPr/>
        </p:nvSpPr>
        <p:spPr>
          <a:xfrm>
            <a:off x="9665208"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31" name="mcell"/>
          <p:cNvSpPr txBox="1"/>
          <p:nvPr/>
        </p:nvSpPr>
        <p:spPr>
          <a:xfrm>
            <a:off x="9884664"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32" name="mcell"/>
          <p:cNvSpPr txBox="1"/>
          <p:nvPr/>
        </p:nvSpPr>
        <p:spPr>
          <a:xfrm>
            <a:off x="10104120" y="3355848"/>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33" name="mbr"/>
          <p:cNvSpPr/>
          <p:nvPr/>
        </p:nvSpPr>
        <p:spPr>
          <a:xfrm>
            <a:off x="9418320" y="2670048"/>
            <a:ext cx="0" cy="932688"/>
          </a:xfrm>
          <a:prstGeom prst="line">
            <a:avLst/>
          </a:prstGeom>
          <a:noFill/>
          <a:ln w="15875">
            <a:solidFill>
              <a:srgbClr val="1E2A32"/>
            </a:solidFill>
            <a:prstDash val="solid"/>
          </a:ln>
        </p:spPr>
      </p:sp>
      <p:sp>
        <p:nvSpPr>
          <p:cNvPr id="134" name="mbr"/>
          <p:cNvSpPr/>
          <p:nvPr/>
        </p:nvSpPr>
        <p:spPr>
          <a:xfrm>
            <a:off x="9418320" y="2670048"/>
            <a:ext cx="65837" cy="0"/>
          </a:xfrm>
          <a:prstGeom prst="line">
            <a:avLst/>
          </a:prstGeom>
          <a:noFill/>
          <a:ln w="15875">
            <a:solidFill>
              <a:srgbClr val="1E2A32"/>
            </a:solidFill>
            <a:prstDash val="solid"/>
          </a:ln>
        </p:spPr>
      </p:sp>
      <p:sp>
        <p:nvSpPr>
          <p:cNvPr id="135" name="mbr"/>
          <p:cNvSpPr/>
          <p:nvPr/>
        </p:nvSpPr>
        <p:spPr>
          <a:xfrm>
            <a:off x="9418320" y="3602736"/>
            <a:ext cx="65837" cy="0"/>
          </a:xfrm>
          <a:prstGeom prst="line">
            <a:avLst/>
          </a:prstGeom>
          <a:noFill/>
          <a:ln w="15875">
            <a:solidFill>
              <a:srgbClr val="1E2A32"/>
            </a:solidFill>
            <a:prstDash val="solid"/>
          </a:ln>
        </p:spPr>
      </p:sp>
      <p:sp>
        <p:nvSpPr>
          <p:cNvPr id="136" name="mbr"/>
          <p:cNvSpPr/>
          <p:nvPr/>
        </p:nvSpPr>
        <p:spPr>
          <a:xfrm>
            <a:off x="10351008" y="2670048"/>
            <a:ext cx="0" cy="932688"/>
          </a:xfrm>
          <a:prstGeom prst="line">
            <a:avLst/>
          </a:prstGeom>
          <a:noFill/>
          <a:ln w="15875">
            <a:solidFill>
              <a:srgbClr val="1E2A32"/>
            </a:solidFill>
            <a:prstDash val="solid"/>
          </a:ln>
        </p:spPr>
      </p:sp>
      <p:sp>
        <p:nvSpPr>
          <p:cNvPr id="137" name="mbr"/>
          <p:cNvSpPr/>
          <p:nvPr/>
        </p:nvSpPr>
        <p:spPr>
          <a:xfrm>
            <a:off x="10285171" y="2670048"/>
            <a:ext cx="65837" cy="0"/>
          </a:xfrm>
          <a:prstGeom prst="line">
            <a:avLst/>
          </a:prstGeom>
          <a:noFill/>
          <a:ln w="15875">
            <a:solidFill>
              <a:srgbClr val="1E2A32"/>
            </a:solidFill>
            <a:prstDash val="solid"/>
          </a:ln>
        </p:spPr>
      </p:sp>
      <p:sp>
        <p:nvSpPr>
          <p:cNvPr id="138" name="mbr"/>
          <p:cNvSpPr/>
          <p:nvPr/>
        </p:nvSpPr>
        <p:spPr>
          <a:xfrm>
            <a:off x="10285171" y="3602736"/>
            <a:ext cx="65837" cy="0"/>
          </a:xfrm>
          <a:prstGeom prst="line">
            <a:avLst/>
          </a:prstGeom>
          <a:noFill/>
          <a:ln w="15875">
            <a:solidFill>
              <a:srgbClr val="1E2A32"/>
            </a:solidFill>
            <a:prstDash val="solid"/>
          </a:ln>
        </p:spPr>
      </p:sp>
      <p:sp>
        <p:nvSpPr>
          <p:cNvPr id="139" name="op"/>
          <p:cNvSpPr txBox="1"/>
          <p:nvPr/>
        </p:nvSpPr>
        <p:spPr>
          <a:xfrm>
            <a:off x="10277856" y="2907792"/>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40" name="mcell"/>
          <p:cNvSpPr txBox="1"/>
          <p:nvPr/>
        </p:nvSpPr>
        <p:spPr>
          <a:xfrm>
            <a:off x="10707624" y="2697480"/>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41" name="mcell"/>
          <p:cNvSpPr txBox="1"/>
          <p:nvPr/>
        </p:nvSpPr>
        <p:spPr>
          <a:xfrm>
            <a:off x="10927080"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2" name="mcell"/>
          <p:cNvSpPr txBox="1"/>
          <p:nvPr/>
        </p:nvSpPr>
        <p:spPr>
          <a:xfrm>
            <a:off x="11146536"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3" name="mcell"/>
          <p:cNvSpPr txBox="1"/>
          <p:nvPr/>
        </p:nvSpPr>
        <p:spPr>
          <a:xfrm>
            <a:off x="11365992" y="2697480"/>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4" name="mcell"/>
          <p:cNvSpPr txBox="1"/>
          <p:nvPr/>
        </p:nvSpPr>
        <p:spPr>
          <a:xfrm>
            <a:off x="10707624"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5" name="mcell"/>
          <p:cNvSpPr txBox="1"/>
          <p:nvPr/>
        </p:nvSpPr>
        <p:spPr>
          <a:xfrm>
            <a:off x="10927080" y="2916936"/>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46" name="mcell"/>
          <p:cNvSpPr txBox="1"/>
          <p:nvPr/>
        </p:nvSpPr>
        <p:spPr>
          <a:xfrm>
            <a:off x="11146536"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7" name="mcell"/>
          <p:cNvSpPr txBox="1"/>
          <p:nvPr/>
        </p:nvSpPr>
        <p:spPr>
          <a:xfrm>
            <a:off x="11365992" y="2916936"/>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8" name="mcell"/>
          <p:cNvSpPr txBox="1"/>
          <p:nvPr/>
        </p:nvSpPr>
        <p:spPr>
          <a:xfrm>
            <a:off x="10707624"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49" name="mcell"/>
          <p:cNvSpPr txBox="1"/>
          <p:nvPr/>
        </p:nvSpPr>
        <p:spPr>
          <a:xfrm>
            <a:off x="10927080"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50" name="mcell"/>
          <p:cNvSpPr txBox="1"/>
          <p:nvPr/>
        </p:nvSpPr>
        <p:spPr>
          <a:xfrm>
            <a:off x="11146536" y="3136392"/>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51" name="mcell"/>
          <p:cNvSpPr txBox="1"/>
          <p:nvPr/>
        </p:nvSpPr>
        <p:spPr>
          <a:xfrm>
            <a:off x="11365992" y="3136392"/>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52" name="mcell"/>
          <p:cNvSpPr txBox="1"/>
          <p:nvPr/>
        </p:nvSpPr>
        <p:spPr>
          <a:xfrm>
            <a:off x="10707624"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53" name="mcell"/>
          <p:cNvSpPr txBox="1"/>
          <p:nvPr/>
        </p:nvSpPr>
        <p:spPr>
          <a:xfrm>
            <a:off x="10927080"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54" name="mcell"/>
          <p:cNvSpPr txBox="1"/>
          <p:nvPr/>
        </p:nvSpPr>
        <p:spPr>
          <a:xfrm>
            <a:off x="11146536" y="3355848"/>
            <a:ext cx="219456" cy="219456"/>
          </a:xfrm>
          <a:prstGeom prst="rect">
            <a:avLst/>
          </a:prstGeom>
          <a:noFill/>
          <a:ln/>
        </p:spPr>
        <p:txBody>
          <a:bodyPr wrap="square" lIns="0" tIns="0" rIns="0" bIns="0" rtlCol="0" anchor="ctr"/>
          <a:lstStyle/>
          <a:p>
            <a:pPr algn="ctr" indent="0" marL="0">
              <a:buNone/>
            </a:pPr>
            <a:r>
              <a:rPr lang="en-US" sz="1100" dirty="0">
                <a:solidFill>
                  <a:srgbClr val="B9C1C7"/>
                </a:solidFill>
                <a:latin typeface="Calibri" pitchFamily="34" charset="0"/>
                <a:ea typeface="Calibri" pitchFamily="34" charset="-122"/>
                <a:cs typeface="Calibri" pitchFamily="34" charset="-120"/>
              </a:rPr>
              <a:t>0</a:t>
            </a:r>
            <a:endParaRPr lang="en-US" sz="1100" dirty="0"/>
          </a:p>
        </p:txBody>
      </p:sp>
      <p:sp>
        <p:nvSpPr>
          <p:cNvPr id="155" name="mcell"/>
          <p:cNvSpPr txBox="1"/>
          <p:nvPr/>
        </p:nvSpPr>
        <p:spPr>
          <a:xfrm>
            <a:off x="11365992" y="3355848"/>
            <a:ext cx="219456" cy="219456"/>
          </a:xfrm>
          <a:prstGeom prst="rect">
            <a:avLst/>
          </a:prstGeom>
          <a:noFill/>
          <a:ln/>
        </p:spPr>
        <p:txBody>
          <a:bodyPr wrap="square" lIns="0" tIns="0" rIns="0" bIns="0" rtlCol="0" anchor="ctr"/>
          <a:lstStyle/>
          <a:p>
            <a:pPr algn="ctr" indent="0" marL="0">
              <a:buNone/>
            </a:pPr>
            <a:r>
              <a:rPr lang="en-US" sz="1100" b="1" dirty="0">
                <a:solidFill>
                  <a:srgbClr val="1E2A32"/>
                </a:solidFill>
                <a:latin typeface="Calibri" pitchFamily="34" charset="0"/>
                <a:ea typeface="Calibri" pitchFamily="34" charset="-122"/>
                <a:cs typeface="Calibri" pitchFamily="34" charset="-120"/>
              </a:rPr>
              <a:t>1</a:t>
            </a:r>
            <a:endParaRPr lang="en-US" sz="1100" dirty="0"/>
          </a:p>
        </p:txBody>
      </p:sp>
      <p:sp>
        <p:nvSpPr>
          <p:cNvPr id="156" name="mbr"/>
          <p:cNvSpPr/>
          <p:nvPr/>
        </p:nvSpPr>
        <p:spPr>
          <a:xfrm>
            <a:off x="10680192" y="2670048"/>
            <a:ext cx="0" cy="932688"/>
          </a:xfrm>
          <a:prstGeom prst="line">
            <a:avLst/>
          </a:prstGeom>
          <a:noFill/>
          <a:ln w="15875">
            <a:solidFill>
              <a:srgbClr val="1E2A32"/>
            </a:solidFill>
            <a:prstDash val="solid"/>
          </a:ln>
        </p:spPr>
      </p:sp>
      <p:sp>
        <p:nvSpPr>
          <p:cNvPr id="157" name="mbr"/>
          <p:cNvSpPr/>
          <p:nvPr/>
        </p:nvSpPr>
        <p:spPr>
          <a:xfrm>
            <a:off x="10680192" y="2670048"/>
            <a:ext cx="65837" cy="0"/>
          </a:xfrm>
          <a:prstGeom prst="line">
            <a:avLst/>
          </a:prstGeom>
          <a:noFill/>
          <a:ln w="15875">
            <a:solidFill>
              <a:srgbClr val="1E2A32"/>
            </a:solidFill>
            <a:prstDash val="solid"/>
          </a:ln>
        </p:spPr>
      </p:sp>
      <p:sp>
        <p:nvSpPr>
          <p:cNvPr id="158" name="mbr"/>
          <p:cNvSpPr/>
          <p:nvPr/>
        </p:nvSpPr>
        <p:spPr>
          <a:xfrm>
            <a:off x="10680192" y="3602736"/>
            <a:ext cx="65837" cy="0"/>
          </a:xfrm>
          <a:prstGeom prst="line">
            <a:avLst/>
          </a:prstGeom>
          <a:noFill/>
          <a:ln w="15875">
            <a:solidFill>
              <a:srgbClr val="1E2A32"/>
            </a:solidFill>
            <a:prstDash val="solid"/>
          </a:ln>
        </p:spPr>
      </p:sp>
      <p:sp>
        <p:nvSpPr>
          <p:cNvPr id="159" name="mbr"/>
          <p:cNvSpPr/>
          <p:nvPr/>
        </p:nvSpPr>
        <p:spPr>
          <a:xfrm>
            <a:off x="11612880" y="2670048"/>
            <a:ext cx="0" cy="932688"/>
          </a:xfrm>
          <a:prstGeom prst="line">
            <a:avLst/>
          </a:prstGeom>
          <a:noFill/>
          <a:ln w="15875">
            <a:solidFill>
              <a:srgbClr val="1E2A32"/>
            </a:solidFill>
            <a:prstDash val="solid"/>
          </a:ln>
        </p:spPr>
      </p:sp>
      <p:sp>
        <p:nvSpPr>
          <p:cNvPr id="160" name="mbr"/>
          <p:cNvSpPr/>
          <p:nvPr/>
        </p:nvSpPr>
        <p:spPr>
          <a:xfrm>
            <a:off x="11547043" y="2670048"/>
            <a:ext cx="65837" cy="0"/>
          </a:xfrm>
          <a:prstGeom prst="line">
            <a:avLst/>
          </a:prstGeom>
          <a:noFill/>
          <a:ln w="15875">
            <a:solidFill>
              <a:srgbClr val="1E2A32"/>
            </a:solidFill>
            <a:prstDash val="solid"/>
          </a:ln>
        </p:spPr>
      </p:sp>
      <p:sp>
        <p:nvSpPr>
          <p:cNvPr id="161" name="mbr"/>
          <p:cNvSpPr/>
          <p:nvPr/>
        </p:nvSpPr>
        <p:spPr>
          <a:xfrm>
            <a:off x="11547043" y="3602736"/>
            <a:ext cx="65837" cy="0"/>
          </a:xfrm>
          <a:prstGeom prst="line">
            <a:avLst/>
          </a:prstGeom>
          <a:noFill/>
          <a:ln w="15875">
            <a:solidFill>
              <a:srgbClr val="1E2A32"/>
            </a:solidFill>
            <a:prstDash val="solid"/>
          </a:ln>
        </p:spPr>
      </p:sp>
      <p:sp>
        <p:nvSpPr>
          <p:cNvPr id="162" name="Text 159"/>
          <p:cNvSpPr txBox="1"/>
          <p:nvPr/>
        </p:nvSpPr>
        <p:spPr>
          <a:xfrm>
            <a:off x="8321040" y="3749040"/>
            <a:ext cx="3383280" cy="457200"/>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M⁻¹ = M: same [I C; 0 I] structure.</a:t>
            </a:r>
            <a:endParaRPr lang="en-US" sz="1400" dirty="0"/>
          </a:p>
        </p:txBody>
      </p:sp>
      <p:sp>
        <p:nvSpPr>
          <p:cNvPr id="163" name="callout"/>
          <p:cNvSpPr/>
          <p:nvPr/>
        </p:nvSpPr>
        <p:spPr>
          <a:xfrm>
            <a:off x="4023360" y="4892040"/>
            <a:ext cx="7680960" cy="640080"/>
          </a:xfrm>
          <a:prstGeom prst="roundRect">
            <a:avLst>
              <a:gd name="adj" fmla="val 11429"/>
            </a:avLst>
          </a:prstGeom>
          <a:solidFill>
            <a:srgbClr val="DDEFF1"/>
          </a:solidFill>
          <a:ln/>
        </p:spPr>
      </p:sp>
      <p:sp>
        <p:nvSpPr>
          <p:cNvPr id="164" name="callout-text"/>
          <p:cNvSpPr txBox="1"/>
          <p:nvPr/>
        </p:nvSpPr>
        <p:spPr>
          <a:xfrm>
            <a:off x="4160520" y="4946904"/>
            <a:ext cx="7406640" cy="53035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For vec = 1, max_phase = 4 (bank slide): c₀ = 1, c₁ = 2 → </a:t>
            </a:r>
            <a:r>
              <a:rPr lang="en-US" sz="1500" b="1" dirty="0">
                <a:solidFill>
                  <a:srgbClr val="0A4F58"/>
                </a:solidFill>
                <a:latin typeface="Calibri" pitchFamily="34" charset="0"/>
                <a:ea typeface="Calibri" pitchFamily="34" charset="-122"/>
                <a:cs typeface="Calibri" pitchFamily="34" charset="-120"/>
              </a:rPr>
              <a:t>C = I₂</a:t>
            </a:r>
            <a:r>
              <a:rPr lang="en-US" sz="1500" dirty="0">
                <a:solidFill>
                  <a:srgbClr val="0A4F58"/>
                </a:solidFill>
                <a:latin typeface="Calibri" pitchFamily="34" charset="0"/>
                <a:ea typeface="Calibri" pitchFamily="34" charset="-122"/>
                <a:cs typeface="Calibri" pitchFamily="34" charset="-120"/>
              </a:rPr>
              <a:t>, i.e. j′ = j ⊕ i.</a:t>
            </a:r>
            <a:endParaRPr lang="en-US" sz="1500" dirty="0"/>
          </a:p>
        </p:txBody>
      </p:sp>
      <p:sp>
        <p:nvSpPr>
          <p:cNvPr id="165"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§4.3 · THEOREM 4.13 + DEFINITION 4.14</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Memory layouts: invertible, columns with one or two 1s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Theorem 4.13 and Definition 4.14, p. 138</a:t>
            </a:r>
            <a:endParaRPr lang="en-US" sz="1000" dirty="0"/>
          </a:p>
        </p:txBody>
      </p:sp>
      <p:sp>
        <p:nvSpPr>
          <p:cNvPr id="6" name="callout"/>
          <p:cNvSpPr/>
          <p:nvPr/>
        </p:nvSpPr>
        <p:spPr>
          <a:xfrm>
            <a:off x="502920" y="1234440"/>
            <a:ext cx="11201400" cy="658368"/>
          </a:xfrm>
          <a:prstGeom prst="roundRect">
            <a:avLst>
              <a:gd name="adj" fmla="val 11111"/>
            </a:avLst>
          </a:prstGeom>
          <a:solidFill>
            <a:srgbClr val="DDEFF1"/>
          </a:solidFill>
          <a:ln/>
        </p:spPr>
      </p:sp>
      <p:sp>
        <p:nvSpPr>
          <p:cNvPr id="7" name="callout-text"/>
          <p:cNvSpPr txBox="1"/>
          <p:nvPr/>
        </p:nvSpPr>
        <p:spPr>
          <a:xfrm>
            <a:off x="640080" y="1289304"/>
            <a:ext cx="10927080" cy="548640"/>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Theorem 4.13.</a:t>
            </a:r>
            <a:r>
              <a:rPr lang="en-US" sz="1500" dirty="0">
                <a:solidFill>
                  <a:srgbClr val="0A4F58"/>
                </a:solidFill>
                <a:latin typeface="Calibri" pitchFamily="34" charset="0"/>
                <a:ea typeface="Calibri" pitchFamily="34" charset="-122"/>
                <a:cs typeface="Calibri" pitchFamily="34" charset="-120"/>
              </a:rPr>
              <a:t> Every memory layout is a linear layout.   </a:t>
            </a:r>
            <a:r>
              <a:rPr lang="en-US" sz="1500" b="1" dirty="0">
                <a:solidFill>
                  <a:srgbClr val="0A4F58"/>
                </a:solidFill>
                <a:latin typeface="Calibri" pitchFamily="34" charset="0"/>
                <a:ea typeface="Calibri" pitchFamily="34" charset="-122"/>
                <a:cs typeface="Calibri" pitchFamily="34" charset="-120"/>
              </a:rPr>
              <a:t>Definition 4.14.</a:t>
            </a:r>
            <a:r>
              <a:rPr lang="en-US" sz="1500" dirty="0">
                <a:solidFill>
                  <a:srgbClr val="0A4F58"/>
                </a:solidFill>
                <a:latin typeface="Calibri" pitchFamily="34" charset="0"/>
                <a:ea typeface="Calibri" pitchFamily="34" charset="-122"/>
                <a:cs typeface="Calibri" pitchFamily="34" charset="-120"/>
              </a:rPr>
              <a:t> A memory layout is an </a:t>
            </a:r>
            <a:r>
              <a:rPr lang="en-US" sz="1500" b="1" dirty="0">
                <a:solidFill>
                  <a:srgbClr val="0A4F58"/>
                </a:solidFill>
                <a:latin typeface="Calibri" pitchFamily="34" charset="0"/>
                <a:ea typeface="Calibri" pitchFamily="34" charset="-122"/>
                <a:cs typeface="Calibri" pitchFamily="34" charset="-120"/>
              </a:rPr>
              <a:t>invertible</a:t>
            </a:r>
            <a:r>
              <a:rPr lang="en-US" sz="1500" dirty="0">
                <a:solidFill>
                  <a:srgbClr val="0A4F58"/>
                </a:solidFill>
                <a:latin typeface="Calibri" pitchFamily="34" charset="0"/>
                <a:ea typeface="Calibri" pitchFamily="34" charset="-122"/>
                <a:cs typeface="Calibri" pitchFamily="34" charset="-120"/>
              </a:rPr>
              <a:t> linear layout whose columns have </a:t>
            </a:r>
            <a:r>
              <a:rPr lang="en-US" sz="1500" b="1" dirty="0">
                <a:solidFill>
                  <a:srgbClr val="0A4F58"/>
                </a:solidFill>
                <a:latin typeface="Calibri" pitchFamily="34" charset="0"/>
                <a:ea typeface="Calibri" pitchFamily="34" charset="-122"/>
                <a:cs typeface="Calibri" pitchFamily="34" charset="-120"/>
              </a:rPr>
              <a:t>1 or 2</a:t>
            </a:r>
            <a:r>
              <a:rPr lang="en-US" sz="1500" dirty="0">
                <a:solidFill>
                  <a:srgbClr val="0A4F58"/>
                </a:solidFill>
                <a:latin typeface="Calibri" pitchFamily="34" charset="0"/>
                <a:ea typeface="Calibri" pitchFamily="34" charset="-122"/>
                <a:cs typeface="Calibri" pitchFamily="34" charset="-120"/>
              </a:rPr>
              <a:t> non-zero bits.</a:t>
            </a:r>
            <a:endParaRPr lang="en-US" sz="15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02920" y="2103120"/>
          <a:ext cx="5394960" cy="914400"/>
        </p:xfrm>
        <a:graphic>
          <a:graphicData uri="http://schemas.openxmlformats.org/drawingml/2006/table">
            <a:tbl>
              <a:tblPr/>
              <a:tblGrid>
                <a:gridCol w="1280160"/>
                <a:gridCol w="2148840"/>
                <a:gridCol w="1965960"/>
              </a:tblGrid>
              <a:tr h="384048">
                <a:tc>
                  <a:txBody>
                    <a:bodyPr/>
                    <a:lstStyle/>
                    <a:p>
                      <a:pPr algn="ctr" indent="0" marL="0">
                        <a:buNone/>
                      </a:pP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Distributed (Def 4.10)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Memory (Def 4.14)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84048">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Maps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Reg × Thr × Wrp → (i, 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Offset → (i, 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84048">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Must be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surjective (duplicates allowed)</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invertible (stored once)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84048">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Column rule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 one 1, no repeated columns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one or two 1s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84048">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Typical form</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permutation + zero columns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permutation + XOR (swizzle)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9" name="panel"/>
          <p:cNvSpPr/>
          <p:nvPr/>
        </p:nvSpPr>
        <p:spPr>
          <a:xfrm>
            <a:off x="6263640" y="2148840"/>
            <a:ext cx="2560320" cy="1828800"/>
          </a:xfrm>
          <a:prstGeom prst="roundRect">
            <a:avLst>
              <a:gd name="adj" fmla="val 4000"/>
            </a:avLst>
          </a:prstGeom>
          <a:solidFill>
            <a:srgbClr val="E3F2E4"/>
          </a:solidFill>
          <a:ln/>
        </p:spPr>
      </p:sp>
      <p:sp>
        <p:nvSpPr>
          <p:cNvPr id="10" name="mcell"/>
          <p:cNvSpPr txBox="1"/>
          <p:nvPr/>
        </p:nvSpPr>
        <p:spPr>
          <a:xfrm>
            <a:off x="7040880" y="231343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 name="mcell"/>
          <p:cNvSpPr txBox="1"/>
          <p:nvPr/>
        </p:nvSpPr>
        <p:spPr>
          <a:xfrm>
            <a:off x="7315200" y="23134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 name="mcell"/>
          <p:cNvSpPr txBox="1"/>
          <p:nvPr/>
        </p:nvSpPr>
        <p:spPr>
          <a:xfrm>
            <a:off x="7589520" y="23134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 name="mcell"/>
          <p:cNvSpPr txBox="1"/>
          <p:nvPr/>
        </p:nvSpPr>
        <p:spPr>
          <a:xfrm>
            <a:off x="7863840" y="23134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 name="mcell"/>
          <p:cNvSpPr txBox="1"/>
          <p:nvPr/>
        </p:nvSpPr>
        <p:spPr>
          <a:xfrm>
            <a:off x="7040880" y="25877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 name="mcell"/>
          <p:cNvSpPr txBox="1"/>
          <p:nvPr/>
        </p:nvSpPr>
        <p:spPr>
          <a:xfrm>
            <a:off x="7315200" y="258775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6" name="mcell"/>
          <p:cNvSpPr txBox="1"/>
          <p:nvPr/>
        </p:nvSpPr>
        <p:spPr>
          <a:xfrm>
            <a:off x="7589520" y="25877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 name="mcell"/>
          <p:cNvSpPr txBox="1"/>
          <p:nvPr/>
        </p:nvSpPr>
        <p:spPr>
          <a:xfrm>
            <a:off x="7863840" y="25877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8" name="mcell"/>
          <p:cNvSpPr txBox="1"/>
          <p:nvPr/>
        </p:nvSpPr>
        <p:spPr>
          <a:xfrm>
            <a:off x="7040880" y="286207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9" name="mcell"/>
          <p:cNvSpPr txBox="1"/>
          <p:nvPr/>
        </p:nvSpPr>
        <p:spPr>
          <a:xfrm>
            <a:off x="7315200" y="286207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0" name="mcell"/>
          <p:cNvSpPr txBox="1"/>
          <p:nvPr/>
        </p:nvSpPr>
        <p:spPr>
          <a:xfrm>
            <a:off x="7589520" y="286207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21" name="mcell"/>
          <p:cNvSpPr txBox="1"/>
          <p:nvPr/>
        </p:nvSpPr>
        <p:spPr>
          <a:xfrm>
            <a:off x="7863840" y="286207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2" name="mcell"/>
          <p:cNvSpPr txBox="1"/>
          <p:nvPr/>
        </p:nvSpPr>
        <p:spPr>
          <a:xfrm>
            <a:off x="7040880" y="3136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3" name="mcell"/>
          <p:cNvSpPr txBox="1"/>
          <p:nvPr/>
        </p:nvSpPr>
        <p:spPr>
          <a:xfrm>
            <a:off x="7315200" y="3136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4" name="mcell"/>
          <p:cNvSpPr txBox="1"/>
          <p:nvPr/>
        </p:nvSpPr>
        <p:spPr>
          <a:xfrm>
            <a:off x="7589520" y="3136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5" name="mcell"/>
          <p:cNvSpPr txBox="1"/>
          <p:nvPr/>
        </p:nvSpPr>
        <p:spPr>
          <a:xfrm>
            <a:off x="7863840" y="313639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26" name="mbr"/>
          <p:cNvSpPr/>
          <p:nvPr/>
        </p:nvSpPr>
        <p:spPr>
          <a:xfrm>
            <a:off x="7013448" y="2286000"/>
            <a:ext cx="0" cy="1152144"/>
          </a:xfrm>
          <a:prstGeom prst="line">
            <a:avLst/>
          </a:prstGeom>
          <a:noFill/>
          <a:ln w="15875">
            <a:solidFill>
              <a:srgbClr val="1E2A32"/>
            </a:solidFill>
            <a:prstDash val="solid"/>
          </a:ln>
        </p:spPr>
      </p:sp>
      <p:sp>
        <p:nvSpPr>
          <p:cNvPr id="27" name="mbr"/>
          <p:cNvSpPr/>
          <p:nvPr/>
        </p:nvSpPr>
        <p:spPr>
          <a:xfrm>
            <a:off x="7013448" y="2286000"/>
            <a:ext cx="73152" cy="0"/>
          </a:xfrm>
          <a:prstGeom prst="line">
            <a:avLst/>
          </a:prstGeom>
          <a:noFill/>
          <a:ln w="15875">
            <a:solidFill>
              <a:srgbClr val="1E2A32"/>
            </a:solidFill>
            <a:prstDash val="solid"/>
          </a:ln>
        </p:spPr>
      </p:sp>
      <p:sp>
        <p:nvSpPr>
          <p:cNvPr id="28" name="mbr"/>
          <p:cNvSpPr/>
          <p:nvPr/>
        </p:nvSpPr>
        <p:spPr>
          <a:xfrm>
            <a:off x="7013448" y="3438144"/>
            <a:ext cx="73152" cy="0"/>
          </a:xfrm>
          <a:prstGeom prst="line">
            <a:avLst/>
          </a:prstGeom>
          <a:noFill/>
          <a:ln w="15875">
            <a:solidFill>
              <a:srgbClr val="1E2A32"/>
            </a:solidFill>
            <a:prstDash val="solid"/>
          </a:ln>
        </p:spPr>
      </p:sp>
      <p:sp>
        <p:nvSpPr>
          <p:cNvPr id="29" name="mbr"/>
          <p:cNvSpPr/>
          <p:nvPr/>
        </p:nvSpPr>
        <p:spPr>
          <a:xfrm>
            <a:off x="8165592" y="2286000"/>
            <a:ext cx="0" cy="1152144"/>
          </a:xfrm>
          <a:prstGeom prst="line">
            <a:avLst/>
          </a:prstGeom>
          <a:noFill/>
          <a:ln w="15875">
            <a:solidFill>
              <a:srgbClr val="1E2A32"/>
            </a:solidFill>
            <a:prstDash val="solid"/>
          </a:ln>
        </p:spPr>
      </p:sp>
      <p:sp>
        <p:nvSpPr>
          <p:cNvPr id="30" name="mbr"/>
          <p:cNvSpPr/>
          <p:nvPr/>
        </p:nvSpPr>
        <p:spPr>
          <a:xfrm>
            <a:off x="8092440" y="2286000"/>
            <a:ext cx="73152" cy="0"/>
          </a:xfrm>
          <a:prstGeom prst="line">
            <a:avLst/>
          </a:prstGeom>
          <a:noFill/>
          <a:ln w="15875">
            <a:solidFill>
              <a:srgbClr val="1E2A32"/>
            </a:solidFill>
            <a:prstDash val="solid"/>
          </a:ln>
        </p:spPr>
      </p:sp>
      <p:sp>
        <p:nvSpPr>
          <p:cNvPr id="31" name="mbr"/>
          <p:cNvSpPr/>
          <p:nvPr/>
        </p:nvSpPr>
        <p:spPr>
          <a:xfrm>
            <a:off x="8092440" y="3438144"/>
            <a:ext cx="73152" cy="0"/>
          </a:xfrm>
          <a:prstGeom prst="line">
            <a:avLst/>
          </a:prstGeom>
          <a:noFill/>
          <a:ln w="15875">
            <a:solidFill>
              <a:srgbClr val="1E2A32"/>
            </a:solidFill>
            <a:prstDash val="solid"/>
          </a:ln>
        </p:spPr>
      </p:sp>
      <p:sp>
        <p:nvSpPr>
          <p:cNvPr id="32" name="Text 28"/>
          <p:cNvSpPr txBox="1"/>
          <p:nvPr/>
        </p:nvSpPr>
        <p:spPr>
          <a:xfrm>
            <a:off x="6355080" y="3474720"/>
            <a:ext cx="2377440" cy="411480"/>
          </a:xfrm>
          <a:prstGeom prst="rect">
            <a:avLst/>
          </a:prstGeom>
          <a:noFill/>
          <a:ln/>
        </p:spPr>
        <p:txBody>
          <a:bodyPr wrap="square" lIns="0" tIns="0" rIns="0" bIns="0" rtlCol="0" anchor="t"/>
          <a:lstStyle/>
          <a:p>
            <a:pPr algn="ctr" indent="0" marL="0">
              <a:buNone/>
            </a:pPr>
            <a:r>
              <a:rPr lang="en-US" sz="1300" b="1" dirty="0">
                <a:solidFill>
                  <a:srgbClr val="2E7D32"/>
                </a:solidFill>
                <a:latin typeface="Calibri" pitchFamily="34" charset="0"/>
                <a:ea typeface="Calibri" pitchFamily="34" charset="-122"/>
                <a:cs typeface="Calibri" pitchFamily="34" charset="-120"/>
              </a:rPr>
              <a:t>✓ unswizzled I</a:t>
            </a:r>
            <a:endParaRPr lang="en-US" sz="1300" dirty="0"/>
          </a:p>
        </p:txBody>
      </p:sp>
      <p:sp>
        <p:nvSpPr>
          <p:cNvPr id="33" name="panel"/>
          <p:cNvSpPr/>
          <p:nvPr/>
        </p:nvSpPr>
        <p:spPr>
          <a:xfrm>
            <a:off x="9006840" y="2148840"/>
            <a:ext cx="2560320" cy="1828800"/>
          </a:xfrm>
          <a:prstGeom prst="roundRect">
            <a:avLst>
              <a:gd name="adj" fmla="val 4000"/>
            </a:avLst>
          </a:prstGeom>
          <a:solidFill>
            <a:srgbClr val="E3F2E4"/>
          </a:solidFill>
          <a:ln/>
        </p:spPr>
      </p:sp>
      <p:sp>
        <p:nvSpPr>
          <p:cNvPr id="34" name="mcell"/>
          <p:cNvSpPr txBox="1"/>
          <p:nvPr/>
        </p:nvSpPr>
        <p:spPr>
          <a:xfrm>
            <a:off x="9784080" y="231343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5" name="mcell"/>
          <p:cNvSpPr txBox="1"/>
          <p:nvPr/>
        </p:nvSpPr>
        <p:spPr>
          <a:xfrm>
            <a:off x="10058400" y="23134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6" name="mcell"/>
          <p:cNvSpPr txBox="1"/>
          <p:nvPr/>
        </p:nvSpPr>
        <p:spPr>
          <a:xfrm>
            <a:off x="10332720" y="23134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7" name="mcell"/>
          <p:cNvSpPr txBox="1"/>
          <p:nvPr/>
        </p:nvSpPr>
        <p:spPr>
          <a:xfrm>
            <a:off x="10607040" y="23134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8" name="mcell"/>
          <p:cNvSpPr txBox="1"/>
          <p:nvPr/>
        </p:nvSpPr>
        <p:spPr>
          <a:xfrm>
            <a:off x="9784080" y="25877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9" name="mcell"/>
          <p:cNvSpPr txBox="1"/>
          <p:nvPr/>
        </p:nvSpPr>
        <p:spPr>
          <a:xfrm>
            <a:off x="10058400" y="258775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0" name="mcell"/>
          <p:cNvSpPr txBox="1"/>
          <p:nvPr/>
        </p:nvSpPr>
        <p:spPr>
          <a:xfrm>
            <a:off x="10332720" y="2587752"/>
            <a:ext cx="274320" cy="274320"/>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1" name="mcell"/>
          <p:cNvSpPr txBox="1"/>
          <p:nvPr/>
        </p:nvSpPr>
        <p:spPr>
          <a:xfrm>
            <a:off x="10607040" y="25877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2" name="mcell"/>
          <p:cNvSpPr txBox="1"/>
          <p:nvPr/>
        </p:nvSpPr>
        <p:spPr>
          <a:xfrm>
            <a:off x="9784080" y="286207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3" name="mcell"/>
          <p:cNvSpPr txBox="1"/>
          <p:nvPr/>
        </p:nvSpPr>
        <p:spPr>
          <a:xfrm>
            <a:off x="10058400" y="286207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4" name="mcell"/>
          <p:cNvSpPr txBox="1"/>
          <p:nvPr/>
        </p:nvSpPr>
        <p:spPr>
          <a:xfrm>
            <a:off x="10332720" y="2862072"/>
            <a:ext cx="274320" cy="274320"/>
          </a:xfrm>
          <a:prstGeom prst="rect">
            <a:avLst/>
          </a:prstGeom>
          <a:solidFill>
            <a:srgbClr val="FFF0CC"/>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5" name="mcell"/>
          <p:cNvSpPr txBox="1"/>
          <p:nvPr/>
        </p:nvSpPr>
        <p:spPr>
          <a:xfrm>
            <a:off x="10607040" y="286207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6" name="mcell"/>
          <p:cNvSpPr txBox="1"/>
          <p:nvPr/>
        </p:nvSpPr>
        <p:spPr>
          <a:xfrm>
            <a:off x="9784080" y="3136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7" name="mcell"/>
          <p:cNvSpPr txBox="1"/>
          <p:nvPr/>
        </p:nvSpPr>
        <p:spPr>
          <a:xfrm>
            <a:off x="10058400" y="3136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8" name="mcell"/>
          <p:cNvSpPr txBox="1"/>
          <p:nvPr/>
        </p:nvSpPr>
        <p:spPr>
          <a:xfrm>
            <a:off x="10332720" y="3136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9" name="mcell"/>
          <p:cNvSpPr txBox="1"/>
          <p:nvPr/>
        </p:nvSpPr>
        <p:spPr>
          <a:xfrm>
            <a:off x="10607040" y="313639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0" name="mbr"/>
          <p:cNvSpPr/>
          <p:nvPr/>
        </p:nvSpPr>
        <p:spPr>
          <a:xfrm>
            <a:off x="9756648" y="2286000"/>
            <a:ext cx="0" cy="1152144"/>
          </a:xfrm>
          <a:prstGeom prst="line">
            <a:avLst/>
          </a:prstGeom>
          <a:noFill/>
          <a:ln w="15875">
            <a:solidFill>
              <a:srgbClr val="1E2A32"/>
            </a:solidFill>
            <a:prstDash val="solid"/>
          </a:ln>
        </p:spPr>
      </p:sp>
      <p:sp>
        <p:nvSpPr>
          <p:cNvPr id="51" name="mbr"/>
          <p:cNvSpPr/>
          <p:nvPr/>
        </p:nvSpPr>
        <p:spPr>
          <a:xfrm>
            <a:off x="9756648" y="2286000"/>
            <a:ext cx="73152" cy="0"/>
          </a:xfrm>
          <a:prstGeom prst="line">
            <a:avLst/>
          </a:prstGeom>
          <a:noFill/>
          <a:ln w="15875">
            <a:solidFill>
              <a:srgbClr val="1E2A32"/>
            </a:solidFill>
            <a:prstDash val="solid"/>
          </a:ln>
        </p:spPr>
      </p:sp>
      <p:sp>
        <p:nvSpPr>
          <p:cNvPr id="52" name="mbr"/>
          <p:cNvSpPr/>
          <p:nvPr/>
        </p:nvSpPr>
        <p:spPr>
          <a:xfrm>
            <a:off x="9756648" y="3438144"/>
            <a:ext cx="73152" cy="0"/>
          </a:xfrm>
          <a:prstGeom prst="line">
            <a:avLst/>
          </a:prstGeom>
          <a:noFill/>
          <a:ln w="15875">
            <a:solidFill>
              <a:srgbClr val="1E2A32"/>
            </a:solidFill>
            <a:prstDash val="solid"/>
          </a:ln>
        </p:spPr>
      </p:sp>
      <p:sp>
        <p:nvSpPr>
          <p:cNvPr id="53" name="mbr"/>
          <p:cNvSpPr/>
          <p:nvPr/>
        </p:nvSpPr>
        <p:spPr>
          <a:xfrm>
            <a:off x="10908792" y="2286000"/>
            <a:ext cx="0" cy="1152144"/>
          </a:xfrm>
          <a:prstGeom prst="line">
            <a:avLst/>
          </a:prstGeom>
          <a:noFill/>
          <a:ln w="15875">
            <a:solidFill>
              <a:srgbClr val="1E2A32"/>
            </a:solidFill>
            <a:prstDash val="solid"/>
          </a:ln>
        </p:spPr>
      </p:sp>
      <p:sp>
        <p:nvSpPr>
          <p:cNvPr id="54" name="mbr"/>
          <p:cNvSpPr/>
          <p:nvPr/>
        </p:nvSpPr>
        <p:spPr>
          <a:xfrm>
            <a:off x="10835640" y="2286000"/>
            <a:ext cx="73152" cy="0"/>
          </a:xfrm>
          <a:prstGeom prst="line">
            <a:avLst/>
          </a:prstGeom>
          <a:noFill/>
          <a:ln w="15875">
            <a:solidFill>
              <a:srgbClr val="1E2A32"/>
            </a:solidFill>
            <a:prstDash val="solid"/>
          </a:ln>
        </p:spPr>
      </p:sp>
      <p:sp>
        <p:nvSpPr>
          <p:cNvPr id="55" name="mbr"/>
          <p:cNvSpPr/>
          <p:nvPr/>
        </p:nvSpPr>
        <p:spPr>
          <a:xfrm>
            <a:off x="10835640" y="3438144"/>
            <a:ext cx="73152" cy="0"/>
          </a:xfrm>
          <a:prstGeom prst="line">
            <a:avLst/>
          </a:prstGeom>
          <a:noFill/>
          <a:ln w="15875">
            <a:solidFill>
              <a:srgbClr val="1E2A32"/>
            </a:solidFill>
            <a:prstDash val="solid"/>
          </a:ln>
        </p:spPr>
      </p:sp>
      <p:sp>
        <p:nvSpPr>
          <p:cNvPr id="56" name="Text 52"/>
          <p:cNvSpPr txBox="1"/>
          <p:nvPr/>
        </p:nvSpPr>
        <p:spPr>
          <a:xfrm>
            <a:off x="9098280" y="3474720"/>
            <a:ext cx="2377440" cy="411480"/>
          </a:xfrm>
          <a:prstGeom prst="rect">
            <a:avLst/>
          </a:prstGeom>
          <a:noFill/>
          <a:ln/>
        </p:spPr>
        <p:txBody>
          <a:bodyPr wrap="square" lIns="0" tIns="0" rIns="0" bIns="0" rtlCol="0" anchor="t"/>
          <a:lstStyle/>
          <a:p>
            <a:pPr algn="ctr" indent="0" marL="0">
              <a:buNone/>
            </a:pPr>
            <a:r>
              <a:rPr lang="en-US" sz="1300" b="1" dirty="0">
                <a:solidFill>
                  <a:srgbClr val="2E7D32"/>
                </a:solidFill>
                <a:latin typeface="Calibri" pitchFamily="34" charset="0"/>
                <a:ea typeface="Calibri" pitchFamily="34" charset="-122"/>
                <a:cs typeface="Calibri" pitchFamily="34" charset="-120"/>
              </a:rPr>
              <a:t>✓ swizzled M</a:t>
            </a:r>
            <a:endParaRPr lang="en-US" sz="1300" dirty="0"/>
          </a:p>
        </p:txBody>
      </p:sp>
      <p:sp>
        <p:nvSpPr>
          <p:cNvPr id="57" name="panel"/>
          <p:cNvSpPr/>
          <p:nvPr/>
        </p:nvSpPr>
        <p:spPr>
          <a:xfrm>
            <a:off x="6263640" y="4114800"/>
            <a:ext cx="2560320" cy="1828800"/>
          </a:xfrm>
          <a:prstGeom prst="roundRect">
            <a:avLst>
              <a:gd name="adj" fmla="val 4000"/>
            </a:avLst>
          </a:prstGeom>
          <a:solidFill>
            <a:srgbClr val="FBE3E1"/>
          </a:solidFill>
          <a:ln/>
        </p:spPr>
      </p:sp>
      <p:sp>
        <p:nvSpPr>
          <p:cNvPr id="58" name="mcell"/>
          <p:cNvSpPr txBox="1"/>
          <p:nvPr/>
        </p:nvSpPr>
        <p:spPr>
          <a:xfrm>
            <a:off x="7040880" y="427939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9" name="mcell"/>
          <p:cNvSpPr txBox="1"/>
          <p:nvPr/>
        </p:nvSpPr>
        <p:spPr>
          <a:xfrm>
            <a:off x="7315200" y="4279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0" name="mcell"/>
          <p:cNvSpPr txBox="1"/>
          <p:nvPr/>
        </p:nvSpPr>
        <p:spPr>
          <a:xfrm>
            <a:off x="7589520" y="4279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1" name="mcell"/>
          <p:cNvSpPr txBox="1"/>
          <p:nvPr/>
        </p:nvSpPr>
        <p:spPr>
          <a:xfrm>
            <a:off x="7863840" y="4279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2" name="mcell"/>
          <p:cNvSpPr txBox="1"/>
          <p:nvPr/>
        </p:nvSpPr>
        <p:spPr>
          <a:xfrm>
            <a:off x="7040880" y="455371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3" name="mcell"/>
          <p:cNvSpPr txBox="1"/>
          <p:nvPr/>
        </p:nvSpPr>
        <p:spPr>
          <a:xfrm>
            <a:off x="7315200" y="455371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4" name="mcell"/>
          <p:cNvSpPr txBox="1"/>
          <p:nvPr/>
        </p:nvSpPr>
        <p:spPr>
          <a:xfrm>
            <a:off x="7589520" y="455371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5" name="mcell"/>
          <p:cNvSpPr txBox="1"/>
          <p:nvPr/>
        </p:nvSpPr>
        <p:spPr>
          <a:xfrm>
            <a:off x="7863840" y="455371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6" name="mcell"/>
          <p:cNvSpPr txBox="1"/>
          <p:nvPr/>
        </p:nvSpPr>
        <p:spPr>
          <a:xfrm>
            <a:off x="7040880" y="48280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7" name="mcell"/>
          <p:cNvSpPr txBox="1"/>
          <p:nvPr/>
        </p:nvSpPr>
        <p:spPr>
          <a:xfrm>
            <a:off x="7315200" y="48280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8" name="mcell"/>
          <p:cNvSpPr txBox="1"/>
          <p:nvPr/>
        </p:nvSpPr>
        <p:spPr>
          <a:xfrm>
            <a:off x="7589520" y="482803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9" name="mcell"/>
          <p:cNvSpPr txBox="1"/>
          <p:nvPr/>
        </p:nvSpPr>
        <p:spPr>
          <a:xfrm>
            <a:off x="7863840" y="48280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0" name="mcell"/>
          <p:cNvSpPr txBox="1"/>
          <p:nvPr/>
        </p:nvSpPr>
        <p:spPr>
          <a:xfrm>
            <a:off x="7040880" y="51023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1" name="mcell"/>
          <p:cNvSpPr txBox="1"/>
          <p:nvPr/>
        </p:nvSpPr>
        <p:spPr>
          <a:xfrm>
            <a:off x="7315200" y="51023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2" name="mcell"/>
          <p:cNvSpPr txBox="1"/>
          <p:nvPr/>
        </p:nvSpPr>
        <p:spPr>
          <a:xfrm>
            <a:off x="7589520" y="51023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3" name="mcell"/>
          <p:cNvSpPr txBox="1"/>
          <p:nvPr/>
        </p:nvSpPr>
        <p:spPr>
          <a:xfrm>
            <a:off x="7863840" y="5102352"/>
            <a:ext cx="274320" cy="274320"/>
          </a:xfrm>
          <a:prstGeom prst="rect">
            <a:avLst/>
          </a:prstGeom>
          <a:solidFill>
            <a:srgbClr val="FFFFFF"/>
          </a:solidFill>
          <a:ln/>
        </p:spPr>
        <p:txBody>
          <a:bodyPr wrap="square" lIns="0" tIns="0" rIns="0" bIns="0" rtlCol="0" anchor="ctr"/>
          <a:lstStyle/>
          <a:p>
            <a:pPr algn="ctr" indent="0" marL="0">
              <a:buNone/>
            </a:pPr>
            <a:r>
              <a:rPr lang="en-US" sz="1300" dirty="0">
                <a:solidFill>
                  <a:srgbClr val="B3261E"/>
                </a:solidFill>
                <a:latin typeface="Calibri" pitchFamily="34" charset="0"/>
                <a:ea typeface="Calibri" pitchFamily="34" charset="-122"/>
                <a:cs typeface="Calibri" pitchFamily="34" charset="-120"/>
              </a:rPr>
              <a:t>0</a:t>
            </a:r>
            <a:endParaRPr lang="en-US" sz="1300" dirty="0"/>
          </a:p>
        </p:txBody>
      </p:sp>
      <p:sp>
        <p:nvSpPr>
          <p:cNvPr id="74" name="mbr"/>
          <p:cNvSpPr/>
          <p:nvPr/>
        </p:nvSpPr>
        <p:spPr>
          <a:xfrm>
            <a:off x="7013448" y="4251960"/>
            <a:ext cx="0" cy="1152144"/>
          </a:xfrm>
          <a:prstGeom prst="line">
            <a:avLst/>
          </a:prstGeom>
          <a:noFill/>
          <a:ln w="15875">
            <a:solidFill>
              <a:srgbClr val="1E2A32"/>
            </a:solidFill>
            <a:prstDash val="solid"/>
          </a:ln>
        </p:spPr>
      </p:sp>
      <p:sp>
        <p:nvSpPr>
          <p:cNvPr id="75" name="mbr"/>
          <p:cNvSpPr/>
          <p:nvPr/>
        </p:nvSpPr>
        <p:spPr>
          <a:xfrm>
            <a:off x="7013448" y="4251960"/>
            <a:ext cx="73152" cy="0"/>
          </a:xfrm>
          <a:prstGeom prst="line">
            <a:avLst/>
          </a:prstGeom>
          <a:noFill/>
          <a:ln w="15875">
            <a:solidFill>
              <a:srgbClr val="1E2A32"/>
            </a:solidFill>
            <a:prstDash val="solid"/>
          </a:ln>
        </p:spPr>
      </p:sp>
      <p:sp>
        <p:nvSpPr>
          <p:cNvPr id="76" name="mbr"/>
          <p:cNvSpPr/>
          <p:nvPr/>
        </p:nvSpPr>
        <p:spPr>
          <a:xfrm>
            <a:off x="7013448" y="5404104"/>
            <a:ext cx="73152" cy="0"/>
          </a:xfrm>
          <a:prstGeom prst="line">
            <a:avLst/>
          </a:prstGeom>
          <a:noFill/>
          <a:ln w="15875">
            <a:solidFill>
              <a:srgbClr val="1E2A32"/>
            </a:solidFill>
            <a:prstDash val="solid"/>
          </a:ln>
        </p:spPr>
      </p:sp>
      <p:sp>
        <p:nvSpPr>
          <p:cNvPr id="77" name="mbr"/>
          <p:cNvSpPr/>
          <p:nvPr/>
        </p:nvSpPr>
        <p:spPr>
          <a:xfrm>
            <a:off x="8165592" y="4251960"/>
            <a:ext cx="0" cy="1152144"/>
          </a:xfrm>
          <a:prstGeom prst="line">
            <a:avLst/>
          </a:prstGeom>
          <a:noFill/>
          <a:ln w="15875">
            <a:solidFill>
              <a:srgbClr val="1E2A32"/>
            </a:solidFill>
            <a:prstDash val="solid"/>
          </a:ln>
        </p:spPr>
      </p:sp>
      <p:sp>
        <p:nvSpPr>
          <p:cNvPr id="78" name="mbr"/>
          <p:cNvSpPr/>
          <p:nvPr/>
        </p:nvSpPr>
        <p:spPr>
          <a:xfrm>
            <a:off x="8092440" y="4251960"/>
            <a:ext cx="73152" cy="0"/>
          </a:xfrm>
          <a:prstGeom prst="line">
            <a:avLst/>
          </a:prstGeom>
          <a:noFill/>
          <a:ln w="15875">
            <a:solidFill>
              <a:srgbClr val="1E2A32"/>
            </a:solidFill>
            <a:prstDash val="solid"/>
          </a:ln>
        </p:spPr>
      </p:sp>
      <p:sp>
        <p:nvSpPr>
          <p:cNvPr id="79" name="mbr"/>
          <p:cNvSpPr/>
          <p:nvPr/>
        </p:nvSpPr>
        <p:spPr>
          <a:xfrm>
            <a:off x="8092440" y="5404104"/>
            <a:ext cx="73152" cy="0"/>
          </a:xfrm>
          <a:prstGeom prst="line">
            <a:avLst/>
          </a:prstGeom>
          <a:noFill/>
          <a:ln w="15875">
            <a:solidFill>
              <a:srgbClr val="1E2A32"/>
            </a:solidFill>
            <a:prstDash val="solid"/>
          </a:ln>
        </p:spPr>
      </p:sp>
      <p:sp>
        <p:nvSpPr>
          <p:cNvPr id="80" name="Text 76"/>
          <p:cNvSpPr txBox="1"/>
          <p:nvPr/>
        </p:nvSpPr>
        <p:spPr>
          <a:xfrm>
            <a:off x="6355080" y="5440680"/>
            <a:ext cx="2377440" cy="411480"/>
          </a:xfrm>
          <a:prstGeom prst="rect">
            <a:avLst/>
          </a:prstGeom>
          <a:noFill/>
          <a:ln/>
        </p:spPr>
        <p:txBody>
          <a:bodyPr wrap="square" lIns="0" tIns="0" rIns="0" bIns="0" rtlCol="0" anchor="t"/>
          <a:lstStyle/>
          <a:p>
            <a:pPr algn="ctr" indent="0" marL="0">
              <a:buNone/>
            </a:pPr>
            <a:r>
              <a:rPr lang="en-US" sz="1300" b="1" dirty="0">
                <a:solidFill>
                  <a:srgbClr val="B3261E"/>
                </a:solidFill>
                <a:latin typeface="Calibri" pitchFamily="34" charset="0"/>
                <a:ea typeface="Calibri" pitchFamily="34" charset="-122"/>
                <a:cs typeface="Calibri" pitchFamily="34" charset="-120"/>
              </a:rPr>
              <a:t>✗ zero column → not invertible</a:t>
            </a:r>
            <a:endParaRPr lang="en-US" sz="1300" dirty="0"/>
          </a:p>
        </p:txBody>
      </p:sp>
      <p:sp>
        <p:nvSpPr>
          <p:cNvPr id="81" name="panel"/>
          <p:cNvSpPr/>
          <p:nvPr/>
        </p:nvSpPr>
        <p:spPr>
          <a:xfrm>
            <a:off x="9006840" y="4114800"/>
            <a:ext cx="2560320" cy="1828800"/>
          </a:xfrm>
          <a:prstGeom prst="roundRect">
            <a:avLst>
              <a:gd name="adj" fmla="val 4000"/>
            </a:avLst>
          </a:prstGeom>
          <a:solidFill>
            <a:srgbClr val="FBE3E1"/>
          </a:solidFill>
          <a:ln/>
        </p:spPr>
      </p:sp>
      <p:sp>
        <p:nvSpPr>
          <p:cNvPr id="82" name="mcell"/>
          <p:cNvSpPr txBox="1"/>
          <p:nvPr/>
        </p:nvSpPr>
        <p:spPr>
          <a:xfrm>
            <a:off x="9784080" y="427939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3" name="mcell"/>
          <p:cNvSpPr txBox="1"/>
          <p:nvPr/>
        </p:nvSpPr>
        <p:spPr>
          <a:xfrm>
            <a:off x="10058400" y="4279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4" name="mcell"/>
          <p:cNvSpPr txBox="1"/>
          <p:nvPr/>
        </p:nvSpPr>
        <p:spPr>
          <a:xfrm>
            <a:off x="10332720" y="4279392"/>
            <a:ext cx="274320" cy="274320"/>
          </a:xfrm>
          <a:prstGeom prst="rect">
            <a:avLst/>
          </a:prstGeom>
          <a:noFill/>
          <a:ln/>
        </p:spPr>
        <p:txBody>
          <a:bodyPr wrap="square" lIns="0" tIns="0" rIns="0" bIns="0" rtlCol="0" anchor="ctr"/>
          <a:lstStyle/>
          <a:p>
            <a:pPr algn="ctr" indent="0" marL="0">
              <a:buNone/>
            </a:pPr>
            <a:r>
              <a:rPr lang="en-US" sz="1300" b="1" dirty="0">
                <a:solidFill>
                  <a:srgbClr val="B3261E"/>
                </a:solidFill>
                <a:latin typeface="Calibri" pitchFamily="34" charset="0"/>
                <a:ea typeface="Calibri" pitchFamily="34" charset="-122"/>
                <a:cs typeface="Calibri" pitchFamily="34" charset="-120"/>
              </a:rPr>
              <a:t>1</a:t>
            </a:r>
            <a:endParaRPr lang="en-US" sz="1300" dirty="0"/>
          </a:p>
        </p:txBody>
      </p:sp>
      <p:sp>
        <p:nvSpPr>
          <p:cNvPr id="85" name="mcell"/>
          <p:cNvSpPr txBox="1"/>
          <p:nvPr/>
        </p:nvSpPr>
        <p:spPr>
          <a:xfrm>
            <a:off x="10607040" y="427939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6" name="mcell"/>
          <p:cNvSpPr txBox="1"/>
          <p:nvPr/>
        </p:nvSpPr>
        <p:spPr>
          <a:xfrm>
            <a:off x="9784080" y="455371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7" name="mcell"/>
          <p:cNvSpPr txBox="1"/>
          <p:nvPr/>
        </p:nvSpPr>
        <p:spPr>
          <a:xfrm>
            <a:off x="10058400" y="455371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8" name="mcell"/>
          <p:cNvSpPr txBox="1"/>
          <p:nvPr/>
        </p:nvSpPr>
        <p:spPr>
          <a:xfrm>
            <a:off x="10332720" y="4553712"/>
            <a:ext cx="274320" cy="274320"/>
          </a:xfrm>
          <a:prstGeom prst="rect">
            <a:avLst/>
          </a:prstGeom>
          <a:noFill/>
          <a:ln/>
        </p:spPr>
        <p:txBody>
          <a:bodyPr wrap="square" lIns="0" tIns="0" rIns="0" bIns="0" rtlCol="0" anchor="ctr"/>
          <a:lstStyle/>
          <a:p>
            <a:pPr algn="ctr" indent="0" marL="0">
              <a:buNone/>
            </a:pPr>
            <a:r>
              <a:rPr lang="en-US" sz="1300" b="1" dirty="0">
                <a:solidFill>
                  <a:srgbClr val="B3261E"/>
                </a:solidFill>
                <a:latin typeface="Calibri" pitchFamily="34" charset="0"/>
                <a:ea typeface="Calibri" pitchFamily="34" charset="-122"/>
                <a:cs typeface="Calibri" pitchFamily="34" charset="-120"/>
              </a:rPr>
              <a:t>1</a:t>
            </a:r>
            <a:endParaRPr lang="en-US" sz="1300" dirty="0"/>
          </a:p>
        </p:txBody>
      </p:sp>
      <p:sp>
        <p:nvSpPr>
          <p:cNvPr id="89" name="mcell"/>
          <p:cNvSpPr txBox="1"/>
          <p:nvPr/>
        </p:nvSpPr>
        <p:spPr>
          <a:xfrm>
            <a:off x="10607040" y="455371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0" name="mcell"/>
          <p:cNvSpPr txBox="1"/>
          <p:nvPr/>
        </p:nvSpPr>
        <p:spPr>
          <a:xfrm>
            <a:off x="9784080" y="48280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1" name="mcell"/>
          <p:cNvSpPr txBox="1"/>
          <p:nvPr/>
        </p:nvSpPr>
        <p:spPr>
          <a:xfrm>
            <a:off x="10058400" y="48280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2" name="mcell"/>
          <p:cNvSpPr txBox="1"/>
          <p:nvPr/>
        </p:nvSpPr>
        <p:spPr>
          <a:xfrm>
            <a:off x="10332720" y="4828032"/>
            <a:ext cx="274320" cy="274320"/>
          </a:xfrm>
          <a:prstGeom prst="rect">
            <a:avLst/>
          </a:prstGeom>
          <a:noFill/>
          <a:ln/>
        </p:spPr>
        <p:txBody>
          <a:bodyPr wrap="square" lIns="0" tIns="0" rIns="0" bIns="0" rtlCol="0" anchor="ctr"/>
          <a:lstStyle/>
          <a:p>
            <a:pPr algn="ctr" indent="0" marL="0">
              <a:buNone/>
            </a:pPr>
            <a:r>
              <a:rPr lang="en-US" sz="1300" b="1" dirty="0">
                <a:solidFill>
                  <a:srgbClr val="B3261E"/>
                </a:solidFill>
                <a:latin typeface="Calibri" pitchFamily="34" charset="0"/>
                <a:ea typeface="Calibri" pitchFamily="34" charset="-122"/>
                <a:cs typeface="Calibri" pitchFamily="34" charset="-120"/>
              </a:rPr>
              <a:t>1</a:t>
            </a:r>
            <a:endParaRPr lang="en-US" sz="1300" dirty="0"/>
          </a:p>
        </p:txBody>
      </p:sp>
      <p:sp>
        <p:nvSpPr>
          <p:cNvPr id="93" name="mcell"/>
          <p:cNvSpPr txBox="1"/>
          <p:nvPr/>
        </p:nvSpPr>
        <p:spPr>
          <a:xfrm>
            <a:off x="10607040" y="482803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4" name="mcell"/>
          <p:cNvSpPr txBox="1"/>
          <p:nvPr/>
        </p:nvSpPr>
        <p:spPr>
          <a:xfrm>
            <a:off x="9784080" y="51023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5" name="mcell"/>
          <p:cNvSpPr txBox="1"/>
          <p:nvPr/>
        </p:nvSpPr>
        <p:spPr>
          <a:xfrm>
            <a:off x="10058400" y="5102352"/>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6" name="mcell"/>
          <p:cNvSpPr txBox="1"/>
          <p:nvPr/>
        </p:nvSpPr>
        <p:spPr>
          <a:xfrm>
            <a:off x="10332720" y="5102352"/>
            <a:ext cx="274320" cy="274320"/>
          </a:xfrm>
          <a:prstGeom prst="rect">
            <a:avLst/>
          </a:prstGeom>
          <a:noFill/>
          <a:ln/>
        </p:spPr>
        <p:txBody>
          <a:bodyPr wrap="square" lIns="0" tIns="0" rIns="0" bIns="0" rtlCol="0" anchor="ctr"/>
          <a:lstStyle/>
          <a:p>
            <a:pPr algn="ctr" indent="0" marL="0">
              <a:buNone/>
            </a:pPr>
            <a:r>
              <a:rPr lang="en-US" sz="1300" b="1" dirty="0">
                <a:solidFill>
                  <a:srgbClr val="B3261E"/>
                </a:solidFill>
                <a:latin typeface="Calibri" pitchFamily="34" charset="0"/>
                <a:ea typeface="Calibri" pitchFamily="34" charset="-122"/>
                <a:cs typeface="Calibri" pitchFamily="34" charset="-120"/>
              </a:rPr>
              <a:t>1</a:t>
            </a:r>
            <a:endParaRPr lang="en-US" sz="1300" dirty="0"/>
          </a:p>
        </p:txBody>
      </p:sp>
      <p:sp>
        <p:nvSpPr>
          <p:cNvPr id="97" name="mcell"/>
          <p:cNvSpPr txBox="1"/>
          <p:nvPr/>
        </p:nvSpPr>
        <p:spPr>
          <a:xfrm>
            <a:off x="10607040" y="5102352"/>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8" name="mbr"/>
          <p:cNvSpPr/>
          <p:nvPr/>
        </p:nvSpPr>
        <p:spPr>
          <a:xfrm>
            <a:off x="9756648" y="4251960"/>
            <a:ext cx="0" cy="1152144"/>
          </a:xfrm>
          <a:prstGeom prst="line">
            <a:avLst/>
          </a:prstGeom>
          <a:noFill/>
          <a:ln w="15875">
            <a:solidFill>
              <a:srgbClr val="1E2A32"/>
            </a:solidFill>
            <a:prstDash val="solid"/>
          </a:ln>
        </p:spPr>
      </p:sp>
      <p:sp>
        <p:nvSpPr>
          <p:cNvPr id="99" name="mbr"/>
          <p:cNvSpPr/>
          <p:nvPr/>
        </p:nvSpPr>
        <p:spPr>
          <a:xfrm>
            <a:off x="9756648" y="4251960"/>
            <a:ext cx="73152" cy="0"/>
          </a:xfrm>
          <a:prstGeom prst="line">
            <a:avLst/>
          </a:prstGeom>
          <a:noFill/>
          <a:ln w="15875">
            <a:solidFill>
              <a:srgbClr val="1E2A32"/>
            </a:solidFill>
            <a:prstDash val="solid"/>
          </a:ln>
        </p:spPr>
      </p:sp>
      <p:sp>
        <p:nvSpPr>
          <p:cNvPr id="100" name="mbr"/>
          <p:cNvSpPr/>
          <p:nvPr/>
        </p:nvSpPr>
        <p:spPr>
          <a:xfrm>
            <a:off x="9756648" y="5404104"/>
            <a:ext cx="73152" cy="0"/>
          </a:xfrm>
          <a:prstGeom prst="line">
            <a:avLst/>
          </a:prstGeom>
          <a:noFill/>
          <a:ln w="15875">
            <a:solidFill>
              <a:srgbClr val="1E2A32"/>
            </a:solidFill>
            <a:prstDash val="solid"/>
          </a:ln>
        </p:spPr>
      </p:sp>
      <p:sp>
        <p:nvSpPr>
          <p:cNvPr id="101" name="mbr"/>
          <p:cNvSpPr/>
          <p:nvPr/>
        </p:nvSpPr>
        <p:spPr>
          <a:xfrm>
            <a:off x="10908792" y="4251960"/>
            <a:ext cx="0" cy="1152144"/>
          </a:xfrm>
          <a:prstGeom prst="line">
            <a:avLst/>
          </a:prstGeom>
          <a:noFill/>
          <a:ln w="15875">
            <a:solidFill>
              <a:srgbClr val="1E2A32"/>
            </a:solidFill>
            <a:prstDash val="solid"/>
          </a:ln>
        </p:spPr>
      </p:sp>
      <p:sp>
        <p:nvSpPr>
          <p:cNvPr id="102" name="mbr"/>
          <p:cNvSpPr/>
          <p:nvPr/>
        </p:nvSpPr>
        <p:spPr>
          <a:xfrm>
            <a:off x="10835640" y="4251960"/>
            <a:ext cx="73152" cy="0"/>
          </a:xfrm>
          <a:prstGeom prst="line">
            <a:avLst/>
          </a:prstGeom>
          <a:noFill/>
          <a:ln w="15875">
            <a:solidFill>
              <a:srgbClr val="1E2A32"/>
            </a:solidFill>
            <a:prstDash val="solid"/>
          </a:ln>
        </p:spPr>
      </p:sp>
      <p:sp>
        <p:nvSpPr>
          <p:cNvPr id="103" name="mbr"/>
          <p:cNvSpPr/>
          <p:nvPr/>
        </p:nvSpPr>
        <p:spPr>
          <a:xfrm>
            <a:off x="10835640" y="5404104"/>
            <a:ext cx="73152" cy="0"/>
          </a:xfrm>
          <a:prstGeom prst="line">
            <a:avLst/>
          </a:prstGeom>
          <a:noFill/>
          <a:ln w="15875">
            <a:solidFill>
              <a:srgbClr val="1E2A32"/>
            </a:solidFill>
            <a:prstDash val="solid"/>
          </a:ln>
        </p:spPr>
      </p:sp>
      <p:sp>
        <p:nvSpPr>
          <p:cNvPr id="104" name="Text 100"/>
          <p:cNvSpPr txBox="1"/>
          <p:nvPr/>
        </p:nvSpPr>
        <p:spPr>
          <a:xfrm>
            <a:off x="9098280" y="5440680"/>
            <a:ext cx="2377440" cy="411480"/>
          </a:xfrm>
          <a:prstGeom prst="rect">
            <a:avLst/>
          </a:prstGeom>
          <a:noFill/>
          <a:ln/>
        </p:spPr>
        <p:txBody>
          <a:bodyPr wrap="square" lIns="0" tIns="0" rIns="0" bIns="0" rtlCol="0" anchor="t"/>
          <a:lstStyle/>
          <a:p>
            <a:pPr algn="ctr" indent="0" marL="0">
              <a:buNone/>
            </a:pPr>
            <a:r>
              <a:rPr lang="en-US" sz="1300" b="1" dirty="0">
                <a:solidFill>
                  <a:srgbClr val="B3261E"/>
                </a:solidFill>
                <a:latin typeface="Calibri" pitchFamily="34" charset="0"/>
                <a:ea typeface="Calibri" pitchFamily="34" charset="-122"/>
                <a:cs typeface="Calibri" pitchFamily="34" charset="-120"/>
              </a:rPr>
              <a:t>✗ a column with three 1s</a:t>
            </a:r>
            <a:endParaRPr lang="en-US" sz="1300" dirty="0"/>
          </a:p>
        </p:txBody>
      </p:sp>
      <p:sp>
        <p:nvSpPr>
          <p:cNvPr id="105" name="Text 101"/>
          <p:cNvSpPr txBox="1"/>
          <p:nvPr/>
        </p:nvSpPr>
        <p:spPr>
          <a:xfrm>
            <a:off x="502920" y="4251960"/>
            <a:ext cx="5394960" cy="8229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Not every invertible matrix qualifies — the family has structure, which §5.4 exploits to search for optimal swizzles.</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§4.4 · CLOSURE UNDER TRITON OPERATIONS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Shape operations only relabel or reshape the matrix</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§4.4 “Propagation Through Shape Operations”, p. 138</a:t>
            </a:r>
            <a:endParaRPr lang="en-US" sz="1000" dirty="0"/>
          </a:p>
        </p:txBody>
      </p:sp>
      <p:sp>
        <p:nvSpPr>
          <p:cNvPr id="6" name="mcell"/>
          <p:cNvSpPr txBox="1"/>
          <p:nvPr/>
        </p:nvSpPr>
        <p:spPr>
          <a:xfrm>
            <a:off x="1097280" y="187452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 name="mcell"/>
          <p:cNvSpPr txBox="1"/>
          <p:nvPr/>
        </p:nvSpPr>
        <p:spPr>
          <a:xfrm>
            <a:off x="146304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 name="mcell"/>
          <p:cNvSpPr txBox="1"/>
          <p:nvPr/>
        </p:nvSpPr>
        <p:spPr>
          <a:xfrm>
            <a:off x="182880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 name="mcell"/>
          <p:cNvSpPr txBox="1"/>
          <p:nvPr/>
        </p:nvSpPr>
        <p:spPr>
          <a:xfrm>
            <a:off x="219456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 name="mcell"/>
          <p:cNvSpPr txBox="1"/>
          <p:nvPr/>
        </p:nvSpPr>
        <p:spPr>
          <a:xfrm>
            <a:off x="109728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146304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2" name="mcell"/>
          <p:cNvSpPr txBox="1"/>
          <p:nvPr/>
        </p:nvSpPr>
        <p:spPr>
          <a:xfrm>
            <a:off x="1828800" y="224028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3" name="mcell"/>
          <p:cNvSpPr txBox="1"/>
          <p:nvPr/>
        </p:nvSpPr>
        <p:spPr>
          <a:xfrm>
            <a:off x="219456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4" name="mcell"/>
          <p:cNvSpPr txBox="1"/>
          <p:nvPr/>
        </p:nvSpPr>
        <p:spPr>
          <a:xfrm>
            <a:off x="109728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5" name="mcell"/>
          <p:cNvSpPr txBox="1"/>
          <p:nvPr/>
        </p:nvSpPr>
        <p:spPr>
          <a:xfrm>
            <a:off x="1463040" y="26060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6" name="mcell"/>
          <p:cNvSpPr txBox="1"/>
          <p:nvPr/>
        </p:nvSpPr>
        <p:spPr>
          <a:xfrm>
            <a:off x="182880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219456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109728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146304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0" name="mcell"/>
          <p:cNvSpPr txBox="1"/>
          <p:nvPr/>
        </p:nvSpPr>
        <p:spPr>
          <a:xfrm>
            <a:off x="182880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2194560" y="29718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2" name="msep"/>
          <p:cNvSpPr/>
          <p:nvPr/>
        </p:nvSpPr>
        <p:spPr>
          <a:xfrm>
            <a:off x="1115568" y="2606040"/>
            <a:ext cx="1426464" cy="0"/>
          </a:xfrm>
          <a:prstGeom prst="line">
            <a:avLst/>
          </a:prstGeom>
          <a:noFill/>
          <a:ln w="9525">
            <a:solidFill>
              <a:srgbClr val="5B6770"/>
            </a:solidFill>
            <a:prstDash val="dash"/>
          </a:ln>
        </p:spPr>
      </p:sp>
      <p:sp>
        <p:nvSpPr>
          <p:cNvPr id="23" name="mbr"/>
          <p:cNvSpPr/>
          <p:nvPr/>
        </p:nvSpPr>
        <p:spPr>
          <a:xfrm>
            <a:off x="1069848" y="1847088"/>
            <a:ext cx="0" cy="1517904"/>
          </a:xfrm>
          <a:prstGeom prst="line">
            <a:avLst/>
          </a:prstGeom>
          <a:noFill/>
          <a:ln w="15875">
            <a:solidFill>
              <a:srgbClr val="1E2A32"/>
            </a:solidFill>
            <a:prstDash val="solid"/>
          </a:ln>
        </p:spPr>
      </p:sp>
      <p:sp>
        <p:nvSpPr>
          <p:cNvPr id="24" name="mbr"/>
          <p:cNvSpPr/>
          <p:nvPr/>
        </p:nvSpPr>
        <p:spPr>
          <a:xfrm>
            <a:off x="1069848" y="1847088"/>
            <a:ext cx="73152" cy="0"/>
          </a:xfrm>
          <a:prstGeom prst="line">
            <a:avLst/>
          </a:prstGeom>
          <a:noFill/>
          <a:ln w="15875">
            <a:solidFill>
              <a:srgbClr val="1E2A32"/>
            </a:solidFill>
            <a:prstDash val="solid"/>
          </a:ln>
        </p:spPr>
      </p:sp>
      <p:sp>
        <p:nvSpPr>
          <p:cNvPr id="25" name="mbr"/>
          <p:cNvSpPr/>
          <p:nvPr/>
        </p:nvSpPr>
        <p:spPr>
          <a:xfrm>
            <a:off x="1069848" y="3364992"/>
            <a:ext cx="73152" cy="0"/>
          </a:xfrm>
          <a:prstGeom prst="line">
            <a:avLst/>
          </a:prstGeom>
          <a:noFill/>
          <a:ln w="15875">
            <a:solidFill>
              <a:srgbClr val="1E2A32"/>
            </a:solidFill>
            <a:prstDash val="solid"/>
          </a:ln>
        </p:spPr>
      </p:sp>
      <p:sp>
        <p:nvSpPr>
          <p:cNvPr id="26" name="mbr"/>
          <p:cNvSpPr/>
          <p:nvPr/>
        </p:nvSpPr>
        <p:spPr>
          <a:xfrm>
            <a:off x="2587752" y="1847088"/>
            <a:ext cx="0" cy="1517904"/>
          </a:xfrm>
          <a:prstGeom prst="line">
            <a:avLst/>
          </a:prstGeom>
          <a:noFill/>
          <a:ln w="15875">
            <a:solidFill>
              <a:srgbClr val="1E2A32"/>
            </a:solidFill>
            <a:prstDash val="solid"/>
          </a:ln>
        </p:spPr>
      </p:sp>
      <p:sp>
        <p:nvSpPr>
          <p:cNvPr id="27" name="mbr"/>
          <p:cNvSpPr/>
          <p:nvPr/>
        </p:nvSpPr>
        <p:spPr>
          <a:xfrm>
            <a:off x="2514600" y="1847088"/>
            <a:ext cx="73152" cy="0"/>
          </a:xfrm>
          <a:prstGeom prst="line">
            <a:avLst/>
          </a:prstGeom>
          <a:noFill/>
          <a:ln w="15875">
            <a:solidFill>
              <a:srgbClr val="1E2A32"/>
            </a:solidFill>
            <a:prstDash val="solid"/>
          </a:ln>
        </p:spPr>
      </p:sp>
      <p:sp>
        <p:nvSpPr>
          <p:cNvPr id="28" name="mbr"/>
          <p:cNvSpPr/>
          <p:nvPr/>
        </p:nvSpPr>
        <p:spPr>
          <a:xfrm>
            <a:off x="2514600" y="3364992"/>
            <a:ext cx="73152" cy="0"/>
          </a:xfrm>
          <a:prstGeom prst="line">
            <a:avLst/>
          </a:prstGeom>
          <a:noFill/>
          <a:ln w="15875">
            <a:solidFill>
              <a:srgbClr val="1E2A32"/>
            </a:solidFill>
            <a:prstDash val="solid"/>
          </a:ln>
        </p:spPr>
      </p:sp>
      <p:sp>
        <p:nvSpPr>
          <p:cNvPr id="29" name="mlab"/>
          <p:cNvSpPr txBox="1"/>
          <p:nvPr/>
        </p:nvSpPr>
        <p:spPr>
          <a:xfrm>
            <a:off x="105156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30" name="mlab"/>
          <p:cNvSpPr txBox="1"/>
          <p:nvPr/>
        </p:nvSpPr>
        <p:spPr>
          <a:xfrm>
            <a:off x="141732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31" name="mlab"/>
          <p:cNvSpPr txBox="1"/>
          <p:nvPr/>
        </p:nvSpPr>
        <p:spPr>
          <a:xfrm>
            <a:off x="178308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32" name="mlab"/>
          <p:cNvSpPr txBox="1"/>
          <p:nvPr/>
        </p:nvSpPr>
        <p:spPr>
          <a:xfrm>
            <a:off x="214884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33" name="mlab"/>
          <p:cNvSpPr txBox="1"/>
          <p:nvPr/>
        </p:nvSpPr>
        <p:spPr>
          <a:xfrm>
            <a:off x="694944" y="187452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34" name="mlab"/>
          <p:cNvSpPr txBox="1"/>
          <p:nvPr/>
        </p:nvSpPr>
        <p:spPr>
          <a:xfrm>
            <a:off x="694944" y="22402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35" name="mlab"/>
          <p:cNvSpPr txBox="1"/>
          <p:nvPr/>
        </p:nvSpPr>
        <p:spPr>
          <a:xfrm>
            <a:off x="694944" y="260604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36" name="mlab"/>
          <p:cNvSpPr txBox="1"/>
          <p:nvPr/>
        </p:nvSpPr>
        <p:spPr>
          <a:xfrm>
            <a:off x="694944" y="297180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37" name="mname"/>
          <p:cNvSpPr txBox="1"/>
          <p:nvPr/>
        </p:nvSpPr>
        <p:spPr>
          <a:xfrm>
            <a:off x="822960" y="3392424"/>
            <a:ext cx="20116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L₁: [4,4]</a:t>
            </a:r>
            <a:endParaRPr lang="en-US" sz="1300" dirty="0"/>
          </a:p>
        </p:txBody>
      </p:sp>
      <p:sp>
        <p:nvSpPr>
          <p:cNvPr id="38" name="Text 35"/>
          <p:cNvSpPr txBox="1"/>
          <p:nvPr/>
        </p:nvSpPr>
        <p:spPr>
          <a:xfrm>
            <a:off x="3337560" y="1280160"/>
            <a:ext cx="2286000" cy="274320"/>
          </a:xfrm>
          <a:prstGeom prst="rect">
            <a:avLst/>
          </a:prstGeom>
          <a:noFill/>
          <a:ln/>
        </p:spPr>
        <p:txBody>
          <a:bodyPr wrap="square" lIns="0" tIns="0" rIns="0" bIns="0" rtlCol="0" anchor="t"/>
          <a:lstStyle/>
          <a:p>
            <a:pPr algn="ctr" indent="0" marL="0">
              <a:buNone/>
            </a:pPr>
            <a:r>
              <a:rPr lang="en-US" sz="1400" b="1" dirty="0">
                <a:solidFill>
                  <a:srgbClr val="0E6E7A"/>
                </a:solidFill>
                <a:latin typeface="Courier New" pitchFamily="34" charset="0"/>
                <a:ea typeface="Courier New" pitchFamily="34" charset="-122"/>
                <a:cs typeface="Courier New" pitchFamily="34" charset="-120"/>
              </a:rPr>
              <a:t>tt.trans</a:t>
            </a:r>
            <a:endParaRPr lang="en-US" sz="1400" dirty="0"/>
          </a:p>
        </p:txBody>
      </p:sp>
      <p:sp>
        <p:nvSpPr>
          <p:cNvPr id="39" name="mcell"/>
          <p:cNvSpPr txBox="1"/>
          <p:nvPr/>
        </p:nvSpPr>
        <p:spPr>
          <a:xfrm>
            <a:off x="374904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0" name="mcell"/>
          <p:cNvSpPr txBox="1"/>
          <p:nvPr/>
        </p:nvSpPr>
        <p:spPr>
          <a:xfrm>
            <a:off x="4114800" y="187452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1" name="mcell"/>
          <p:cNvSpPr txBox="1"/>
          <p:nvPr/>
        </p:nvSpPr>
        <p:spPr>
          <a:xfrm>
            <a:off x="448056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2" name="mcell"/>
          <p:cNvSpPr txBox="1"/>
          <p:nvPr/>
        </p:nvSpPr>
        <p:spPr>
          <a:xfrm>
            <a:off x="484632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3" name="mcell"/>
          <p:cNvSpPr txBox="1"/>
          <p:nvPr/>
        </p:nvSpPr>
        <p:spPr>
          <a:xfrm>
            <a:off x="374904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4" name="mcell"/>
          <p:cNvSpPr txBox="1"/>
          <p:nvPr/>
        </p:nvSpPr>
        <p:spPr>
          <a:xfrm>
            <a:off x="411480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5" name="mcell"/>
          <p:cNvSpPr txBox="1"/>
          <p:nvPr/>
        </p:nvSpPr>
        <p:spPr>
          <a:xfrm>
            <a:off x="448056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6" name="mcell"/>
          <p:cNvSpPr txBox="1"/>
          <p:nvPr/>
        </p:nvSpPr>
        <p:spPr>
          <a:xfrm>
            <a:off x="4846320" y="224028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7" name="mcell"/>
          <p:cNvSpPr txBox="1"/>
          <p:nvPr/>
        </p:nvSpPr>
        <p:spPr>
          <a:xfrm>
            <a:off x="3749040" y="26060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8" name="mcell"/>
          <p:cNvSpPr txBox="1"/>
          <p:nvPr/>
        </p:nvSpPr>
        <p:spPr>
          <a:xfrm>
            <a:off x="411480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9" name="mcell"/>
          <p:cNvSpPr txBox="1"/>
          <p:nvPr/>
        </p:nvSpPr>
        <p:spPr>
          <a:xfrm>
            <a:off x="448056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484632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1" name="mcell"/>
          <p:cNvSpPr txBox="1"/>
          <p:nvPr/>
        </p:nvSpPr>
        <p:spPr>
          <a:xfrm>
            <a:off x="374904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2" name="mcell"/>
          <p:cNvSpPr txBox="1"/>
          <p:nvPr/>
        </p:nvSpPr>
        <p:spPr>
          <a:xfrm>
            <a:off x="411480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3" name="mcell"/>
          <p:cNvSpPr txBox="1"/>
          <p:nvPr/>
        </p:nvSpPr>
        <p:spPr>
          <a:xfrm>
            <a:off x="4480560" y="29718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4" name="mcell"/>
          <p:cNvSpPr txBox="1"/>
          <p:nvPr/>
        </p:nvSpPr>
        <p:spPr>
          <a:xfrm>
            <a:off x="484632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5" name="msep"/>
          <p:cNvSpPr/>
          <p:nvPr/>
        </p:nvSpPr>
        <p:spPr>
          <a:xfrm>
            <a:off x="3767328" y="2606040"/>
            <a:ext cx="1426464" cy="0"/>
          </a:xfrm>
          <a:prstGeom prst="line">
            <a:avLst/>
          </a:prstGeom>
          <a:noFill/>
          <a:ln w="9525">
            <a:solidFill>
              <a:srgbClr val="5B6770"/>
            </a:solidFill>
            <a:prstDash val="dash"/>
          </a:ln>
        </p:spPr>
      </p:sp>
      <p:sp>
        <p:nvSpPr>
          <p:cNvPr id="56" name="mbr"/>
          <p:cNvSpPr/>
          <p:nvPr/>
        </p:nvSpPr>
        <p:spPr>
          <a:xfrm>
            <a:off x="3721608" y="1847088"/>
            <a:ext cx="0" cy="1517904"/>
          </a:xfrm>
          <a:prstGeom prst="line">
            <a:avLst/>
          </a:prstGeom>
          <a:noFill/>
          <a:ln w="15875">
            <a:solidFill>
              <a:srgbClr val="1E2A32"/>
            </a:solidFill>
            <a:prstDash val="solid"/>
          </a:ln>
        </p:spPr>
      </p:sp>
      <p:sp>
        <p:nvSpPr>
          <p:cNvPr id="57" name="mbr"/>
          <p:cNvSpPr/>
          <p:nvPr/>
        </p:nvSpPr>
        <p:spPr>
          <a:xfrm>
            <a:off x="3721608" y="1847088"/>
            <a:ext cx="73152" cy="0"/>
          </a:xfrm>
          <a:prstGeom prst="line">
            <a:avLst/>
          </a:prstGeom>
          <a:noFill/>
          <a:ln w="15875">
            <a:solidFill>
              <a:srgbClr val="1E2A32"/>
            </a:solidFill>
            <a:prstDash val="solid"/>
          </a:ln>
        </p:spPr>
      </p:sp>
      <p:sp>
        <p:nvSpPr>
          <p:cNvPr id="58" name="mbr"/>
          <p:cNvSpPr/>
          <p:nvPr/>
        </p:nvSpPr>
        <p:spPr>
          <a:xfrm>
            <a:off x="3721608" y="3364992"/>
            <a:ext cx="73152" cy="0"/>
          </a:xfrm>
          <a:prstGeom prst="line">
            <a:avLst/>
          </a:prstGeom>
          <a:noFill/>
          <a:ln w="15875">
            <a:solidFill>
              <a:srgbClr val="1E2A32"/>
            </a:solidFill>
            <a:prstDash val="solid"/>
          </a:ln>
        </p:spPr>
      </p:sp>
      <p:sp>
        <p:nvSpPr>
          <p:cNvPr id="59" name="mbr"/>
          <p:cNvSpPr/>
          <p:nvPr/>
        </p:nvSpPr>
        <p:spPr>
          <a:xfrm>
            <a:off x="5239512" y="1847088"/>
            <a:ext cx="0" cy="1517904"/>
          </a:xfrm>
          <a:prstGeom prst="line">
            <a:avLst/>
          </a:prstGeom>
          <a:noFill/>
          <a:ln w="15875">
            <a:solidFill>
              <a:srgbClr val="1E2A32"/>
            </a:solidFill>
            <a:prstDash val="solid"/>
          </a:ln>
        </p:spPr>
      </p:sp>
      <p:sp>
        <p:nvSpPr>
          <p:cNvPr id="60" name="mbr"/>
          <p:cNvSpPr/>
          <p:nvPr/>
        </p:nvSpPr>
        <p:spPr>
          <a:xfrm>
            <a:off x="5166360" y="1847088"/>
            <a:ext cx="73152" cy="0"/>
          </a:xfrm>
          <a:prstGeom prst="line">
            <a:avLst/>
          </a:prstGeom>
          <a:noFill/>
          <a:ln w="15875">
            <a:solidFill>
              <a:srgbClr val="1E2A32"/>
            </a:solidFill>
            <a:prstDash val="solid"/>
          </a:ln>
        </p:spPr>
      </p:sp>
      <p:sp>
        <p:nvSpPr>
          <p:cNvPr id="61" name="mbr"/>
          <p:cNvSpPr/>
          <p:nvPr/>
        </p:nvSpPr>
        <p:spPr>
          <a:xfrm>
            <a:off x="5166360" y="3364992"/>
            <a:ext cx="73152" cy="0"/>
          </a:xfrm>
          <a:prstGeom prst="line">
            <a:avLst/>
          </a:prstGeom>
          <a:noFill/>
          <a:ln w="15875">
            <a:solidFill>
              <a:srgbClr val="1E2A32"/>
            </a:solidFill>
            <a:prstDash val="solid"/>
          </a:ln>
        </p:spPr>
      </p:sp>
      <p:sp>
        <p:nvSpPr>
          <p:cNvPr id="62" name="mlab"/>
          <p:cNvSpPr txBox="1"/>
          <p:nvPr/>
        </p:nvSpPr>
        <p:spPr>
          <a:xfrm>
            <a:off x="370332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63" name="mlab"/>
          <p:cNvSpPr txBox="1"/>
          <p:nvPr/>
        </p:nvSpPr>
        <p:spPr>
          <a:xfrm>
            <a:off x="406908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64" name="mlab"/>
          <p:cNvSpPr txBox="1"/>
          <p:nvPr/>
        </p:nvSpPr>
        <p:spPr>
          <a:xfrm>
            <a:off x="443484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65" name="mlab"/>
          <p:cNvSpPr txBox="1"/>
          <p:nvPr/>
        </p:nvSpPr>
        <p:spPr>
          <a:xfrm>
            <a:off x="480060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66" name="mlab"/>
          <p:cNvSpPr txBox="1"/>
          <p:nvPr/>
        </p:nvSpPr>
        <p:spPr>
          <a:xfrm>
            <a:off x="3346704" y="187452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67" name="mlab"/>
          <p:cNvSpPr txBox="1"/>
          <p:nvPr/>
        </p:nvSpPr>
        <p:spPr>
          <a:xfrm>
            <a:off x="3346704" y="22402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68" name="mlab"/>
          <p:cNvSpPr txBox="1"/>
          <p:nvPr/>
        </p:nvSpPr>
        <p:spPr>
          <a:xfrm>
            <a:off x="3346704" y="260604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69" name="mlab"/>
          <p:cNvSpPr txBox="1"/>
          <p:nvPr/>
        </p:nvSpPr>
        <p:spPr>
          <a:xfrm>
            <a:off x="3346704" y="297180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70" name="Text 67"/>
          <p:cNvSpPr txBox="1"/>
          <p:nvPr/>
        </p:nvSpPr>
        <p:spPr>
          <a:xfrm>
            <a:off x="3291840" y="3383280"/>
            <a:ext cx="2377440" cy="274320"/>
          </a:xfrm>
          <a:prstGeom prst="rect">
            <a:avLst/>
          </a:prstGeom>
          <a:noFill/>
          <a:ln/>
        </p:spPr>
        <p:txBody>
          <a:bodyPr wrap="square" lIns="0" tIns="0" rIns="0" bIns="0" rtlCol="0" anchor="t"/>
          <a:lstStyle/>
          <a:p>
            <a:pPr algn="ctr" indent="0" marL="0">
              <a:buNone/>
            </a:pPr>
            <a:r>
              <a:rPr lang="en-US" sz="1200" i="1" dirty="0">
                <a:solidFill>
                  <a:srgbClr val="5B6770"/>
                </a:solidFill>
                <a:latin typeface="Calibri" pitchFamily="34" charset="0"/>
                <a:ea typeface="Calibri" pitchFamily="34" charset="-122"/>
                <a:cs typeface="Calibri" pitchFamily="34" charset="-120"/>
              </a:rPr>
              <a:t>P·L₁ (rows swapped)</a:t>
            </a:r>
            <a:endParaRPr lang="en-US" sz="1200" dirty="0"/>
          </a:p>
        </p:txBody>
      </p:sp>
      <p:sp>
        <p:nvSpPr>
          <p:cNvPr id="71" name="Text 68"/>
          <p:cNvSpPr txBox="1"/>
          <p:nvPr/>
        </p:nvSpPr>
        <p:spPr>
          <a:xfrm>
            <a:off x="6035040" y="1280160"/>
            <a:ext cx="2286000" cy="274320"/>
          </a:xfrm>
          <a:prstGeom prst="rect">
            <a:avLst/>
          </a:prstGeom>
          <a:noFill/>
          <a:ln/>
        </p:spPr>
        <p:txBody>
          <a:bodyPr wrap="square" lIns="0" tIns="0" rIns="0" bIns="0" rtlCol="0" anchor="t"/>
          <a:lstStyle/>
          <a:p>
            <a:pPr algn="ctr" indent="0" marL="0">
              <a:buNone/>
            </a:pPr>
            <a:r>
              <a:rPr lang="en-US" sz="1400" b="1" dirty="0">
                <a:solidFill>
                  <a:srgbClr val="0E6E7A"/>
                </a:solidFill>
                <a:latin typeface="Courier New" pitchFamily="34" charset="0"/>
                <a:ea typeface="Courier New" pitchFamily="34" charset="-122"/>
                <a:cs typeface="Courier New" pitchFamily="34" charset="-120"/>
              </a:rPr>
              <a:t>reshape → [16]</a:t>
            </a:r>
            <a:endParaRPr lang="en-US" sz="1400" dirty="0"/>
          </a:p>
        </p:txBody>
      </p:sp>
      <p:sp>
        <p:nvSpPr>
          <p:cNvPr id="72" name="mcell"/>
          <p:cNvSpPr txBox="1"/>
          <p:nvPr/>
        </p:nvSpPr>
        <p:spPr>
          <a:xfrm>
            <a:off x="6446520" y="187452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3" name="mcell"/>
          <p:cNvSpPr txBox="1"/>
          <p:nvPr/>
        </p:nvSpPr>
        <p:spPr>
          <a:xfrm>
            <a:off x="681228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4" name="mcell"/>
          <p:cNvSpPr txBox="1"/>
          <p:nvPr/>
        </p:nvSpPr>
        <p:spPr>
          <a:xfrm>
            <a:off x="717804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5" name="mcell"/>
          <p:cNvSpPr txBox="1"/>
          <p:nvPr/>
        </p:nvSpPr>
        <p:spPr>
          <a:xfrm>
            <a:off x="754380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6" name="mcell"/>
          <p:cNvSpPr txBox="1"/>
          <p:nvPr/>
        </p:nvSpPr>
        <p:spPr>
          <a:xfrm>
            <a:off x="644652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7" name="mcell"/>
          <p:cNvSpPr txBox="1"/>
          <p:nvPr/>
        </p:nvSpPr>
        <p:spPr>
          <a:xfrm>
            <a:off x="681228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8" name="mcell"/>
          <p:cNvSpPr txBox="1"/>
          <p:nvPr/>
        </p:nvSpPr>
        <p:spPr>
          <a:xfrm>
            <a:off x="7178040" y="224028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9" name="mcell"/>
          <p:cNvSpPr txBox="1"/>
          <p:nvPr/>
        </p:nvSpPr>
        <p:spPr>
          <a:xfrm>
            <a:off x="754380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0" name="mcell"/>
          <p:cNvSpPr txBox="1"/>
          <p:nvPr/>
        </p:nvSpPr>
        <p:spPr>
          <a:xfrm>
            <a:off x="644652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1" name="mcell"/>
          <p:cNvSpPr txBox="1"/>
          <p:nvPr/>
        </p:nvSpPr>
        <p:spPr>
          <a:xfrm>
            <a:off x="6812280" y="26060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2" name="mcell"/>
          <p:cNvSpPr txBox="1"/>
          <p:nvPr/>
        </p:nvSpPr>
        <p:spPr>
          <a:xfrm>
            <a:off x="717804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3" name="mcell"/>
          <p:cNvSpPr txBox="1"/>
          <p:nvPr/>
        </p:nvSpPr>
        <p:spPr>
          <a:xfrm>
            <a:off x="754380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4" name="mcell"/>
          <p:cNvSpPr txBox="1"/>
          <p:nvPr/>
        </p:nvSpPr>
        <p:spPr>
          <a:xfrm>
            <a:off x="644652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5" name="mcell"/>
          <p:cNvSpPr txBox="1"/>
          <p:nvPr/>
        </p:nvSpPr>
        <p:spPr>
          <a:xfrm>
            <a:off x="681228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6" name="mcell"/>
          <p:cNvSpPr txBox="1"/>
          <p:nvPr/>
        </p:nvSpPr>
        <p:spPr>
          <a:xfrm>
            <a:off x="717804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7" name="mcell"/>
          <p:cNvSpPr txBox="1"/>
          <p:nvPr/>
        </p:nvSpPr>
        <p:spPr>
          <a:xfrm>
            <a:off x="7543800" y="29718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8" name="mbr"/>
          <p:cNvSpPr/>
          <p:nvPr/>
        </p:nvSpPr>
        <p:spPr>
          <a:xfrm>
            <a:off x="6419088" y="1847088"/>
            <a:ext cx="0" cy="1517904"/>
          </a:xfrm>
          <a:prstGeom prst="line">
            <a:avLst/>
          </a:prstGeom>
          <a:noFill/>
          <a:ln w="15875">
            <a:solidFill>
              <a:srgbClr val="1E2A32"/>
            </a:solidFill>
            <a:prstDash val="solid"/>
          </a:ln>
        </p:spPr>
      </p:sp>
      <p:sp>
        <p:nvSpPr>
          <p:cNvPr id="89" name="mbr"/>
          <p:cNvSpPr/>
          <p:nvPr/>
        </p:nvSpPr>
        <p:spPr>
          <a:xfrm>
            <a:off x="6419088" y="1847088"/>
            <a:ext cx="73152" cy="0"/>
          </a:xfrm>
          <a:prstGeom prst="line">
            <a:avLst/>
          </a:prstGeom>
          <a:noFill/>
          <a:ln w="15875">
            <a:solidFill>
              <a:srgbClr val="1E2A32"/>
            </a:solidFill>
            <a:prstDash val="solid"/>
          </a:ln>
        </p:spPr>
      </p:sp>
      <p:sp>
        <p:nvSpPr>
          <p:cNvPr id="90" name="mbr"/>
          <p:cNvSpPr/>
          <p:nvPr/>
        </p:nvSpPr>
        <p:spPr>
          <a:xfrm>
            <a:off x="6419088" y="3364992"/>
            <a:ext cx="73152" cy="0"/>
          </a:xfrm>
          <a:prstGeom prst="line">
            <a:avLst/>
          </a:prstGeom>
          <a:noFill/>
          <a:ln w="15875">
            <a:solidFill>
              <a:srgbClr val="1E2A32"/>
            </a:solidFill>
            <a:prstDash val="solid"/>
          </a:ln>
        </p:spPr>
      </p:sp>
      <p:sp>
        <p:nvSpPr>
          <p:cNvPr id="91" name="mbr"/>
          <p:cNvSpPr/>
          <p:nvPr/>
        </p:nvSpPr>
        <p:spPr>
          <a:xfrm>
            <a:off x="7936992" y="1847088"/>
            <a:ext cx="0" cy="1517904"/>
          </a:xfrm>
          <a:prstGeom prst="line">
            <a:avLst/>
          </a:prstGeom>
          <a:noFill/>
          <a:ln w="15875">
            <a:solidFill>
              <a:srgbClr val="1E2A32"/>
            </a:solidFill>
            <a:prstDash val="solid"/>
          </a:ln>
        </p:spPr>
      </p:sp>
      <p:sp>
        <p:nvSpPr>
          <p:cNvPr id="92" name="mbr"/>
          <p:cNvSpPr/>
          <p:nvPr/>
        </p:nvSpPr>
        <p:spPr>
          <a:xfrm>
            <a:off x="7863840" y="1847088"/>
            <a:ext cx="73152" cy="0"/>
          </a:xfrm>
          <a:prstGeom prst="line">
            <a:avLst/>
          </a:prstGeom>
          <a:noFill/>
          <a:ln w="15875">
            <a:solidFill>
              <a:srgbClr val="1E2A32"/>
            </a:solidFill>
            <a:prstDash val="solid"/>
          </a:ln>
        </p:spPr>
      </p:sp>
      <p:sp>
        <p:nvSpPr>
          <p:cNvPr id="93" name="mbr"/>
          <p:cNvSpPr/>
          <p:nvPr/>
        </p:nvSpPr>
        <p:spPr>
          <a:xfrm>
            <a:off x="7863840" y="3364992"/>
            <a:ext cx="73152" cy="0"/>
          </a:xfrm>
          <a:prstGeom prst="line">
            <a:avLst/>
          </a:prstGeom>
          <a:noFill/>
          <a:ln w="15875">
            <a:solidFill>
              <a:srgbClr val="1E2A32"/>
            </a:solidFill>
            <a:prstDash val="solid"/>
          </a:ln>
        </p:spPr>
      </p:sp>
      <p:sp>
        <p:nvSpPr>
          <p:cNvPr id="94" name="mlab"/>
          <p:cNvSpPr txBox="1"/>
          <p:nvPr/>
        </p:nvSpPr>
        <p:spPr>
          <a:xfrm>
            <a:off x="640080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95" name="mlab"/>
          <p:cNvSpPr txBox="1"/>
          <p:nvPr/>
        </p:nvSpPr>
        <p:spPr>
          <a:xfrm>
            <a:off x="676656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96" name="mlab"/>
          <p:cNvSpPr txBox="1"/>
          <p:nvPr/>
        </p:nvSpPr>
        <p:spPr>
          <a:xfrm>
            <a:off x="713232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97" name="mlab"/>
          <p:cNvSpPr txBox="1"/>
          <p:nvPr/>
        </p:nvSpPr>
        <p:spPr>
          <a:xfrm>
            <a:off x="749808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98" name="mlab"/>
          <p:cNvSpPr txBox="1"/>
          <p:nvPr/>
        </p:nvSpPr>
        <p:spPr>
          <a:xfrm>
            <a:off x="6044184" y="187452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k₀</a:t>
            </a:r>
            <a:endParaRPr lang="en-US" sz="1200" dirty="0"/>
          </a:p>
        </p:txBody>
      </p:sp>
      <p:sp>
        <p:nvSpPr>
          <p:cNvPr id="99" name="mlab"/>
          <p:cNvSpPr txBox="1"/>
          <p:nvPr/>
        </p:nvSpPr>
        <p:spPr>
          <a:xfrm>
            <a:off x="6044184" y="22402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k₁</a:t>
            </a:r>
            <a:endParaRPr lang="en-US" sz="1200" dirty="0"/>
          </a:p>
        </p:txBody>
      </p:sp>
      <p:sp>
        <p:nvSpPr>
          <p:cNvPr id="100" name="mlab"/>
          <p:cNvSpPr txBox="1"/>
          <p:nvPr/>
        </p:nvSpPr>
        <p:spPr>
          <a:xfrm>
            <a:off x="6044184" y="260604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k₂</a:t>
            </a:r>
            <a:endParaRPr lang="en-US" sz="1200" dirty="0"/>
          </a:p>
        </p:txBody>
      </p:sp>
      <p:sp>
        <p:nvSpPr>
          <p:cNvPr id="101" name="mlab"/>
          <p:cNvSpPr txBox="1"/>
          <p:nvPr/>
        </p:nvSpPr>
        <p:spPr>
          <a:xfrm>
            <a:off x="6044184" y="297180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k₃</a:t>
            </a:r>
            <a:endParaRPr lang="en-US" sz="1200" dirty="0"/>
          </a:p>
        </p:txBody>
      </p:sp>
      <p:sp>
        <p:nvSpPr>
          <p:cNvPr id="102" name="Text 99"/>
          <p:cNvSpPr txBox="1"/>
          <p:nvPr/>
        </p:nvSpPr>
        <p:spPr>
          <a:xfrm>
            <a:off x="5989320" y="3383280"/>
            <a:ext cx="2377440" cy="274320"/>
          </a:xfrm>
          <a:prstGeom prst="rect">
            <a:avLst/>
          </a:prstGeom>
          <a:noFill/>
          <a:ln/>
        </p:spPr>
        <p:txBody>
          <a:bodyPr wrap="square" lIns="0" tIns="0" rIns="0" bIns="0" rtlCol="0" anchor="t"/>
          <a:lstStyle/>
          <a:p>
            <a:pPr algn="ctr" indent="0" marL="0">
              <a:buNone/>
            </a:pPr>
            <a:r>
              <a:rPr lang="en-US" sz="1200" i="1" dirty="0">
                <a:solidFill>
                  <a:srgbClr val="5B6770"/>
                </a:solidFill>
                <a:latin typeface="Calibri" pitchFamily="34" charset="0"/>
                <a:ea typeface="Calibri" pitchFamily="34" charset="-122"/>
                <a:cs typeface="Calibri" pitchFamily="34" charset="-120"/>
              </a:rPr>
              <a:t>same matrix, rows renamed</a:t>
            </a:r>
            <a:endParaRPr lang="en-US" sz="1200" dirty="0"/>
          </a:p>
        </p:txBody>
      </p:sp>
      <p:sp>
        <p:nvSpPr>
          <p:cNvPr id="103" name="Text 100"/>
          <p:cNvSpPr txBox="1"/>
          <p:nvPr/>
        </p:nvSpPr>
        <p:spPr>
          <a:xfrm>
            <a:off x="8732520" y="1280160"/>
            <a:ext cx="2286000" cy="274320"/>
          </a:xfrm>
          <a:prstGeom prst="rect">
            <a:avLst/>
          </a:prstGeom>
          <a:noFill/>
          <a:ln/>
        </p:spPr>
        <p:txBody>
          <a:bodyPr wrap="square" lIns="0" tIns="0" rIns="0" bIns="0" rtlCol="0" anchor="t"/>
          <a:lstStyle/>
          <a:p>
            <a:pPr algn="ctr" indent="0" marL="0">
              <a:buNone/>
            </a:pPr>
            <a:r>
              <a:rPr lang="en-US" sz="1400" b="1" dirty="0">
                <a:solidFill>
                  <a:srgbClr val="0E6E7A"/>
                </a:solidFill>
                <a:latin typeface="Courier New" pitchFamily="34" charset="0"/>
                <a:ea typeface="Courier New" pitchFamily="34" charset="-122"/>
                <a:cs typeface="Courier New" pitchFamily="34" charset="-120"/>
              </a:rPr>
              <a:t>reshape → [2,8]</a:t>
            </a:r>
            <a:endParaRPr lang="en-US" sz="1400" dirty="0"/>
          </a:p>
        </p:txBody>
      </p:sp>
      <p:sp>
        <p:nvSpPr>
          <p:cNvPr id="104" name="mcell"/>
          <p:cNvSpPr txBox="1"/>
          <p:nvPr/>
        </p:nvSpPr>
        <p:spPr>
          <a:xfrm>
            <a:off x="9144000" y="187452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5" name="mcell"/>
          <p:cNvSpPr txBox="1"/>
          <p:nvPr/>
        </p:nvSpPr>
        <p:spPr>
          <a:xfrm>
            <a:off x="950976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6" name="mcell"/>
          <p:cNvSpPr txBox="1"/>
          <p:nvPr/>
        </p:nvSpPr>
        <p:spPr>
          <a:xfrm>
            <a:off x="987552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7" name="mcell"/>
          <p:cNvSpPr txBox="1"/>
          <p:nvPr/>
        </p:nvSpPr>
        <p:spPr>
          <a:xfrm>
            <a:off x="10241280" y="187452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8" name="mcell"/>
          <p:cNvSpPr txBox="1"/>
          <p:nvPr/>
        </p:nvSpPr>
        <p:spPr>
          <a:xfrm>
            <a:off x="914400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9" name="mcell"/>
          <p:cNvSpPr txBox="1"/>
          <p:nvPr/>
        </p:nvSpPr>
        <p:spPr>
          <a:xfrm>
            <a:off x="950976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0" name="mcell"/>
          <p:cNvSpPr txBox="1"/>
          <p:nvPr/>
        </p:nvSpPr>
        <p:spPr>
          <a:xfrm>
            <a:off x="9875520" y="224028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11" name="mcell"/>
          <p:cNvSpPr txBox="1"/>
          <p:nvPr/>
        </p:nvSpPr>
        <p:spPr>
          <a:xfrm>
            <a:off x="10241280" y="22402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2" name="mcell"/>
          <p:cNvSpPr txBox="1"/>
          <p:nvPr/>
        </p:nvSpPr>
        <p:spPr>
          <a:xfrm>
            <a:off x="914400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3" name="mcell"/>
          <p:cNvSpPr txBox="1"/>
          <p:nvPr/>
        </p:nvSpPr>
        <p:spPr>
          <a:xfrm>
            <a:off x="9509760" y="26060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14" name="mcell"/>
          <p:cNvSpPr txBox="1"/>
          <p:nvPr/>
        </p:nvSpPr>
        <p:spPr>
          <a:xfrm>
            <a:off x="987552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5" name="mcell"/>
          <p:cNvSpPr txBox="1"/>
          <p:nvPr/>
        </p:nvSpPr>
        <p:spPr>
          <a:xfrm>
            <a:off x="10241280" y="26060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6" name="mcell"/>
          <p:cNvSpPr txBox="1"/>
          <p:nvPr/>
        </p:nvSpPr>
        <p:spPr>
          <a:xfrm>
            <a:off x="914400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7" name="mcell"/>
          <p:cNvSpPr txBox="1"/>
          <p:nvPr/>
        </p:nvSpPr>
        <p:spPr>
          <a:xfrm>
            <a:off x="950976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8" name="mcell"/>
          <p:cNvSpPr txBox="1"/>
          <p:nvPr/>
        </p:nvSpPr>
        <p:spPr>
          <a:xfrm>
            <a:off x="9875520" y="29718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9" name="mcell"/>
          <p:cNvSpPr txBox="1"/>
          <p:nvPr/>
        </p:nvSpPr>
        <p:spPr>
          <a:xfrm>
            <a:off x="10241280" y="29718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20" name="msep"/>
          <p:cNvSpPr/>
          <p:nvPr/>
        </p:nvSpPr>
        <p:spPr>
          <a:xfrm>
            <a:off x="9162288" y="2971800"/>
            <a:ext cx="1426464" cy="0"/>
          </a:xfrm>
          <a:prstGeom prst="line">
            <a:avLst/>
          </a:prstGeom>
          <a:noFill/>
          <a:ln w="9525">
            <a:solidFill>
              <a:srgbClr val="5B6770"/>
            </a:solidFill>
            <a:prstDash val="dash"/>
          </a:ln>
        </p:spPr>
      </p:sp>
      <p:sp>
        <p:nvSpPr>
          <p:cNvPr id="121" name="mbr"/>
          <p:cNvSpPr/>
          <p:nvPr/>
        </p:nvSpPr>
        <p:spPr>
          <a:xfrm>
            <a:off x="9116568" y="1847088"/>
            <a:ext cx="0" cy="1517904"/>
          </a:xfrm>
          <a:prstGeom prst="line">
            <a:avLst/>
          </a:prstGeom>
          <a:noFill/>
          <a:ln w="15875">
            <a:solidFill>
              <a:srgbClr val="1E2A32"/>
            </a:solidFill>
            <a:prstDash val="solid"/>
          </a:ln>
        </p:spPr>
      </p:sp>
      <p:sp>
        <p:nvSpPr>
          <p:cNvPr id="122" name="mbr"/>
          <p:cNvSpPr/>
          <p:nvPr/>
        </p:nvSpPr>
        <p:spPr>
          <a:xfrm>
            <a:off x="9116568" y="1847088"/>
            <a:ext cx="73152" cy="0"/>
          </a:xfrm>
          <a:prstGeom prst="line">
            <a:avLst/>
          </a:prstGeom>
          <a:noFill/>
          <a:ln w="15875">
            <a:solidFill>
              <a:srgbClr val="1E2A32"/>
            </a:solidFill>
            <a:prstDash val="solid"/>
          </a:ln>
        </p:spPr>
      </p:sp>
      <p:sp>
        <p:nvSpPr>
          <p:cNvPr id="123" name="mbr"/>
          <p:cNvSpPr/>
          <p:nvPr/>
        </p:nvSpPr>
        <p:spPr>
          <a:xfrm>
            <a:off x="9116568" y="3364992"/>
            <a:ext cx="73152" cy="0"/>
          </a:xfrm>
          <a:prstGeom prst="line">
            <a:avLst/>
          </a:prstGeom>
          <a:noFill/>
          <a:ln w="15875">
            <a:solidFill>
              <a:srgbClr val="1E2A32"/>
            </a:solidFill>
            <a:prstDash val="solid"/>
          </a:ln>
        </p:spPr>
      </p:sp>
      <p:sp>
        <p:nvSpPr>
          <p:cNvPr id="124" name="mbr"/>
          <p:cNvSpPr/>
          <p:nvPr/>
        </p:nvSpPr>
        <p:spPr>
          <a:xfrm>
            <a:off x="10634472" y="1847088"/>
            <a:ext cx="0" cy="1517904"/>
          </a:xfrm>
          <a:prstGeom prst="line">
            <a:avLst/>
          </a:prstGeom>
          <a:noFill/>
          <a:ln w="15875">
            <a:solidFill>
              <a:srgbClr val="1E2A32"/>
            </a:solidFill>
            <a:prstDash val="solid"/>
          </a:ln>
        </p:spPr>
      </p:sp>
      <p:sp>
        <p:nvSpPr>
          <p:cNvPr id="125" name="mbr"/>
          <p:cNvSpPr/>
          <p:nvPr/>
        </p:nvSpPr>
        <p:spPr>
          <a:xfrm>
            <a:off x="10561320" y="1847088"/>
            <a:ext cx="73152" cy="0"/>
          </a:xfrm>
          <a:prstGeom prst="line">
            <a:avLst/>
          </a:prstGeom>
          <a:noFill/>
          <a:ln w="15875">
            <a:solidFill>
              <a:srgbClr val="1E2A32"/>
            </a:solidFill>
            <a:prstDash val="solid"/>
          </a:ln>
        </p:spPr>
      </p:sp>
      <p:sp>
        <p:nvSpPr>
          <p:cNvPr id="126" name="mbr"/>
          <p:cNvSpPr/>
          <p:nvPr/>
        </p:nvSpPr>
        <p:spPr>
          <a:xfrm>
            <a:off x="10561320" y="3364992"/>
            <a:ext cx="73152" cy="0"/>
          </a:xfrm>
          <a:prstGeom prst="line">
            <a:avLst/>
          </a:prstGeom>
          <a:noFill/>
          <a:ln w="15875">
            <a:solidFill>
              <a:srgbClr val="1E2A32"/>
            </a:solidFill>
            <a:prstDash val="solid"/>
          </a:ln>
        </p:spPr>
      </p:sp>
      <p:sp>
        <p:nvSpPr>
          <p:cNvPr id="127" name="mlab"/>
          <p:cNvSpPr txBox="1"/>
          <p:nvPr/>
        </p:nvSpPr>
        <p:spPr>
          <a:xfrm>
            <a:off x="909828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128" name="mlab"/>
          <p:cNvSpPr txBox="1"/>
          <p:nvPr/>
        </p:nvSpPr>
        <p:spPr>
          <a:xfrm>
            <a:off x="946404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129" name="mlab"/>
          <p:cNvSpPr txBox="1"/>
          <p:nvPr/>
        </p:nvSpPr>
        <p:spPr>
          <a:xfrm>
            <a:off x="982980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130" name="mlab"/>
          <p:cNvSpPr txBox="1"/>
          <p:nvPr/>
        </p:nvSpPr>
        <p:spPr>
          <a:xfrm>
            <a:off x="10195560" y="163677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131" name="mlab"/>
          <p:cNvSpPr txBox="1"/>
          <p:nvPr/>
        </p:nvSpPr>
        <p:spPr>
          <a:xfrm>
            <a:off x="8741664" y="187452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132" name="mlab"/>
          <p:cNvSpPr txBox="1"/>
          <p:nvPr/>
        </p:nvSpPr>
        <p:spPr>
          <a:xfrm>
            <a:off x="8741664" y="22402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133" name="mlab"/>
          <p:cNvSpPr txBox="1"/>
          <p:nvPr/>
        </p:nvSpPr>
        <p:spPr>
          <a:xfrm>
            <a:off x="8741664" y="260604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j₂</a:t>
            </a:r>
            <a:endParaRPr lang="en-US" sz="1200" dirty="0"/>
          </a:p>
        </p:txBody>
      </p:sp>
      <p:sp>
        <p:nvSpPr>
          <p:cNvPr id="134" name="mlab"/>
          <p:cNvSpPr txBox="1"/>
          <p:nvPr/>
        </p:nvSpPr>
        <p:spPr>
          <a:xfrm>
            <a:off x="8741664" y="297180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135" name="Text 132"/>
          <p:cNvSpPr txBox="1"/>
          <p:nvPr/>
        </p:nvSpPr>
        <p:spPr>
          <a:xfrm>
            <a:off x="8686800" y="3383280"/>
            <a:ext cx="2377440" cy="274320"/>
          </a:xfrm>
          <a:prstGeom prst="rect">
            <a:avLst/>
          </a:prstGeom>
          <a:noFill/>
          <a:ln/>
        </p:spPr>
        <p:txBody>
          <a:bodyPr wrap="square" lIns="0" tIns="0" rIns="0" bIns="0" rtlCol="0" anchor="t"/>
          <a:lstStyle/>
          <a:p>
            <a:pPr algn="ctr" indent="0" marL="0">
              <a:buNone/>
            </a:pPr>
            <a:r>
              <a:rPr lang="en-US" sz="1200" i="1" dirty="0">
                <a:solidFill>
                  <a:srgbClr val="5B6770"/>
                </a:solidFill>
                <a:latin typeface="Calibri" pitchFamily="34" charset="0"/>
                <a:ea typeface="Calibri" pitchFamily="34" charset="-122"/>
                <a:cs typeface="Calibri" pitchFamily="34" charset="-120"/>
              </a:rPr>
              <a:t>same bits, regrouped</a:t>
            </a:r>
            <a:endParaRPr lang="en-US" sz="1200" dirty="0"/>
          </a:p>
        </p:txBody>
      </p:sp>
      <p:sp>
        <p:nvSpPr>
          <p:cNvPr id="136" name="arrow"/>
          <p:cNvSpPr/>
          <p:nvPr/>
        </p:nvSpPr>
        <p:spPr>
          <a:xfrm>
            <a:off x="2697480" y="2606040"/>
            <a:ext cx="502920" cy="914"/>
          </a:xfrm>
          <a:prstGeom prst="line">
            <a:avLst/>
          </a:prstGeom>
          <a:noFill/>
          <a:ln w="15875">
            <a:solidFill>
              <a:srgbClr val="0E6E7A"/>
            </a:solidFill>
            <a:prstDash val="solid"/>
            <a:tailEnd type="triangle"/>
          </a:ln>
        </p:spPr>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502920" y="3749040"/>
          <a:ext cx="7680960" cy="914400"/>
        </p:xfrm>
        <a:graphic>
          <a:graphicData uri="http://schemas.openxmlformats.org/drawingml/2006/table">
            <a:tbl>
              <a:tblPr/>
              <a:tblGrid>
                <a:gridCol w="1554480"/>
                <a:gridCol w="4754880"/>
                <a:gridCol w="1371600"/>
              </a:tblGrid>
              <a:tr h="329184">
                <a:tc>
                  <a:txBody>
                    <a:bodyPr/>
                    <a:lstStyle/>
                    <a:p>
                      <a:pPr algn="l" indent="0" marL="0">
                        <a:buNone/>
                      </a:pPr>
                      <a:r>
                        <a:rPr lang="en-US" sz="1300" b="1" dirty="0">
                          <a:solidFill>
                            <a:srgbClr val="1E2A32"/>
                          </a:solidFill>
                          <a:latin typeface="Calibri" pitchFamily="34" charset="0"/>
                          <a:ea typeface="Calibri" pitchFamily="34" charset="-122"/>
                          <a:cs typeface="Calibri" pitchFamily="34" charset="-120"/>
                        </a:rPr>
                        <a:t>Operation</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l" indent="0" marL="0">
                        <a:buNone/>
                      </a:pPr>
                      <a:r>
                        <a:rPr lang="en-US" sz="1300" b="1" dirty="0">
                          <a:solidFill>
                            <a:srgbClr val="1E2A32"/>
                          </a:solidFill>
                          <a:latin typeface="Calibri" pitchFamily="34" charset="0"/>
                          <a:ea typeface="Calibri" pitchFamily="34" charset="-122"/>
                          <a:cs typeface="Calibri" pitchFamily="34" charset="-120"/>
                        </a:rPr>
                        <a:t>Effect on the layout matrix</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l" indent="0" marL="0">
                        <a:buNone/>
                      </a:pPr>
                      <a:r>
                        <a:rPr lang="en-US" sz="1300" b="1" dirty="0">
                          <a:solidFill>
                            <a:srgbClr val="1E2A32"/>
                          </a:solidFill>
                          <a:latin typeface="Calibri" pitchFamily="34" charset="0"/>
                          <a:ea typeface="Calibri" pitchFamily="34" charset="-122"/>
                          <a:cs typeface="Calibri" pitchFamily="34" charset="-120"/>
                        </a:rPr>
                        <a:t>Data movement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tt.trans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compose with output permutation P</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tt.reshape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rename / regroup output bits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tt.expand_dims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add a size-1 dim (0 bits)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tt.broadcast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zero columns get the new dim’s bits (reverse of slicing)</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tt.join / tt.split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add / remove one output bit (e.g. on a register bit)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300" dirty="0">
                          <a:solidFill>
                            <a:srgbClr val="1E2A32"/>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138" name="callout"/>
          <p:cNvSpPr/>
          <p:nvPr/>
        </p:nvSpPr>
        <p:spPr>
          <a:xfrm>
            <a:off x="8458200" y="3749040"/>
            <a:ext cx="3246120" cy="1965960"/>
          </a:xfrm>
          <a:prstGeom prst="roundRect">
            <a:avLst>
              <a:gd name="adj" fmla="val 3721"/>
            </a:avLst>
          </a:prstGeom>
          <a:solidFill>
            <a:srgbClr val="DDEFF1"/>
          </a:solidFill>
          <a:ln/>
        </p:spPr>
      </p:sp>
      <p:sp>
        <p:nvSpPr>
          <p:cNvPr id="139" name="callout-text"/>
          <p:cNvSpPr txBox="1"/>
          <p:nvPr/>
        </p:nvSpPr>
        <p:spPr>
          <a:xfrm>
            <a:off x="8595360" y="3803904"/>
            <a:ext cx="2971800" cy="185623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Def. 4.10’s family is </a:t>
            </a:r>
            <a:r>
              <a:rPr lang="en-US" sz="1400" b="1" dirty="0">
                <a:solidFill>
                  <a:srgbClr val="0A4F58"/>
                </a:solidFill>
                <a:latin typeface="Calibri" pitchFamily="34" charset="0"/>
                <a:ea typeface="Calibri" pitchFamily="34" charset="-122"/>
                <a:cs typeface="Calibri" pitchFamily="34" charset="-120"/>
              </a:rPr>
              <a:t>forward and backward closed</a:t>
            </a:r>
            <a:r>
              <a:rPr lang="en-US" sz="1400" dirty="0">
                <a:solidFill>
                  <a:srgbClr val="0A4F58"/>
                </a:solidFill>
                <a:latin typeface="Calibri" pitchFamily="34" charset="0"/>
                <a:ea typeface="Calibri" pitchFamily="34" charset="-122"/>
                <a:cs typeface="Calibri" pitchFamily="34" charset="-120"/>
              </a:rPr>
              <a:t> under these ops, so each becomes a </a:t>
            </a:r>
            <a:r>
              <a:rPr lang="en-US" sz="1400" b="1" dirty="0">
                <a:solidFill>
                  <a:srgbClr val="0A4F58"/>
                </a:solidFill>
                <a:latin typeface="Calibri" pitchFamily="34" charset="0"/>
                <a:ea typeface="Calibri" pitchFamily="34" charset="-122"/>
                <a:cs typeface="Calibri" pitchFamily="34" charset="-120"/>
              </a:rPr>
              <a:t>no-op</a:t>
            </a:r>
            <a:r>
              <a:rPr lang="en-US" sz="1400" dirty="0">
                <a:solidFill>
                  <a:srgbClr val="0A4F58"/>
                </a:solidFill>
                <a:latin typeface="Calibri" pitchFamily="34" charset="0"/>
                <a:ea typeface="Calibri" pitchFamily="34" charset="-122"/>
                <a:cs typeface="Calibri" pitchFamily="34" charset="-120"/>
              </a:rPr>
              <a:t>. Legacy layouts could not even express e.g. the transpose of an MMA layout → extra conversions.</a:t>
            </a:r>
            <a:endParaRPr lang="en-US" sz="1400" dirty="0"/>
          </a:p>
        </p:txBody>
      </p:sp>
      <p:sp>
        <p:nvSpPr>
          <p:cNvPr id="140"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§4.4 · TRITON’S LAYOUT ENGINE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Layout engine: anchor, propagate, resolve, rematerialize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§4.4 “Triton’s Layout Engine”, p. 138; RemoveLayoutConversions.cpp comments (upstream)</a:t>
            </a:r>
            <a:endParaRPr lang="en-US" sz="1000" dirty="0"/>
          </a:p>
        </p:txBody>
      </p:sp>
      <p:sp>
        <p:nvSpPr>
          <p:cNvPr id="6" name="num"/>
          <p:cNvSpPr txBox="1"/>
          <p:nvPr/>
        </p:nvSpPr>
        <p:spPr>
          <a:xfrm>
            <a:off x="548640" y="1417320"/>
            <a:ext cx="502920" cy="502920"/>
          </a:xfrm>
          <a:prstGeom prst="ellipse">
            <a:avLst/>
          </a:prstGeom>
          <a:solidFill>
            <a:srgbClr val="0E6E7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234440" y="1344168"/>
            <a:ext cx="4389120" cy="320040"/>
          </a:xfrm>
          <a:prstGeom prst="rect">
            <a:avLst/>
          </a:prstGeom>
          <a:noFill/>
          <a:ln/>
        </p:spPr>
        <p:txBody>
          <a:bodyPr wrap="square" lIns="0" tIns="0" rIns="0" bIns="0" rtlCol="0" anchor="t"/>
          <a:lstStyle/>
          <a:p>
            <a:pPr indent="0" marL="0">
              <a:buNone/>
            </a:pPr>
            <a:r>
              <a:rPr lang="en-US" sz="1700" b="1" dirty="0">
                <a:solidFill>
                  <a:srgbClr val="1E2A32"/>
                </a:solidFill>
                <a:latin typeface="Calibri" pitchFamily="34" charset="0"/>
                <a:ea typeface="Calibri" pitchFamily="34" charset="-122"/>
                <a:cs typeface="Calibri" pitchFamily="34" charset="-120"/>
              </a:rPr>
              <a:t>Anchors</a:t>
            </a:r>
            <a:endParaRPr lang="en-US" sz="1700" dirty="0"/>
          </a:p>
        </p:txBody>
      </p:sp>
      <p:sp>
        <p:nvSpPr>
          <p:cNvPr id="8" name="Text 5"/>
          <p:cNvSpPr txBox="1"/>
          <p:nvPr/>
        </p:nvSpPr>
        <p:spPr>
          <a:xfrm>
            <a:off x="1234440" y="1691640"/>
            <a:ext cx="4480560" cy="5943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Blocked for global loads/stores; MMA for tt.dot operands</a:t>
            </a:r>
            <a:endParaRPr lang="en-US" sz="1400" dirty="0"/>
          </a:p>
        </p:txBody>
      </p:sp>
      <p:sp>
        <p:nvSpPr>
          <p:cNvPr id="9" name="arrow"/>
          <p:cNvSpPr/>
          <p:nvPr/>
        </p:nvSpPr>
        <p:spPr>
          <a:xfrm>
            <a:off x="800100" y="1965960"/>
            <a:ext cx="914" cy="502920"/>
          </a:xfrm>
          <a:prstGeom prst="line">
            <a:avLst/>
          </a:prstGeom>
          <a:noFill/>
          <a:ln w="15875">
            <a:solidFill>
              <a:srgbClr val="B9C1C7"/>
            </a:solidFill>
            <a:prstDash val="solid"/>
            <a:tailEnd type="triangle"/>
          </a:ln>
        </p:spPr>
      </p:sp>
      <p:sp>
        <p:nvSpPr>
          <p:cNvPr id="10" name="num"/>
          <p:cNvSpPr txBox="1"/>
          <p:nvPr/>
        </p:nvSpPr>
        <p:spPr>
          <a:xfrm>
            <a:off x="548640" y="2514600"/>
            <a:ext cx="502920" cy="502920"/>
          </a:xfrm>
          <a:prstGeom prst="ellipse">
            <a:avLst/>
          </a:prstGeom>
          <a:solidFill>
            <a:srgbClr val="0E6E7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8"/>
          <p:cNvSpPr txBox="1"/>
          <p:nvPr/>
        </p:nvSpPr>
        <p:spPr>
          <a:xfrm>
            <a:off x="1234440" y="2441448"/>
            <a:ext cx="4389120" cy="320040"/>
          </a:xfrm>
          <a:prstGeom prst="rect">
            <a:avLst/>
          </a:prstGeom>
          <a:noFill/>
          <a:ln/>
        </p:spPr>
        <p:txBody>
          <a:bodyPr wrap="square" lIns="0" tIns="0" rIns="0" bIns="0" rtlCol="0" anchor="t"/>
          <a:lstStyle/>
          <a:p>
            <a:pPr indent="0" marL="0">
              <a:buNone/>
            </a:pPr>
            <a:r>
              <a:rPr lang="en-US" sz="1700" b="1" dirty="0">
                <a:solidFill>
                  <a:srgbClr val="1E2A32"/>
                </a:solidFill>
                <a:latin typeface="Calibri" pitchFamily="34" charset="0"/>
                <a:ea typeface="Calibri" pitchFamily="34" charset="-122"/>
                <a:cs typeface="Calibri" pitchFamily="34" charset="-120"/>
              </a:rPr>
              <a:t>Forward pass</a:t>
            </a:r>
            <a:endParaRPr lang="en-US" sz="1700" dirty="0"/>
          </a:p>
        </p:txBody>
      </p:sp>
      <p:sp>
        <p:nvSpPr>
          <p:cNvPr id="12" name="Text 9"/>
          <p:cNvSpPr txBox="1"/>
          <p:nvPr/>
        </p:nvSpPr>
        <p:spPr>
          <a:xfrm>
            <a:off x="1234440" y="2788920"/>
            <a:ext cx="4480560" cy="5943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propagate candidate layouts along use chains</a:t>
            </a:r>
            <a:endParaRPr lang="en-US" sz="1400" dirty="0"/>
          </a:p>
        </p:txBody>
      </p:sp>
      <p:sp>
        <p:nvSpPr>
          <p:cNvPr id="13" name="arrow"/>
          <p:cNvSpPr/>
          <p:nvPr/>
        </p:nvSpPr>
        <p:spPr>
          <a:xfrm>
            <a:off x="800100" y="3063240"/>
            <a:ext cx="914" cy="502920"/>
          </a:xfrm>
          <a:prstGeom prst="line">
            <a:avLst/>
          </a:prstGeom>
          <a:noFill/>
          <a:ln w="15875">
            <a:solidFill>
              <a:srgbClr val="B9C1C7"/>
            </a:solidFill>
            <a:prstDash val="solid"/>
            <a:tailEnd type="triangle"/>
          </a:ln>
        </p:spPr>
      </p:sp>
      <p:sp>
        <p:nvSpPr>
          <p:cNvPr id="14" name="num"/>
          <p:cNvSpPr txBox="1"/>
          <p:nvPr/>
        </p:nvSpPr>
        <p:spPr>
          <a:xfrm>
            <a:off x="548640" y="3611880"/>
            <a:ext cx="502920" cy="502920"/>
          </a:xfrm>
          <a:prstGeom prst="ellipse">
            <a:avLst/>
          </a:prstGeom>
          <a:solidFill>
            <a:srgbClr val="0E6E7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2"/>
          <p:cNvSpPr txBox="1"/>
          <p:nvPr/>
        </p:nvSpPr>
        <p:spPr>
          <a:xfrm>
            <a:off x="1234440" y="3538728"/>
            <a:ext cx="4389120" cy="320040"/>
          </a:xfrm>
          <a:prstGeom prst="rect">
            <a:avLst/>
          </a:prstGeom>
          <a:noFill/>
          <a:ln/>
        </p:spPr>
        <p:txBody>
          <a:bodyPr wrap="square" lIns="0" tIns="0" rIns="0" bIns="0" rtlCol="0" anchor="t"/>
          <a:lstStyle/>
          <a:p>
            <a:pPr indent="0" marL="0">
              <a:buNone/>
            </a:pPr>
            <a:r>
              <a:rPr lang="en-US" sz="1700" b="1" dirty="0">
                <a:solidFill>
                  <a:srgbClr val="1E2A32"/>
                </a:solidFill>
                <a:latin typeface="Calibri" pitchFamily="34" charset="0"/>
                <a:ea typeface="Calibri" pitchFamily="34" charset="-122"/>
                <a:cs typeface="Calibri" pitchFamily="34" charset="-120"/>
              </a:rPr>
              <a:t>Resolve conflicts</a:t>
            </a:r>
            <a:endParaRPr lang="en-US" sz="1700" dirty="0"/>
          </a:p>
        </p:txBody>
      </p:sp>
      <p:sp>
        <p:nvSpPr>
          <p:cNvPr id="16" name="Text 13"/>
          <p:cNvSpPr txBox="1"/>
          <p:nvPr/>
        </p:nvSpPr>
        <p:spPr>
          <a:xfrm>
            <a:off x="1234440" y="3886200"/>
            <a:ext cx="4480560" cy="5943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heuristic (e.g. prefer Blocked for load/store); insert conversions</a:t>
            </a:r>
            <a:endParaRPr lang="en-US" sz="1400" dirty="0"/>
          </a:p>
        </p:txBody>
      </p:sp>
      <p:sp>
        <p:nvSpPr>
          <p:cNvPr id="17" name="arrow"/>
          <p:cNvSpPr/>
          <p:nvPr/>
        </p:nvSpPr>
        <p:spPr>
          <a:xfrm>
            <a:off x="800100" y="4160520"/>
            <a:ext cx="914" cy="502920"/>
          </a:xfrm>
          <a:prstGeom prst="line">
            <a:avLst/>
          </a:prstGeom>
          <a:noFill/>
          <a:ln w="15875">
            <a:solidFill>
              <a:srgbClr val="B9C1C7"/>
            </a:solidFill>
            <a:prstDash val="solid"/>
            <a:tailEnd type="triangle"/>
          </a:ln>
        </p:spPr>
      </p:sp>
      <p:sp>
        <p:nvSpPr>
          <p:cNvPr id="18" name="num"/>
          <p:cNvSpPr txBox="1"/>
          <p:nvPr/>
        </p:nvSpPr>
        <p:spPr>
          <a:xfrm>
            <a:off x="548640" y="4709160"/>
            <a:ext cx="502920" cy="502920"/>
          </a:xfrm>
          <a:prstGeom prst="ellipse">
            <a:avLst/>
          </a:prstGeom>
          <a:solidFill>
            <a:srgbClr val="0E6E7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6"/>
          <p:cNvSpPr txBox="1"/>
          <p:nvPr/>
        </p:nvSpPr>
        <p:spPr>
          <a:xfrm>
            <a:off x="1234440" y="4636008"/>
            <a:ext cx="4389120" cy="320040"/>
          </a:xfrm>
          <a:prstGeom prst="rect">
            <a:avLst/>
          </a:prstGeom>
          <a:noFill/>
          <a:ln/>
        </p:spPr>
        <p:txBody>
          <a:bodyPr wrap="square" lIns="0" tIns="0" rIns="0" bIns="0" rtlCol="0" anchor="t"/>
          <a:lstStyle/>
          <a:p>
            <a:pPr indent="0" marL="0">
              <a:buNone/>
            </a:pPr>
            <a:r>
              <a:rPr lang="en-US" sz="1700" b="1" dirty="0">
                <a:solidFill>
                  <a:srgbClr val="1E2A32"/>
                </a:solidFill>
                <a:latin typeface="Calibri" pitchFamily="34" charset="0"/>
                <a:ea typeface="Calibri" pitchFamily="34" charset="-122"/>
                <a:cs typeface="Calibri" pitchFamily="34" charset="-120"/>
              </a:rPr>
              <a:t>Backward pass</a:t>
            </a:r>
            <a:endParaRPr lang="en-US" sz="1700" dirty="0"/>
          </a:p>
        </p:txBody>
      </p:sp>
      <p:sp>
        <p:nvSpPr>
          <p:cNvPr id="20" name="Text 17"/>
          <p:cNvSpPr txBox="1"/>
          <p:nvPr/>
        </p:nvSpPr>
        <p:spPr>
          <a:xfrm>
            <a:off x="1234440" y="4983480"/>
            <a:ext cx="4480560" cy="5943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rematerialize cheap producers in the target layout → drop conversions</a:t>
            </a:r>
            <a:endParaRPr lang="en-US" sz="1400" dirty="0"/>
          </a:p>
        </p:txBody>
      </p:sp>
      <p:sp>
        <p:nvSpPr>
          <p:cNvPr id="21" name="panel"/>
          <p:cNvSpPr/>
          <p:nvPr/>
        </p:nvSpPr>
        <p:spPr>
          <a:xfrm>
            <a:off x="6035040" y="1325880"/>
            <a:ext cx="5669280" cy="2514600"/>
          </a:xfrm>
          <a:prstGeom prst="roundRect">
            <a:avLst>
              <a:gd name="adj" fmla="val 2909"/>
            </a:avLst>
          </a:prstGeom>
          <a:solidFill>
            <a:srgbClr val="F3F6F7"/>
          </a:solidFill>
          <a:ln/>
        </p:spPr>
      </p:sp>
      <p:sp>
        <p:nvSpPr>
          <p:cNvPr id="22" name="Text 19"/>
          <p:cNvSpPr txBox="1"/>
          <p:nvPr/>
        </p:nvSpPr>
        <p:spPr>
          <a:xfrm>
            <a:off x="6217920" y="1463040"/>
            <a:ext cx="5394960" cy="2788920"/>
          </a:xfrm>
          <a:prstGeom prst="rect">
            <a:avLst/>
          </a:prstGeom>
          <a:noFill/>
          <a:ln/>
        </p:spPr>
        <p:txBody>
          <a:bodyPr wrap="square" lIns="0" tIns="0" rIns="0" bIns="0" rtlCol="0" anchor="t"/>
          <a:lstStyle/>
          <a:p>
            <a:pPr indent="0" marL="0">
              <a:buNone/>
            </a:pPr>
            <a:r>
              <a:rPr lang="en-US" sz="1300" dirty="0">
                <a:solidFill>
                  <a:srgbClr val="1E2A32"/>
                </a:solidFill>
                <a:latin typeface="Courier New" pitchFamily="34" charset="0"/>
                <a:ea typeface="Courier New" pitchFamily="34" charset="-122"/>
                <a:cs typeface="Courier New" pitchFamily="34" charset="-120"/>
              </a:rPr>
              <a:t>%a = tt.load %pa        // anchor: Blocked</a:t>
            </a:r>
            <a:endParaRPr lang="en-US" sz="1300" dirty="0"/>
          </a:p>
          <a:p>
            <a:pPr indent="0" marL="0">
              <a:buNone/>
            </a:pPr>
            <a:r>
              <a:rPr lang="en-US" sz="1300" dirty="0">
                <a:solidFill>
                  <a:srgbClr val="1E2A32"/>
                </a:solidFill>
                <a:latin typeface="Courier New" pitchFamily="34" charset="0"/>
                <a:ea typeface="Courier New" pitchFamily="34" charset="-122"/>
                <a:cs typeface="Courier New" pitchFamily="34" charset="-120"/>
              </a:rPr>
              <a:t>%b = tt.load %pb        // anchor: Blocked</a:t>
            </a:r>
            <a:endParaRPr lang="en-US" sz="1300" dirty="0"/>
          </a:p>
          <a:p>
            <a:pPr indent="0" marL="0">
              <a:buNone/>
            </a:pPr>
            <a:r>
              <a:rPr lang="en-US" sz="1300" dirty="0">
                <a:solidFill>
                  <a:srgbClr val="1E2A32"/>
                </a:solidFill>
                <a:latin typeface="Courier New" pitchFamily="34" charset="0"/>
                <a:ea typeface="Courier New" pitchFamily="34" charset="-122"/>
                <a:cs typeface="Courier New" pitchFamily="34" charset="-120"/>
              </a:rPr>
              <a:t>%c = arith.addf %a, %b  // forward: Blocked</a:t>
            </a:r>
            <a:endParaRPr lang="en-US" sz="1300" dirty="0"/>
          </a:p>
          <a:p>
            <a:pPr indent="0" marL="0">
              <a:buNone/>
            </a:pPr>
            <a:r>
              <a:rPr lang="en-US" sz="1300" b="1" dirty="0">
                <a:solidFill>
                  <a:srgbClr val="B3261E"/>
                </a:solidFill>
                <a:latin typeface="Courier New" pitchFamily="34" charset="0"/>
                <a:ea typeface="Courier New" pitchFamily="34" charset="-122"/>
                <a:cs typeface="Courier New" pitchFamily="34" charset="-120"/>
              </a:rPr>
              <a:t>%d = ttg.convert_layout %c</a:t>
            </a:r>
            <a:endParaRPr lang="en-US" sz="1300" dirty="0"/>
          </a:p>
          <a:p>
            <a:pPr indent="0" marL="0">
              <a:buNone/>
            </a:pPr>
            <a:r>
              <a:rPr lang="en-US" sz="1300" dirty="0">
                <a:solidFill>
                  <a:srgbClr val="B3261E"/>
                </a:solidFill>
                <a:latin typeface="Courier New" pitchFamily="34" charset="0"/>
                <a:ea typeface="Courier New" pitchFamily="34" charset="-122"/>
                <a:cs typeface="Courier New" pitchFamily="34" charset="-120"/>
              </a:rPr>
              <a:t>       : Blocked → DotOperand(MMA)</a:t>
            </a:r>
            <a:endParaRPr lang="en-US" sz="1300" dirty="0"/>
          </a:p>
          <a:p>
            <a:pPr indent="0" marL="0">
              <a:buNone/>
            </a:pPr>
            <a:r>
              <a:rPr lang="en-US" sz="1300" dirty="0">
                <a:solidFill>
                  <a:srgbClr val="1E2A32"/>
                </a:solidFill>
                <a:latin typeface="Courier New" pitchFamily="34" charset="0"/>
                <a:ea typeface="Courier New" pitchFamily="34" charset="-122"/>
                <a:cs typeface="Courier New" pitchFamily="34" charset="-120"/>
              </a:rPr>
              <a:t>%e = tt.dot %d, %w, %acc  // anchor: MMA</a:t>
            </a:r>
            <a:endParaRPr lang="en-US" sz="1300" dirty="0"/>
          </a:p>
          <a:p>
            <a:pPr indent="0" marL="0">
              <a:buNone/>
            </a:pPr>
            <a:r>
              <a:rPr lang="en-US" sz="1300" dirty="0">
                <a:solidFill>
                  <a:srgbClr val="5B6770"/>
                </a:solidFill>
                <a:latin typeface="Courier New" pitchFamily="34" charset="0"/>
                <a:ea typeface="Courier New" pitchFamily="34" charset="-122"/>
                <a:cs typeface="Courier New" pitchFamily="34" charset="-120"/>
              </a:rPr>
              <a:t>// backward: could %a,%b,%c be recomputed</a:t>
            </a:r>
            <a:endParaRPr lang="en-US" sz="1300" dirty="0"/>
          </a:p>
          <a:p>
            <a:pPr indent="0" marL="0">
              <a:buNone/>
            </a:pPr>
            <a:r>
              <a:rPr lang="en-US" sz="1300" dirty="0">
                <a:solidFill>
                  <a:srgbClr val="5B6770"/>
                </a:solidFill>
                <a:latin typeface="Courier New" pitchFamily="34" charset="0"/>
                <a:ea typeface="Courier New" pitchFamily="34" charset="-122"/>
                <a:cs typeface="Courier New" pitchFamily="34" charset="-120"/>
              </a:rPr>
              <a:t>// directly in DotOperand layout cheaply?</a:t>
            </a:r>
            <a:endParaRPr lang="en-US" sz="1300" dirty="0"/>
          </a:p>
        </p:txBody>
      </p:sp>
      <p:sp>
        <p:nvSpPr>
          <p:cNvPr id="23" name="tag"/>
          <p:cNvSpPr txBox="1"/>
          <p:nvPr/>
        </p:nvSpPr>
        <p:spPr>
          <a:xfrm>
            <a:off x="6035040" y="3977640"/>
            <a:ext cx="137160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IR</a:t>
            </a:r>
            <a:endParaRPr lang="en-US" sz="1100" dirty="0"/>
          </a:p>
        </p:txBody>
      </p:sp>
      <p:sp>
        <p:nvSpPr>
          <p:cNvPr id="24" name="callout"/>
          <p:cNvSpPr/>
          <p:nvPr/>
        </p:nvSpPr>
        <p:spPr>
          <a:xfrm>
            <a:off x="6035040" y="4434840"/>
            <a:ext cx="5669280" cy="914400"/>
          </a:xfrm>
          <a:prstGeom prst="roundRect">
            <a:avLst>
              <a:gd name="adj" fmla="val 8000"/>
            </a:avLst>
          </a:prstGeom>
          <a:solidFill>
            <a:srgbClr val="DDEFF1"/>
          </a:solidFill>
          <a:ln/>
        </p:spPr>
      </p:sp>
      <p:sp>
        <p:nvSpPr>
          <p:cNvPr id="25" name="callout-text"/>
          <p:cNvSpPr txBox="1"/>
          <p:nvPr/>
        </p:nvSpPr>
        <p:spPr>
          <a:xfrm>
            <a:off x="6172200" y="4489704"/>
            <a:ext cx="5394960" cy="80467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Linear layouts make the engine generic: every candidate is a matrix, conversions are derived (§5.4), and equivalent layouts are detected by comparing matrices.</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number"/>
          <p:cNvSpPr txBox="1"/>
          <p:nvPr/>
        </p:nvSpPr>
        <p:spPr>
          <a:xfrm>
            <a:off x="822960" y="1417320"/>
            <a:ext cx="3657600" cy="1005840"/>
          </a:xfrm>
          <a:prstGeom prst="rect">
            <a:avLst/>
          </a:prstGeom>
          <a:noFill/>
          <a:ln/>
        </p:spPr>
        <p:txBody>
          <a:bodyPr wrap="square" lIns="0" tIns="0" rIns="0" bIns="0" rtlCol="0" anchor="ctr"/>
          <a:lstStyle/>
          <a:p>
            <a:pPr indent="0" marL="0">
              <a:buNone/>
            </a:pPr>
            <a:r>
              <a:rPr lang="en-US" sz="6600" b="1" dirty="0">
                <a:solidFill>
                  <a:srgbClr val="0E6E7A"/>
                </a:solidFill>
                <a:latin typeface="Cambria" pitchFamily="34" charset="0"/>
                <a:ea typeface="Cambria" pitchFamily="34" charset="-122"/>
                <a:cs typeface="Cambria" pitchFamily="34" charset="-120"/>
              </a:rPr>
              <a:t>§5</a:t>
            </a:r>
            <a:endParaRPr lang="en-US" sz="6600" dirty="0"/>
          </a:p>
        </p:txBody>
      </p:sp>
      <p:sp>
        <p:nvSpPr>
          <p:cNvPr id="3" name="Text 1"/>
          <p:cNvSpPr/>
          <p:nvPr>
            <p:ph idx="101" type="title" hasCustomPrompt="1"/>
          </p:nvPr>
        </p:nvSpPr>
        <p:spPr>
          <a:xfrm>
            <a:off x="822960" y="2514600"/>
            <a:ext cx="10515600" cy="868680"/>
          </a:xfrm>
          <a:prstGeom prst="rect">
            <a:avLst/>
          </a:prstGeom>
          <a:noFill/>
          <a:ln/>
        </p:spPr>
        <p:txBody>
          <a:bodyPr wrap="square" lIns="0" tIns="0" rIns="0" bIns="0" rtlCol="0" anchor="t"/>
          <a:lstStyle/>
          <a:p>
            <a:pPr algn="l" indent="0" marL="0">
              <a:buNone/>
            </a:pPr>
            <a:r>
              <a:rPr lang="en-US" sz="4000" b="1" dirty="0">
                <a:solidFill>
                  <a:srgbClr val="1E2A32"/>
                </a:solidFill>
                <a:latin typeface="Cambria" pitchFamily="34" charset="0"/>
                <a:ea typeface="Cambria" pitchFamily="34" charset="-122"/>
                <a:cs typeface="Cambria" pitchFamily="34" charset="-120"/>
              </a:rPr>
              <a:t>Code generation with linear layouts</a:t>
            </a:r>
            <a:endParaRPr lang="en-US" sz="4000" dirty="0"/>
          </a:p>
        </p:txBody>
      </p:sp>
      <p:sp>
        <p:nvSpPr>
          <p:cNvPr id="4" name="Text 1"/>
          <p:cNvSpPr/>
          <p:nvPr>
            <p:ph idx="102" type="body" hasCustomPrompt="1"/>
          </p:nvPr>
        </p:nvSpPr>
        <p:spPr>
          <a:xfrm>
            <a:off x="822960" y="3474720"/>
            <a:ext cx="10058400" cy="1097280"/>
          </a:xfrm>
          <a:prstGeom prst="rect">
            <a:avLst/>
          </a:prstGeom>
          <a:noFill/>
          <a:ln/>
        </p:spPr>
        <p:txBody>
          <a:bodyPr wrap="square" lIns="0" tIns="0" rIns="0" bIns="0" rtlCol="0" anchor="t"/>
          <a:lstStyle/>
          <a:p>
            <a:pPr indent="0" marL="0">
              <a:buNone/>
            </a:pPr>
            <a:r>
              <a:rPr lang="en-US" sz="1800" dirty="0">
                <a:solidFill>
                  <a:srgbClr val="5B6770"/>
                </a:solidFill>
                <a:latin typeface="Calibri" pitchFamily="34" charset="0"/>
                <a:ea typeface="Calibri" pitchFamily="34" charset="-122"/>
                <a:cs typeface="Calibri" pitchFamily="34" charset="-120"/>
              </a:rPr>
              <a:t>Layout utilities, mixed precision, SIMD primitives (Thm 5.1), optimal layout conversion with warp shuffles, optimal swizzling, gather — each with a worked binary-matrix example.</a:t>
            </a:r>
            <a:endParaRPr lang="en-US" sz="18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§5.1 · LAYOUT UTILITIES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Contiguous elements: the identity prefix of L_Reg⁻¹</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§5.1 “Contiguous elements”, p. 138; Table 3, p. 142</a:t>
            </a:r>
            <a:endParaRPr lang="en-US" sz="1000" dirty="0"/>
          </a:p>
        </p:txBody>
      </p:sp>
      <p:sp>
        <p:nvSpPr>
          <p:cNvPr id="6" name="Text 3"/>
          <p:cNvSpPr txBox="1"/>
          <p:nvPr/>
        </p:nvSpPr>
        <p:spPr>
          <a:xfrm>
            <a:off x="502920" y="1234440"/>
            <a:ext cx="11201400" cy="548640"/>
          </a:xfrm>
          <a:prstGeom prst="rect">
            <a:avLst/>
          </a:prstGeom>
          <a:noFill/>
          <a:ln/>
        </p:spPr>
        <p:txBody>
          <a:bodyPr wrap="square" lIns="0" tIns="0" rIns="0" bIns="0" rtlCol="0" anchor="t"/>
          <a:lstStyle/>
          <a:p>
            <a:pPr indent="0" marL="0">
              <a:buNone/>
            </a:pPr>
            <a:r>
              <a:rPr lang="en-US" sz="1600" dirty="0">
                <a:solidFill>
                  <a:srgbClr val="1E2A32"/>
                </a:solidFill>
                <a:latin typeface="Calibri" pitchFamily="34" charset="0"/>
                <a:ea typeface="Calibri" pitchFamily="34" charset="-122"/>
                <a:cs typeface="Calibri" pitchFamily="34" charset="-120"/>
              </a:rPr>
              <a:t>Find the largest u with </a:t>
            </a:r>
            <a:r>
              <a:rPr lang="en-US" sz="1600" b="1" dirty="0">
                <a:solidFill>
                  <a:srgbClr val="1E2A32"/>
                </a:solidFill>
                <a:latin typeface="Calibri" pitchFamily="34" charset="0"/>
                <a:ea typeface="Calibri" pitchFamily="34" charset="-122"/>
                <a:cs typeface="Calibri" pitchFamily="34" charset="-120"/>
              </a:rPr>
              <a:t>L_Reg⁻¹(i) = i for all i ≤ u</a:t>
            </a:r>
            <a:r>
              <a:rPr lang="en-US" sz="1600" dirty="0">
                <a:solidFill>
                  <a:srgbClr val="1E2A32"/>
                </a:solidFill>
                <a:latin typeface="Calibri" pitchFamily="34" charset="0"/>
                <a:ea typeface="Calibri" pitchFamily="34" charset="-122"/>
                <a:cs typeface="Calibri" pitchFamily="34" charset="-120"/>
              </a:rPr>
              <a:t>: walk the register columns; column m must equal </a:t>
            </a:r>
            <a:r>
              <a:rPr lang="en-US" sz="1600" b="1" dirty="0">
                <a:solidFill>
                  <a:srgbClr val="1E2A32"/>
                </a:solidFill>
                <a:latin typeface="Calibri" pitchFamily="34" charset="0"/>
                <a:ea typeface="Calibri" pitchFamily="34" charset="-122"/>
                <a:cs typeface="Calibri" pitchFamily="34" charset="-120"/>
              </a:rPr>
              <a:t>eₘ</a:t>
            </a:r>
            <a:r>
              <a:rPr lang="en-US" sz="1600" dirty="0">
                <a:solidFill>
                  <a:srgbClr val="1E2A32"/>
                </a:solidFill>
                <a:latin typeface="Calibri" pitchFamily="34" charset="0"/>
                <a:ea typeface="Calibri" pitchFamily="34" charset="-122"/>
                <a:cs typeface="Calibri" pitchFamily="34" charset="-120"/>
              </a:rPr>
              <a:t> of the flattened index.</a:t>
            </a:r>
            <a:endParaRPr lang="en-US" sz="1600" dirty="0"/>
          </a:p>
        </p:txBody>
      </p:sp>
      <p:sp>
        <p:nvSpPr>
          <p:cNvPr id="7" name="Text 4"/>
          <p:cNvSpPr txBox="1"/>
          <p:nvPr/>
        </p:nvSpPr>
        <p:spPr>
          <a:xfrm>
            <a:off x="502920" y="1783080"/>
            <a:ext cx="10972800" cy="32004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[512, 2] × fp8, row-major: k = 2i + j  →  k₀ = j₀, k₁ = i₀, k₂ = i₁, k₃ = i₂ …</a:t>
            </a:r>
            <a:endParaRPr lang="en-US" sz="1500" dirty="0"/>
          </a:p>
        </p:txBody>
      </p:sp>
      <p:sp>
        <p:nvSpPr>
          <p:cNvPr id="8" name="Text 5"/>
          <p:cNvSpPr txBox="1"/>
          <p:nvPr/>
        </p:nvSpPr>
        <p:spPr>
          <a:xfrm>
            <a:off x="502920" y="2286000"/>
            <a:ext cx="5029200" cy="274320"/>
          </a:xfrm>
          <a:prstGeom prst="rect">
            <a:avLst/>
          </a:prstGeom>
          <a:noFill/>
          <a:ln/>
        </p:spPr>
        <p:txBody>
          <a:bodyPr wrap="square" lIns="0" tIns="0" rIns="0" bIns="0" rtlCol="0" anchor="t"/>
          <a:lstStyle/>
          <a:p>
            <a:pPr indent="0" marL="0">
              <a:buNone/>
            </a:pPr>
            <a:r>
              <a:rPr lang="en-US" sz="1500" b="1" dirty="0">
                <a:solidFill>
                  <a:srgbClr val="2E7D32"/>
                </a:solidFill>
                <a:latin typeface="Calibri" pitchFamily="34" charset="0"/>
                <a:ea typeface="Calibri" pitchFamily="34" charset="-122"/>
                <a:cs typeface="Calibri" pitchFamily="34" charset="-120"/>
              </a:rPr>
              <a:t>Thread owns an 8×2 block, j fastest</a:t>
            </a:r>
            <a:endParaRPr lang="en-US" sz="1500" dirty="0"/>
          </a:p>
        </p:txBody>
      </p:sp>
      <p:sp>
        <p:nvSpPr>
          <p:cNvPr id="9" name="mcell"/>
          <p:cNvSpPr txBox="1"/>
          <p:nvPr/>
        </p:nvSpPr>
        <p:spPr>
          <a:xfrm>
            <a:off x="1600200" y="2926080"/>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0" name="mcell"/>
          <p:cNvSpPr txBox="1"/>
          <p:nvPr/>
        </p:nvSpPr>
        <p:spPr>
          <a:xfrm>
            <a:off x="1984248"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2368296"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2" name="mcell"/>
          <p:cNvSpPr txBox="1"/>
          <p:nvPr/>
        </p:nvSpPr>
        <p:spPr>
          <a:xfrm>
            <a:off x="2752344"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 name="mcell"/>
          <p:cNvSpPr txBox="1"/>
          <p:nvPr/>
        </p:nvSpPr>
        <p:spPr>
          <a:xfrm>
            <a:off x="1600200"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4" name="mcell"/>
          <p:cNvSpPr txBox="1"/>
          <p:nvPr/>
        </p:nvSpPr>
        <p:spPr>
          <a:xfrm>
            <a:off x="1984248" y="3310128"/>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5" name="mcell"/>
          <p:cNvSpPr txBox="1"/>
          <p:nvPr/>
        </p:nvSpPr>
        <p:spPr>
          <a:xfrm>
            <a:off x="2368296"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2752344"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1600200"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1984248"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2368296" y="3694176"/>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0" name="mcell"/>
          <p:cNvSpPr txBox="1"/>
          <p:nvPr/>
        </p:nvSpPr>
        <p:spPr>
          <a:xfrm>
            <a:off x="2752344"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1600200"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2" name="mcell"/>
          <p:cNvSpPr txBox="1"/>
          <p:nvPr/>
        </p:nvSpPr>
        <p:spPr>
          <a:xfrm>
            <a:off x="1984248"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3" name="mcell"/>
          <p:cNvSpPr txBox="1"/>
          <p:nvPr/>
        </p:nvSpPr>
        <p:spPr>
          <a:xfrm>
            <a:off x="2368296"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4" name="mcell"/>
          <p:cNvSpPr txBox="1"/>
          <p:nvPr/>
        </p:nvSpPr>
        <p:spPr>
          <a:xfrm>
            <a:off x="2752344" y="4078224"/>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5" name="mcell"/>
          <p:cNvSpPr txBox="1"/>
          <p:nvPr/>
        </p:nvSpPr>
        <p:spPr>
          <a:xfrm>
            <a:off x="1600200"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6" name="mcell"/>
          <p:cNvSpPr txBox="1"/>
          <p:nvPr/>
        </p:nvSpPr>
        <p:spPr>
          <a:xfrm>
            <a:off x="1984248"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7" name="mcell"/>
          <p:cNvSpPr txBox="1"/>
          <p:nvPr/>
        </p:nvSpPr>
        <p:spPr>
          <a:xfrm>
            <a:off x="2368296"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8" name="mcell"/>
          <p:cNvSpPr txBox="1"/>
          <p:nvPr/>
        </p:nvSpPr>
        <p:spPr>
          <a:xfrm>
            <a:off x="2752344"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9" name="mbr"/>
          <p:cNvSpPr/>
          <p:nvPr/>
        </p:nvSpPr>
        <p:spPr>
          <a:xfrm>
            <a:off x="1572768" y="2898648"/>
            <a:ext cx="0" cy="1975104"/>
          </a:xfrm>
          <a:prstGeom prst="line">
            <a:avLst/>
          </a:prstGeom>
          <a:noFill/>
          <a:ln w="15875">
            <a:solidFill>
              <a:srgbClr val="1E2A32"/>
            </a:solidFill>
            <a:prstDash val="solid"/>
          </a:ln>
        </p:spPr>
      </p:sp>
      <p:sp>
        <p:nvSpPr>
          <p:cNvPr id="30" name="mbr"/>
          <p:cNvSpPr/>
          <p:nvPr/>
        </p:nvSpPr>
        <p:spPr>
          <a:xfrm>
            <a:off x="1572768" y="2898648"/>
            <a:ext cx="73152" cy="0"/>
          </a:xfrm>
          <a:prstGeom prst="line">
            <a:avLst/>
          </a:prstGeom>
          <a:noFill/>
          <a:ln w="15875">
            <a:solidFill>
              <a:srgbClr val="1E2A32"/>
            </a:solidFill>
            <a:prstDash val="solid"/>
          </a:ln>
        </p:spPr>
      </p:sp>
      <p:sp>
        <p:nvSpPr>
          <p:cNvPr id="31" name="mbr"/>
          <p:cNvSpPr/>
          <p:nvPr/>
        </p:nvSpPr>
        <p:spPr>
          <a:xfrm>
            <a:off x="1572768" y="4873752"/>
            <a:ext cx="73152" cy="0"/>
          </a:xfrm>
          <a:prstGeom prst="line">
            <a:avLst/>
          </a:prstGeom>
          <a:noFill/>
          <a:ln w="15875">
            <a:solidFill>
              <a:srgbClr val="1E2A32"/>
            </a:solidFill>
            <a:prstDash val="solid"/>
          </a:ln>
        </p:spPr>
      </p:sp>
      <p:sp>
        <p:nvSpPr>
          <p:cNvPr id="32" name="mbr"/>
          <p:cNvSpPr/>
          <p:nvPr/>
        </p:nvSpPr>
        <p:spPr>
          <a:xfrm>
            <a:off x="3163824" y="2898648"/>
            <a:ext cx="0" cy="1975104"/>
          </a:xfrm>
          <a:prstGeom prst="line">
            <a:avLst/>
          </a:prstGeom>
          <a:noFill/>
          <a:ln w="15875">
            <a:solidFill>
              <a:srgbClr val="1E2A32"/>
            </a:solidFill>
            <a:prstDash val="solid"/>
          </a:ln>
        </p:spPr>
      </p:sp>
      <p:sp>
        <p:nvSpPr>
          <p:cNvPr id="33" name="mbr"/>
          <p:cNvSpPr/>
          <p:nvPr/>
        </p:nvSpPr>
        <p:spPr>
          <a:xfrm>
            <a:off x="3090672" y="2898648"/>
            <a:ext cx="73152" cy="0"/>
          </a:xfrm>
          <a:prstGeom prst="line">
            <a:avLst/>
          </a:prstGeom>
          <a:noFill/>
          <a:ln w="15875">
            <a:solidFill>
              <a:srgbClr val="1E2A32"/>
            </a:solidFill>
            <a:prstDash val="solid"/>
          </a:ln>
        </p:spPr>
      </p:sp>
      <p:sp>
        <p:nvSpPr>
          <p:cNvPr id="34" name="mbr"/>
          <p:cNvSpPr/>
          <p:nvPr/>
        </p:nvSpPr>
        <p:spPr>
          <a:xfrm>
            <a:off x="3090672" y="4873752"/>
            <a:ext cx="73152" cy="0"/>
          </a:xfrm>
          <a:prstGeom prst="line">
            <a:avLst/>
          </a:prstGeom>
          <a:noFill/>
          <a:ln w="15875">
            <a:solidFill>
              <a:srgbClr val="1E2A32"/>
            </a:solidFill>
            <a:prstDash val="solid"/>
          </a:ln>
        </p:spPr>
      </p:sp>
      <p:sp>
        <p:nvSpPr>
          <p:cNvPr id="35" name="mlab"/>
          <p:cNvSpPr txBox="1"/>
          <p:nvPr/>
        </p:nvSpPr>
        <p:spPr>
          <a:xfrm>
            <a:off x="1554480"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q₀</a:t>
            </a:r>
            <a:endParaRPr lang="en-US" sz="1200" dirty="0"/>
          </a:p>
        </p:txBody>
      </p:sp>
      <p:sp>
        <p:nvSpPr>
          <p:cNvPr id="36" name="mlab"/>
          <p:cNvSpPr txBox="1"/>
          <p:nvPr/>
        </p:nvSpPr>
        <p:spPr>
          <a:xfrm>
            <a:off x="1938528"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q₁</a:t>
            </a:r>
            <a:endParaRPr lang="en-US" sz="1200" dirty="0"/>
          </a:p>
        </p:txBody>
      </p:sp>
      <p:sp>
        <p:nvSpPr>
          <p:cNvPr id="37" name="mlab"/>
          <p:cNvSpPr txBox="1"/>
          <p:nvPr/>
        </p:nvSpPr>
        <p:spPr>
          <a:xfrm>
            <a:off x="2322576"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q₂</a:t>
            </a:r>
            <a:endParaRPr lang="en-US" sz="1200" dirty="0"/>
          </a:p>
        </p:txBody>
      </p:sp>
      <p:sp>
        <p:nvSpPr>
          <p:cNvPr id="38" name="mlab"/>
          <p:cNvSpPr txBox="1"/>
          <p:nvPr/>
        </p:nvSpPr>
        <p:spPr>
          <a:xfrm>
            <a:off x="2706624"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q₃</a:t>
            </a:r>
            <a:endParaRPr lang="en-US" sz="1200" dirty="0"/>
          </a:p>
        </p:txBody>
      </p:sp>
      <p:sp>
        <p:nvSpPr>
          <p:cNvPr id="39" name="mlab"/>
          <p:cNvSpPr txBox="1"/>
          <p:nvPr/>
        </p:nvSpPr>
        <p:spPr>
          <a:xfrm>
            <a:off x="722376" y="2926080"/>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k₀ (j₀)</a:t>
            </a:r>
            <a:endParaRPr lang="en-US" sz="1200" dirty="0"/>
          </a:p>
        </p:txBody>
      </p:sp>
      <p:sp>
        <p:nvSpPr>
          <p:cNvPr id="40" name="mlab"/>
          <p:cNvSpPr txBox="1"/>
          <p:nvPr/>
        </p:nvSpPr>
        <p:spPr>
          <a:xfrm>
            <a:off x="722376" y="3310128"/>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k₁ (i₀)</a:t>
            </a:r>
            <a:endParaRPr lang="en-US" sz="1200" dirty="0"/>
          </a:p>
        </p:txBody>
      </p:sp>
      <p:sp>
        <p:nvSpPr>
          <p:cNvPr id="41" name="mlab"/>
          <p:cNvSpPr txBox="1"/>
          <p:nvPr/>
        </p:nvSpPr>
        <p:spPr>
          <a:xfrm>
            <a:off x="722376" y="3694176"/>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k₂ (i₁)</a:t>
            </a:r>
            <a:endParaRPr lang="en-US" sz="1200" dirty="0"/>
          </a:p>
        </p:txBody>
      </p:sp>
      <p:sp>
        <p:nvSpPr>
          <p:cNvPr id="42" name="mlab"/>
          <p:cNvSpPr txBox="1"/>
          <p:nvPr/>
        </p:nvSpPr>
        <p:spPr>
          <a:xfrm>
            <a:off x="722376" y="4078224"/>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k₃ (i₂)</a:t>
            </a:r>
            <a:endParaRPr lang="en-US" sz="1200" dirty="0"/>
          </a:p>
        </p:txBody>
      </p:sp>
      <p:sp>
        <p:nvSpPr>
          <p:cNvPr id="43" name="mlab"/>
          <p:cNvSpPr txBox="1"/>
          <p:nvPr/>
        </p:nvSpPr>
        <p:spPr>
          <a:xfrm>
            <a:off x="722376" y="4462272"/>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k₄ (i₃)</a:t>
            </a:r>
            <a:endParaRPr lang="en-US" sz="1200" dirty="0"/>
          </a:p>
        </p:txBody>
      </p:sp>
      <p:sp>
        <p:nvSpPr>
          <p:cNvPr id="44" name="mname"/>
          <p:cNvSpPr txBox="1"/>
          <p:nvPr/>
        </p:nvSpPr>
        <p:spPr>
          <a:xfrm>
            <a:off x="1325880" y="4901184"/>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L_Reg (flattened)</a:t>
            </a:r>
            <a:endParaRPr lang="en-US" sz="1300" dirty="0"/>
          </a:p>
        </p:txBody>
      </p:sp>
      <p:graphicFrame>
        <p:nvGraphicFramePr>
          <p:cNvPr id="34" name="table"/>
          <p:cNvGraphicFramePr>
            <a:graphicFrameLocks noGrp="1"/>
          </p:cNvGraphicFramePr>
          <p:nvPr>
            <p:extLst>
              <p:ext uri="{D42A27DB-BD31-4B8C-83A1-F6EECF244321}">
                <p14:modId xmlns:p14="http://schemas.microsoft.com/office/powerpoint/2010/main" val="1579011935"/>
              </p:ext>
            </p:extLst>
          </p:nvPr>
        </p:nvGraphicFramePr>
        <p:xfrm>
          <a:off x="3547872" y="2926080"/>
          <a:ext cx="2194560" cy="914400"/>
        </p:xfrm>
        <a:graphic>
          <a:graphicData uri="http://schemas.openxmlformats.org/drawingml/2006/table">
            <a:tbl>
              <a:tblPr/>
              <a:tblGrid>
                <a:gridCol w="548640"/>
                <a:gridCol w="548640"/>
                <a:gridCol w="548640"/>
                <a:gridCol w="548640"/>
              </a:tblGrid>
              <a:tr h="329184">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q₀</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q₁</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q₂</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q₃</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e₀ ✓</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e₁ ✓</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e₂ ✓</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e₃ ✓</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46" name="callout"/>
          <p:cNvSpPr/>
          <p:nvPr/>
        </p:nvSpPr>
        <p:spPr>
          <a:xfrm>
            <a:off x="3547872" y="3703320"/>
            <a:ext cx="2834640" cy="1234440"/>
          </a:xfrm>
          <a:prstGeom prst="roundRect">
            <a:avLst>
              <a:gd name="adj" fmla="val 5926"/>
            </a:avLst>
          </a:prstGeom>
          <a:solidFill>
            <a:srgbClr val="E3F2E4"/>
          </a:solidFill>
          <a:ln/>
        </p:spPr>
      </p:sp>
      <p:sp>
        <p:nvSpPr>
          <p:cNvPr id="47" name="callout-text"/>
          <p:cNvSpPr txBox="1"/>
          <p:nvPr/>
        </p:nvSpPr>
        <p:spPr>
          <a:xfrm>
            <a:off x="3685032" y="3758184"/>
            <a:ext cx="2560320" cy="1124712"/>
          </a:xfrm>
          <a:prstGeom prst="rect">
            <a:avLst/>
          </a:prstGeom>
          <a:noFill/>
          <a:ln/>
        </p:spPr>
        <p:txBody>
          <a:bodyPr wrap="square" lIns="0" tIns="0" rIns="0" bIns="0" rtlCol="0" anchor="ctr"/>
          <a:lstStyle/>
          <a:p>
            <a:pPr algn="l" indent="0" marL="0">
              <a:buNone/>
            </a:pPr>
            <a:r>
              <a:rPr lang="en-US" sz="1400" b="1" dirty="0">
                <a:solidFill>
                  <a:srgbClr val="2E7D32"/>
                </a:solidFill>
                <a:latin typeface="Calibri" pitchFamily="34" charset="0"/>
                <a:ea typeface="Calibri" pitchFamily="34" charset="-122"/>
                <a:cs typeface="Calibri" pitchFamily="34" charset="-120"/>
              </a:rPr>
              <a:t>u = 2⁴ = 16</a:t>
            </a:r>
            <a:r>
              <a:rPr lang="en-US" sz="1400" dirty="0">
                <a:solidFill>
                  <a:srgbClr val="2E7D32"/>
                </a:solidFill>
                <a:latin typeface="Calibri" pitchFamily="34" charset="0"/>
                <a:ea typeface="Calibri" pitchFamily="34" charset="-122"/>
                <a:cs typeface="Calibri" pitchFamily="34" charset="-120"/>
              </a:rPr>
              <a:t> fp8 = </a:t>
            </a:r>
            <a:r>
              <a:rPr lang="en-US" sz="1400" b="1" dirty="0">
                <a:solidFill>
                  <a:srgbClr val="2E7D32"/>
                </a:solidFill>
                <a:latin typeface="Calibri" pitchFamily="34" charset="0"/>
                <a:ea typeface="Calibri" pitchFamily="34" charset="-122"/>
                <a:cs typeface="Calibri" pitchFamily="34" charset="-120"/>
              </a:rPr>
              <a:t>128 bits</a:t>
            </a:r>
            <a:r>
              <a:rPr lang="en-US" sz="1400" dirty="0">
                <a:solidFill>
                  <a:srgbClr val="2E7D32"/>
                </a:solidFill>
                <a:latin typeface="Calibri" pitchFamily="34" charset="0"/>
                <a:ea typeface="Calibri" pitchFamily="34" charset="-122"/>
                <a:cs typeface="Calibri" pitchFamily="34" charset="-120"/>
              </a:rPr>
              <a:t> → v4.b32.  Legacy heuristic: last dim = 2 → 16 bits (v1.b16).</a:t>
            </a:r>
            <a:endParaRPr lang="en-US" sz="1400" dirty="0"/>
          </a:p>
        </p:txBody>
      </p:sp>
      <p:sp>
        <p:nvSpPr>
          <p:cNvPr id="48" name="Text 44"/>
          <p:cNvSpPr txBox="1"/>
          <p:nvPr/>
        </p:nvSpPr>
        <p:spPr>
          <a:xfrm>
            <a:off x="6766560" y="2286000"/>
            <a:ext cx="4937760" cy="274320"/>
          </a:xfrm>
          <a:prstGeom prst="rect">
            <a:avLst/>
          </a:prstGeom>
          <a:noFill/>
          <a:ln/>
        </p:spPr>
        <p:txBody>
          <a:bodyPr wrap="square" lIns="0" tIns="0" rIns="0" bIns="0" rtlCol="0" anchor="t"/>
          <a:lstStyle/>
          <a:p>
            <a:pPr indent="0" marL="0">
              <a:buNone/>
            </a:pPr>
            <a:r>
              <a:rPr lang="en-US" sz="1500" b="1" dirty="0">
                <a:solidFill>
                  <a:srgbClr val="B3261E"/>
                </a:solidFill>
                <a:latin typeface="Calibri" pitchFamily="34" charset="0"/>
                <a:ea typeface="Calibri" pitchFamily="34" charset="-122"/>
                <a:cs typeface="Calibri" pitchFamily="34" charset="-120"/>
              </a:rPr>
              <a:t>Same block, registers walk rows first</a:t>
            </a:r>
            <a:endParaRPr lang="en-US" sz="1500" dirty="0"/>
          </a:p>
        </p:txBody>
      </p:sp>
      <p:sp>
        <p:nvSpPr>
          <p:cNvPr id="49" name="mcell"/>
          <p:cNvSpPr txBox="1"/>
          <p:nvPr/>
        </p:nvSpPr>
        <p:spPr>
          <a:xfrm>
            <a:off x="7863840" y="2926080"/>
            <a:ext cx="384048" cy="384048"/>
          </a:xfrm>
          <a:prstGeom prst="rect">
            <a:avLst/>
          </a:prstGeom>
          <a:solidFill>
            <a:srgbClr val="FBE3E1"/>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8247888"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1" name="mcell"/>
          <p:cNvSpPr txBox="1"/>
          <p:nvPr/>
        </p:nvSpPr>
        <p:spPr>
          <a:xfrm>
            <a:off x="8631936"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2" name="mcell"/>
          <p:cNvSpPr txBox="1"/>
          <p:nvPr/>
        </p:nvSpPr>
        <p:spPr>
          <a:xfrm>
            <a:off x="9015984" y="292608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3" name="mcell"/>
          <p:cNvSpPr txBox="1"/>
          <p:nvPr/>
        </p:nvSpPr>
        <p:spPr>
          <a:xfrm>
            <a:off x="7863840" y="3310128"/>
            <a:ext cx="384048" cy="384048"/>
          </a:xfrm>
          <a:prstGeom prst="rect">
            <a:avLst/>
          </a:prstGeom>
          <a:solidFill>
            <a:srgbClr val="FBE3E1"/>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4" name="mcell"/>
          <p:cNvSpPr txBox="1"/>
          <p:nvPr/>
        </p:nvSpPr>
        <p:spPr>
          <a:xfrm>
            <a:off x="8247888"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5" name="mcell"/>
          <p:cNvSpPr txBox="1"/>
          <p:nvPr/>
        </p:nvSpPr>
        <p:spPr>
          <a:xfrm>
            <a:off x="8631936"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6" name="mcell"/>
          <p:cNvSpPr txBox="1"/>
          <p:nvPr/>
        </p:nvSpPr>
        <p:spPr>
          <a:xfrm>
            <a:off x="9015984"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7" name="mcell"/>
          <p:cNvSpPr txBox="1"/>
          <p:nvPr/>
        </p:nvSpPr>
        <p:spPr>
          <a:xfrm>
            <a:off x="7863840"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8" name="mcell"/>
          <p:cNvSpPr txBox="1"/>
          <p:nvPr/>
        </p:nvSpPr>
        <p:spPr>
          <a:xfrm>
            <a:off x="8247888" y="369417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9" name="mcell"/>
          <p:cNvSpPr txBox="1"/>
          <p:nvPr/>
        </p:nvSpPr>
        <p:spPr>
          <a:xfrm>
            <a:off x="8631936"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0" name="mcell"/>
          <p:cNvSpPr txBox="1"/>
          <p:nvPr/>
        </p:nvSpPr>
        <p:spPr>
          <a:xfrm>
            <a:off x="9015984"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1" name="mcell"/>
          <p:cNvSpPr txBox="1"/>
          <p:nvPr/>
        </p:nvSpPr>
        <p:spPr>
          <a:xfrm>
            <a:off x="7863840"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2" name="mcell"/>
          <p:cNvSpPr txBox="1"/>
          <p:nvPr/>
        </p:nvSpPr>
        <p:spPr>
          <a:xfrm>
            <a:off x="8247888"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3" name="mcell"/>
          <p:cNvSpPr txBox="1"/>
          <p:nvPr/>
        </p:nvSpPr>
        <p:spPr>
          <a:xfrm>
            <a:off x="8631936" y="407822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64" name="mcell"/>
          <p:cNvSpPr txBox="1"/>
          <p:nvPr/>
        </p:nvSpPr>
        <p:spPr>
          <a:xfrm>
            <a:off x="9015984"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5" name="mcell"/>
          <p:cNvSpPr txBox="1"/>
          <p:nvPr/>
        </p:nvSpPr>
        <p:spPr>
          <a:xfrm>
            <a:off x="7863840"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6" name="mcell"/>
          <p:cNvSpPr txBox="1"/>
          <p:nvPr/>
        </p:nvSpPr>
        <p:spPr>
          <a:xfrm>
            <a:off x="8247888"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7" name="mcell"/>
          <p:cNvSpPr txBox="1"/>
          <p:nvPr/>
        </p:nvSpPr>
        <p:spPr>
          <a:xfrm>
            <a:off x="8631936"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8" name="mcell"/>
          <p:cNvSpPr txBox="1"/>
          <p:nvPr/>
        </p:nvSpPr>
        <p:spPr>
          <a:xfrm>
            <a:off x="9015984" y="4462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9" name="mbr"/>
          <p:cNvSpPr/>
          <p:nvPr/>
        </p:nvSpPr>
        <p:spPr>
          <a:xfrm>
            <a:off x="7836408" y="2898648"/>
            <a:ext cx="0" cy="1975104"/>
          </a:xfrm>
          <a:prstGeom prst="line">
            <a:avLst/>
          </a:prstGeom>
          <a:noFill/>
          <a:ln w="15875">
            <a:solidFill>
              <a:srgbClr val="1E2A32"/>
            </a:solidFill>
            <a:prstDash val="solid"/>
          </a:ln>
        </p:spPr>
      </p:sp>
      <p:sp>
        <p:nvSpPr>
          <p:cNvPr id="70" name="mbr"/>
          <p:cNvSpPr/>
          <p:nvPr/>
        </p:nvSpPr>
        <p:spPr>
          <a:xfrm>
            <a:off x="7836408" y="2898648"/>
            <a:ext cx="73152" cy="0"/>
          </a:xfrm>
          <a:prstGeom prst="line">
            <a:avLst/>
          </a:prstGeom>
          <a:noFill/>
          <a:ln w="15875">
            <a:solidFill>
              <a:srgbClr val="1E2A32"/>
            </a:solidFill>
            <a:prstDash val="solid"/>
          </a:ln>
        </p:spPr>
      </p:sp>
      <p:sp>
        <p:nvSpPr>
          <p:cNvPr id="71" name="mbr"/>
          <p:cNvSpPr/>
          <p:nvPr/>
        </p:nvSpPr>
        <p:spPr>
          <a:xfrm>
            <a:off x="7836408" y="4873752"/>
            <a:ext cx="73152" cy="0"/>
          </a:xfrm>
          <a:prstGeom prst="line">
            <a:avLst/>
          </a:prstGeom>
          <a:noFill/>
          <a:ln w="15875">
            <a:solidFill>
              <a:srgbClr val="1E2A32"/>
            </a:solidFill>
            <a:prstDash val="solid"/>
          </a:ln>
        </p:spPr>
      </p:sp>
      <p:sp>
        <p:nvSpPr>
          <p:cNvPr id="72" name="mbr"/>
          <p:cNvSpPr/>
          <p:nvPr/>
        </p:nvSpPr>
        <p:spPr>
          <a:xfrm>
            <a:off x="9427464" y="2898648"/>
            <a:ext cx="0" cy="1975104"/>
          </a:xfrm>
          <a:prstGeom prst="line">
            <a:avLst/>
          </a:prstGeom>
          <a:noFill/>
          <a:ln w="15875">
            <a:solidFill>
              <a:srgbClr val="1E2A32"/>
            </a:solidFill>
            <a:prstDash val="solid"/>
          </a:ln>
        </p:spPr>
      </p:sp>
      <p:sp>
        <p:nvSpPr>
          <p:cNvPr id="73" name="mbr"/>
          <p:cNvSpPr/>
          <p:nvPr/>
        </p:nvSpPr>
        <p:spPr>
          <a:xfrm>
            <a:off x="9354312" y="2898648"/>
            <a:ext cx="73152" cy="0"/>
          </a:xfrm>
          <a:prstGeom prst="line">
            <a:avLst/>
          </a:prstGeom>
          <a:noFill/>
          <a:ln w="15875">
            <a:solidFill>
              <a:srgbClr val="1E2A32"/>
            </a:solidFill>
            <a:prstDash val="solid"/>
          </a:ln>
        </p:spPr>
      </p:sp>
      <p:sp>
        <p:nvSpPr>
          <p:cNvPr id="74" name="mbr"/>
          <p:cNvSpPr/>
          <p:nvPr/>
        </p:nvSpPr>
        <p:spPr>
          <a:xfrm>
            <a:off x="9354312" y="4873752"/>
            <a:ext cx="73152" cy="0"/>
          </a:xfrm>
          <a:prstGeom prst="line">
            <a:avLst/>
          </a:prstGeom>
          <a:noFill/>
          <a:ln w="15875">
            <a:solidFill>
              <a:srgbClr val="1E2A32"/>
            </a:solidFill>
            <a:prstDash val="solid"/>
          </a:ln>
        </p:spPr>
      </p:sp>
      <p:sp>
        <p:nvSpPr>
          <p:cNvPr id="75" name="mlab"/>
          <p:cNvSpPr txBox="1"/>
          <p:nvPr/>
        </p:nvSpPr>
        <p:spPr>
          <a:xfrm>
            <a:off x="7818120"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q₀</a:t>
            </a:r>
            <a:endParaRPr lang="en-US" sz="1200" dirty="0"/>
          </a:p>
        </p:txBody>
      </p:sp>
      <p:sp>
        <p:nvSpPr>
          <p:cNvPr id="76" name="mlab"/>
          <p:cNvSpPr txBox="1"/>
          <p:nvPr/>
        </p:nvSpPr>
        <p:spPr>
          <a:xfrm>
            <a:off x="8202168"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q₁</a:t>
            </a:r>
            <a:endParaRPr lang="en-US" sz="1200" dirty="0"/>
          </a:p>
        </p:txBody>
      </p:sp>
      <p:sp>
        <p:nvSpPr>
          <p:cNvPr id="77" name="mlab"/>
          <p:cNvSpPr txBox="1"/>
          <p:nvPr/>
        </p:nvSpPr>
        <p:spPr>
          <a:xfrm>
            <a:off x="8586216"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q₂</a:t>
            </a:r>
            <a:endParaRPr lang="en-US" sz="1200" dirty="0"/>
          </a:p>
        </p:txBody>
      </p:sp>
      <p:sp>
        <p:nvSpPr>
          <p:cNvPr id="78" name="mlab"/>
          <p:cNvSpPr txBox="1"/>
          <p:nvPr/>
        </p:nvSpPr>
        <p:spPr>
          <a:xfrm>
            <a:off x="8970264"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q₃</a:t>
            </a:r>
            <a:endParaRPr lang="en-US" sz="1200" dirty="0"/>
          </a:p>
        </p:txBody>
      </p:sp>
      <p:sp>
        <p:nvSpPr>
          <p:cNvPr id="79" name="mlab"/>
          <p:cNvSpPr txBox="1"/>
          <p:nvPr/>
        </p:nvSpPr>
        <p:spPr>
          <a:xfrm>
            <a:off x="6986016" y="2926080"/>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k₀ (j₀)</a:t>
            </a:r>
            <a:endParaRPr lang="en-US" sz="1200" dirty="0"/>
          </a:p>
        </p:txBody>
      </p:sp>
      <p:sp>
        <p:nvSpPr>
          <p:cNvPr id="80" name="mlab"/>
          <p:cNvSpPr txBox="1"/>
          <p:nvPr/>
        </p:nvSpPr>
        <p:spPr>
          <a:xfrm>
            <a:off x="6986016" y="3310128"/>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k₁ (i₀)</a:t>
            </a:r>
            <a:endParaRPr lang="en-US" sz="1200" dirty="0"/>
          </a:p>
        </p:txBody>
      </p:sp>
      <p:sp>
        <p:nvSpPr>
          <p:cNvPr id="81" name="mlab"/>
          <p:cNvSpPr txBox="1"/>
          <p:nvPr/>
        </p:nvSpPr>
        <p:spPr>
          <a:xfrm>
            <a:off x="6986016" y="3694176"/>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k₂ (i₁)</a:t>
            </a:r>
            <a:endParaRPr lang="en-US" sz="1200" dirty="0"/>
          </a:p>
        </p:txBody>
      </p:sp>
      <p:sp>
        <p:nvSpPr>
          <p:cNvPr id="82" name="mlab"/>
          <p:cNvSpPr txBox="1"/>
          <p:nvPr/>
        </p:nvSpPr>
        <p:spPr>
          <a:xfrm>
            <a:off x="6986016" y="4078224"/>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k₃ (i₂)</a:t>
            </a:r>
            <a:endParaRPr lang="en-US" sz="1200" dirty="0"/>
          </a:p>
        </p:txBody>
      </p:sp>
      <p:sp>
        <p:nvSpPr>
          <p:cNvPr id="83" name="mlab"/>
          <p:cNvSpPr txBox="1"/>
          <p:nvPr/>
        </p:nvSpPr>
        <p:spPr>
          <a:xfrm>
            <a:off x="6986016" y="4462272"/>
            <a:ext cx="822960"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k₄ (i₃)</a:t>
            </a:r>
            <a:endParaRPr lang="en-US" sz="1200" dirty="0"/>
          </a:p>
        </p:txBody>
      </p:sp>
      <p:sp>
        <p:nvSpPr>
          <p:cNvPr id="84" name="mname"/>
          <p:cNvSpPr txBox="1"/>
          <p:nvPr/>
        </p:nvSpPr>
        <p:spPr>
          <a:xfrm>
            <a:off x="7589520" y="4901184"/>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L_Reg (flattened)</a:t>
            </a:r>
            <a:endParaRPr lang="en-US" sz="1300" dirty="0"/>
          </a:p>
        </p:txBody>
      </p:sp>
      <p:sp>
        <p:nvSpPr>
          <p:cNvPr id="85" name="callout"/>
          <p:cNvSpPr/>
          <p:nvPr/>
        </p:nvSpPr>
        <p:spPr>
          <a:xfrm>
            <a:off x="9765792" y="2926080"/>
            <a:ext cx="1938528" cy="1463040"/>
          </a:xfrm>
          <a:prstGeom prst="roundRect">
            <a:avLst>
              <a:gd name="adj" fmla="val 5000"/>
            </a:avLst>
          </a:prstGeom>
          <a:solidFill>
            <a:srgbClr val="FBE3E1"/>
          </a:solidFill>
          <a:ln/>
        </p:spPr>
      </p:sp>
      <p:sp>
        <p:nvSpPr>
          <p:cNvPr id="86" name="callout-text"/>
          <p:cNvSpPr txBox="1"/>
          <p:nvPr/>
        </p:nvSpPr>
        <p:spPr>
          <a:xfrm>
            <a:off x="9902952" y="2980944"/>
            <a:ext cx="1664208" cy="1353312"/>
          </a:xfrm>
          <a:prstGeom prst="rect">
            <a:avLst/>
          </a:prstGeom>
          <a:noFill/>
          <a:ln/>
        </p:spPr>
        <p:txBody>
          <a:bodyPr wrap="square" lIns="0" tIns="0" rIns="0" bIns="0" rtlCol="0" anchor="ctr"/>
          <a:lstStyle/>
          <a:p>
            <a:pPr algn="l" indent="0" marL="0">
              <a:buNone/>
            </a:pPr>
            <a:r>
              <a:rPr lang="en-US" sz="1400" dirty="0">
                <a:solidFill>
                  <a:srgbClr val="B3261E"/>
                </a:solidFill>
                <a:latin typeface="Calibri" pitchFamily="34" charset="0"/>
                <a:ea typeface="Calibri" pitchFamily="34" charset="-122"/>
                <a:cs typeface="Calibri" pitchFamily="34" charset="-120"/>
              </a:rPr>
              <a:t>q₀ = e₁ ≠ e₀ → </a:t>
            </a:r>
            <a:r>
              <a:rPr lang="en-US" sz="1400" b="1" dirty="0">
                <a:solidFill>
                  <a:srgbClr val="B3261E"/>
                </a:solidFill>
                <a:latin typeface="Calibri" pitchFamily="34" charset="0"/>
                <a:ea typeface="Calibri" pitchFamily="34" charset="-122"/>
                <a:cs typeface="Calibri" pitchFamily="34" charset="-120"/>
              </a:rPr>
              <a:t>u = 1</a:t>
            </a:r>
            <a:r>
              <a:rPr lang="en-US" sz="1400" dirty="0">
                <a:solidFill>
                  <a:srgbClr val="B3261E"/>
                </a:solidFill>
                <a:latin typeface="Calibri" pitchFamily="34" charset="0"/>
                <a:ea typeface="Calibri" pitchFamily="34" charset="-122"/>
                <a:cs typeface="Calibri" pitchFamily="34" charset="-120"/>
              </a:rPr>
              <a:t>. (§5.3: a register permutation can fix this.)</a:t>
            </a:r>
            <a:endParaRPr lang="en-US" sz="1400" dirty="0"/>
          </a:p>
        </p:txBody>
      </p:sp>
      <p:sp>
        <p:nvSpPr>
          <p:cNvPr id="87" name="Text 83"/>
          <p:cNvSpPr txBox="1"/>
          <p:nvPr/>
        </p:nvSpPr>
        <p:spPr>
          <a:xfrm>
            <a:off x="502920" y="5349240"/>
            <a:ext cx="11201400" cy="320040"/>
          </a:xfrm>
          <a:prstGeom prst="rect">
            <a:avLst/>
          </a:prstGeom>
          <a:noFill/>
          <a:ln/>
        </p:spPr>
        <p:txBody>
          <a:bodyPr wrap="square" lIns="0" tIns="0" rIns="0" bIns="0" rtlCol="0" anchor="t"/>
          <a:lstStyle/>
          <a:p>
            <a:pPr indent="0" marL="0">
              <a:buNone/>
            </a:pPr>
            <a:r>
              <a:rPr lang="en-US" sz="1300" i="1" dirty="0">
                <a:solidFill>
                  <a:srgbClr val="5B6770"/>
                </a:solidFill>
                <a:latin typeface="Calibri" pitchFamily="34" charset="0"/>
                <a:ea typeface="Calibri" pitchFamily="34" charset="-122"/>
                <a:cs typeface="Calibri" pitchFamily="34" charset="-120"/>
              </a:rPr>
              <a:t>Per-thread vectorization is not coalescing across threads; alignment and dtype still constrain the instruction.</a:t>
            </a:r>
            <a:endParaRPr lang="en-US" sz="1300" dirty="0"/>
          </a:p>
        </p:txBody>
      </p:sp>
      <p:sp>
        <p:nvSpPr>
          <p:cNvPr id="88" name="tag"/>
          <p:cNvSpPr txBox="1"/>
          <p:nvPr/>
        </p:nvSpPr>
        <p:spPr>
          <a:xfrm>
            <a:off x="50292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§5.1 · BROADCASTING</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Duplicated data = zero columns in the layout matrix</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§5.1 “Broadcasting”, pp. 138–139 (the zero-column example is the paper’s)</a:t>
            </a:r>
            <a:endParaRPr lang="en-US" sz="1000" dirty="0"/>
          </a:p>
        </p:txBody>
      </p:sp>
      <p:sp>
        <p:nvSpPr>
          <p:cNvPr id="6" name="mcol"/>
          <p:cNvSpPr/>
          <p:nvPr/>
        </p:nvSpPr>
        <p:spPr>
          <a:xfrm>
            <a:off x="2368296" y="1783080"/>
            <a:ext cx="384048" cy="3072384"/>
          </a:xfrm>
          <a:prstGeom prst="rect">
            <a:avLst/>
          </a:prstGeom>
          <a:solidFill>
            <a:srgbClr val="FBE3E1"/>
          </a:solidFill>
          <a:ln/>
        </p:spPr>
      </p:sp>
      <p:sp>
        <p:nvSpPr>
          <p:cNvPr id="7" name="mcell"/>
          <p:cNvSpPr txBox="1"/>
          <p:nvPr/>
        </p:nvSpPr>
        <p:spPr>
          <a:xfrm>
            <a:off x="1600200" y="178308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 name="mcell"/>
          <p:cNvSpPr txBox="1"/>
          <p:nvPr/>
        </p:nvSpPr>
        <p:spPr>
          <a:xfrm>
            <a:off x="1984248" y="1783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 name="mcell"/>
          <p:cNvSpPr txBox="1"/>
          <p:nvPr/>
        </p:nvSpPr>
        <p:spPr>
          <a:xfrm>
            <a:off x="2368296" y="1783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 name="mcell"/>
          <p:cNvSpPr txBox="1"/>
          <p:nvPr/>
        </p:nvSpPr>
        <p:spPr>
          <a:xfrm>
            <a:off x="1600200" y="2167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1984248" y="2167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2" name="mcell"/>
          <p:cNvSpPr txBox="1"/>
          <p:nvPr/>
        </p:nvSpPr>
        <p:spPr>
          <a:xfrm>
            <a:off x="2368296" y="2167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 name="mcell"/>
          <p:cNvSpPr txBox="1"/>
          <p:nvPr/>
        </p:nvSpPr>
        <p:spPr>
          <a:xfrm>
            <a:off x="1600200" y="2551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4" name="mcell"/>
          <p:cNvSpPr txBox="1"/>
          <p:nvPr/>
        </p:nvSpPr>
        <p:spPr>
          <a:xfrm>
            <a:off x="1984248" y="2551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5" name="mcell"/>
          <p:cNvSpPr txBox="1"/>
          <p:nvPr/>
        </p:nvSpPr>
        <p:spPr>
          <a:xfrm>
            <a:off x="2368296" y="2551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1600200" y="2935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1984248" y="2935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2368296" y="2935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1600200" y="3319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0" name="mcell"/>
          <p:cNvSpPr txBox="1"/>
          <p:nvPr/>
        </p:nvSpPr>
        <p:spPr>
          <a:xfrm>
            <a:off x="1984248" y="3319272"/>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1" name="mcell"/>
          <p:cNvSpPr txBox="1"/>
          <p:nvPr/>
        </p:nvSpPr>
        <p:spPr>
          <a:xfrm>
            <a:off x="2368296" y="3319272"/>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2" name="mcell"/>
          <p:cNvSpPr txBox="1"/>
          <p:nvPr/>
        </p:nvSpPr>
        <p:spPr>
          <a:xfrm>
            <a:off x="1600200" y="37033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3" name="mcell"/>
          <p:cNvSpPr txBox="1"/>
          <p:nvPr/>
        </p:nvSpPr>
        <p:spPr>
          <a:xfrm>
            <a:off x="1984248" y="37033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4" name="mcell"/>
          <p:cNvSpPr txBox="1"/>
          <p:nvPr/>
        </p:nvSpPr>
        <p:spPr>
          <a:xfrm>
            <a:off x="2368296" y="370332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5" name="mcell"/>
          <p:cNvSpPr txBox="1"/>
          <p:nvPr/>
        </p:nvSpPr>
        <p:spPr>
          <a:xfrm>
            <a:off x="1600200" y="40873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6" name="mcell"/>
          <p:cNvSpPr txBox="1"/>
          <p:nvPr/>
        </p:nvSpPr>
        <p:spPr>
          <a:xfrm>
            <a:off x="1984248" y="40873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7" name="mcell"/>
          <p:cNvSpPr txBox="1"/>
          <p:nvPr/>
        </p:nvSpPr>
        <p:spPr>
          <a:xfrm>
            <a:off x="2368296" y="408736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8" name="mcell"/>
          <p:cNvSpPr txBox="1"/>
          <p:nvPr/>
        </p:nvSpPr>
        <p:spPr>
          <a:xfrm>
            <a:off x="1600200" y="44714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9" name="mcell"/>
          <p:cNvSpPr txBox="1"/>
          <p:nvPr/>
        </p:nvSpPr>
        <p:spPr>
          <a:xfrm>
            <a:off x="1984248" y="44714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0" name="mcell"/>
          <p:cNvSpPr txBox="1"/>
          <p:nvPr/>
        </p:nvSpPr>
        <p:spPr>
          <a:xfrm>
            <a:off x="2368296" y="447141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1" name="msep"/>
          <p:cNvSpPr/>
          <p:nvPr/>
        </p:nvSpPr>
        <p:spPr>
          <a:xfrm>
            <a:off x="1618488" y="3319272"/>
            <a:ext cx="1115568" cy="0"/>
          </a:xfrm>
          <a:prstGeom prst="line">
            <a:avLst/>
          </a:prstGeom>
          <a:noFill/>
          <a:ln w="9525">
            <a:solidFill>
              <a:srgbClr val="5B6770"/>
            </a:solidFill>
            <a:prstDash val="dash"/>
          </a:ln>
        </p:spPr>
      </p:sp>
      <p:sp>
        <p:nvSpPr>
          <p:cNvPr id="32" name="mbr"/>
          <p:cNvSpPr/>
          <p:nvPr/>
        </p:nvSpPr>
        <p:spPr>
          <a:xfrm>
            <a:off x="1572768" y="1755648"/>
            <a:ext cx="0" cy="3127248"/>
          </a:xfrm>
          <a:prstGeom prst="line">
            <a:avLst/>
          </a:prstGeom>
          <a:noFill/>
          <a:ln w="15875">
            <a:solidFill>
              <a:srgbClr val="1E2A32"/>
            </a:solidFill>
            <a:prstDash val="solid"/>
          </a:ln>
        </p:spPr>
      </p:sp>
      <p:sp>
        <p:nvSpPr>
          <p:cNvPr id="33" name="mbr"/>
          <p:cNvSpPr/>
          <p:nvPr/>
        </p:nvSpPr>
        <p:spPr>
          <a:xfrm>
            <a:off x="1572768" y="1755648"/>
            <a:ext cx="73152" cy="0"/>
          </a:xfrm>
          <a:prstGeom prst="line">
            <a:avLst/>
          </a:prstGeom>
          <a:noFill/>
          <a:ln w="15875">
            <a:solidFill>
              <a:srgbClr val="1E2A32"/>
            </a:solidFill>
            <a:prstDash val="solid"/>
          </a:ln>
        </p:spPr>
      </p:sp>
      <p:sp>
        <p:nvSpPr>
          <p:cNvPr id="34" name="mbr"/>
          <p:cNvSpPr/>
          <p:nvPr/>
        </p:nvSpPr>
        <p:spPr>
          <a:xfrm>
            <a:off x="1572768" y="4882896"/>
            <a:ext cx="73152" cy="0"/>
          </a:xfrm>
          <a:prstGeom prst="line">
            <a:avLst/>
          </a:prstGeom>
          <a:noFill/>
          <a:ln w="15875">
            <a:solidFill>
              <a:srgbClr val="1E2A32"/>
            </a:solidFill>
            <a:prstDash val="solid"/>
          </a:ln>
        </p:spPr>
      </p:sp>
      <p:sp>
        <p:nvSpPr>
          <p:cNvPr id="35" name="mbr"/>
          <p:cNvSpPr/>
          <p:nvPr/>
        </p:nvSpPr>
        <p:spPr>
          <a:xfrm>
            <a:off x="2779776" y="1755648"/>
            <a:ext cx="0" cy="3127248"/>
          </a:xfrm>
          <a:prstGeom prst="line">
            <a:avLst/>
          </a:prstGeom>
          <a:noFill/>
          <a:ln w="15875">
            <a:solidFill>
              <a:srgbClr val="1E2A32"/>
            </a:solidFill>
            <a:prstDash val="solid"/>
          </a:ln>
        </p:spPr>
      </p:sp>
      <p:sp>
        <p:nvSpPr>
          <p:cNvPr id="36" name="mbr"/>
          <p:cNvSpPr/>
          <p:nvPr/>
        </p:nvSpPr>
        <p:spPr>
          <a:xfrm>
            <a:off x="2706624" y="1755648"/>
            <a:ext cx="73152" cy="0"/>
          </a:xfrm>
          <a:prstGeom prst="line">
            <a:avLst/>
          </a:prstGeom>
          <a:noFill/>
          <a:ln w="15875">
            <a:solidFill>
              <a:srgbClr val="1E2A32"/>
            </a:solidFill>
            <a:prstDash val="solid"/>
          </a:ln>
        </p:spPr>
      </p:sp>
      <p:sp>
        <p:nvSpPr>
          <p:cNvPr id="37" name="mbr"/>
          <p:cNvSpPr/>
          <p:nvPr/>
        </p:nvSpPr>
        <p:spPr>
          <a:xfrm>
            <a:off x="2706624" y="4882896"/>
            <a:ext cx="73152" cy="0"/>
          </a:xfrm>
          <a:prstGeom prst="line">
            <a:avLst/>
          </a:prstGeom>
          <a:noFill/>
          <a:ln w="15875">
            <a:solidFill>
              <a:srgbClr val="1E2A32"/>
            </a:solidFill>
            <a:prstDash val="solid"/>
          </a:ln>
        </p:spPr>
      </p:sp>
      <p:sp>
        <p:nvSpPr>
          <p:cNvPr id="38" name="mlab"/>
          <p:cNvSpPr txBox="1"/>
          <p:nvPr/>
        </p:nvSpPr>
        <p:spPr>
          <a:xfrm>
            <a:off x="1554480" y="1545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q₀</a:t>
            </a:r>
            <a:endParaRPr lang="en-US" sz="1200" dirty="0"/>
          </a:p>
        </p:txBody>
      </p:sp>
      <p:sp>
        <p:nvSpPr>
          <p:cNvPr id="39" name="mlab"/>
          <p:cNvSpPr txBox="1"/>
          <p:nvPr/>
        </p:nvSpPr>
        <p:spPr>
          <a:xfrm>
            <a:off x="1938528" y="1545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q₁</a:t>
            </a:r>
            <a:endParaRPr lang="en-US" sz="1200" dirty="0"/>
          </a:p>
        </p:txBody>
      </p:sp>
      <p:sp>
        <p:nvSpPr>
          <p:cNvPr id="40" name="mlab"/>
          <p:cNvSpPr txBox="1"/>
          <p:nvPr/>
        </p:nvSpPr>
        <p:spPr>
          <a:xfrm>
            <a:off x="2322576" y="1545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q₂</a:t>
            </a:r>
            <a:endParaRPr lang="en-US" sz="1200" dirty="0"/>
          </a:p>
        </p:txBody>
      </p:sp>
      <p:sp>
        <p:nvSpPr>
          <p:cNvPr id="41" name="mgrp"/>
          <p:cNvSpPr txBox="1"/>
          <p:nvPr/>
        </p:nvSpPr>
        <p:spPr>
          <a:xfrm>
            <a:off x="1600200" y="1307592"/>
            <a:ext cx="1152144"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42" name="mlab"/>
          <p:cNvSpPr txBox="1"/>
          <p:nvPr/>
        </p:nvSpPr>
        <p:spPr>
          <a:xfrm>
            <a:off x="1197864" y="17830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43" name="mlab"/>
          <p:cNvSpPr txBox="1"/>
          <p:nvPr/>
        </p:nvSpPr>
        <p:spPr>
          <a:xfrm>
            <a:off x="1197864" y="21671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44" name="mlab"/>
          <p:cNvSpPr txBox="1"/>
          <p:nvPr/>
        </p:nvSpPr>
        <p:spPr>
          <a:xfrm>
            <a:off x="1197864" y="25511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j₂</a:t>
            </a:r>
            <a:endParaRPr lang="en-US" sz="1200" dirty="0"/>
          </a:p>
        </p:txBody>
      </p:sp>
      <p:sp>
        <p:nvSpPr>
          <p:cNvPr id="45" name="mlab"/>
          <p:cNvSpPr txBox="1"/>
          <p:nvPr/>
        </p:nvSpPr>
        <p:spPr>
          <a:xfrm>
            <a:off x="1197864" y="29352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j₃</a:t>
            </a:r>
            <a:endParaRPr lang="en-US" sz="1200" dirty="0"/>
          </a:p>
        </p:txBody>
      </p:sp>
      <p:sp>
        <p:nvSpPr>
          <p:cNvPr id="46" name="mlab"/>
          <p:cNvSpPr txBox="1"/>
          <p:nvPr/>
        </p:nvSpPr>
        <p:spPr>
          <a:xfrm>
            <a:off x="1197864" y="3319272"/>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47" name="mlab"/>
          <p:cNvSpPr txBox="1"/>
          <p:nvPr/>
        </p:nvSpPr>
        <p:spPr>
          <a:xfrm>
            <a:off x="1197864" y="370332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48" name="mlab"/>
          <p:cNvSpPr txBox="1"/>
          <p:nvPr/>
        </p:nvSpPr>
        <p:spPr>
          <a:xfrm>
            <a:off x="1197864" y="408736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i₂</a:t>
            </a:r>
            <a:endParaRPr lang="en-US" sz="1200" dirty="0"/>
          </a:p>
        </p:txBody>
      </p:sp>
      <p:sp>
        <p:nvSpPr>
          <p:cNvPr id="49" name="mlab"/>
          <p:cNvSpPr txBox="1"/>
          <p:nvPr/>
        </p:nvSpPr>
        <p:spPr>
          <a:xfrm>
            <a:off x="1197864" y="447141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i₃</a:t>
            </a:r>
            <a:endParaRPr lang="en-US" sz="1200" dirty="0"/>
          </a:p>
        </p:txBody>
      </p:sp>
      <p:sp>
        <p:nvSpPr>
          <p:cNvPr id="50" name="mgrp"/>
          <p:cNvSpPr txBox="1"/>
          <p:nvPr/>
        </p:nvSpPr>
        <p:spPr>
          <a:xfrm>
            <a:off x="868680" y="1783080"/>
            <a:ext cx="310896" cy="1536192"/>
          </a:xfrm>
          <a:prstGeom prst="rect">
            <a:avLst/>
          </a:prstGeom>
          <a:noFill/>
          <a:ln/>
        </p:spPr>
        <p:txBody>
          <a:bodyPr wrap="square" lIns="0" tIns="0" rIns="0" bIns="0" rtlCol="0" anchor="ctr"/>
          <a:lstStyle/>
          <a:p>
            <a:pPr algn="r" indent="0" marL="0">
              <a:buNone/>
            </a:pPr>
            <a:r>
              <a:rPr lang="en-US" sz="1200" b="1" dirty="0">
                <a:solidFill>
                  <a:srgbClr val="0A4F58"/>
                </a:solidFill>
                <a:latin typeface="Calibri" pitchFamily="34" charset="0"/>
                <a:ea typeface="Calibri" pitchFamily="34" charset="-122"/>
                <a:cs typeface="Calibri" pitchFamily="34" charset="-120"/>
              </a:rPr>
              <a:t>j</a:t>
            </a:r>
            <a:endParaRPr lang="en-US" sz="1200" dirty="0"/>
          </a:p>
        </p:txBody>
      </p:sp>
      <p:sp>
        <p:nvSpPr>
          <p:cNvPr id="51" name="mgrp"/>
          <p:cNvSpPr txBox="1"/>
          <p:nvPr/>
        </p:nvSpPr>
        <p:spPr>
          <a:xfrm>
            <a:off x="868680" y="3319272"/>
            <a:ext cx="310896" cy="1536192"/>
          </a:xfrm>
          <a:prstGeom prst="rect">
            <a:avLst/>
          </a:prstGeom>
          <a:noFill/>
          <a:ln/>
        </p:spPr>
        <p:txBody>
          <a:bodyPr wrap="square" lIns="0" tIns="0" rIns="0" bIns="0" rtlCol="0" anchor="ctr"/>
          <a:lstStyle/>
          <a:p>
            <a:pPr algn="r" indent="0" marL="0">
              <a:buNone/>
            </a:pPr>
            <a:r>
              <a:rPr lang="en-US" sz="1200" b="1" dirty="0">
                <a:solidFill>
                  <a:srgbClr val="0A4F58"/>
                </a:solidFill>
                <a:latin typeface="Calibri" pitchFamily="34" charset="0"/>
                <a:ea typeface="Calibri" pitchFamily="34" charset="-122"/>
                <a:cs typeface="Calibri" pitchFamily="34" charset="-120"/>
              </a:rPr>
              <a:t>i</a:t>
            </a:r>
            <a:endParaRPr lang="en-US" sz="1200" dirty="0"/>
          </a:p>
        </p:txBody>
      </p:sp>
      <p:sp>
        <p:nvSpPr>
          <p:cNvPr id="52" name="mname"/>
          <p:cNvSpPr txBox="1"/>
          <p:nvPr/>
        </p:nvSpPr>
        <p:spPr>
          <a:xfrm>
            <a:off x="1325880" y="4910328"/>
            <a:ext cx="170078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A_Reg + zero column</a:t>
            </a:r>
            <a:endParaRPr lang="en-US" sz="1300" dirty="0"/>
          </a:p>
        </p:txBody>
      </p:sp>
      <p:sp>
        <p:nvSpPr>
          <p:cNvPr id="53" name="tag"/>
          <p:cNvSpPr txBox="1"/>
          <p:nvPr/>
        </p:nvSpPr>
        <p:spPr>
          <a:xfrm>
            <a:off x="914400" y="5294376"/>
            <a:ext cx="137160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Paper’s example</a:t>
            </a:r>
            <a:endParaRPr lang="en-US" sz="11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4206240" y="1417320"/>
          <a:ext cx="3017520" cy="914400"/>
        </p:xfrm>
        <a:graphic>
          <a:graphicData uri="http://schemas.openxmlformats.org/drawingml/2006/table">
            <a:tbl>
              <a:tblPr/>
              <a:tblGrid>
                <a:gridCol w="914400"/>
                <a:gridCol w="1005840"/>
                <a:gridCol w="1097280"/>
              </a:tblGrid>
              <a:tr h="301752">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register</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q₀q₁q₂</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(i, 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01752">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(0, 0)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01752">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(0, 1)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01752">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(1, 0)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01752">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110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(1, 1)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01752">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(0, 0)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BE3E1"/>
                    </a:solidFill>
                  </a:tcPr>
                </a:tc>
              </a:tr>
              <a:tr h="301752">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(0, 1)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BE3E1"/>
                    </a:solidFill>
                  </a:tcPr>
                </a:tc>
              </a:tr>
              <a:tr h="301752">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011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(1, 0)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BE3E1"/>
                    </a:solidFill>
                  </a:tcPr>
                </a:tc>
              </a:tr>
              <a:tr h="301752">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r7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(1, 1)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BE3E1"/>
                    </a:solidFill>
                  </a:tcPr>
                </a:tc>
              </a:tr>
            </a:tbl>
          </a:graphicData>
        </a:graphic>
      </p:graphicFrame>
      <p:sp>
        <p:nvSpPr>
          <p:cNvPr id="55" name="bullets"/>
          <p:cNvSpPr txBox="1"/>
          <p:nvPr/>
        </p:nvSpPr>
        <p:spPr>
          <a:xfrm>
            <a:off x="7589520" y="1417320"/>
            <a:ext cx="4114800" cy="2926080"/>
          </a:xfrm>
          <a:prstGeom prst="rect">
            <a:avLst/>
          </a:prstGeom>
          <a:noFill/>
          <a:ln/>
        </p:spPr>
        <p:txBody>
          <a:bodyPr wrap="square" lIns="25400" tIns="25400" rIns="25400" bIns="25400" rtlCol="0" anchor="t"/>
          <a:lstStyle/>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Tile </a:t>
            </a:r>
            <a:r>
              <a:rPr lang="en-US" sz="1500" b="1" dirty="0">
                <a:solidFill>
                  <a:srgbClr val="1E2A32"/>
                </a:solidFill>
                <a:latin typeface="Calibri" pitchFamily="34" charset="0"/>
                <a:ea typeface="Calibri" pitchFamily="34" charset="-122"/>
                <a:cs typeface="Calibri" pitchFamily="34" charset="-120"/>
              </a:rPr>
              <a:t>smaller</a:t>
            </a:r>
            <a:r>
              <a:rPr lang="en-US" sz="1500" dirty="0">
                <a:solidFill>
                  <a:srgbClr val="1E2A32"/>
                </a:solidFill>
                <a:latin typeface="Calibri" pitchFamily="34" charset="0"/>
                <a:ea typeface="Calibri" pitchFamily="34" charset="-122"/>
                <a:cs typeface="Calibri" pitchFamily="34" charset="-120"/>
              </a:rPr>
              <a:t> than tensor → tile repeats (more register bits).</a:t>
            </a:r>
            <a:endParaRPr lang="en-US" sz="1500" dirty="0"/>
          </a:p>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Tile </a:t>
            </a:r>
            <a:r>
              <a:rPr lang="en-US" sz="1500" b="1" dirty="0">
                <a:solidFill>
                  <a:srgbClr val="1E2A32"/>
                </a:solidFill>
                <a:latin typeface="Calibri" pitchFamily="34" charset="0"/>
                <a:ea typeface="Calibri" pitchFamily="34" charset="-122"/>
                <a:cs typeface="Calibri" pitchFamily="34" charset="-120"/>
              </a:rPr>
              <a:t>larger</a:t>
            </a:r>
            <a:r>
              <a:rPr lang="en-US" sz="1500" dirty="0">
                <a:solidFill>
                  <a:srgbClr val="1E2A32"/>
                </a:solidFill>
                <a:latin typeface="Calibri" pitchFamily="34" charset="0"/>
                <a:ea typeface="Calibri" pitchFamily="34" charset="-122"/>
                <a:cs typeface="Calibri" pitchFamily="34" charset="-120"/>
              </a:rPr>
              <a:t> than tensor → registers / threads / warps hold </a:t>
            </a:r>
            <a:r>
              <a:rPr lang="en-US" sz="1500" b="1" dirty="0">
                <a:solidFill>
                  <a:srgbClr val="1E2A32"/>
                </a:solidFill>
                <a:latin typeface="Calibri" pitchFamily="34" charset="0"/>
                <a:ea typeface="Calibri" pitchFamily="34" charset="-122"/>
                <a:cs typeface="Calibri" pitchFamily="34" charset="-120"/>
              </a:rPr>
              <a:t>duplicates</a:t>
            </a:r>
            <a:r>
              <a:rPr lang="en-US" sz="1500" dirty="0">
                <a:solidFill>
                  <a:srgbClr val="1E2A32"/>
                </a:solidFill>
                <a:latin typeface="Calibri" pitchFamily="34" charset="0"/>
                <a:ea typeface="Calibri" pitchFamily="34" charset="-122"/>
                <a:cs typeface="Calibri" pitchFamily="34" charset="-120"/>
              </a:rPr>
              <a:t>.</a:t>
            </a:r>
            <a:endParaRPr lang="en-US" sz="1500" dirty="0"/>
          </a:p>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Duplicates = </a:t>
            </a:r>
            <a:r>
              <a:rPr lang="en-US" sz="1500" b="1" dirty="0">
                <a:solidFill>
                  <a:srgbClr val="1E2A32"/>
                </a:solidFill>
                <a:latin typeface="Calibri" pitchFamily="34" charset="0"/>
                <a:ea typeface="Calibri" pitchFamily="34" charset="-122"/>
                <a:cs typeface="Calibri" pitchFamily="34" charset="-120"/>
              </a:rPr>
              <a:t>zero columns</a:t>
            </a:r>
            <a:r>
              <a:rPr lang="en-US" sz="1500" dirty="0">
                <a:solidFill>
                  <a:srgbClr val="1E2A32"/>
                </a:solidFill>
                <a:latin typeface="Calibri" pitchFamily="34" charset="0"/>
                <a:ea typeface="Calibri" pitchFamily="34" charset="-122"/>
                <a:cs typeface="Calibri" pitchFamily="34" charset="-120"/>
              </a:rPr>
              <a:t> once tiling is a Product (Def. 4.3).</a:t>
            </a:r>
            <a:endParaRPr lang="en-US" sz="1500" dirty="0"/>
          </a:p>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Zero Reg / Thr / Wrp column ⇒ that hardware bit is a “don’t care”.</a:t>
            </a:r>
            <a:endParaRPr lang="en-US" sz="1500" dirty="0"/>
          </a:p>
        </p:txBody>
      </p:sp>
      <p:sp>
        <p:nvSpPr>
          <p:cNvPr id="56" name="callout"/>
          <p:cNvSpPr/>
          <p:nvPr/>
        </p:nvSpPr>
        <p:spPr>
          <a:xfrm>
            <a:off x="7589520" y="4434840"/>
            <a:ext cx="4114800" cy="868680"/>
          </a:xfrm>
          <a:prstGeom prst="roundRect">
            <a:avLst>
              <a:gd name="adj" fmla="val 8421"/>
            </a:avLst>
          </a:prstGeom>
          <a:solidFill>
            <a:srgbClr val="FBE3E1"/>
          </a:solidFill>
          <a:ln/>
        </p:spPr>
      </p:sp>
      <p:sp>
        <p:nvSpPr>
          <p:cNvPr id="57" name="callout-text"/>
          <p:cNvSpPr txBox="1"/>
          <p:nvPr/>
        </p:nvSpPr>
        <p:spPr>
          <a:xfrm>
            <a:off x="7726680" y="4489704"/>
            <a:ext cx="3840480" cy="758952"/>
          </a:xfrm>
          <a:prstGeom prst="rect">
            <a:avLst/>
          </a:prstGeom>
          <a:noFill/>
          <a:ln/>
        </p:spPr>
        <p:txBody>
          <a:bodyPr wrap="square" lIns="0" tIns="0" rIns="0" bIns="0" rtlCol="0" anchor="ctr"/>
          <a:lstStyle/>
          <a:p>
            <a:pPr algn="l" indent="0" marL="0">
              <a:buNone/>
            </a:pPr>
            <a:r>
              <a:rPr lang="en-US" sz="1500" dirty="0">
                <a:solidFill>
                  <a:srgbClr val="B3261E"/>
                </a:solidFill>
                <a:latin typeface="Calibri" pitchFamily="34" charset="0"/>
                <a:ea typeface="Calibri" pitchFamily="34" charset="-122"/>
                <a:cs typeface="Calibri" pitchFamily="34" charset="-120"/>
              </a:rPr>
              <a:t>Registers 4–7 map to the </a:t>
            </a:r>
            <a:r>
              <a:rPr lang="en-US" sz="1500" b="1" dirty="0">
                <a:solidFill>
                  <a:srgbClr val="B3261E"/>
                </a:solidFill>
                <a:latin typeface="Calibri" pitchFamily="34" charset="0"/>
                <a:ea typeface="Calibri" pitchFamily="34" charset="-122"/>
                <a:cs typeface="Calibri" pitchFamily="34" charset="-120"/>
              </a:rPr>
              <a:t>same</a:t>
            </a:r>
            <a:r>
              <a:rPr lang="en-US" sz="1500" dirty="0">
                <a:solidFill>
                  <a:srgbClr val="B3261E"/>
                </a:solidFill>
                <a:latin typeface="Calibri" pitchFamily="34" charset="0"/>
                <a:ea typeface="Calibri" pitchFamily="34" charset="-122"/>
                <a:cs typeface="Calibri" pitchFamily="34" charset="-120"/>
              </a:rPr>
              <a:t> tensor elements as registers 0–3.</a:t>
            </a:r>
            <a:endParaRPr lang="en-US" sz="15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§5.1 · BROADCASTING IN PRACTICE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Use the zero columns: who must store, who is a copy?</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§5.1 “Broadcasting”, pp. 138–139; Table 4 and “Broadcasting” paragraph, p. 142</a:t>
            </a:r>
            <a:endParaRPr lang="en-US" sz="1000" dirty="0"/>
          </a:p>
        </p:txBody>
      </p:sp>
      <p:sp>
        <p:nvSpPr>
          <p:cNvPr id="6" name="mcol"/>
          <p:cNvSpPr/>
          <p:nvPr/>
        </p:nvSpPr>
        <p:spPr>
          <a:xfrm>
            <a:off x="1856232" y="2240280"/>
            <a:ext cx="438912" cy="877824"/>
          </a:xfrm>
          <a:prstGeom prst="rect">
            <a:avLst/>
          </a:prstGeom>
          <a:solidFill>
            <a:srgbClr val="FBE3E1"/>
          </a:solidFill>
          <a:ln/>
        </p:spPr>
      </p:sp>
      <p:sp>
        <p:nvSpPr>
          <p:cNvPr id="7" name="mcol"/>
          <p:cNvSpPr/>
          <p:nvPr/>
        </p:nvSpPr>
        <p:spPr>
          <a:xfrm>
            <a:off x="2734056" y="2240280"/>
            <a:ext cx="438912" cy="877824"/>
          </a:xfrm>
          <a:prstGeom prst="rect">
            <a:avLst/>
          </a:prstGeom>
          <a:solidFill>
            <a:srgbClr val="FBE3E1"/>
          </a:solidFill>
          <a:ln/>
        </p:spPr>
      </p:sp>
      <p:sp>
        <p:nvSpPr>
          <p:cNvPr id="8" name="mcell"/>
          <p:cNvSpPr txBox="1"/>
          <p:nvPr/>
        </p:nvSpPr>
        <p:spPr>
          <a:xfrm>
            <a:off x="1417320" y="2240280"/>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9" name="mcell"/>
          <p:cNvSpPr txBox="1"/>
          <p:nvPr/>
        </p:nvSpPr>
        <p:spPr>
          <a:xfrm>
            <a:off x="1856232" y="224028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0" name="mcell"/>
          <p:cNvSpPr txBox="1"/>
          <p:nvPr/>
        </p:nvSpPr>
        <p:spPr>
          <a:xfrm>
            <a:off x="2295144" y="224028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1" name="mcell"/>
          <p:cNvSpPr txBox="1"/>
          <p:nvPr/>
        </p:nvSpPr>
        <p:spPr>
          <a:xfrm>
            <a:off x="2734056" y="2240280"/>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2" name="mcell"/>
          <p:cNvSpPr txBox="1"/>
          <p:nvPr/>
        </p:nvSpPr>
        <p:spPr>
          <a:xfrm>
            <a:off x="1417320" y="267919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3" name="mcell"/>
          <p:cNvSpPr txBox="1"/>
          <p:nvPr/>
        </p:nvSpPr>
        <p:spPr>
          <a:xfrm>
            <a:off x="1856232" y="267919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4" name="mcell"/>
          <p:cNvSpPr txBox="1"/>
          <p:nvPr/>
        </p:nvSpPr>
        <p:spPr>
          <a:xfrm>
            <a:off x="2295144" y="2679192"/>
            <a:ext cx="438912" cy="438912"/>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5" name="mcell"/>
          <p:cNvSpPr txBox="1"/>
          <p:nvPr/>
        </p:nvSpPr>
        <p:spPr>
          <a:xfrm>
            <a:off x="2734056" y="2679192"/>
            <a:ext cx="438912" cy="438912"/>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6" name="msep"/>
          <p:cNvSpPr/>
          <p:nvPr/>
        </p:nvSpPr>
        <p:spPr>
          <a:xfrm>
            <a:off x="2295144" y="2258568"/>
            <a:ext cx="0" cy="841248"/>
          </a:xfrm>
          <a:prstGeom prst="line">
            <a:avLst/>
          </a:prstGeom>
          <a:noFill/>
          <a:ln w="9525">
            <a:solidFill>
              <a:srgbClr val="5B6770"/>
            </a:solidFill>
            <a:prstDash val="dash"/>
          </a:ln>
        </p:spPr>
      </p:sp>
      <p:sp>
        <p:nvSpPr>
          <p:cNvPr id="17" name="mbr"/>
          <p:cNvSpPr/>
          <p:nvPr/>
        </p:nvSpPr>
        <p:spPr>
          <a:xfrm>
            <a:off x="1389888" y="2212848"/>
            <a:ext cx="0" cy="932688"/>
          </a:xfrm>
          <a:prstGeom prst="line">
            <a:avLst/>
          </a:prstGeom>
          <a:noFill/>
          <a:ln w="15875">
            <a:solidFill>
              <a:srgbClr val="1E2A32"/>
            </a:solidFill>
            <a:prstDash val="solid"/>
          </a:ln>
        </p:spPr>
      </p:sp>
      <p:sp>
        <p:nvSpPr>
          <p:cNvPr id="18" name="mbr"/>
          <p:cNvSpPr/>
          <p:nvPr/>
        </p:nvSpPr>
        <p:spPr>
          <a:xfrm>
            <a:off x="1389888" y="2212848"/>
            <a:ext cx="73152" cy="0"/>
          </a:xfrm>
          <a:prstGeom prst="line">
            <a:avLst/>
          </a:prstGeom>
          <a:noFill/>
          <a:ln w="15875">
            <a:solidFill>
              <a:srgbClr val="1E2A32"/>
            </a:solidFill>
            <a:prstDash val="solid"/>
          </a:ln>
        </p:spPr>
      </p:sp>
      <p:sp>
        <p:nvSpPr>
          <p:cNvPr id="19" name="mbr"/>
          <p:cNvSpPr/>
          <p:nvPr/>
        </p:nvSpPr>
        <p:spPr>
          <a:xfrm>
            <a:off x="1389888" y="3145536"/>
            <a:ext cx="73152" cy="0"/>
          </a:xfrm>
          <a:prstGeom prst="line">
            <a:avLst/>
          </a:prstGeom>
          <a:noFill/>
          <a:ln w="15875">
            <a:solidFill>
              <a:srgbClr val="1E2A32"/>
            </a:solidFill>
            <a:prstDash val="solid"/>
          </a:ln>
        </p:spPr>
      </p:sp>
      <p:sp>
        <p:nvSpPr>
          <p:cNvPr id="20" name="mbr"/>
          <p:cNvSpPr/>
          <p:nvPr/>
        </p:nvSpPr>
        <p:spPr>
          <a:xfrm>
            <a:off x="3200400" y="2212848"/>
            <a:ext cx="0" cy="932688"/>
          </a:xfrm>
          <a:prstGeom prst="line">
            <a:avLst/>
          </a:prstGeom>
          <a:noFill/>
          <a:ln w="15875">
            <a:solidFill>
              <a:srgbClr val="1E2A32"/>
            </a:solidFill>
            <a:prstDash val="solid"/>
          </a:ln>
        </p:spPr>
      </p:sp>
      <p:sp>
        <p:nvSpPr>
          <p:cNvPr id="21" name="mbr"/>
          <p:cNvSpPr/>
          <p:nvPr/>
        </p:nvSpPr>
        <p:spPr>
          <a:xfrm>
            <a:off x="3127248" y="2212848"/>
            <a:ext cx="73152" cy="0"/>
          </a:xfrm>
          <a:prstGeom prst="line">
            <a:avLst/>
          </a:prstGeom>
          <a:noFill/>
          <a:ln w="15875">
            <a:solidFill>
              <a:srgbClr val="1E2A32"/>
            </a:solidFill>
            <a:prstDash val="solid"/>
          </a:ln>
        </p:spPr>
      </p:sp>
      <p:sp>
        <p:nvSpPr>
          <p:cNvPr id="22" name="mbr"/>
          <p:cNvSpPr/>
          <p:nvPr/>
        </p:nvSpPr>
        <p:spPr>
          <a:xfrm>
            <a:off x="3127248" y="3145536"/>
            <a:ext cx="73152" cy="0"/>
          </a:xfrm>
          <a:prstGeom prst="line">
            <a:avLst/>
          </a:prstGeom>
          <a:noFill/>
          <a:ln w="15875">
            <a:solidFill>
              <a:srgbClr val="1E2A32"/>
            </a:solidFill>
            <a:prstDash val="solid"/>
          </a:ln>
        </p:spPr>
      </p:sp>
      <p:sp>
        <p:nvSpPr>
          <p:cNvPr id="23" name="mlab"/>
          <p:cNvSpPr txBox="1"/>
          <p:nvPr/>
        </p:nvSpPr>
        <p:spPr>
          <a:xfrm>
            <a:off x="1371600" y="20025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r₀</a:t>
            </a:r>
            <a:endParaRPr lang="en-US" sz="1400" dirty="0"/>
          </a:p>
        </p:txBody>
      </p:sp>
      <p:sp>
        <p:nvSpPr>
          <p:cNvPr id="24" name="mlab"/>
          <p:cNvSpPr txBox="1"/>
          <p:nvPr/>
        </p:nvSpPr>
        <p:spPr>
          <a:xfrm>
            <a:off x="1810512" y="20025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r₁</a:t>
            </a:r>
            <a:endParaRPr lang="en-US" sz="1400" dirty="0"/>
          </a:p>
        </p:txBody>
      </p:sp>
      <p:sp>
        <p:nvSpPr>
          <p:cNvPr id="25" name="mlab"/>
          <p:cNvSpPr txBox="1"/>
          <p:nvPr/>
        </p:nvSpPr>
        <p:spPr>
          <a:xfrm>
            <a:off x="2249424" y="20025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26" name="mlab"/>
          <p:cNvSpPr txBox="1"/>
          <p:nvPr/>
        </p:nvSpPr>
        <p:spPr>
          <a:xfrm>
            <a:off x="2688336" y="20025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27" name="mgrp"/>
          <p:cNvSpPr txBox="1"/>
          <p:nvPr/>
        </p:nvSpPr>
        <p:spPr>
          <a:xfrm>
            <a:off x="1417320" y="176479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28" name="mgrp"/>
          <p:cNvSpPr txBox="1"/>
          <p:nvPr/>
        </p:nvSpPr>
        <p:spPr>
          <a:xfrm>
            <a:off x="2295144" y="176479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29" name="mlab"/>
          <p:cNvSpPr txBox="1"/>
          <p:nvPr/>
        </p:nvSpPr>
        <p:spPr>
          <a:xfrm>
            <a:off x="1014984" y="2240280"/>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j₀</a:t>
            </a:r>
            <a:endParaRPr lang="en-US" sz="1400" dirty="0"/>
          </a:p>
        </p:txBody>
      </p:sp>
      <p:sp>
        <p:nvSpPr>
          <p:cNvPr id="30" name="mlab"/>
          <p:cNvSpPr txBox="1"/>
          <p:nvPr/>
        </p:nvSpPr>
        <p:spPr>
          <a:xfrm>
            <a:off x="1014984" y="2679192"/>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j₁</a:t>
            </a:r>
            <a:endParaRPr lang="en-US" sz="1400" dirty="0"/>
          </a:p>
        </p:txBody>
      </p:sp>
      <p:sp>
        <p:nvSpPr>
          <p:cNvPr id="31" name="mname"/>
          <p:cNvSpPr txBox="1"/>
          <p:nvPr/>
        </p:nvSpPr>
        <p:spPr>
          <a:xfrm>
            <a:off x="1143000" y="3172968"/>
            <a:ext cx="230428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L_b = rows j of L₁</a:t>
            </a:r>
            <a:endParaRPr lang="en-US" sz="1300" dirty="0"/>
          </a:p>
        </p:txBody>
      </p:sp>
      <p:sp>
        <p:nvSpPr>
          <p:cNvPr id="32" name="Text 29"/>
          <p:cNvSpPr txBox="1"/>
          <p:nvPr/>
        </p:nvSpPr>
        <p:spPr>
          <a:xfrm>
            <a:off x="502920" y="3538728"/>
            <a:ext cx="4206240" cy="548640"/>
          </a:xfrm>
          <a:prstGeom prst="rect">
            <a:avLst/>
          </a:prstGeom>
          <a:noFill/>
          <a:ln/>
        </p:spPr>
        <p:txBody>
          <a:bodyPr wrap="square" lIns="0" tIns="0" rIns="0" bIns="0" rtlCol="0" anchor="t"/>
          <a:lstStyle/>
          <a:p>
            <a:pPr indent="0" marL="0">
              <a:buNone/>
            </a:pPr>
            <a:r>
              <a:rPr lang="en-US" sz="1400" b="1" dirty="0">
                <a:solidFill>
                  <a:srgbClr val="B3261E"/>
                </a:solidFill>
                <a:latin typeface="Calibri" pitchFamily="34" charset="0"/>
                <a:ea typeface="Calibri" pitchFamily="34" charset="-122"/>
                <a:cs typeface="Calibri" pitchFamily="34" charset="-120"/>
              </a:rPr>
              <a:t>Zero columns → mask: r₁ and t₁ are “don’t care” bits</a:t>
            </a:r>
            <a:endParaRPr lang="en-US" sz="1400" dirty="0"/>
          </a:p>
        </p:txBody>
      </p:sp>
      <p:sp>
        <p:nvSpPr>
          <p:cNvPr id="33" name="Text 30"/>
          <p:cNvSpPr txBox="1"/>
          <p:nvPr/>
        </p:nvSpPr>
        <p:spPr>
          <a:xfrm>
            <a:off x="502920" y="1280160"/>
            <a:ext cx="10972800" cy="320040"/>
          </a:xfrm>
          <a:prstGeom prst="rect">
            <a:avLst/>
          </a:prstGeom>
          <a:noFill/>
          <a:ln/>
        </p:spPr>
        <p:txBody>
          <a:bodyPr wrap="square" lIns="0" tIns="0" rIns="0" bIns="0" rtlCol="0" anchor="t"/>
          <a:lstStyle/>
          <a:p>
            <a:pPr indent="0" marL="0">
              <a:buNone/>
            </a:pPr>
            <a:r>
              <a:rPr lang="en-US" sz="1600" dirty="0">
                <a:solidFill>
                  <a:srgbClr val="1E2A32"/>
                </a:solidFill>
                <a:latin typeface="Calibri" pitchFamily="34" charset="0"/>
                <a:ea typeface="Calibri" pitchFamily="34" charset="-122"/>
                <a:cs typeface="Calibri" pitchFamily="34" charset="-120"/>
              </a:rPr>
              <a:t>b = [10, 20, 30, 40] broadcast along rows: out[i, j] = x[i, j] + b[j]</a:t>
            </a:r>
            <a:endParaRPr lang="en-US" sz="1600" dirty="0"/>
          </a:p>
        </p:txBody>
      </p:sp>
      <p:sp>
        <p:nvSpPr>
          <p:cNvPr id="34" name="gcell"/>
          <p:cNvSpPr txBox="1"/>
          <p:nvPr/>
        </p:nvSpPr>
        <p:spPr>
          <a:xfrm>
            <a:off x="5760720" y="2240280"/>
            <a:ext cx="1188720" cy="45720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b[0]=10</a:t>
            </a:r>
            <a:endParaRPr lang="en-US" sz="1300" dirty="0"/>
          </a:p>
        </p:txBody>
      </p:sp>
      <p:sp>
        <p:nvSpPr>
          <p:cNvPr id="35" name="gcell"/>
          <p:cNvSpPr txBox="1"/>
          <p:nvPr/>
        </p:nvSpPr>
        <p:spPr>
          <a:xfrm>
            <a:off x="6949440" y="2240280"/>
            <a:ext cx="1188720" cy="45720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b[1]=20</a:t>
            </a:r>
            <a:endParaRPr lang="en-US" sz="1300" dirty="0"/>
          </a:p>
        </p:txBody>
      </p:sp>
      <p:sp>
        <p:nvSpPr>
          <p:cNvPr id="36" name="gcell"/>
          <p:cNvSpPr txBox="1"/>
          <p:nvPr/>
        </p:nvSpPr>
        <p:spPr>
          <a:xfrm>
            <a:off x="8138160" y="22402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b[0]=10</a:t>
            </a:r>
            <a:endParaRPr lang="en-US" sz="1300" dirty="0"/>
          </a:p>
        </p:txBody>
      </p:sp>
      <p:sp>
        <p:nvSpPr>
          <p:cNvPr id="37" name="gcell"/>
          <p:cNvSpPr txBox="1"/>
          <p:nvPr/>
        </p:nvSpPr>
        <p:spPr>
          <a:xfrm>
            <a:off x="9326880" y="22402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b[1]=20</a:t>
            </a:r>
            <a:endParaRPr lang="en-US" sz="1300" dirty="0"/>
          </a:p>
        </p:txBody>
      </p:sp>
      <p:sp>
        <p:nvSpPr>
          <p:cNvPr id="38" name="gcell"/>
          <p:cNvSpPr txBox="1"/>
          <p:nvPr/>
        </p:nvSpPr>
        <p:spPr>
          <a:xfrm>
            <a:off x="5760720" y="2697480"/>
            <a:ext cx="1188720" cy="45720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b[2]=30</a:t>
            </a:r>
            <a:endParaRPr lang="en-US" sz="1300" dirty="0"/>
          </a:p>
        </p:txBody>
      </p:sp>
      <p:sp>
        <p:nvSpPr>
          <p:cNvPr id="39" name="gcell"/>
          <p:cNvSpPr txBox="1"/>
          <p:nvPr/>
        </p:nvSpPr>
        <p:spPr>
          <a:xfrm>
            <a:off x="6949440" y="2697480"/>
            <a:ext cx="1188720" cy="457200"/>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b[3]=40</a:t>
            </a:r>
            <a:endParaRPr lang="en-US" sz="1300" dirty="0"/>
          </a:p>
        </p:txBody>
      </p:sp>
      <p:sp>
        <p:nvSpPr>
          <p:cNvPr id="40" name="gcell"/>
          <p:cNvSpPr txBox="1"/>
          <p:nvPr/>
        </p:nvSpPr>
        <p:spPr>
          <a:xfrm>
            <a:off x="8138160" y="26974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b[2]=30</a:t>
            </a:r>
            <a:endParaRPr lang="en-US" sz="1300" dirty="0"/>
          </a:p>
        </p:txBody>
      </p:sp>
      <p:sp>
        <p:nvSpPr>
          <p:cNvPr id="41" name="gcell"/>
          <p:cNvSpPr txBox="1"/>
          <p:nvPr/>
        </p:nvSpPr>
        <p:spPr>
          <a:xfrm>
            <a:off x="9326880" y="26974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b[3]=40</a:t>
            </a:r>
            <a:endParaRPr lang="en-US" sz="1300" dirty="0"/>
          </a:p>
        </p:txBody>
      </p:sp>
      <p:sp>
        <p:nvSpPr>
          <p:cNvPr id="42" name="gcell"/>
          <p:cNvSpPr txBox="1"/>
          <p:nvPr/>
        </p:nvSpPr>
        <p:spPr>
          <a:xfrm>
            <a:off x="5760720" y="31546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b[0]=10</a:t>
            </a:r>
            <a:endParaRPr lang="en-US" sz="1300" dirty="0"/>
          </a:p>
        </p:txBody>
      </p:sp>
      <p:sp>
        <p:nvSpPr>
          <p:cNvPr id="43" name="gcell"/>
          <p:cNvSpPr txBox="1"/>
          <p:nvPr/>
        </p:nvSpPr>
        <p:spPr>
          <a:xfrm>
            <a:off x="6949440" y="31546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b[1]=20</a:t>
            </a:r>
            <a:endParaRPr lang="en-US" sz="1300" dirty="0"/>
          </a:p>
        </p:txBody>
      </p:sp>
      <p:sp>
        <p:nvSpPr>
          <p:cNvPr id="44" name="gcell"/>
          <p:cNvSpPr txBox="1"/>
          <p:nvPr/>
        </p:nvSpPr>
        <p:spPr>
          <a:xfrm>
            <a:off x="8138160" y="31546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b[0]=10</a:t>
            </a:r>
            <a:endParaRPr lang="en-US" sz="1300" dirty="0"/>
          </a:p>
        </p:txBody>
      </p:sp>
      <p:sp>
        <p:nvSpPr>
          <p:cNvPr id="45" name="gcell"/>
          <p:cNvSpPr txBox="1"/>
          <p:nvPr/>
        </p:nvSpPr>
        <p:spPr>
          <a:xfrm>
            <a:off x="9326880" y="31546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b[1]=20</a:t>
            </a:r>
            <a:endParaRPr lang="en-US" sz="1300" dirty="0"/>
          </a:p>
        </p:txBody>
      </p:sp>
      <p:sp>
        <p:nvSpPr>
          <p:cNvPr id="46" name="gcell"/>
          <p:cNvSpPr txBox="1"/>
          <p:nvPr/>
        </p:nvSpPr>
        <p:spPr>
          <a:xfrm>
            <a:off x="5760720" y="36118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b[2]=30</a:t>
            </a:r>
            <a:endParaRPr lang="en-US" sz="1300" dirty="0"/>
          </a:p>
        </p:txBody>
      </p:sp>
      <p:sp>
        <p:nvSpPr>
          <p:cNvPr id="47" name="gcell"/>
          <p:cNvSpPr txBox="1"/>
          <p:nvPr/>
        </p:nvSpPr>
        <p:spPr>
          <a:xfrm>
            <a:off x="6949440" y="36118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b[3]=40</a:t>
            </a:r>
            <a:endParaRPr lang="en-US" sz="1300" dirty="0"/>
          </a:p>
        </p:txBody>
      </p:sp>
      <p:sp>
        <p:nvSpPr>
          <p:cNvPr id="48" name="gcell"/>
          <p:cNvSpPr txBox="1"/>
          <p:nvPr/>
        </p:nvSpPr>
        <p:spPr>
          <a:xfrm>
            <a:off x="8138160" y="36118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b[2]=30</a:t>
            </a:r>
            <a:endParaRPr lang="en-US" sz="1300" dirty="0"/>
          </a:p>
        </p:txBody>
      </p:sp>
      <p:sp>
        <p:nvSpPr>
          <p:cNvPr id="49" name="gcell"/>
          <p:cNvSpPr txBox="1"/>
          <p:nvPr/>
        </p:nvSpPr>
        <p:spPr>
          <a:xfrm>
            <a:off x="9326880" y="3611880"/>
            <a:ext cx="1188720" cy="457200"/>
          </a:xfrm>
          <a:prstGeom prst="rect">
            <a:avLst/>
          </a:prstGeom>
          <a:solidFill>
            <a:srgbClr val="FFFFFF"/>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b[3]=40</a:t>
            </a:r>
            <a:endParaRPr lang="en-US" sz="1300" dirty="0"/>
          </a:p>
        </p:txBody>
      </p:sp>
      <p:sp>
        <p:nvSpPr>
          <p:cNvPr id="50" name="glab"/>
          <p:cNvSpPr txBox="1"/>
          <p:nvPr/>
        </p:nvSpPr>
        <p:spPr>
          <a:xfrm>
            <a:off x="5715000" y="2002536"/>
            <a:ext cx="128016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51" name="glab"/>
          <p:cNvSpPr txBox="1"/>
          <p:nvPr/>
        </p:nvSpPr>
        <p:spPr>
          <a:xfrm>
            <a:off x="6903720" y="2002536"/>
            <a:ext cx="128016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52" name="glab"/>
          <p:cNvSpPr txBox="1"/>
          <p:nvPr/>
        </p:nvSpPr>
        <p:spPr>
          <a:xfrm>
            <a:off x="8092440" y="2002536"/>
            <a:ext cx="128016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r₂</a:t>
            </a:r>
            <a:endParaRPr lang="en-US" sz="1200" dirty="0"/>
          </a:p>
        </p:txBody>
      </p:sp>
      <p:sp>
        <p:nvSpPr>
          <p:cNvPr id="53" name="glab"/>
          <p:cNvSpPr txBox="1"/>
          <p:nvPr/>
        </p:nvSpPr>
        <p:spPr>
          <a:xfrm>
            <a:off x="9281160" y="2002536"/>
            <a:ext cx="128016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r₃</a:t>
            </a:r>
            <a:endParaRPr lang="en-US" sz="1200" dirty="0"/>
          </a:p>
        </p:txBody>
      </p:sp>
      <p:sp>
        <p:nvSpPr>
          <p:cNvPr id="54" name="glab"/>
          <p:cNvSpPr txBox="1"/>
          <p:nvPr/>
        </p:nvSpPr>
        <p:spPr>
          <a:xfrm>
            <a:off x="5303520" y="2240280"/>
            <a:ext cx="411480" cy="45720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55" name="glab"/>
          <p:cNvSpPr txBox="1"/>
          <p:nvPr/>
        </p:nvSpPr>
        <p:spPr>
          <a:xfrm>
            <a:off x="5303520" y="2697480"/>
            <a:ext cx="411480" cy="45720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56" name="glab"/>
          <p:cNvSpPr txBox="1"/>
          <p:nvPr/>
        </p:nvSpPr>
        <p:spPr>
          <a:xfrm>
            <a:off x="5303520" y="3154680"/>
            <a:ext cx="411480" cy="45720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t₂</a:t>
            </a:r>
            <a:endParaRPr lang="en-US" sz="1200" dirty="0"/>
          </a:p>
        </p:txBody>
      </p:sp>
      <p:sp>
        <p:nvSpPr>
          <p:cNvPr id="57" name="glab"/>
          <p:cNvSpPr txBox="1"/>
          <p:nvPr/>
        </p:nvSpPr>
        <p:spPr>
          <a:xfrm>
            <a:off x="5303520" y="3611880"/>
            <a:ext cx="411480" cy="45720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t₃</a:t>
            </a:r>
            <a:endParaRPr lang="en-US" sz="1200" dirty="0"/>
          </a:p>
        </p:txBody>
      </p:sp>
      <p:sp>
        <p:nvSpPr>
          <p:cNvPr id="58" name="gtitle"/>
          <p:cNvSpPr txBox="1"/>
          <p:nvPr/>
        </p:nvSpPr>
        <p:spPr>
          <a:xfrm>
            <a:off x="5577840" y="1728216"/>
            <a:ext cx="5120640" cy="256032"/>
          </a:xfrm>
          <a:prstGeom prst="rect">
            <a:avLst/>
          </a:prstGeom>
          <a:noFill/>
          <a:ln/>
        </p:spPr>
        <p:txBody>
          <a:bodyPr wrap="square" lIns="0" tIns="0" rIns="0" bIns="0" rtlCol="0" anchor="b"/>
          <a:lstStyle/>
          <a:p>
            <a:pPr algn="ctr" indent="0" marL="0">
              <a:buNone/>
            </a:pPr>
            <a:r>
              <a:rPr lang="en-US" sz="1200" b="1" dirty="0">
                <a:solidFill>
                  <a:srgbClr val="1E2A32"/>
                </a:solidFill>
                <a:latin typeface="Calibri" pitchFamily="34" charset="0"/>
                <a:ea typeface="Calibri" pitchFamily="34" charset="-122"/>
                <a:cs typeface="Calibri" pitchFamily="34" charset="-120"/>
              </a:rPr>
              <a:t>What each (thread, register) holds</a:t>
            </a:r>
            <a:endParaRPr lang="en-US" sz="1200" dirty="0"/>
          </a:p>
        </p:txBody>
      </p:sp>
      <p:sp>
        <p:nvSpPr>
          <p:cNvPr id="59" name="callout"/>
          <p:cNvSpPr/>
          <p:nvPr/>
        </p:nvSpPr>
        <p:spPr>
          <a:xfrm>
            <a:off x="502920" y="4160520"/>
            <a:ext cx="4754880" cy="777240"/>
          </a:xfrm>
          <a:prstGeom prst="roundRect">
            <a:avLst>
              <a:gd name="adj" fmla="val 9412"/>
            </a:avLst>
          </a:prstGeom>
          <a:solidFill>
            <a:srgbClr val="E3F2E4"/>
          </a:solidFill>
          <a:ln/>
        </p:spPr>
      </p:sp>
      <p:sp>
        <p:nvSpPr>
          <p:cNvPr id="60" name="callout-text"/>
          <p:cNvSpPr txBox="1"/>
          <p:nvPr/>
        </p:nvSpPr>
        <p:spPr>
          <a:xfrm>
            <a:off x="640080" y="4215384"/>
            <a:ext cx="4480560" cy="667512"/>
          </a:xfrm>
          <a:prstGeom prst="rect">
            <a:avLst/>
          </a:prstGeom>
          <a:noFill/>
          <a:ln/>
        </p:spPr>
        <p:txBody>
          <a:bodyPr wrap="square" lIns="0" tIns="0" rIns="0" bIns="0" rtlCol="0" anchor="ctr"/>
          <a:lstStyle/>
          <a:p>
            <a:pPr algn="l" indent="0" marL="0">
              <a:buNone/>
            </a:pPr>
            <a:r>
              <a:rPr lang="en-US" sz="1500" b="1" dirty="0">
                <a:solidFill>
                  <a:srgbClr val="2E7D32"/>
                </a:solidFill>
                <a:latin typeface="Calibri" pitchFamily="34" charset="0"/>
                <a:ea typeface="Calibri" pitchFamily="34" charset="-122"/>
                <a:cs typeface="Calibri" pitchFamily="34" charset="-120"/>
              </a:rPr>
              <a:t>Store:</a:t>
            </a:r>
            <a:r>
              <a:rPr lang="en-US" sz="1500" dirty="0">
                <a:solidFill>
                  <a:srgbClr val="2E7D32"/>
                </a:solidFill>
                <a:latin typeface="Calibri" pitchFamily="34" charset="0"/>
                <a:ea typeface="Calibri" pitchFamily="34" charset="-122"/>
                <a:cs typeface="Calibri" pitchFamily="34" charset="-120"/>
              </a:rPr>
              <a:t> only slots with r₁ = 0 and t₁ = 0 write → </a:t>
            </a:r>
            <a:r>
              <a:rPr lang="en-US" sz="1500" b="1" dirty="0">
                <a:solidFill>
                  <a:srgbClr val="2E7D32"/>
                </a:solidFill>
                <a:latin typeface="Calibri" pitchFamily="34" charset="0"/>
                <a:ea typeface="Calibri" pitchFamily="34" charset="-122"/>
                <a:cs typeface="Calibri" pitchFamily="34" charset="-120"/>
              </a:rPr>
              <a:t>4 writes instead of 16</a:t>
            </a:r>
            <a:r>
              <a:rPr lang="en-US" sz="1500" dirty="0">
                <a:solidFill>
                  <a:srgbClr val="2E7D32"/>
                </a:solidFill>
                <a:latin typeface="Calibri" pitchFamily="34" charset="0"/>
                <a:ea typeface="Calibri" pitchFamily="34" charset="-122"/>
                <a:cs typeface="Calibri" pitchFamily="34" charset="-120"/>
              </a:rPr>
              <a:t> (green).</a:t>
            </a:r>
            <a:endParaRPr lang="en-US" sz="1500" dirty="0"/>
          </a:p>
        </p:txBody>
      </p:sp>
      <p:sp>
        <p:nvSpPr>
          <p:cNvPr id="61" name="callout"/>
          <p:cNvSpPr/>
          <p:nvPr/>
        </p:nvSpPr>
        <p:spPr>
          <a:xfrm>
            <a:off x="502920" y="5074920"/>
            <a:ext cx="4754880" cy="777240"/>
          </a:xfrm>
          <a:prstGeom prst="roundRect">
            <a:avLst>
              <a:gd name="adj" fmla="val 9412"/>
            </a:avLst>
          </a:prstGeom>
          <a:solidFill>
            <a:srgbClr val="DDEFF1"/>
          </a:solidFill>
          <a:ln/>
        </p:spPr>
      </p:sp>
      <p:sp>
        <p:nvSpPr>
          <p:cNvPr id="62" name="callout-text"/>
          <p:cNvSpPr txBox="1"/>
          <p:nvPr/>
        </p:nvSpPr>
        <p:spPr>
          <a:xfrm>
            <a:off x="640080" y="5129784"/>
            <a:ext cx="4480560" cy="667512"/>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Reduce:</a:t>
            </a:r>
            <a:r>
              <a:rPr lang="en-US" sz="1500" dirty="0">
                <a:solidFill>
                  <a:srgbClr val="0A4F58"/>
                </a:solidFill>
                <a:latin typeface="Calibri" pitchFamily="34" charset="0"/>
                <a:ea typeface="Calibri" pitchFamily="34" charset="-122"/>
                <a:cs typeface="Calibri" pitchFamily="34" charset="-120"/>
              </a:rPr>
              <a:t> count each logical value once — the same mask tells codegen which copies to skip.</a:t>
            </a:r>
            <a:endParaRPr lang="en-US" sz="1500" dirty="0"/>
          </a:p>
        </p:txBody>
      </p:sp>
      <p:sp>
        <p:nvSpPr>
          <p:cNvPr id="63" name="Text 60"/>
          <p:cNvSpPr txBox="1"/>
          <p:nvPr/>
        </p:nvSpPr>
        <p:spPr>
          <a:xfrm>
            <a:off x="5760720" y="4297680"/>
            <a:ext cx="4754880" cy="5943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Paper: generic reductions on all tested layouts and up to 76% fewer shared-memory store instructions (Table 4).</a:t>
            </a:r>
            <a:endParaRPr lang="en-US" sz="1300" dirty="0"/>
          </a:p>
        </p:txBody>
      </p:sp>
      <p:sp>
        <p:nvSpPr>
          <p:cNvPr id="64" name="tag"/>
          <p:cNvSpPr txBox="1"/>
          <p:nvPr/>
        </p:nvSpPr>
        <p:spPr>
          <a:xfrm>
            <a:off x="576072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§5.2 · MIXED PRECISION: SOFTWARE EMULATION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MXFP4 scales: derive the scale layout by composition</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§5.2 “Software Emulation”, p. 139</a:t>
            </a:r>
            <a:endParaRPr lang="en-US" sz="1000" dirty="0"/>
          </a:p>
        </p:txBody>
      </p:sp>
      <p:sp>
        <p:nvSpPr>
          <p:cNvPr id="6" name="Text 3"/>
          <p:cNvSpPr txBox="1"/>
          <p:nvPr/>
        </p:nvSpPr>
        <p:spPr>
          <a:xfrm>
            <a:off x="502920" y="1234440"/>
            <a:ext cx="11201400" cy="59436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MXFP4: each group of </a:t>
            </a:r>
            <a:r>
              <a:rPr lang="en-US" sz="1500" b="1" dirty="0">
                <a:solidFill>
                  <a:srgbClr val="1E2A32"/>
                </a:solidFill>
                <a:latin typeface="Calibri" pitchFamily="34" charset="0"/>
                <a:ea typeface="Calibri" pitchFamily="34" charset="-122"/>
                <a:cs typeface="Calibri" pitchFamily="34" charset="-120"/>
              </a:rPr>
              <a:t>32</a:t>
            </a:r>
            <a:r>
              <a:rPr lang="en-US" sz="1500" dirty="0">
                <a:solidFill>
                  <a:srgbClr val="1E2A32"/>
                </a:solidFill>
                <a:latin typeface="Calibri" pitchFamily="34" charset="0"/>
                <a:ea typeface="Calibri" pitchFamily="34" charset="-122"/>
                <a:cs typeface="Calibri" pitchFamily="34" charset="-120"/>
              </a:rPr>
              <a:t> values shares one </a:t>
            </a:r>
            <a:r>
              <a:rPr lang="en-US" sz="1500" b="1" dirty="0">
                <a:solidFill>
                  <a:srgbClr val="1E2A32"/>
                </a:solidFill>
                <a:latin typeface="Calibri" pitchFamily="34" charset="0"/>
                <a:ea typeface="Calibri" pitchFamily="34" charset="-122"/>
                <a:cs typeface="Calibri" pitchFamily="34" charset="-120"/>
              </a:rPr>
              <a:t>8-bit scale</a:t>
            </a:r>
            <a:r>
              <a:rPr lang="en-US" sz="1500" dirty="0">
                <a:solidFill>
                  <a:srgbClr val="1E2A32"/>
                </a:solidFill>
                <a:latin typeface="Calibri" pitchFamily="34" charset="0"/>
                <a:ea typeface="Calibri" pitchFamily="34" charset="-122"/>
                <a:cs typeface="Calibri" pitchFamily="34" charset="-120"/>
              </a:rPr>
              <a:t>. Emulation: upcast mxfp4 → bf16 with the group’s scale; scales follow the value layout via </a:t>
            </a:r>
            <a:r>
              <a:rPr lang="en-US" sz="1500" b="1" dirty="0">
                <a:solidFill>
                  <a:srgbClr val="1E2A32"/>
                </a:solidFill>
                <a:latin typeface="Calibri" pitchFamily="34" charset="0"/>
                <a:ea typeface="Calibri" pitchFamily="34" charset="-122"/>
                <a:cs typeface="Calibri" pitchFamily="34" charset="-120"/>
              </a:rPr>
              <a:t>reshape / transpose / broadcast</a:t>
            </a:r>
            <a:r>
              <a:rPr lang="en-US" sz="1500" dirty="0">
                <a:solidFill>
                  <a:srgbClr val="1E2A32"/>
                </a:solidFill>
                <a:latin typeface="Calibri" pitchFamily="34" charset="0"/>
                <a:ea typeface="Calibri" pitchFamily="34" charset="-122"/>
                <a:cs typeface="Calibri" pitchFamily="34" charset="-120"/>
              </a:rPr>
              <a:t>.</a:t>
            </a:r>
            <a:endParaRPr lang="en-US" sz="1500" dirty="0"/>
          </a:p>
        </p:txBody>
      </p:sp>
      <p:sp>
        <p:nvSpPr>
          <p:cNvPr id="7" name="Text 4"/>
          <p:cNvSpPr txBox="1"/>
          <p:nvPr/>
        </p:nvSpPr>
        <p:spPr>
          <a:xfrm>
            <a:off x="502920" y="1828800"/>
            <a:ext cx="11201400" cy="320040"/>
          </a:xfrm>
          <a:prstGeom prst="rect">
            <a:avLst/>
          </a:prstGeom>
          <a:noFill/>
          <a:ln/>
        </p:spPr>
        <p:txBody>
          <a:bodyPr wrap="square" lIns="0" tIns="0" rIns="0" bIns="0" rtlCol="0" anchor="t"/>
          <a:lstStyle/>
          <a:p>
            <a:pPr indent="0" marL="0">
              <a:buNone/>
            </a:pPr>
            <a:r>
              <a:rPr lang="en-US" sz="1400" i="1" dirty="0">
                <a:solidFill>
                  <a:srgbClr val="5B6770"/>
                </a:solidFill>
                <a:latin typeface="Calibri" pitchFamily="34" charset="0"/>
                <a:ea typeface="Calibri" pitchFamily="34" charset="-122"/>
                <a:cs typeface="Calibri" pitchFamily="34" charset="-120"/>
              </a:rPr>
              <a:t>Conceptually: scales [M, K/32] → reshape [M, K/32, 1] → broadcast [M, K/32, 32] → reshape [M, K]</a:t>
            </a:r>
            <a:endParaRPr lang="en-US" sz="1400" dirty="0"/>
          </a:p>
        </p:txBody>
      </p:sp>
      <p:sp>
        <p:nvSpPr>
          <p:cNvPr id="8" name="mcell"/>
          <p:cNvSpPr txBox="1"/>
          <p:nvPr/>
        </p:nvSpPr>
        <p:spPr>
          <a:xfrm>
            <a:off x="1051560"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 name="mcell"/>
          <p:cNvSpPr txBox="1"/>
          <p:nvPr/>
        </p:nvSpPr>
        <p:spPr>
          <a:xfrm>
            <a:off x="1362456"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 name="mcell"/>
          <p:cNvSpPr txBox="1"/>
          <p:nvPr/>
        </p:nvSpPr>
        <p:spPr>
          <a:xfrm>
            <a:off x="1673352" y="256032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 name="mcell"/>
          <p:cNvSpPr txBox="1"/>
          <p:nvPr/>
        </p:nvSpPr>
        <p:spPr>
          <a:xfrm>
            <a:off x="1984248"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 name="mcell"/>
          <p:cNvSpPr txBox="1"/>
          <p:nvPr/>
        </p:nvSpPr>
        <p:spPr>
          <a:xfrm>
            <a:off x="1051560"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3" name="mcell"/>
          <p:cNvSpPr txBox="1"/>
          <p:nvPr/>
        </p:nvSpPr>
        <p:spPr>
          <a:xfrm>
            <a:off x="1362456"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 name="mcell"/>
          <p:cNvSpPr txBox="1"/>
          <p:nvPr/>
        </p:nvSpPr>
        <p:spPr>
          <a:xfrm>
            <a:off x="1673352"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 name="mcell"/>
          <p:cNvSpPr txBox="1"/>
          <p:nvPr/>
        </p:nvSpPr>
        <p:spPr>
          <a:xfrm>
            <a:off x="1984248" y="287121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6" name="mbr"/>
          <p:cNvSpPr/>
          <p:nvPr/>
        </p:nvSpPr>
        <p:spPr>
          <a:xfrm>
            <a:off x="1024128" y="2532888"/>
            <a:ext cx="0" cy="676656"/>
          </a:xfrm>
          <a:prstGeom prst="line">
            <a:avLst/>
          </a:prstGeom>
          <a:noFill/>
          <a:ln w="15875">
            <a:solidFill>
              <a:srgbClr val="1E2A32"/>
            </a:solidFill>
            <a:prstDash val="solid"/>
          </a:ln>
        </p:spPr>
      </p:sp>
      <p:sp>
        <p:nvSpPr>
          <p:cNvPr id="17" name="mbr"/>
          <p:cNvSpPr/>
          <p:nvPr/>
        </p:nvSpPr>
        <p:spPr>
          <a:xfrm>
            <a:off x="1024128" y="2532888"/>
            <a:ext cx="73152" cy="0"/>
          </a:xfrm>
          <a:prstGeom prst="line">
            <a:avLst/>
          </a:prstGeom>
          <a:noFill/>
          <a:ln w="15875">
            <a:solidFill>
              <a:srgbClr val="1E2A32"/>
            </a:solidFill>
            <a:prstDash val="solid"/>
          </a:ln>
        </p:spPr>
      </p:sp>
      <p:sp>
        <p:nvSpPr>
          <p:cNvPr id="18" name="mbr"/>
          <p:cNvSpPr/>
          <p:nvPr/>
        </p:nvSpPr>
        <p:spPr>
          <a:xfrm>
            <a:off x="1024128" y="3209544"/>
            <a:ext cx="73152" cy="0"/>
          </a:xfrm>
          <a:prstGeom prst="line">
            <a:avLst/>
          </a:prstGeom>
          <a:noFill/>
          <a:ln w="15875">
            <a:solidFill>
              <a:srgbClr val="1E2A32"/>
            </a:solidFill>
            <a:prstDash val="solid"/>
          </a:ln>
        </p:spPr>
      </p:sp>
      <p:sp>
        <p:nvSpPr>
          <p:cNvPr id="19" name="mbr"/>
          <p:cNvSpPr/>
          <p:nvPr/>
        </p:nvSpPr>
        <p:spPr>
          <a:xfrm>
            <a:off x="2322576" y="2532888"/>
            <a:ext cx="0" cy="676656"/>
          </a:xfrm>
          <a:prstGeom prst="line">
            <a:avLst/>
          </a:prstGeom>
          <a:noFill/>
          <a:ln w="15875">
            <a:solidFill>
              <a:srgbClr val="1E2A32"/>
            </a:solidFill>
            <a:prstDash val="solid"/>
          </a:ln>
        </p:spPr>
      </p:sp>
      <p:sp>
        <p:nvSpPr>
          <p:cNvPr id="20" name="mbr"/>
          <p:cNvSpPr/>
          <p:nvPr/>
        </p:nvSpPr>
        <p:spPr>
          <a:xfrm>
            <a:off x="2249424" y="2532888"/>
            <a:ext cx="73152" cy="0"/>
          </a:xfrm>
          <a:prstGeom prst="line">
            <a:avLst/>
          </a:prstGeom>
          <a:noFill/>
          <a:ln w="15875">
            <a:solidFill>
              <a:srgbClr val="1E2A32"/>
            </a:solidFill>
            <a:prstDash val="solid"/>
          </a:ln>
        </p:spPr>
      </p:sp>
      <p:sp>
        <p:nvSpPr>
          <p:cNvPr id="21" name="mbr"/>
          <p:cNvSpPr/>
          <p:nvPr/>
        </p:nvSpPr>
        <p:spPr>
          <a:xfrm>
            <a:off x="2249424" y="3209544"/>
            <a:ext cx="73152" cy="0"/>
          </a:xfrm>
          <a:prstGeom prst="line">
            <a:avLst/>
          </a:prstGeom>
          <a:noFill/>
          <a:ln w="15875">
            <a:solidFill>
              <a:srgbClr val="1E2A32"/>
            </a:solidFill>
            <a:prstDash val="solid"/>
          </a:ln>
        </p:spPr>
      </p:sp>
      <p:sp>
        <p:nvSpPr>
          <p:cNvPr id="22" name="mlab"/>
          <p:cNvSpPr txBox="1"/>
          <p:nvPr/>
        </p:nvSpPr>
        <p:spPr>
          <a:xfrm>
            <a:off x="1005840"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k₀</a:t>
            </a:r>
            <a:endParaRPr lang="en-US" sz="1000" dirty="0"/>
          </a:p>
        </p:txBody>
      </p:sp>
      <p:sp>
        <p:nvSpPr>
          <p:cNvPr id="23" name="mlab"/>
          <p:cNvSpPr txBox="1"/>
          <p:nvPr/>
        </p:nvSpPr>
        <p:spPr>
          <a:xfrm>
            <a:off x="1316736"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k₁</a:t>
            </a:r>
            <a:endParaRPr lang="en-US" sz="1000" dirty="0"/>
          </a:p>
        </p:txBody>
      </p:sp>
      <p:sp>
        <p:nvSpPr>
          <p:cNvPr id="24" name="mlab"/>
          <p:cNvSpPr txBox="1"/>
          <p:nvPr/>
        </p:nvSpPr>
        <p:spPr>
          <a:xfrm>
            <a:off x="1627632"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k₂</a:t>
            </a:r>
            <a:endParaRPr lang="en-US" sz="1000" dirty="0"/>
          </a:p>
        </p:txBody>
      </p:sp>
      <p:sp>
        <p:nvSpPr>
          <p:cNvPr id="25" name="mlab"/>
          <p:cNvSpPr txBox="1"/>
          <p:nvPr/>
        </p:nvSpPr>
        <p:spPr>
          <a:xfrm>
            <a:off x="1938528"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26" name="mlab"/>
          <p:cNvSpPr txBox="1"/>
          <p:nvPr/>
        </p:nvSpPr>
        <p:spPr>
          <a:xfrm>
            <a:off x="649224" y="2560320"/>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g₀</a:t>
            </a:r>
            <a:endParaRPr lang="en-US" sz="1000" dirty="0"/>
          </a:p>
        </p:txBody>
      </p:sp>
      <p:sp>
        <p:nvSpPr>
          <p:cNvPr id="27" name="mlab"/>
          <p:cNvSpPr txBox="1"/>
          <p:nvPr/>
        </p:nvSpPr>
        <p:spPr>
          <a:xfrm>
            <a:off x="649224" y="2871216"/>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28" name="mname"/>
          <p:cNvSpPr txBox="1"/>
          <p:nvPr/>
        </p:nvSpPr>
        <p:spPr>
          <a:xfrm>
            <a:off x="777240" y="3236976"/>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D (drop k₀,k₁)</a:t>
            </a:r>
            <a:endParaRPr lang="en-US" sz="1300" dirty="0"/>
          </a:p>
        </p:txBody>
      </p:sp>
      <p:sp>
        <p:nvSpPr>
          <p:cNvPr id="29" name="op"/>
          <p:cNvSpPr txBox="1"/>
          <p:nvPr/>
        </p:nvSpPr>
        <p:spPr>
          <a:xfrm>
            <a:off x="2340864" y="2834640"/>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30" name="mcell"/>
          <p:cNvSpPr txBox="1"/>
          <p:nvPr/>
        </p:nvSpPr>
        <p:spPr>
          <a:xfrm>
            <a:off x="3163824" y="2249424"/>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1" name="mcell"/>
          <p:cNvSpPr txBox="1"/>
          <p:nvPr/>
        </p:nvSpPr>
        <p:spPr>
          <a:xfrm>
            <a:off x="3474720" y="224942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2" name="mcell"/>
          <p:cNvSpPr txBox="1"/>
          <p:nvPr/>
        </p:nvSpPr>
        <p:spPr>
          <a:xfrm>
            <a:off x="3785616" y="224942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3" name="mcell"/>
          <p:cNvSpPr txBox="1"/>
          <p:nvPr/>
        </p:nvSpPr>
        <p:spPr>
          <a:xfrm>
            <a:off x="4096512" y="224942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4" name="mcell"/>
          <p:cNvSpPr txBox="1"/>
          <p:nvPr/>
        </p:nvSpPr>
        <p:spPr>
          <a:xfrm>
            <a:off x="3163824"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5" name="mcell"/>
          <p:cNvSpPr txBox="1"/>
          <p:nvPr/>
        </p:nvSpPr>
        <p:spPr>
          <a:xfrm>
            <a:off x="3474720" y="256032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36" name="mcell"/>
          <p:cNvSpPr txBox="1"/>
          <p:nvPr/>
        </p:nvSpPr>
        <p:spPr>
          <a:xfrm>
            <a:off x="3785616"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7" name="mcell"/>
          <p:cNvSpPr txBox="1"/>
          <p:nvPr/>
        </p:nvSpPr>
        <p:spPr>
          <a:xfrm>
            <a:off x="4096512"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8" name="mcell"/>
          <p:cNvSpPr txBox="1"/>
          <p:nvPr/>
        </p:nvSpPr>
        <p:spPr>
          <a:xfrm>
            <a:off x="3163824"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39" name="mcell"/>
          <p:cNvSpPr txBox="1"/>
          <p:nvPr/>
        </p:nvSpPr>
        <p:spPr>
          <a:xfrm>
            <a:off x="3474720"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0" name="mcell"/>
          <p:cNvSpPr txBox="1"/>
          <p:nvPr/>
        </p:nvSpPr>
        <p:spPr>
          <a:xfrm>
            <a:off x="3785616" y="287121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1" name="mcell"/>
          <p:cNvSpPr txBox="1"/>
          <p:nvPr/>
        </p:nvSpPr>
        <p:spPr>
          <a:xfrm>
            <a:off x="4096512"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2" name="mcell"/>
          <p:cNvSpPr txBox="1"/>
          <p:nvPr/>
        </p:nvSpPr>
        <p:spPr>
          <a:xfrm>
            <a:off x="3163824" y="318211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3" name="mcell"/>
          <p:cNvSpPr txBox="1"/>
          <p:nvPr/>
        </p:nvSpPr>
        <p:spPr>
          <a:xfrm>
            <a:off x="3474720" y="318211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4" name="mcell"/>
          <p:cNvSpPr txBox="1"/>
          <p:nvPr/>
        </p:nvSpPr>
        <p:spPr>
          <a:xfrm>
            <a:off x="3785616" y="318211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5" name="mcell"/>
          <p:cNvSpPr txBox="1"/>
          <p:nvPr/>
        </p:nvSpPr>
        <p:spPr>
          <a:xfrm>
            <a:off x="4096512" y="3182112"/>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6" name="mbr"/>
          <p:cNvSpPr/>
          <p:nvPr/>
        </p:nvSpPr>
        <p:spPr>
          <a:xfrm>
            <a:off x="3136392" y="2221992"/>
            <a:ext cx="0" cy="1298448"/>
          </a:xfrm>
          <a:prstGeom prst="line">
            <a:avLst/>
          </a:prstGeom>
          <a:noFill/>
          <a:ln w="15875">
            <a:solidFill>
              <a:srgbClr val="1E2A32"/>
            </a:solidFill>
            <a:prstDash val="solid"/>
          </a:ln>
        </p:spPr>
      </p:sp>
      <p:sp>
        <p:nvSpPr>
          <p:cNvPr id="47" name="mbr"/>
          <p:cNvSpPr/>
          <p:nvPr/>
        </p:nvSpPr>
        <p:spPr>
          <a:xfrm>
            <a:off x="3136392" y="2221992"/>
            <a:ext cx="73152" cy="0"/>
          </a:xfrm>
          <a:prstGeom prst="line">
            <a:avLst/>
          </a:prstGeom>
          <a:noFill/>
          <a:ln w="15875">
            <a:solidFill>
              <a:srgbClr val="1E2A32"/>
            </a:solidFill>
            <a:prstDash val="solid"/>
          </a:ln>
        </p:spPr>
      </p:sp>
      <p:sp>
        <p:nvSpPr>
          <p:cNvPr id="48" name="mbr"/>
          <p:cNvSpPr/>
          <p:nvPr/>
        </p:nvSpPr>
        <p:spPr>
          <a:xfrm>
            <a:off x="3136392" y="3520440"/>
            <a:ext cx="73152" cy="0"/>
          </a:xfrm>
          <a:prstGeom prst="line">
            <a:avLst/>
          </a:prstGeom>
          <a:noFill/>
          <a:ln w="15875">
            <a:solidFill>
              <a:srgbClr val="1E2A32"/>
            </a:solidFill>
            <a:prstDash val="solid"/>
          </a:ln>
        </p:spPr>
      </p:sp>
      <p:sp>
        <p:nvSpPr>
          <p:cNvPr id="49" name="mbr"/>
          <p:cNvSpPr/>
          <p:nvPr/>
        </p:nvSpPr>
        <p:spPr>
          <a:xfrm>
            <a:off x="4434840" y="2221992"/>
            <a:ext cx="0" cy="1298448"/>
          </a:xfrm>
          <a:prstGeom prst="line">
            <a:avLst/>
          </a:prstGeom>
          <a:noFill/>
          <a:ln w="15875">
            <a:solidFill>
              <a:srgbClr val="1E2A32"/>
            </a:solidFill>
            <a:prstDash val="solid"/>
          </a:ln>
        </p:spPr>
      </p:sp>
      <p:sp>
        <p:nvSpPr>
          <p:cNvPr id="50" name="mbr"/>
          <p:cNvSpPr/>
          <p:nvPr/>
        </p:nvSpPr>
        <p:spPr>
          <a:xfrm>
            <a:off x="4361688" y="2221992"/>
            <a:ext cx="73152" cy="0"/>
          </a:xfrm>
          <a:prstGeom prst="line">
            <a:avLst/>
          </a:prstGeom>
          <a:noFill/>
          <a:ln w="15875">
            <a:solidFill>
              <a:srgbClr val="1E2A32"/>
            </a:solidFill>
            <a:prstDash val="solid"/>
          </a:ln>
        </p:spPr>
      </p:sp>
      <p:sp>
        <p:nvSpPr>
          <p:cNvPr id="51" name="mbr"/>
          <p:cNvSpPr/>
          <p:nvPr/>
        </p:nvSpPr>
        <p:spPr>
          <a:xfrm>
            <a:off x="4361688" y="3520440"/>
            <a:ext cx="73152" cy="0"/>
          </a:xfrm>
          <a:prstGeom prst="line">
            <a:avLst/>
          </a:prstGeom>
          <a:noFill/>
          <a:ln w="15875">
            <a:solidFill>
              <a:srgbClr val="1E2A32"/>
            </a:solidFill>
            <a:prstDash val="solid"/>
          </a:ln>
        </p:spPr>
      </p:sp>
      <p:sp>
        <p:nvSpPr>
          <p:cNvPr id="52" name="mlab"/>
          <p:cNvSpPr txBox="1"/>
          <p:nvPr/>
        </p:nvSpPr>
        <p:spPr>
          <a:xfrm>
            <a:off x="3118104" y="201168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53" name="mlab"/>
          <p:cNvSpPr txBox="1"/>
          <p:nvPr/>
        </p:nvSpPr>
        <p:spPr>
          <a:xfrm>
            <a:off x="3429000" y="201168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54" name="mlab"/>
          <p:cNvSpPr txBox="1"/>
          <p:nvPr/>
        </p:nvSpPr>
        <p:spPr>
          <a:xfrm>
            <a:off x="3739896" y="201168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55" name="mlab"/>
          <p:cNvSpPr txBox="1"/>
          <p:nvPr/>
        </p:nvSpPr>
        <p:spPr>
          <a:xfrm>
            <a:off x="4050792" y="201168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56" name="mlab"/>
          <p:cNvSpPr txBox="1"/>
          <p:nvPr/>
        </p:nvSpPr>
        <p:spPr>
          <a:xfrm>
            <a:off x="2761488" y="2249424"/>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k₀</a:t>
            </a:r>
            <a:endParaRPr lang="en-US" sz="1000" dirty="0"/>
          </a:p>
        </p:txBody>
      </p:sp>
      <p:sp>
        <p:nvSpPr>
          <p:cNvPr id="57" name="mlab"/>
          <p:cNvSpPr txBox="1"/>
          <p:nvPr/>
        </p:nvSpPr>
        <p:spPr>
          <a:xfrm>
            <a:off x="2761488" y="2560320"/>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k₁</a:t>
            </a:r>
            <a:endParaRPr lang="en-US" sz="1000" dirty="0"/>
          </a:p>
        </p:txBody>
      </p:sp>
      <p:sp>
        <p:nvSpPr>
          <p:cNvPr id="58" name="mlab"/>
          <p:cNvSpPr txBox="1"/>
          <p:nvPr/>
        </p:nvSpPr>
        <p:spPr>
          <a:xfrm>
            <a:off x="2761488" y="2871216"/>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k₂</a:t>
            </a:r>
            <a:endParaRPr lang="en-US" sz="1000" dirty="0"/>
          </a:p>
        </p:txBody>
      </p:sp>
      <p:sp>
        <p:nvSpPr>
          <p:cNvPr id="59" name="mlab"/>
          <p:cNvSpPr txBox="1"/>
          <p:nvPr/>
        </p:nvSpPr>
        <p:spPr>
          <a:xfrm>
            <a:off x="2761488" y="3182112"/>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60" name="mname"/>
          <p:cNvSpPr txBox="1"/>
          <p:nvPr/>
        </p:nvSpPr>
        <p:spPr>
          <a:xfrm>
            <a:off x="2889504" y="3547872"/>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V (r₀,r₁ → k₀,k₁)</a:t>
            </a:r>
            <a:endParaRPr lang="en-US" sz="1300" dirty="0"/>
          </a:p>
        </p:txBody>
      </p:sp>
      <p:sp>
        <p:nvSpPr>
          <p:cNvPr id="61" name="op"/>
          <p:cNvSpPr txBox="1"/>
          <p:nvPr/>
        </p:nvSpPr>
        <p:spPr>
          <a:xfrm>
            <a:off x="4453128" y="283464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2" name="mcol"/>
          <p:cNvSpPr/>
          <p:nvPr/>
        </p:nvSpPr>
        <p:spPr>
          <a:xfrm>
            <a:off x="5138928" y="2560320"/>
            <a:ext cx="310896" cy="621792"/>
          </a:xfrm>
          <a:prstGeom prst="rect">
            <a:avLst/>
          </a:prstGeom>
          <a:solidFill>
            <a:srgbClr val="FFF0CC"/>
          </a:solidFill>
          <a:ln/>
        </p:spPr>
      </p:sp>
      <p:sp>
        <p:nvSpPr>
          <p:cNvPr id="63" name="mcol"/>
          <p:cNvSpPr/>
          <p:nvPr/>
        </p:nvSpPr>
        <p:spPr>
          <a:xfrm>
            <a:off x="5449824" y="2560320"/>
            <a:ext cx="310896" cy="621792"/>
          </a:xfrm>
          <a:prstGeom prst="rect">
            <a:avLst/>
          </a:prstGeom>
          <a:solidFill>
            <a:srgbClr val="FFF0CC"/>
          </a:solidFill>
          <a:ln/>
        </p:spPr>
      </p:sp>
      <p:sp>
        <p:nvSpPr>
          <p:cNvPr id="64" name="mcell"/>
          <p:cNvSpPr txBox="1"/>
          <p:nvPr/>
        </p:nvSpPr>
        <p:spPr>
          <a:xfrm>
            <a:off x="5138928"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5" name="mcell"/>
          <p:cNvSpPr txBox="1"/>
          <p:nvPr/>
        </p:nvSpPr>
        <p:spPr>
          <a:xfrm>
            <a:off x="5449824"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6" name="mcell"/>
          <p:cNvSpPr txBox="1"/>
          <p:nvPr/>
        </p:nvSpPr>
        <p:spPr>
          <a:xfrm>
            <a:off x="5760720" y="256032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7" name="mcell"/>
          <p:cNvSpPr txBox="1"/>
          <p:nvPr/>
        </p:nvSpPr>
        <p:spPr>
          <a:xfrm>
            <a:off x="6071616" y="256032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8" name="mcell"/>
          <p:cNvSpPr txBox="1"/>
          <p:nvPr/>
        </p:nvSpPr>
        <p:spPr>
          <a:xfrm>
            <a:off x="5138928"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9" name="mcell"/>
          <p:cNvSpPr txBox="1"/>
          <p:nvPr/>
        </p:nvSpPr>
        <p:spPr>
          <a:xfrm>
            <a:off x="5449824"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0" name="mcell"/>
          <p:cNvSpPr txBox="1"/>
          <p:nvPr/>
        </p:nvSpPr>
        <p:spPr>
          <a:xfrm>
            <a:off x="5760720" y="287121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71" name="mcell"/>
          <p:cNvSpPr txBox="1"/>
          <p:nvPr/>
        </p:nvSpPr>
        <p:spPr>
          <a:xfrm>
            <a:off x="6071616" y="287121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2" name="mbr"/>
          <p:cNvSpPr/>
          <p:nvPr/>
        </p:nvSpPr>
        <p:spPr>
          <a:xfrm>
            <a:off x="5111496" y="2532888"/>
            <a:ext cx="0" cy="676656"/>
          </a:xfrm>
          <a:prstGeom prst="line">
            <a:avLst/>
          </a:prstGeom>
          <a:noFill/>
          <a:ln w="15875">
            <a:solidFill>
              <a:srgbClr val="1E2A32"/>
            </a:solidFill>
            <a:prstDash val="solid"/>
          </a:ln>
        </p:spPr>
      </p:sp>
      <p:sp>
        <p:nvSpPr>
          <p:cNvPr id="73" name="mbr"/>
          <p:cNvSpPr/>
          <p:nvPr/>
        </p:nvSpPr>
        <p:spPr>
          <a:xfrm>
            <a:off x="5111496" y="2532888"/>
            <a:ext cx="73152" cy="0"/>
          </a:xfrm>
          <a:prstGeom prst="line">
            <a:avLst/>
          </a:prstGeom>
          <a:noFill/>
          <a:ln w="15875">
            <a:solidFill>
              <a:srgbClr val="1E2A32"/>
            </a:solidFill>
            <a:prstDash val="solid"/>
          </a:ln>
        </p:spPr>
      </p:sp>
      <p:sp>
        <p:nvSpPr>
          <p:cNvPr id="74" name="mbr"/>
          <p:cNvSpPr/>
          <p:nvPr/>
        </p:nvSpPr>
        <p:spPr>
          <a:xfrm>
            <a:off x="5111496" y="3209544"/>
            <a:ext cx="73152" cy="0"/>
          </a:xfrm>
          <a:prstGeom prst="line">
            <a:avLst/>
          </a:prstGeom>
          <a:noFill/>
          <a:ln w="15875">
            <a:solidFill>
              <a:srgbClr val="1E2A32"/>
            </a:solidFill>
            <a:prstDash val="solid"/>
          </a:ln>
        </p:spPr>
      </p:sp>
      <p:sp>
        <p:nvSpPr>
          <p:cNvPr id="75" name="mbr"/>
          <p:cNvSpPr/>
          <p:nvPr/>
        </p:nvSpPr>
        <p:spPr>
          <a:xfrm>
            <a:off x="6409944" y="2532888"/>
            <a:ext cx="0" cy="676656"/>
          </a:xfrm>
          <a:prstGeom prst="line">
            <a:avLst/>
          </a:prstGeom>
          <a:noFill/>
          <a:ln w="15875">
            <a:solidFill>
              <a:srgbClr val="1E2A32"/>
            </a:solidFill>
            <a:prstDash val="solid"/>
          </a:ln>
        </p:spPr>
      </p:sp>
      <p:sp>
        <p:nvSpPr>
          <p:cNvPr id="76" name="mbr"/>
          <p:cNvSpPr/>
          <p:nvPr/>
        </p:nvSpPr>
        <p:spPr>
          <a:xfrm>
            <a:off x="6336792" y="2532888"/>
            <a:ext cx="73152" cy="0"/>
          </a:xfrm>
          <a:prstGeom prst="line">
            <a:avLst/>
          </a:prstGeom>
          <a:noFill/>
          <a:ln w="15875">
            <a:solidFill>
              <a:srgbClr val="1E2A32"/>
            </a:solidFill>
            <a:prstDash val="solid"/>
          </a:ln>
        </p:spPr>
      </p:sp>
      <p:sp>
        <p:nvSpPr>
          <p:cNvPr id="77" name="mbr"/>
          <p:cNvSpPr/>
          <p:nvPr/>
        </p:nvSpPr>
        <p:spPr>
          <a:xfrm>
            <a:off x="6336792" y="3209544"/>
            <a:ext cx="73152" cy="0"/>
          </a:xfrm>
          <a:prstGeom prst="line">
            <a:avLst/>
          </a:prstGeom>
          <a:noFill/>
          <a:ln w="15875">
            <a:solidFill>
              <a:srgbClr val="1E2A32"/>
            </a:solidFill>
            <a:prstDash val="solid"/>
          </a:ln>
        </p:spPr>
      </p:sp>
      <p:sp>
        <p:nvSpPr>
          <p:cNvPr id="78" name="mlab"/>
          <p:cNvSpPr txBox="1"/>
          <p:nvPr/>
        </p:nvSpPr>
        <p:spPr>
          <a:xfrm>
            <a:off x="5093208"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79" name="mlab"/>
          <p:cNvSpPr txBox="1"/>
          <p:nvPr/>
        </p:nvSpPr>
        <p:spPr>
          <a:xfrm>
            <a:off x="5404104"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80" name="mlab"/>
          <p:cNvSpPr txBox="1"/>
          <p:nvPr/>
        </p:nvSpPr>
        <p:spPr>
          <a:xfrm>
            <a:off x="5715000"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81" name="mlab"/>
          <p:cNvSpPr txBox="1"/>
          <p:nvPr/>
        </p:nvSpPr>
        <p:spPr>
          <a:xfrm>
            <a:off x="6025896" y="232257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82" name="mlab"/>
          <p:cNvSpPr txBox="1"/>
          <p:nvPr/>
        </p:nvSpPr>
        <p:spPr>
          <a:xfrm>
            <a:off x="4736592" y="2560320"/>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g₀</a:t>
            </a:r>
            <a:endParaRPr lang="en-US" sz="1000" dirty="0"/>
          </a:p>
        </p:txBody>
      </p:sp>
      <p:sp>
        <p:nvSpPr>
          <p:cNvPr id="83" name="mlab"/>
          <p:cNvSpPr txBox="1"/>
          <p:nvPr/>
        </p:nvSpPr>
        <p:spPr>
          <a:xfrm>
            <a:off x="4736592" y="2871216"/>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84" name="mname"/>
          <p:cNvSpPr txBox="1"/>
          <p:nvPr/>
        </p:nvSpPr>
        <p:spPr>
          <a:xfrm>
            <a:off x="4864608" y="3236976"/>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scale layout</a:t>
            </a:r>
            <a:endParaRPr lang="en-US" sz="1300" dirty="0"/>
          </a:p>
        </p:txBody>
      </p:sp>
      <p:sp>
        <p:nvSpPr>
          <p:cNvPr id="85" name="callout"/>
          <p:cNvSpPr/>
          <p:nvPr/>
        </p:nvSpPr>
        <p:spPr>
          <a:xfrm>
            <a:off x="6748272" y="2286000"/>
            <a:ext cx="4956048" cy="1051560"/>
          </a:xfrm>
          <a:prstGeom prst="roundRect">
            <a:avLst>
              <a:gd name="adj" fmla="val 6957"/>
            </a:avLst>
          </a:prstGeom>
          <a:solidFill>
            <a:srgbClr val="DDEFF1"/>
          </a:solidFill>
          <a:ln/>
        </p:spPr>
      </p:sp>
      <p:sp>
        <p:nvSpPr>
          <p:cNvPr id="86" name="callout-text"/>
          <p:cNvSpPr txBox="1"/>
          <p:nvPr/>
        </p:nvSpPr>
        <p:spPr>
          <a:xfrm>
            <a:off x="6885432" y="2340864"/>
            <a:ext cx="4681728" cy="94183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Zero cols </a:t>
            </a:r>
            <a:r>
              <a:rPr lang="en-US" sz="1400" b="1" dirty="0">
                <a:solidFill>
                  <a:srgbClr val="0A4F58"/>
                </a:solidFill>
                <a:latin typeface="Calibri" pitchFamily="34" charset="0"/>
                <a:ea typeface="Calibri" pitchFamily="34" charset="-122"/>
                <a:cs typeface="Calibri" pitchFamily="34" charset="-120"/>
              </a:rPr>
              <a:t>r₀, r₁</a:t>
            </a:r>
            <a:r>
              <a:rPr lang="en-US" sz="1400" dirty="0">
                <a:solidFill>
                  <a:srgbClr val="0A4F58"/>
                </a:solidFill>
                <a:latin typeface="Calibri" pitchFamily="34" charset="0"/>
                <a:ea typeface="Calibri" pitchFamily="34" charset="-122"/>
                <a:cs typeface="Calibri" pitchFamily="34" charset="-120"/>
              </a:rPr>
              <a:t>: all 4 registers of a thread share </a:t>
            </a:r>
            <a:r>
              <a:rPr lang="en-US" sz="1400" b="1" dirty="0">
                <a:solidFill>
                  <a:srgbClr val="0A4F58"/>
                </a:solidFill>
                <a:latin typeface="Calibri" pitchFamily="34" charset="0"/>
                <a:ea typeface="Calibri" pitchFamily="34" charset="-122"/>
                <a:cs typeface="Calibri" pitchFamily="34" charset="-120"/>
              </a:rPr>
              <a:t>one scale</a:t>
            </a:r>
            <a:r>
              <a:rPr lang="en-US" sz="1400" dirty="0">
                <a:solidFill>
                  <a:srgbClr val="0A4F58"/>
                </a:solidFill>
                <a:latin typeface="Calibri" pitchFamily="34" charset="0"/>
                <a:ea typeface="Calibri" pitchFamily="34" charset="-122"/>
                <a:cs typeface="Calibri" pitchFamily="34" charset="-120"/>
              </a:rPr>
              <a:t> → load once, broadcast in registers.</a:t>
            </a:r>
            <a:endParaRPr lang="en-US" sz="1400" dirty="0"/>
          </a:p>
        </p:txBody>
      </p:sp>
      <p:sp>
        <p:nvSpPr>
          <p:cNvPr id="87" name="mcell"/>
          <p:cNvSpPr txBox="1"/>
          <p:nvPr/>
        </p:nvSpPr>
        <p:spPr>
          <a:xfrm>
            <a:off x="1051560"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8" name="mcell"/>
          <p:cNvSpPr txBox="1"/>
          <p:nvPr/>
        </p:nvSpPr>
        <p:spPr>
          <a:xfrm>
            <a:off x="1362456"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9" name="mcell"/>
          <p:cNvSpPr txBox="1"/>
          <p:nvPr/>
        </p:nvSpPr>
        <p:spPr>
          <a:xfrm>
            <a:off x="1673352" y="443484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0" name="mcell"/>
          <p:cNvSpPr txBox="1"/>
          <p:nvPr/>
        </p:nvSpPr>
        <p:spPr>
          <a:xfrm>
            <a:off x="1984248"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1" name="mcell"/>
          <p:cNvSpPr txBox="1"/>
          <p:nvPr/>
        </p:nvSpPr>
        <p:spPr>
          <a:xfrm>
            <a:off x="1051560"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2" name="mcell"/>
          <p:cNvSpPr txBox="1"/>
          <p:nvPr/>
        </p:nvSpPr>
        <p:spPr>
          <a:xfrm>
            <a:off x="1362456"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3" name="mcell"/>
          <p:cNvSpPr txBox="1"/>
          <p:nvPr/>
        </p:nvSpPr>
        <p:spPr>
          <a:xfrm>
            <a:off x="1673352"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4" name="mcell"/>
          <p:cNvSpPr txBox="1"/>
          <p:nvPr/>
        </p:nvSpPr>
        <p:spPr>
          <a:xfrm>
            <a:off x="1984248" y="474573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5" name="mbr"/>
          <p:cNvSpPr/>
          <p:nvPr/>
        </p:nvSpPr>
        <p:spPr>
          <a:xfrm>
            <a:off x="1024128" y="4407408"/>
            <a:ext cx="0" cy="676656"/>
          </a:xfrm>
          <a:prstGeom prst="line">
            <a:avLst/>
          </a:prstGeom>
          <a:noFill/>
          <a:ln w="15875">
            <a:solidFill>
              <a:srgbClr val="1E2A32"/>
            </a:solidFill>
            <a:prstDash val="solid"/>
          </a:ln>
        </p:spPr>
      </p:sp>
      <p:sp>
        <p:nvSpPr>
          <p:cNvPr id="96" name="mbr"/>
          <p:cNvSpPr/>
          <p:nvPr/>
        </p:nvSpPr>
        <p:spPr>
          <a:xfrm>
            <a:off x="1024128" y="4407408"/>
            <a:ext cx="73152" cy="0"/>
          </a:xfrm>
          <a:prstGeom prst="line">
            <a:avLst/>
          </a:prstGeom>
          <a:noFill/>
          <a:ln w="15875">
            <a:solidFill>
              <a:srgbClr val="1E2A32"/>
            </a:solidFill>
            <a:prstDash val="solid"/>
          </a:ln>
        </p:spPr>
      </p:sp>
      <p:sp>
        <p:nvSpPr>
          <p:cNvPr id="97" name="mbr"/>
          <p:cNvSpPr/>
          <p:nvPr/>
        </p:nvSpPr>
        <p:spPr>
          <a:xfrm>
            <a:off x="1024128" y="5084064"/>
            <a:ext cx="73152" cy="0"/>
          </a:xfrm>
          <a:prstGeom prst="line">
            <a:avLst/>
          </a:prstGeom>
          <a:noFill/>
          <a:ln w="15875">
            <a:solidFill>
              <a:srgbClr val="1E2A32"/>
            </a:solidFill>
            <a:prstDash val="solid"/>
          </a:ln>
        </p:spPr>
      </p:sp>
      <p:sp>
        <p:nvSpPr>
          <p:cNvPr id="98" name="mbr"/>
          <p:cNvSpPr/>
          <p:nvPr/>
        </p:nvSpPr>
        <p:spPr>
          <a:xfrm>
            <a:off x="2322576" y="4407408"/>
            <a:ext cx="0" cy="676656"/>
          </a:xfrm>
          <a:prstGeom prst="line">
            <a:avLst/>
          </a:prstGeom>
          <a:noFill/>
          <a:ln w="15875">
            <a:solidFill>
              <a:srgbClr val="1E2A32"/>
            </a:solidFill>
            <a:prstDash val="solid"/>
          </a:ln>
        </p:spPr>
      </p:sp>
      <p:sp>
        <p:nvSpPr>
          <p:cNvPr id="99" name="mbr"/>
          <p:cNvSpPr/>
          <p:nvPr/>
        </p:nvSpPr>
        <p:spPr>
          <a:xfrm>
            <a:off x="2249424" y="4407408"/>
            <a:ext cx="73152" cy="0"/>
          </a:xfrm>
          <a:prstGeom prst="line">
            <a:avLst/>
          </a:prstGeom>
          <a:noFill/>
          <a:ln w="15875">
            <a:solidFill>
              <a:srgbClr val="1E2A32"/>
            </a:solidFill>
            <a:prstDash val="solid"/>
          </a:ln>
        </p:spPr>
      </p:sp>
      <p:sp>
        <p:nvSpPr>
          <p:cNvPr id="100" name="mbr"/>
          <p:cNvSpPr/>
          <p:nvPr/>
        </p:nvSpPr>
        <p:spPr>
          <a:xfrm>
            <a:off x="2249424" y="5084064"/>
            <a:ext cx="73152" cy="0"/>
          </a:xfrm>
          <a:prstGeom prst="line">
            <a:avLst/>
          </a:prstGeom>
          <a:noFill/>
          <a:ln w="15875">
            <a:solidFill>
              <a:srgbClr val="1E2A32"/>
            </a:solidFill>
            <a:prstDash val="solid"/>
          </a:ln>
        </p:spPr>
      </p:sp>
      <p:sp>
        <p:nvSpPr>
          <p:cNvPr id="101" name="mlab"/>
          <p:cNvSpPr txBox="1"/>
          <p:nvPr/>
        </p:nvSpPr>
        <p:spPr>
          <a:xfrm>
            <a:off x="1005840"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k₀</a:t>
            </a:r>
            <a:endParaRPr lang="en-US" sz="1000" dirty="0"/>
          </a:p>
        </p:txBody>
      </p:sp>
      <p:sp>
        <p:nvSpPr>
          <p:cNvPr id="102" name="mlab"/>
          <p:cNvSpPr txBox="1"/>
          <p:nvPr/>
        </p:nvSpPr>
        <p:spPr>
          <a:xfrm>
            <a:off x="1316736"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k₁</a:t>
            </a:r>
            <a:endParaRPr lang="en-US" sz="1000" dirty="0"/>
          </a:p>
        </p:txBody>
      </p:sp>
      <p:sp>
        <p:nvSpPr>
          <p:cNvPr id="103" name="mlab"/>
          <p:cNvSpPr txBox="1"/>
          <p:nvPr/>
        </p:nvSpPr>
        <p:spPr>
          <a:xfrm>
            <a:off x="1627632"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k₂</a:t>
            </a:r>
            <a:endParaRPr lang="en-US" sz="1000" dirty="0"/>
          </a:p>
        </p:txBody>
      </p:sp>
      <p:sp>
        <p:nvSpPr>
          <p:cNvPr id="104" name="mlab"/>
          <p:cNvSpPr txBox="1"/>
          <p:nvPr/>
        </p:nvSpPr>
        <p:spPr>
          <a:xfrm>
            <a:off x="1938528"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105" name="mlab"/>
          <p:cNvSpPr txBox="1"/>
          <p:nvPr/>
        </p:nvSpPr>
        <p:spPr>
          <a:xfrm>
            <a:off x="649224" y="4434840"/>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g₀</a:t>
            </a:r>
            <a:endParaRPr lang="en-US" sz="1000" dirty="0"/>
          </a:p>
        </p:txBody>
      </p:sp>
      <p:sp>
        <p:nvSpPr>
          <p:cNvPr id="106" name="mlab"/>
          <p:cNvSpPr txBox="1"/>
          <p:nvPr/>
        </p:nvSpPr>
        <p:spPr>
          <a:xfrm>
            <a:off x="649224" y="4745736"/>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107" name="mname"/>
          <p:cNvSpPr txBox="1"/>
          <p:nvPr/>
        </p:nvSpPr>
        <p:spPr>
          <a:xfrm>
            <a:off x="777240" y="5111496"/>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D (drop k₀,k₁)</a:t>
            </a:r>
            <a:endParaRPr lang="en-US" sz="1300" dirty="0"/>
          </a:p>
        </p:txBody>
      </p:sp>
      <p:sp>
        <p:nvSpPr>
          <p:cNvPr id="108" name="op"/>
          <p:cNvSpPr txBox="1"/>
          <p:nvPr/>
        </p:nvSpPr>
        <p:spPr>
          <a:xfrm>
            <a:off x="2340864" y="4709160"/>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109" name="mcell"/>
          <p:cNvSpPr txBox="1"/>
          <p:nvPr/>
        </p:nvSpPr>
        <p:spPr>
          <a:xfrm>
            <a:off x="3163824" y="4123944"/>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0" name="mcell"/>
          <p:cNvSpPr txBox="1"/>
          <p:nvPr/>
        </p:nvSpPr>
        <p:spPr>
          <a:xfrm>
            <a:off x="3474720" y="412394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1" name="mcell"/>
          <p:cNvSpPr txBox="1"/>
          <p:nvPr/>
        </p:nvSpPr>
        <p:spPr>
          <a:xfrm>
            <a:off x="3785616" y="412394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2" name="mcell"/>
          <p:cNvSpPr txBox="1"/>
          <p:nvPr/>
        </p:nvSpPr>
        <p:spPr>
          <a:xfrm>
            <a:off x="4096512" y="4123944"/>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3" name="mcell"/>
          <p:cNvSpPr txBox="1"/>
          <p:nvPr/>
        </p:nvSpPr>
        <p:spPr>
          <a:xfrm>
            <a:off x="3163824"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4" name="mcell"/>
          <p:cNvSpPr txBox="1"/>
          <p:nvPr/>
        </p:nvSpPr>
        <p:spPr>
          <a:xfrm>
            <a:off x="3474720"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5" name="mcell"/>
          <p:cNvSpPr txBox="1"/>
          <p:nvPr/>
        </p:nvSpPr>
        <p:spPr>
          <a:xfrm>
            <a:off x="3785616" y="443484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6" name="mcell"/>
          <p:cNvSpPr txBox="1"/>
          <p:nvPr/>
        </p:nvSpPr>
        <p:spPr>
          <a:xfrm>
            <a:off x="4096512"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7" name="mcell"/>
          <p:cNvSpPr txBox="1"/>
          <p:nvPr/>
        </p:nvSpPr>
        <p:spPr>
          <a:xfrm>
            <a:off x="3163824"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8" name="mcell"/>
          <p:cNvSpPr txBox="1"/>
          <p:nvPr/>
        </p:nvSpPr>
        <p:spPr>
          <a:xfrm>
            <a:off x="3474720" y="474573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19" name="mcell"/>
          <p:cNvSpPr txBox="1"/>
          <p:nvPr/>
        </p:nvSpPr>
        <p:spPr>
          <a:xfrm>
            <a:off x="3785616"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0" name="mcell"/>
          <p:cNvSpPr txBox="1"/>
          <p:nvPr/>
        </p:nvSpPr>
        <p:spPr>
          <a:xfrm>
            <a:off x="4096512"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1" name="mcell"/>
          <p:cNvSpPr txBox="1"/>
          <p:nvPr/>
        </p:nvSpPr>
        <p:spPr>
          <a:xfrm>
            <a:off x="3163824" y="505663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2" name="mcell"/>
          <p:cNvSpPr txBox="1"/>
          <p:nvPr/>
        </p:nvSpPr>
        <p:spPr>
          <a:xfrm>
            <a:off x="3474720" y="505663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3" name="mcell"/>
          <p:cNvSpPr txBox="1"/>
          <p:nvPr/>
        </p:nvSpPr>
        <p:spPr>
          <a:xfrm>
            <a:off x="3785616" y="5056632"/>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4" name="mcell"/>
          <p:cNvSpPr txBox="1"/>
          <p:nvPr/>
        </p:nvSpPr>
        <p:spPr>
          <a:xfrm>
            <a:off x="4096512" y="5056632"/>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25" name="mbr"/>
          <p:cNvSpPr/>
          <p:nvPr/>
        </p:nvSpPr>
        <p:spPr>
          <a:xfrm>
            <a:off x="3136392" y="4096512"/>
            <a:ext cx="0" cy="1298448"/>
          </a:xfrm>
          <a:prstGeom prst="line">
            <a:avLst/>
          </a:prstGeom>
          <a:noFill/>
          <a:ln w="15875">
            <a:solidFill>
              <a:srgbClr val="1E2A32"/>
            </a:solidFill>
            <a:prstDash val="solid"/>
          </a:ln>
        </p:spPr>
      </p:sp>
      <p:sp>
        <p:nvSpPr>
          <p:cNvPr id="126" name="mbr"/>
          <p:cNvSpPr/>
          <p:nvPr/>
        </p:nvSpPr>
        <p:spPr>
          <a:xfrm>
            <a:off x="3136392" y="4096512"/>
            <a:ext cx="73152" cy="0"/>
          </a:xfrm>
          <a:prstGeom prst="line">
            <a:avLst/>
          </a:prstGeom>
          <a:noFill/>
          <a:ln w="15875">
            <a:solidFill>
              <a:srgbClr val="1E2A32"/>
            </a:solidFill>
            <a:prstDash val="solid"/>
          </a:ln>
        </p:spPr>
      </p:sp>
      <p:sp>
        <p:nvSpPr>
          <p:cNvPr id="127" name="mbr"/>
          <p:cNvSpPr/>
          <p:nvPr/>
        </p:nvSpPr>
        <p:spPr>
          <a:xfrm>
            <a:off x="3136392" y="5394960"/>
            <a:ext cx="73152" cy="0"/>
          </a:xfrm>
          <a:prstGeom prst="line">
            <a:avLst/>
          </a:prstGeom>
          <a:noFill/>
          <a:ln w="15875">
            <a:solidFill>
              <a:srgbClr val="1E2A32"/>
            </a:solidFill>
            <a:prstDash val="solid"/>
          </a:ln>
        </p:spPr>
      </p:sp>
      <p:sp>
        <p:nvSpPr>
          <p:cNvPr id="128" name="mbr"/>
          <p:cNvSpPr/>
          <p:nvPr/>
        </p:nvSpPr>
        <p:spPr>
          <a:xfrm>
            <a:off x="4434840" y="4096512"/>
            <a:ext cx="0" cy="1298448"/>
          </a:xfrm>
          <a:prstGeom prst="line">
            <a:avLst/>
          </a:prstGeom>
          <a:noFill/>
          <a:ln w="15875">
            <a:solidFill>
              <a:srgbClr val="1E2A32"/>
            </a:solidFill>
            <a:prstDash val="solid"/>
          </a:ln>
        </p:spPr>
      </p:sp>
      <p:sp>
        <p:nvSpPr>
          <p:cNvPr id="129" name="mbr"/>
          <p:cNvSpPr/>
          <p:nvPr/>
        </p:nvSpPr>
        <p:spPr>
          <a:xfrm>
            <a:off x="4361688" y="4096512"/>
            <a:ext cx="73152" cy="0"/>
          </a:xfrm>
          <a:prstGeom prst="line">
            <a:avLst/>
          </a:prstGeom>
          <a:noFill/>
          <a:ln w="15875">
            <a:solidFill>
              <a:srgbClr val="1E2A32"/>
            </a:solidFill>
            <a:prstDash val="solid"/>
          </a:ln>
        </p:spPr>
      </p:sp>
      <p:sp>
        <p:nvSpPr>
          <p:cNvPr id="130" name="mbr"/>
          <p:cNvSpPr/>
          <p:nvPr/>
        </p:nvSpPr>
        <p:spPr>
          <a:xfrm>
            <a:off x="4361688" y="5394960"/>
            <a:ext cx="73152" cy="0"/>
          </a:xfrm>
          <a:prstGeom prst="line">
            <a:avLst/>
          </a:prstGeom>
          <a:noFill/>
          <a:ln w="15875">
            <a:solidFill>
              <a:srgbClr val="1E2A32"/>
            </a:solidFill>
            <a:prstDash val="solid"/>
          </a:ln>
        </p:spPr>
      </p:sp>
      <p:sp>
        <p:nvSpPr>
          <p:cNvPr id="131" name="mlab"/>
          <p:cNvSpPr txBox="1"/>
          <p:nvPr/>
        </p:nvSpPr>
        <p:spPr>
          <a:xfrm>
            <a:off x="3118104" y="388620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132" name="mlab"/>
          <p:cNvSpPr txBox="1"/>
          <p:nvPr/>
        </p:nvSpPr>
        <p:spPr>
          <a:xfrm>
            <a:off x="3429000" y="388620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133" name="mlab"/>
          <p:cNvSpPr txBox="1"/>
          <p:nvPr/>
        </p:nvSpPr>
        <p:spPr>
          <a:xfrm>
            <a:off x="3739896" y="388620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34" name="mlab"/>
          <p:cNvSpPr txBox="1"/>
          <p:nvPr/>
        </p:nvSpPr>
        <p:spPr>
          <a:xfrm>
            <a:off x="4050792" y="3886200"/>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35" name="mlab"/>
          <p:cNvSpPr txBox="1"/>
          <p:nvPr/>
        </p:nvSpPr>
        <p:spPr>
          <a:xfrm>
            <a:off x="2761488" y="4123944"/>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k₀</a:t>
            </a:r>
            <a:endParaRPr lang="en-US" sz="1000" dirty="0"/>
          </a:p>
        </p:txBody>
      </p:sp>
      <p:sp>
        <p:nvSpPr>
          <p:cNvPr id="136" name="mlab"/>
          <p:cNvSpPr txBox="1"/>
          <p:nvPr/>
        </p:nvSpPr>
        <p:spPr>
          <a:xfrm>
            <a:off x="2761488" y="4434840"/>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k₁</a:t>
            </a:r>
            <a:endParaRPr lang="en-US" sz="1000" dirty="0"/>
          </a:p>
        </p:txBody>
      </p:sp>
      <p:sp>
        <p:nvSpPr>
          <p:cNvPr id="137" name="mlab"/>
          <p:cNvSpPr txBox="1"/>
          <p:nvPr/>
        </p:nvSpPr>
        <p:spPr>
          <a:xfrm>
            <a:off x="2761488" y="4745736"/>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k₂</a:t>
            </a:r>
            <a:endParaRPr lang="en-US" sz="1000" dirty="0"/>
          </a:p>
        </p:txBody>
      </p:sp>
      <p:sp>
        <p:nvSpPr>
          <p:cNvPr id="138" name="mlab"/>
          <p:cNvSpPr txBox="1"/>
          <p:nvPr/>
        </p:nvSpPr>
        <p:spPr>
          <a:xfrm>
            <a:off x="2761488" y="5056632"/>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139" name="mname"/>
          <p:cNvSpPr txBox="1"/>
          <p:nvPr/>
        </p:nvSpPr>
        <p:spPr>
          <a:xfrm>
            <a:off x="2889504" y="5422392"/>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V′ (t₀ → k₁)</a:t>
            </a:r>
            <a:endParaRPr lang="en-US" sz="1300" dirty="0"/>
          </a:p>
        </p:txBody>
      </p:sp>
      <p:sp>
        <p:nvSpPr>
          <p:cNvPr id="140" name="op"/>
          <p:cNvSpPr txBox="1"/>
          <p:nvPr/>
        </p:nvSpPr>
        <p:spPr>
          <a:xfrm>
            <a:off x="4453128" y="470916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41" name="mcol"/>
          <p:cNvSpPr/>
          <p:nvPr/>
        </p:nvSpPr>
        <p:spPr>
          <a:xfrm>
            <a:off x="5138928" y="4434840"/>
            <a:ext cx="310896" cy="621792"/>
          </a:xfrm>
          <a:prstGeom prst="rect">
            <a:avLst/>
          </a:prstGeom>
          <a:solidFill>
            <a:srgbClr val="FFF0CC"/>
          </a:solidFill>
          <a:ln/>
        </p:spPr>
      </p:sp>
      <p:sp>
        <p:nvSpPr>
          <p:cNvPr id="142" name="mcol"/>
          <p:cNvSpPr/>
          <p:nvPr/>
        </p:nvSpPr>
        <p:spPr>
          <a:xfrm>
            <a:off x="5760720" y="4434840"/>
            <a:ext cx="310896" cy="621792"/>
          </a:xfrm>
          <a:prstGeom prst="rect">
            <a:avLst/>
          </a:prstGeom>
          <a:solidFill>
            <a:srgbClr val="FFF0CC"/>
          </a:solidFill>
          <a:ln/>
        </p:spPr>
      </p:sp>
      <p:sp>
        <p:nvSpPr>
          <p:cNvPr id="143" name="mcell"/>
          <p:cNvSpPr txBox="1"/>
          <p:nvPr/>
        </p:nvSpPr>
        <p:spPr>
          <a:xfrm>
            <a:off x="5138928"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4" name="mcell"/>
          <p:cNvSpPr txBox="1"/>
          <p:nvPr/>
        </p:nvSpPr>
        <p:spPr>
          <a:xfrm>
            <a:off x="5449824" y="4434840"/>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45" name="mcell"/>
          <p:cNvSpPr txBox="1"/>
          <p:nvPr/>
        </p:nvSpPr>
        <p:spPr>
          <a:xfrm>
            <a:off x="5760720"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6" name="mcell"/>
          <p:cNvSpPr txBox="1"/>
          <p:nvPr/>
        </p:nvSpPr>
        <p:spPr>
          <a:xfrm>
            <a:off x="6071616" y="4434840"/>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7" name="mcell"/>
          <p:cNvSpPr txBox="1"/>
          <p:nvPr/>
        </p:nvSpPr>
        <p:spPr>
          <a:xfrm>
            <a:off x="5138928"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8" name="mcell"/>
          <p:cNvSpPr txBox="1"/>
          <p:nvPr/>
        </p:nvSpPr>
        <p:spPr>
          <a:xfrm>
            <a:off x="5449824"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9" name="mcell"/>
          <p:cNvSpPr txBox="1"/>
          <p:nvPr/>
        </p:nvSpPr>
        <p:spPr>
          <a:xfrm>
            <a:off x="5760720" y="4745736"/>
            <a:ext cx="310896" cy="310896"/>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0" name="mcell"/>
          <p:cNvSpPr txBox="1"/>
          <p:nvPr/>
        </p:nvSpPr>
        <p:spPr>
          <a:xfrm>
            <a:off x="6071616" y="4745736"/>
            <a:ext cx="310896" cy="310896"/>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51" name="mbr"/>
          <p:cNvSpPr/>
          <p:nvPr/>
        </p:nvSpPr>
        <p:spPr>
          <a:xfrm>
            <a:off x="5111496" y="4407408"/>
            <a:ext cx="0" cy="676656"/>
          </a:xfrm>
          <a:prstGeom prst="line">
            <a:avLst/>
          </a:prstGeom>
          <a:noFill/>
          <a:ln w="15875">
            <a:solidFill>
              <a:srgbClr val="1E2A32"/>
            </a:solidFill>
            <a:prstDash val="solid"/>
          </a:ln>
        </p:spPr>
      </p:sp>
      <p:sp>
        <p:nvSpPr>
          <p:cNvPr id="152" name="mbr"/>
          <p:cNvSpPr/>
          <p:nvPr/>
        </p:nvSpPr>
        <p:spPr>
          <a:xfrm>
            <a:off x="5111496" y="4407408"/>
            <a:ext cx="73152" cy="0"/>
          </a:xfrm>
          <a:prstGeom prst="line">
            <a:avLst/>
          </a:prstGeom>
          <a:noFill/>
          <a:ln w="15875">
            <a:solidFill>
              <a:srgbClr val="1E2A32"/>
            </a:solidFill>
            <a:prstDash val="solid"/>
          </a:ln>
        </p:spPr>
      </p:sp>
      <p:sp>
        <p:nvSpPr>
          <p:cNvPr id="153" name="mbr"/>
          <p:cNvSpPr/>
          <p:nvPr/>
        </p:nvSpPr>
        <p:spPr>
          <a:xfrm>
            <a:off x="5111496" y="5084064"/>
            <a:ext cx="73152" cy="0"/>
          </a:xfrm>
          <a:prstGeom prst="line">
            <a:avLst/>
          </a:prstGeom>
          <a:noFill/>
          <a:ln w="15875">
            <a:solidFill>
              <a:srgbClr val="1E2A32"/>
            </a:solidFill>
            <a:prstDash val="solid"/>
          </a:ln>
        </p:spPr>
      </p:sp>
      <p:sp>
        <p:nvSpPr>
          <p:cNvPr id="154" name="mbr"/>
          <p:cNvSpPr/>
          <p:nvPr/>
        </p:nvSpPr>
        <p:spPr>
          <a:xfrm>
            <a:off x="6409944" y="4407408"/>
            <a:ext cx="0" cy="676656"/>
          </a:xfrm>
          <a:prstGeom prst="line">
            <a:avLst/>
          </a:prstGeom>
          <a:noFill/>
          <a:ln w="15875">
            <a:solidFill>
              <a:srgbClr val="1E2A32"/>
            </a:solidFill>
            <a:prstDash val="solid"/>
          </a:ln>
        </p:spPr>
      </p:sp>
      <p:sp>
        <p:nvSpPr>
          <p:cNvPr id="155" name="mbr"/>
          <p:cNvSpPr/>
          <p:nvPr/>
        </p:nvSpPr>
        <p:spPr>
          <a:xfrm>
            <a:off x="6336792" y="4407408"/>
            <a:ext cx="73152" cy="0"/>
          </a:xfrm>
          <a:prstGeom prst="line">
            <a:avLst/>
          </a:prstGeom>
          <a:noFill/>
          <a:ln w="15875">
            <a:solidFill>
              <a:srgbClr val="1E2A32"/>
            </a:solidFill>
            <a:prstDash val="solid"/>
          </a:ln>
        </p:spPr>
      </p:sp>
      <p:sp>
        <p:nvSpPr>
          <p:cNvPr id="156" name="mbr"/>
          <p:cNvSpPr/>
          <p:nvPr/>
        </p:nvSpPr>
        <p:spPr>
          <a:xfrm>
            <a:off x="6336792" y="5084064"/>
            <a:ext cx="73152" cy="0"/>
          </a:xfrm>
          <a:prstGeom prst="line">
            <a:avLst/>
          </a:prstGeom>
          <a:noFill/>
          <a:ln w="15875">
            <a:solidFill>
              <a:srgbClr val="1E2A32"/>
            </a:solidFill>
            <a:prstDash val="solid"/>
          </a:ln>
        </p:spPr>
      </p:sp>
      <p:sp>
        <p:nvSpPr>
          <p:cNvPr id="157" name="mlab"/>
          <p:cNvSpPr txBox="1"/>
          <p:nvPr/>
        </p:nvSpPr>
        <p:spPr>
          <a:xfrm>
            <a:off x="5093208"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158" name="mlab"/>
          <p:cNvSpPr txBox="1"/>
          <p:nvPr/>
        </p:nvSpPr>
        <p:spPr>
          <a:xfrm>
            <a:off x="5404104"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159" name="mlab"/>
          <p:cNvSpPr txBox="1"/>
          <p:nvPr/>
        </p:nvSpPr>
        <p:spPr>
          <a:xfrm>
            <a:off x="5715000"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60" name="mlab"/>
          <p:cNvSpPr txBox="1"/>
          <p:nvPr/>
        </p:nvSpPr>
        <p:spPr>
          <a:xfrm>
            <a:off x="6025896" y="4197096"/>
            <a:ext cx="402336"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61" name="mlab"/>
          <p:cNvSpPr txBox="1"/>
          <p:nvPr/>
        </p:nvSpPr>
        <p:spPr>
          <a:xfrm>
            <a:off x="4736592" y="4434840"/>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g₀</a:t>
            </a:r>
            <a:endParaRPr lang="en-US" sz="1000" dirty="0"/>
          </a:p>
        </p:txBody>
      </p:sp>
      <p:sp>
        <p:nvSpPr>
          <p:cNvPr id="162" name="mlab"/>
          <p:cNvSpPr txBox="1"/>
          <p:nvPr/>
        </p:nvSpPr>
        <p:spPr>
          <a:xfrm>
            <a:off x="4736592" y="4745736"/>
            <a:ext cx="347472" cy="310896"/>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m₀</a:t>
            </a:r>
            <a:endParaRPr lang="en-US" sz="1000" dirty="0"/>
          </a:p>
        </p:txBody>
      </p:sp>
      <p:sp>
        <p:nvSpPr>
          <p:cNvPr id="163" name="mname"/>
          <p:cNvSpPr txBox="1"/>
          <p:nvPr/>
        </p:nvSpPr>
        <p:spPr>
          <a:xfrm>
            <a:off x="4864608" y="5111496"/>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scale layout</a:t>
            </a:r>
            <a:endParaRPr lang="en-US" sz="1300" dirty="0"/>
          </a:p>
        </p:txBody>
      </p:sp>
      <p:sp>
        <p:nvSpPr>
          <p:cNvPr id="164" name="callout"/>
          <p:cNvSpPr/>
          <p:nvPr/>
        </p:nvSpPr>
        <p:spPr>
          <a:xfrm>
            <a:off x="6748272" y="4160520"/>
            <a:ext cx="4956048" cy="1051560"/>
          </a:xfrm>
          <a:prstGeom prst="roundRect">
            <a:avLst>
              <a:gd name="adj" fmla="val 6957"/>
            </a:avLst>
          </a:prstGeom>
          <a:solidFill>
            <a:srgbClr val="FFF0CC"/>
          </a:solidFill>
          <a:ln/>
        </p:spPr>
      </p:sp>
      <p:sp>
        <p:nvSpPr>
          <p:cNvPr id="165" name="callout-text"/>
          <p:cNvSpPr txBox="1"/>
          <p:nvPr/>
        </p:nvSpPr>
        <p:spPr>
          <a:xfrm>
            <a:off x="6885432" y="4215384"/>
            <a:ext cx="4681728" cy="941832"/>
          </a:xfrm>
          <a:prstGeom prst="rect">
            <a:avLst/>
          </a:prstGeom>
          <a:noFill/>
          <a:ln/>
        </p:spPr>
        <p:txBody>
          <a:bodyPr wrap="square" lIns="0" tIns="0" rIns="0" bIns="0" rtlCol="0" anchor="ctr"/>
          <a:lstStyle/>
          <a:p>
            <a:pPr algn="l" indent="0" marL="0">
              <a:buNone/>
            </a:pPr>
            <a:r>
              <a:rPr lang="en-US" sz="1400" dirty="0">
                <a:solidFill>
                  <a:srgbClr val="6B4100"/>
                </a:solidFill>
                <a:latin typeface="Calibri" pitchFamily="34" charset="0"/>
                <a:ea typeface="Calibri" pitchFamily="34" charset="-122"/>
                <a:cs typeface="Calibri" pitchFamily="34" charset="-120"/>
              </a:rPr>
              <a:t>Zero cols </a:t>
            </a:r>
            <a:r>
              <a:rPr lang="en-US" sz="1400" b="1" dirty="0">
                <a:solidFill>
                  <a:srgbClr val="6B4100"/>
                </a:solidFill>
                <a:latin typeface="Calibri" pitchFamily="34" charset="0"/>
                <a:ea typeface="Calibri" pitchFamily="34" charset="-122"/>
                <a:cs typeface="Calibri" pitchFamily="34" charset="-120"/>
              </a:rPr>
              <a:t>r₀, t₀</a:t>
            </a:r>
            <a:r>
              <a:rPr lang="en-US" sz="1400" dirty="0">
                <a:solidFill>
                  <a:srgbClr val="6B4100"/>
                </a:solidFill>
                <a:latin typeface="Calibri" pitchFamily="34" charset="0"/>
                <a:ea typeface="Calibri" pitchFamily="34" charset="-122"/>
                <a:cs typeface="Calibri" pitchFamily="34" charset="-120"/>
              </a:rPr>
              <a:t>: threads 2k and 2k+1 share a scale — derived, not hand-coded.</a:t>
            </a:r>
            <a:endParaRPr lang="en-US" sz="1400" dirty="0"/>
          </a:p>
        </p:txBody>
      </p:sp>
      <p:sp>
        <p:nvSpPr>
          <p:cNvPr id="166"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§5.2 · MIXED PRECISION: DATA SHUFFLING</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Pre-shuffle one operand so the other loads contiguously</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§5.2 “Data Shuffling” and footnote 3, p. 139</a:t>
            </a:r>
            <a:endParaRPr lang="en-US" sz="1000" dirty="0"/>
          </a:p>
        </p:txBody>
      </p:sp>
      <p:sp>
        <p:nvSpPr>
          <p:cNvPr id="6" name="Text 3"/>
          <p:cNvSpPr txBox="1"/>
          <p:nvPr/>
        </p:nvSpPr>
        <p:spPr>
          <a:xfrm>
            <a:off x="502920" y="1234440"/>
            <a:ext cx="11201400" cy="365760"/>
          </a:xfrm>
          <a:prstGeom prst="rect">
            <a:avLst/>
          </a:prstGeom>
          <a:noFill/>
          <a:ln/>
        </p:spPr>
        <p:txBody>
          <a:bodyPr wrap="square" lIns="0" tIns="0" rIns="0" bIns="0" rtlCol="0" anchor="t"/>
          <a:lstStyle/>
          <a:p>
            <a:pPr indent="0" marL="0">
              <a:buNone/>
            </a:pPr>
            <a:r>
              <a:rPr lang="en-US" sz="1600" dirty="0">
                <a:solidFill>
                  <a:srgbClr val="1E2A32"/>
                </a:solidFill>
                <a:latin typeface="Calibri" pitchFamily="34" charset="0"/>
                <a:ea typeface="Calibri" pitchFamily="34" charset="-122"/>
                <a:cs typeface="Calibri" pitchFamily="34" charset="-120"/>
              </a:rPr>
              <a:t>Σₖ A[m,k]·B[k,n] = Σₖ A[m,π(k)]·B[π(k),n]  — permuting K </a:t>
            </a:r>
            <a:r>
              <a:rPr lang="en-US" sz="1600" b="1" dirty="0">
                <a:solidFill>
                  <a:srgbClr val="1E2A32"/>
                </a:solidFill>
                <a:latin typeface="Calibri" pitchFamily="34" charset="0"/>
                <a:ea typeface="Calibri" pitchFamily="34" charset="-122"/>
                <a:cs typeface="Calibri" pitchFamily="34" charset="-120"/>
              </a:rPr>
              <a:t>identically in both operands</a:t>
            </a:r>
            <a:r>
              <a:rPr lang="en-US" sz="1600" dirty="0">
                <a:solidFill>
                  <a:srgbClr val="1E2A32"/>
                </a:solidFill>
                <a:latin typeface="Calibri" pitchFamily="34" charset="0"/>
                <a:ea typeface="Calibri" pitchFamily="34" charset="-122"/>
                <a:cs typeface="Calibri" pitchFamily="34" charset="-120"/>
              </a:rPr>
              <a:t> leaves the product unchanged.</a:t>
            </a:r>
            <a:endParaRPr lang="en-US" sz="1600" dirty="0"/>
          </a:p>
        </p:txBody>
      </p:sp>
      <p:sp>
        <p:nvSpPr>
          <p:cNvPr id="7" name="mcell"/>
          <p:cNvSpPr txBox="1"/>
          <p:nvPr/>
        </p:nvSpPr>
        <p:spPr>
          <a:xfrm>
            <a:off x="1143000" y="242316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 name="mcell"/>
          <p:cNvSpPr txBox="1"/>
          <p:nvPr/>
        </p:nvSpPr>
        <p:spPr>
          <a:xfrm>
            <a:off x="155448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9" name="mcell"/>
          <p:cNvSpPr txBox="1"/>
          <p:nvPr/>
        </p:nvSpPr>
        <p:spPr>
          <a:xfrm>
            <a:off x="196596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0" name="mcell"/>
          <p:cNvSpPr txBox="1"/>
          <p:nvPr/>
        </p:nvSpPr>
        <p:spPr>
          <a:xfrm>
            <a:off x="237744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 name="mcell"/>
          <p:cNvSpPr txBox="1"/>
          <p:nvPr/>
        </p:nvSpPr>
        <p:spPr>
          <a:xfrm>
            <a:off x="114300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2" name="mcell"/>
          <p:cNvSpPr txBox="1"/>
          <p:nvPr/>
        </p:nvSpPr>
        <p:spPr>
          <a:xfrm>
            <a:off x="155448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3" name="mcell"/>
          <p:cNvSpPr txBox="1"/>
          <p:nvPr/>
        </p:nvSpPr>
        <p:spPr>
          <a:xfrm>
            <a:off x="1965960" y="283464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4" name="mcell"/>
          <p:cNvSpPr txBox="1"/>
          <p:nvPr/>
        </p:nvSpPr>
        <p:spPr>
          <a:xfrm>
            <a:off x="237744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5" name="mcell"/>
          <p:cNvSpPr txBox="1"/>
          <p:nvPr/>
        </p:nvSpPr>
        <p:spPr>
          <a:xfrm>
            <a:off x="114300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6" name="mcell"/>
          <p:cNvSpPr txBox="1"/>
          <p:nvPr/>
        </p:nvSpPr>
        <p:spPr>
          <a:xfrm>
            <a:off x="155448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7" name="mcell"/>
          <p:cNvSpPr txBox="1"/>
          <p:nvPr/>
        </p:nvSpPr>
        <p:spPr>
          <a:xfrm>
            <a:off x="196596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8" name="mcell"/>
          <p:cNvSpPr txBox="1"/>
          <p:nvPr/>
        </p:nvSpPr>
        <p:spPr>
          <a:xfrm>
            <a:off x="2377440" y="324612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9" name="mcell"/>
          <p:cNvSpPr txBox="1"/>
          <p:nvPr/>
        </p:nvSpPr>
        <p:spPr>
          <a:xfrm>
            <a:off x="114300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0" name="mcell"/>
          <p:cNvSpPr txBox="1"/>
          <p:nvPr/>
        </p:nvSpPr>
        <p:spPr>
          <a:xfrm>
            <a:off x="1554480" y="365760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1" name="mcell"/>
          <p:cNvSpPr txBox="1"/>
          <p:nvPr/>
        </p:nvSpPr>
        <p:spPr>
          <a:xfrm>
            <a:off x="196596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2" name="mcell"/>
          <p:cNvSpPr txBox="1"/>
          <p:nvPr/>
        </p:nvSpPr>
        <p:spPr>
          <a:xfrm>
            <a:off x="237744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3" name="msep"/>
          <p:cNvSpPr/>
          <p:nvPr/>
        </p:nvSpPr>
        <p:spPr>
          <a:xfrm>
            <a:off x="1965960" y="2441448"/>
            <a:ext cx="0" cy="1609344"/>
          </a:xfrm>
          <a:prstGeom prst="line">
            <a:avLst/>
          </a:prstGeom>
          <a:noFill/>
          <a:ln w="9525">
            <a:solidFill>
              <a:srgbClr val="5B6770"/>
            </a:solidFill>
            <a:prstDash val="dash"/>
          </a:ln>
        </p:spPr>
      </p:sp>
      <p:sp>
        <p:nvSpPr>
          <p:cNvPr id="24" name="mbr"/>
          <p:cNvSpPr/>
          <p:nvPr/>
        </p:nvSpPr>
        <p:spPr>
          <a:xfrm>
            <a:off x="1115568" y="2395728"/>
            <a:ext cx="0" cy="1700784"/>
          </a:xfrm>
          <a:prstGeom prst="line">
            <a:avLst/>
          </a:prstGeom>
          <a:noFill/>
          <a:ln w="15875">
            <a:solidFill>
              <a:srgbClr val="1E2A32"/>
            </a:solidFill>
            <a:prstDash val="solid"/>
          </a:ln>
        </p:spPr>
      </p:sp>
      <p:sp>
        <p:nvSpPr>
          <p:cNvPr id="25" name="mbr"/>
          <p:cNvSpPr/>
          <p:nvPr/>
        </p:nvSpPr>
        <p:spPr>
          <a:xfrm>
            <a:off x="1115568" y="2395728"/>
            <a:ext cx="73152" cy="0"/>
          </a:xfrm>
          <a:prstGeom prst="line">
            <a:avLst/>
          </a:prstGeom>
          <a:noFill/>
          <a:ln w="15875">
            <a:solidFill>
              <a:srgbClr val="1E2A32"/>
            </a:solidFill>
            <a:prstDash val="solid"/>
          </a:ln>
        </p:spPr>
      </p:sp>
      <p:sp>
        <p:nvSpPr>
          <p:cNvPr id="26" name="mbr"/>
          <p:cNvSpPr/>
          <p:nvPr/>
        </p:nvSpPr>
        <p:spPr>
          <a:xfrm>
            <a:off x="1115568" y="4096512"/>
            <a:ext cx="73152" cy="0"/>
          </a:xfrm>
          <a:prstGeom prst="line">
            <a:avLst/>
          </a:prstGeom>
          <a:noFill/>
          <a:ln w="15875">
            <a:solidFill>
              <a:srgbClr val="1E2A32"/>
            </a:solidFill>
            <a:prstDash val="solid"/>
          </a:ln>
        </p:spPr>
      </p:sp>
      <p:sp>
        <p:nvSpPr>
          <p:cNvPr id="27" name="mbr"/>
          <p:cNvSpPr/>
          <p:nvPr/>
        </p:nvSpPr>
        <p:spPr>
          <a:xfrm>
            <a:off x="2816352" y="2395728"/>
            <a:ext cx="0" cy="1700784"/>
          </a:xfrm>
          <a:prstGeom prst="line">
            <a:avLst/>
          </a:prstGeom>
          <a:noFill/>
          <a:ln w="15875">
            <a:solidFill>
              <a:srgbClr val="1E2A32"/>
            </a:solidFill>
            <a:prstDash val="solid"/>
          </a:ln>
        </p:spPr>
      </p:sp>
      <p:sp>
        <p:nvSpPr>
          <p:cNvPr id="28" name="mbr"/>
          <p:cNvSpPr/>
          <p:nvPr/>
        </p:nvSpPr>
        <p:spPr>
          <a:xfrm>
            <a:off x="2743200" y="2395728"/>
            <a:ext cx="73152" cy="0"/>
          </a:xfrm>
          <a:prstGeom prst="line">
            <a:avLst/>
          </a:prstGeom>
          <a:noFill/>
          <a:ln w="15875">
            <a:solidFill>
              <a:srgbClr val="1E2A32"/>
            </a:solidFill>
            <a:prstDash val="solid"/>
          </a:ln>
        </p:spPr>
      </p:sp>
      <p:sp>
        <p:nvSpPr>
          <p:cNvPr id="29" name="mbr"/>
          <p:cNvSpPr/>
          <p:nvPr/>
        </p:nvSpPr>
        <p:spPr>
          <a:xfrm>
            <a:off x="2743200" y="4096512"/>
            <a:ext cx="73152" cy="0"/>
          </a:xfrm>
          <a:prstGeom prst="line">
            <a:avLst/>
          </a:prstGeom>
          <a:noFill/>
          <a:ln w="15875">
            <a:solidFill>
              <a:srgbClr val="1E2A32"/>
            </a:solidFill>
            <a:prstDash val="solid"/>
          </a:ln>
        </p:spPr>
      </p:sp>
      <p:sp>
        <p:nvSpPr>
          <p:cNvPr id="30" name="mlab"/>
          <p:cNvSpPr txBox="1"/>
          <p:nvPr/>
        </p:nvSpPr>
        <p:spPr>
          <a:xfrm>
            <a:off x="109728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31" name="mlab"/>
          <p:cNvSpPr txBox="1"/>
          <p:nvPr/>
        </p:nvSpPr>
        <p:spPr>
          <a:xfrm>
            <a:off x="150876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32" name="mlab"/>
          <p:cNvSpPr txBox="1"/>
          <p:nvPr/>
        </p:nvSpPr>
        <p:spPr>
          <a:xfrm>
            <a:off x="192024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33" name="mlab"/>
          <p:cNvSpPr txBox="1"/>
          <p:nvPr/>
        </p:nvSpPr>
        <p:spPr>
          <a:xfrm>
            <a:off x="233172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34" name="mgrp"/>
          <p:cNvSpPr txBox="1"/>
          <p:nvPr/>
        </p:nvSpPr>
        <p:spPr>
          <a:xfrm>
            <a:off x="1143000" y="1947672"/>
            <a:ext cx="822960"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Reg</a:t>
            </a:r>
            <a:endParaRPr lang="en-US" sz="1300" dirty="0"/>
          </a:p>
        </p:txBody>
      </p:sp>
      <p:sp>
        <p:nvSpPr>
          <p:cNvPr id="35" name="mgrp"/>
          <p:cNvSpPr txBox="1"/>
          <p:nvPr/>
        </p:nvSpPr>
        <p:spPr>
          <a:xfrm>
            <a:off x="1965960" y="1947672"/>
            <a:ext cx="822960"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Lane</a:t>
            </a:r>
            <a:endParaRPr lang="en-US" sz="1300" dirty="0"/>
          </a:p>
        </p:txBody>
      </p:sp>
      <p:sp>
        <p:nvSpPr>
          <p:cNvPr id="36" name="mlab"/>
          <p:cNvSpPr txBox="1"/>
          <p:nvPr/>
        </p:nvSpPr>
        <p:spPr>
          <a:xfrm>
            <a:off x="740664" y="242316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k₀</a:t>
            </a:r>
            <a:endParaRPr lang="en-US" sz="1300" dirty="0"/>
          </a:p>
        </p:txBody>
      </p:sp>
      <p:sp>
        <p:nvSpPr>
          <p:cNvPr id="37" name="mlab"/>
          <p:cNvSpPr txBox="1"/>
          <p:nvPr/>
        </p:nvSpPr>
        <p:spPr>
          <a:xfrm>
            <a:off x="740664" y="283464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k₁</a:t>
            </a:r>
            <a:endParaRPr lang="en-US" sz="1300" dirty="0"/>
          </a:p>
        </p:txBody>
      </p:sp>
      <p:sp>
        <p:nvSpPr>
          <p:cNvPr id="38" name="mlab"/>
          <p:cNvSpPr txBox="1"/>
          <p:nvPr/>
        </p:nvSpPr>
        <p:spPr>
          <a:xfrm>
            <a:off x="740664" y="324612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k₂</a:t>
            </a:r>
            <a:endParaRPr lang="en-US" sz="1300" dirty="0"/>
          </a:p>
        </p:txBody>
      </p:sp>
      <p:sp>
        <p:nvSpPr>
          <p:cNvPr id="39" name="mlab"/>
          <p:cNvSpPr txBox="1"/>
          <p:nvPr/>
        </p:nvSpPr>
        <p:spPr>
          <a:xfrm>
            <a:off x="740664" y="365760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k₃</a:t>
            </a:r>
            <a:endParaRPr lang="en-US" sz="1300" dirty="0"/>
          </a:p>
        </p:txBody>
      </p:sp>
      <p:sp>
        <p:nvSpPr>
          <p:cNvPr id="40" name="mname"/>
          <p:cNvSpPr txBox="1"/>
          <p:nvPr/>
        </p:nvSpPr>
        <p:spPr>
          <a:xfrm>
            <a:off x="868680" y="4123944"/>
            <a:ext cx="21945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L_K (operand, K rows)</a:t>
            </a:r>
            <a:endParaRPr lang="en-US" sz="1300" dirty="0"/>
          </a:p>
        </p:txBody>
      </p:sp>
      <p:sp>
        <p:nvSpPr>
          <p:cNvPr id="41" name="Text 38"/>
          <p:cNvSpPr txBox="1"/>
          <p:nvPr/>
        </p:nvSpPr>
        <p:spPr>
          <a:xfrm>
            <a:off x="502920" y="4416552"/>
            <a:ext cx="3291840" cy="274320"/>
          </a:xfrm>
          <a:prstGeom prst="rect">
            <a:avLst/>
          </a:prstGeom>
          <a:noFill/>
          <a:ln/>
        </p:spPr>
        <p:txBody>
          <a:bodyPr wrap="square" lIns="0" tIns="0" rIns="0" bIns="0" rtlCol="0" anchor="t"/>
          <a:lstStyle/>
          <a:p>
            <a:pPr algn="ctr" indent="0" marL="0">
              <a:buNone/>
            </a:pPr>
            <a:r>
              <a:rPr lang="en-US" sz="1300" dirty="0">
                <a:solidFill>
                  <a:srgbClr val="B3261E"/>
                </a:solidFill>
                <a:latin typeface="Calibri" pitchFamily="34" charset="0"/>
                <a:ea typeface="Calibri" pitchFamily="34" charset="-122"/>
                <a:cs typeface="Calibri" pitchFamily="34" charset="-120"/>
              </a:rPr>
              <a:t>thread group 0 needs K = {0, 1, 8, 9}</a:t>
            </a:r>
            <a:endParaRPr lang="en-US" sz="1300" dirty="0"/>
          </a:p>
        </p:txBody>
      </p:sp>
      <p:sp>
        <p:nvSpPr>
          <p:cNvPr id="42" name="op"/>
          <p:cNvSpPr txBox="1"/>
          <p:nvPr/>
        </p:nvSpPr>
        <p:spPr>
          <a:xfrm>
            <a:off x="2971800" y="301752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43" name="mcell"/>
          <p:cNvSpPr txBox="1"/>
          <p:nvPr/>
        </p:nvSpPr>
        <p:spPr>
          <a:xfrm>
            <a:off x="3931920" y="242316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44" name="mcell"/>
          <p:cNvSpPr txBox="1"/>
          <p:nvPr/>
        </p:nvSpPr>
        <p:spPr>
          <a:xfrm>
            <a:off x="434340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5" name="mcell"/>
          <p:cNvSpPr txBox="1"/>
          <p:nvPr/>
        </p:nvSpPr>
        <p:spPr>
          <a:xfrm>
            <a:off x="475488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6" name="mcell"/>
          <p:cNvSpPr txBox="1"/>
          <p:nvPr/>
        </p:nvSpPr>
        <p:spPr>
          <a:xfrm>
            <a:off x="516636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7" name="mcell"/>
          <p:cNvSpPr txBox="1"/>
          <p:nvPr/>
        </p:nvSpPr>
        <p:spPr>
          <a:xfrm>
            <a:off x="393192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8" name="mcell"/>
          <p:cNvSpPr txBox="1"/>
          <p:nvPr/>
        </p:nvSpPr>
        <p:spPr>
          <a:xfrm>
            <a:off x="434340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9" name="mcell"/>
          <p:cNvSpPr txBox="1"/>
          <p:nvPr/>
        </p:nvSpPr>
        <p:spPr>
          <a:xfrm>
            <a:off x="475488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0" name="mcell"/>
          <p:cNvSpPr txBox="1"/>
          <p:nvPr/>
        </p:nvSpPr>
        <p:spPr>
          <a:xfrm>
            <a:off x="5166360" y="283464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1" name="mcell"/>
          <p:cNvSpPr txBox="1"/>
          <p:nvPr/>
        </p:nvSpPr>
        <p:spPr>
          <a:xfrm>
            <a:off x="393192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2" name="mcell"/>
          <p:cNvSpPr txBox="1"/>
          <p:nvPr/>
        </p:nvSpPr>
        <p:spPr>
          <a:xfrm>
            <a:off x="4343400" y="324612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3" name="mcell"/>
          <p:cNvSpPr txBox="1"/>
          <p:nvPr/>
        </p:nvSpPr>
        <p:spPr>
          <a:xfrm>
            <a:off x="475488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4" name="mcell"/>
          <p:cNvSpPr txBox="1"/>
          <p:nvPr/>
        </p:nvSpPr>
        <p:spPr>
          <a:xfrm>
            <a:off x="516636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5" name="mcell"/>
          <p:cNvSpPr txBox="1"/>
          <p:nvPr/>
        </p:nvSpPr>
        <p:spPr>
          <a:xfrm>
            <a:off x="393192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6" name="mcell"/>
          <p:cNvSpPr txBox="1"/>
          <p:nvPr/>
        </p:nvSpPr>
        <p:spPr>
          <a:xfrm>
            <a:off x="434340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7" name="mcell"/>
          <p:cNvSpPr txBox="1"/>
          <p:nvPr/>
        </p:nvSpPr>
        <p:spPr>
          <a:xfrm>
            <a:off x="4754880" y="365760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8" name="mcell"/>
          <p:cNvSpPr txBox="1"/>
          <p:nvPr/>
        </p:nvSpPr>
        <p:spPr>
          <a:xfrm>
            <a:off x="516636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9" name="mbr"/>
          <p:cNvSpPr/>
          <p:nvPr/>
        </p:nvSpPr>
        <p:spPr>
          <a:xfrm>
            <a:off x="3904488" y="2395728"/>
            <a:ext cx="0" cy="1700784"/>
          </a:xfrm>
          <a:prstGeom prst="line">
            <a:avLst/>
          </a:prstGeom>
          <a:noFill/>
          <a:ln w="15875">
            <a:solidFill>
              <a:srgbClr val="1E2A32"/>
            </a:solidFill>
            <a:prstDash val="solid"/>
          </a:ln>
        </p:spPr>
      </p:sp>
      <p:sp>
        <p:nvSpPr>
          <p:cNvPr id="60" name="mbr"/>
          <p:cNvSpPr/>
          <p:nvPr/>
        </p:nvSpPr>
        <p:spPr>
          <a:xfrm>
            <a:off x="3904488" y="2395728"/>
            <a:ext cx="73152" cy="0"/>
          </a:xfrm>
          <a:prstGeom prst="line">
            <a:avLst/>
          </a:prstGeom>
          <a:noFill/>
          <a:ln w="15875">
            <a:solidFill>
              <a:srgbClr val="1E2A32"/>
            </a:solidFill>
            <a:prstDash val="solid"/>
          </a:ln>
        </p:spPr>
      </p:sp>
      <p:sp>
        <p:nvSpPr>
          <p:cNvPr id="61" name="mbr"/>
          <p:cNvSpPr/>
          <p:nvPr/>
        </p:nvSpPr>
        <p:spPr>
          <a:xfrm>
            <a:off x="3904488" y="4096512"/>
            <a:ext cx="73152" cy="0"/>
          </a:xfrm>
          <a:prstGeom prst="line">
            <a:avLst/>
          </a:prstGeom>
          <a:noFill/>
          <a:ln w="15875">
            <a:solidFill>
              <a:srgbClr val="1E2A32"/>
            </a:solidFill>
            <a:prstDash val="solid"/>
          </a:ln>
        </p:spPr>
      </p:sp>
      <p:sp>
        <p:nvSpPr>
          <p:cNvPr id="62" name="mbr"/>
          <p:cNvSpPr/>
          <p:nvPr/>
        </p:nvSpPr>
        <p:spPr>
          <a:xfrm>
            <a:off x="5605272" y="2395728"/>
            <a:ext cx="0" cy="1700784"/>
          </a:xfrm>
          <a:prstGeom prst="line">
            <a:avLst/>
          </a:prstGeom>
          <a:noFill/>
          <a:ln w="15875">
            <a:solidFill>
              <a:srgbClr val="1E2A32"/>
            </a:solidFill>
            <a:prstDash val="solid"/>
          </a:ln>
        </p:spPr>
      </p:sp>
      <p:sp>
        <p:nvSpPr>
          <p:cNvPr id="63" name="mbr"/>
          <p:cNvSpPr/>
          <p:nvPr/>
        </p:nvSpPr>
        <p:spPr>
          <a:xfrm>
            <a:off x="5532120" y="2395728"/>
            <a:ext cx="73152" cy="0"/>
          </a:xfrm>
          <a:prstGeom prst="line">
            <a:avLst/>
          </a:prstGeom>
          <a:noFill/>
          <a:ln w="15875">
            <a:solidFill>
              <a:srgbClr val="1E2A32"/>
            </a:solidFill>
            <a:prstDash val="solid"/>
          </a:ln>
        </p:spPr>
      </p:sp>
      <p:sp>
        <p:nvSpPr>
          <p:cNvPr id="64" name="mbr"/>
          <p:cNvSpPr/>
          <p:nvPr/>
        </p:nvSpPr>
        <p:spPr>
          <a:xfrm>
            <a:off x="5532120" y="4096512"/>
            <a:ext cx="73152" cy="0"/>
          </a:xfrm>
          <a:prstGeom prst="line">
            <a:avLst/>
          </a:prstGeom>
          <a:noFill/>
          <a:ln w="15875">
            <a:solidFill>
              <a:srgbClr val="1E2A32"/>
            </a:solidFill>
            <a:prstDash val="solid"/>
          </a:ln>
        </p:spPr>
      </p:sp>
      <p:sp>
        <p:nvSpPr>
          <p:cNvPr id="65" name="mlab"/>
          <p:cNvSpPr txBox="1"/>
          <p:nvPr/>
        </p:nvSpPr>
        <p:spPr>
          <a:xfrm>
            <a:off x="388620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k₀</a:t>
            </a:r>
            <a:endParaRPr lang="en-US" sz="1300" dirty="0"/>
          </a:p>
        </p:txBody>
      </p:sp>
      <p:sp>
        <p:nvSpPr>
          <p:cNvPr id="66" name="mlab"/>
          <p:cNvSpPr txBox="1"/>
          <p:nvPr/>
        </p:nvSpPr>
        <p:spPr>
          <a:xfrm>
            <a:off x="429768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k₁</a:t>
            </a:r>
            <a:endParaRPr lang="en-US" sz="1300" dirty="0"/>
          </a:p>
        </p:txBody>
      </p:sp>
      <p:sp>
        <p:nvSpPr>
          <p:cNvPr id="67" name="mlab"/>
          <p:cNvSpPr txBox="1"/>
          <p:nvPr/>
        </p:nvSpPr>
        <p:spPr>
          <a:xfrm>
            <a:off x="470916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k₂</a:t>
            </a:r>
            <a:endParaRPr lang="en-US" sz="1300" dirty="0"/>
          </a:p>
        </p:txBody>
      </p:sp>
      <p:sp>
        <p:nvSpPr>
          <p:cNvPr id="68" name="mlab"/>
          <p:cNvSpPr txBox="1"/>
          <p:nvPr/>
        </p:nvSpPr>
        <p:spPr>
          <a:xfrm>
            <a:off x="512064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k₃</a:t>
            </a:r>
            <a:endParaRPr lang="en-US" sz="1300" dirty="0"/>
          </a:p>
        </p:txBody>
      </p:sp>
      <p:sp>
        <p:nvSpPr>
          <p:cNvPr id="69" name="mlab"/>
          <p:cNvSpPr txBox="1"/>
          <p:nvPr/>
        </p:nvSpPr>
        <p:spPr>
          <a:xfrm>
            <a:off x="3529584" y="242316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k₀′</a:t>
            </a:r>
            <a:endParaRPr lang="en-US" sz="1300" dirty="0"/>
          </a:p>
        </p:txBody>
      </p:sp>
      <p:sp>
        <p:nvSpPr>
          <p:cNvPr id="70" name="mlab"/>
          <p:cNvSpPr txBox="1"/>
          <p:nvPr/>
        </p:nvSpPr>
        <p:spPr>
          <a:xfrm>
            <a:off x="3529584" y="283464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k₁′</a:t>
            </a:r>
            <a:endParaRPr lang="en-US" sz="1300" dirty="0"/>
          </a:p>
        </p:txBody>
      </p:sp>
      <p:sp>
        <p:nvSpPr>
          <p:cNvPr id="71" name="mlab"/>
          <p:cNvSpPr txBox="1"/>
          <p:nvPr/>
        </p:nvSpPr>
        <p:spPr>
          <a:xfrm>
            <a:off x="3529584" y="324612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k₂′</a:t>
            </a:r>
            <a:endParaRPr lang="en-US" sz="1300" dirty="0"/>
          </a:p>
        </p:txBody>
      </p:sp>
      <p:sp>
        <p:nvSpPr>
          <p:cNvPr id="72" name="mlab"/>
          <p:cNvSpPr txBox="1"/>
          <p:nvPr/>
        </p:nvSpPr>
        <p:spPr>
          <a:xfrm>
            <a:off x="3529584" y="365760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k₃′</a:t>
            </a:r>
            <a:endParaRPr lang="en-US" sz="1300" dirty="0"/>
          </a:p>
        </p:txBody>
      </p:sp>
      <p:sp>
        <p:nvSpPr>
          <p:cNvPr id="73" name="mname"/>
          <p:cNvSpPr txBox="1"/>
          <p:nvPr/>
        </p:nvSpPr>
        <p:spPr>
          <a:xfrm>
            <a:off x="3657600" y="4123944"/>
            <a:ext cx="21945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Π (bit permutation of K)</a:t>
            </a:r>
            <a:endParaRPr lang="en-US" sz="1300" dirty="0"/>
          </a:p>
        </p:txBody>
      </p:sp>
      <p:sp>
        <p:nvSpPr>
          <p:cNvPr id="74" name="op"/>
          <p:cNvSpPr txBox="1"/>
          <p:nvPr/>
        </p:nvSpPr>
        <p:spPr>
          <a:xfrm>
            <a:off x="5623560" y="3017520"/>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75" name="mcell"/>
          <p:cNvSpPr txBox="1"/>
          <p:nvPr/>
        </p:nvSpPr>
        <p:spPr>
          <a:xfrm>
            <a:off x="6446520" y="242316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76" name="mcell"/>
          <p:cNvSpPr txBox="1"/>
          <p:nvPr/>
        </p:nvSpPr>
        <p:spPr>
          <a:xfrm>
            <a:off x="685800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7" name="mcell"/>
          <p:cNvSpPr txBox="1"/>
          <p:nvPr/>
        </p:nvSpPr>
        <p:spPr>
          <a:xfrm>
            <a:off x="726948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8" name="mcell"/>
          <p:cNvSpPr txBox="1"/>
          <p:nvPr/>
        </p:nvSpPr>
        <p:spPr>
          <a:xfrm>
            <a:off x="768096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9" name="mcell"/>
          <p:cNvSpPr txBox="1"/>
          <p:nvPr/>
        </p:nvSpPr>
        <p:spPr>
          <a:xfrm>
            <a:off x="644652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0" name="mcell"/>
          <p:cNvSpPr txBox="1"/>
          <p:nvPr/>
        </p:nvSpPr>
        <p:spPr>
          <a:xfrm>
            <a:off x="685800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1" name="mcell"/>
          <p:cNvSpPr txBox="1"/>
          <p:nvPr/>
        </p:nvSpPr>
        <p:spPr>
          <a:xfrm>
            <a:off x="7269480" y="283464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2" name="mcell"/>
          <p:cNvSpPr txBox="1"/>
          <p:nvPr/>
        </p:nvSpPr>
        <p:spPr>
          <a:xfrm>
            <a:off x="768096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3" name="mcell"/>
          <p:cNvSpPr txBox="1"/>
          <p:nvPr/>
        </p:nvSpPr>
        <p:spPr>
          <a:xfrm>
            <a:off x="644652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4" name="mcell"/>
          <p:cNvSpPr txBox="1"/>
          <p:nvPr/>
        </p:nvSpPr>
        <p:spPr>
          <a:xfrm>
            <a:off x="685800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5" name="mcell"/>
          <p:cNvSpPr txBox="1"/>
          <p:nvPr/>
        </p:nvSpPr>
        <p:spPr>
          <a:xfrm>
            <a:off x="726948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6" name="mcell"/>
          <p:cNvSpPr txBox="1"/>
          <p:nvPr/>
        </p:nvSpPr>
        <p:spPr>
          <a:xfrm>
            <a:off x="7680960" y="324612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7" name="mcell"/>
          <p:cNvSpPr txBox="1"/>
          <p:nvPr/>
        </p:nvSpPr>
        <p:spPr>
          <a:xfrm>
            <a:off x="644652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8" name="mcell"/>
          <p:cNvSpPr txBox="1"/>
          <p:nvPr/>
        </p:nvSpPr>
        <p:spPr>
          <a:xfrm>
            <a:off x="6858000" y="365760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9" name="mcell"/>
          <p:cNvSpPr txBox="1"/>
          <p:nvPr/>
        </p:nvSpPr>
        <p:spPr>
          <a:xfrm>
            <a:off x="726948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90" name="mcell"/>
          <p:cNvSpPr txBox="1"/>
          <p:nvPr/>
        </p:nvSpPr>
        <p:spPr>
          <a:xfrm>
            <a:off x="768096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91" name="mbr"/>
          <p:cNvSpPr/>
          <p:nvPr/>
        </p:nvSpPr>
        <p:spPr>
          <a:xfrm>
            <a:off x="6419088" y="2395728"/>
            <a:ext cx="0" cy="1700784"/>
          </a:xfrm>
          <a:prstGeom prst="line">
            <a:avLst/>
          </a:prstGeom>
          <a:noFill/>
          <a:ln w="15875">
            <a:solidFill>
              <a:srgbClr val="1E2A32"/>
            </a:solidFill>
            <a:prstDash val="solid"/>
          </a:ln>
        </p:spPr>
      </p:sp>
      <p:sp>
        <p:nvSpPr>
          <p:cNvPr id="92" name="mbr"/>
          <p:cNvSpPr/>
          <p:nvPr/>
        </p:nvSpPr>
        <p:spPr>
          <a:xfrm>
            <a:off x="6419088" y="2395728"/>
            <a:ext cx="73152" cy="0"/>
          </a:xfrm>
          <a:prstGeom prst="line">
            <a:avLst/>
          </a:prstGeom>
          <a:noFill/>
          <a:ln w="15875">
            <a:solidFill>
              <a:srgbClr val="1E2A32"/>
            </a:solidFill>
            <a:prstDash val="solid"/>
          </a:ln>
        </p:spPr>
      </p:sp>
      <p:sp>
        <p:nvSpPr>
          <p:cNvPr id="93" name="mbr"/>
          <p:cNvSpPr/>
          <p:nvPr/>
        </p:nvSpPr>
        <p:spPr>
          <a:xfrm>
            <a:off x="6419088" y="4096512"/>
            <a:ext cx="73152" cy="0"/>
          </a:xfrm>
          <a:prstGeom prst="line">
            <a:avLst/>
          </a:prstGeom>
          <a:noFill/>
          <a:ln w="15875">
            <a:solidFill>
              <a:srgbClr val="1E2A32"/>
            </a:solidFill>
            <a:prstDash val="solid"/>
          </a:ln>
        </p:spPr>
      </p:sp>
      <p:sp>
        <p:nvSpPr>
          <p:cNvPr id="94" name="mbr"/>
          <p:cNvSpPr/>
          <p:nvPr/>
        </p:nvSpPr>
        <p:spPr>
          <a:xfrm>
            <a:off x="8119872" y="2395728"/>
            <a:ext cx="0" cy="1700784"/>
          </a:xfrm>
          <a:prstGeom prst="line">
            <a:avLst/>
          </a:prstGeom>
          <a:noFill/>
          <a:ln w="15875">
            <a:solidFill>
              <a:srgbClr val="1E2A32"/>
            </a:solidFill>
            <a:prstDash val="solid"/>
          </a:ln>
        </p:spPr>
      </p:sp>
      <p:sp>
        <p:nvSpPr>
          <p:cNvPr id="95" name="mbr"/>
          <p:cNvSpPr/>
          <p:nvPr/>
        </p:nvSpPr>
        <p:spPr>
          <a:xfrm>
            <a:off x="8046720" y="2395728"/>
            <a:ext cx="73152" cy="0"/>
          </a:xfrm>
          <a:prstGeom prst="line">
            <a:avLst/>
          </a:prstGeom>
          <a:noFill/>
          <a:ln w="15875">
            <a:solidFill>
              <a:srgbClr val="1E2A32"/>
            </a:solidFill>
            <a:prstDash val="solid"/>
          </a:ln>
        </p:spPr>
      </p:sp>
      <p:sp>
        <p:nvSpPr>
          <p:cNvPr id="96" name="mbr"/>
          <p:cNvSpPr/>
          <p:nvPr/>
        </p:nvSpPr>
        <p:spPr>
          <a:xfrm>
            <a:off x="8046720" y="4096512"/>
            <a:ext cx="73152" cy="0"/>
          </a:xfrm>
          <a:prstGeom prst="line">
            <a:avLst/>
          </a:prstGeom>
          <a:noFill/>
          <a:ln w="15875">
            <a:solidFill>
              <a:srgbClr val="1E2A32"/>
            </a:solidFill>
            <a:prstDash val="solid"/>
          </a:ln>
        </p:spPr>
      </p:sp>
      <p:sp>
        <p:nvSpPr>
          <p:cNvPr id="97" name="mlab"/>
          <p:cNvSpPr txBox="1"/>
          <p:nvPr/>
        </p:nvSpPr>
        <p:spPr>
          <a:xfrm>
            <a:off x="640080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98" name="mlab"/>
          <p:cNvSpPr txBox="1"/>
          <p:nvPr/>
        </p:nvSpPr>
        <p:spPr>
          <a:xfrm>
            <a:off x="681228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99" name="mlab"/>
          <p:cNvSpPr txBox="1"/>
          <p:nvPr/>
        </p:nvSpPr>
        <p:spPr>
          <a:xfrm>
            <a:off x="722376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100" name="mlab"/>
          <p:cNvSpPr txBox="1"/>
          <p:nvPr/>
        </p:nvSpPr>
        <p:spPr>
          <a:xfrm>
            <a:off x="763524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101" name="mlab"/>
          <p:cNvSpPr txBox="1"/>
          <p:nvPr/>
        </p:nvSpPr>
        <p:spPr>
          <a:xfrm>
            <a:off x="6044184" y="242316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k₀</a:t>
            </a:r>
            <a:endParaRPr lang="en-US" sz="1300" dirty="0"/>
          </a:p>
        </p:txBody>
      </p:sp>
      <p:sp>
        <p:nvSpPr>
          <p:cNvPr id="102" name="mlab"/>
          <p:cNvSpPr txBox="1"/>
          <p:nvPr/>
        </p:nvSpPr>
        <p:spPr>
          <a:xfrm>
            <a:off x="6044184" y="283464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k₁</a:t>
            </a:r>
            <a:endParaRPr lang="en-US" sz="1300" dirty="0"/>
          </a:p>
        </p:txBody>
      </p:sp>
      <p:sp>
        <p:nvSpPr>
          <p:cNvPr id="103" name="mlab"/>
          <p:cNvSpPr txBox="1"/>
          <p:nvPr/>
        </p:nvSpPr>
        <p:spPr>
          <a:xfrm>
            <a:off x="6044184" y="324612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k₂</a:t>
            </a:r>
            <a:endParaRPr lang="en-US" sz="1300" dirty="0"/>
          </a:p>
        </p:txBody>
      </p:sp>
      <p:sp>
        <p:nvSpPr>
          <p:cNvPr id="104" name="mlab"/>
          <p:cNvSpPr txBox="1"/>
          <p:nvPr/>
        </p:nvSpPr>
        <p:spPr>
          <a:xfrm>
            <a:off x="6044184" y="365760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k₃</a:t>
            </a:r>
            <a:endParaRPr lang="en-US" sz="1300" dirty="0"/>
          </a:p>
        </p:txBody>
      </p:sp>
      <p:sp>
        <p:nvSpPr>
          <p:cNvPr id="105" name="mname"/>
          <p:cNvSpPr txBox="1"/>
          <p:nvPr/>
        </p:nvSpPr>
        <p:spPr>
          <a:xfrm>
            <a:off x="6172200" y="4123944"/>
            <a:ext cx="21945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L_K</a:t>
            </a:r>
            <a:endParaRPr lang="en-US" sz="1300" dirty="0"/>
          </a:p>
        </p:txBody>
      </p:sp>
      <p:sp>
        <p:nvSpPr>
          <p:cNvPr id="106" name="op"/>
          <p:cNvSpPr txBox="1"/>
          <p:nvPr/>
        </p:nvSpPr>
        <p:spPr>
          <a:xfrm>
            <a:off x="8138160" y="3017520"/>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107" name="mcell"/>
          <p:cNvSpPr txBox="1"/>
          <p:nvPr/>
        </p:nvSpPr>
        <p:spPr>
          <a:xfrm>
            <a:off x="8961120" y="2423160"/>
            <a:ext cx="411480" cy="411480"/>
          </a:xfrm>
          <a:prstGeom prst="rect">
            <a:avLst/>
          </a:prstGeom>
          <a:solidFill>
            <a:srgbClr val="E3F2E4"/>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08" name="mcell"/>
          <p:cNvSpPr txBox="1"/>
          <p:nvPr/>
        </p:nvSpPr>
        <p:spPr>
          <a:xfrm>
            <a:off x="937260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09" name="mcell"/>
          <p:cNvSpPr txBox="1"/>
          <p:nvPr/>
        </p:nvSpPr>
        <p:spPr>
          <a:xfrm>
            <a:off x="978408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0" name="mcell"/>
          <p:cNvSpPr txBox="1"/>
          <p:nvPr/>
        </p:nvSpPr>
        <p:spPr>
          <a:xfrm>
            <a:off x="10195560" y="242316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1" name="mcell"/>
          <p:cNvSpPr txBox="1"/>
          <p:nvPr/>
        </p:nvSpPr>
        <p:spPr>
          <a:xfrm>
            <a:off x="896112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2" name="mcell"/>
          <p:cNvSpPr txBox="1"/>
          <p:nvPr/>
        </p:nvSpPr>
        <p:spPr>
          <a:xfrm>
            <a:off x="9372600" y="2834640"/>
            <a:ext cx="411480" cy="411480"/>
          </a:xfrm>
          <a:prstGeom prst="rect">
            <a:avLst/>
          </a:prstGeom>
          <a:solidFill>
            <a:srgbClr val="E3F2E4"/>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13" name="mcell"/>
          <p:cNvSpPr txBox="1"/>
          <p:nvPr/>
        </p:nvSpPr>
        <p:spPr>
          <a:xfrm>
            <a:off x="978408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4" name="mcell"/>
          <p:cNvSpPr txBox="1"/>
          <p:nvPr/>
        </p:nvSpPr>
        <p:spPr>
          <a:xfrm>
            <a:off x="10195560" y="283464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5" name="mcell"/>
          <p:cNvSpPr txBox="1"/>
          <p:nvPr/>
        </p:nvSpPr>
        <p:spPr>
          <a:xfrm>
            <a:off x="896112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6" name="mcell"/>
          <p:cNvSpPr txBox="1"/>
          <p:nvPr/>
        </p:nvSpPr>
        <p:spPr>
          <a:xfrm>
            <a:off x="937260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7" name="mcell"/>
          <p:cNvSpPr txBox="1"/>
          <p:nvPr/>
        </p:nvSpPr>
        <p:spPr>
          <a:xfrm>
            <a:off x="9784080" y="324612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18" name="mcell"/>
          <p:cNvSpPr txBox="1"/>
          <p:nvPr/>
        </p:nvSpPr>
        <p:spPr>
          <a:xfrm>
            <a:off x="10195560" y="324612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9" name="mcell"/>
          <p:cNvSpPr txBox="1"/>
          <p:nvPr/>
        </p:nvSpPr>
        <p:spPr>
          <a:xfrm>
            <a:off x="896112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20" name="mcell"/>
          <p:cNvSpPr txBox="1"/>
          <p:nvPr/>
        </p:nvSpPr>
        <p:spPr>
          <a:xfrm>
            <a:off x="937260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21" name="mcell"/>
          <p:cNvSpPr txBox="1"/>
          <p:nvPr/>
        </p:nvSpPr>
        <p:spPr>
          <a:xfrm>
            <a:off x="9784080" y="3657600"/>
            <a:ext cx="411480" cy="411480"/>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22" name="mcell"/>
          <p:cNvSpPr txBox="1"/>
          <p:nvPr/>
        </p:nvSpPr>
        <p:spPr>
          <a:xfrm>
            <a:off x="10195560" y="3657600"/>
            <a:ext cx="411480" cy="411480"/>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23" name="mbr"/>
          <p:cNvSpPr/>
          <p:nvPr/>
        </p:nvSpPr>
        <p:spPr>
          <a:xfrm>
            <a:off x="8933688" y="2395728"/>
            <a:ext cx="0" cy="1700784"/>
          </a:xfrm>
          <a:prstGeom prst="line">
            <a:avLst/>
          </a:prstGeom>
          <a:noFill/>
          <a:ln w="15875">
            <a:solidFill>
              <a:srgbClr val="1E2A32"/>
            </a:solidFill>
            <a:prstDash val="solid"/>
          </a:ln>
        </p:spPr>
      </p:sp>
      <p:sp>
        <p:nvSpPr>
          <p:cNvPr id="124" name="mbr"/>
          <p:cNvSpPr/>
          <p:nvPr/>
        </p:nvSpPr>
        <p:spPr>
          <a:xfrm>
            <a:off x="8933688" y="2395728"/>
            <a:ext cx="73152" cy="0"/>
          </a:xfrm>
          <a:prstGeom prst="line">
            <a:avLst/>
          </a:prstGeom>
          <a:noFill/>
          <a:ln w="15875">
            <a:solidFill>
              <a:srgbClr val="1E2A32"/>
            </a:solidFill>
            <a:prstDash val="solid"/>
          </a:ln>
        </p:spPr>
      </p:sp>
      <p:sp>
        <p:nvSpPr>
          <p:cNvPr id="125" name="mbr"/>
          <p:cNvSpPr/>
          <p:nvPr/>
        </p:nvSpPr>
        <p:spPr>
          <a:xfrm>
            <a:off x="8933688" y="4096512"/>
            <a:ext cx="73152" cy="0"/>
          </a:xfrm>
          <a:prstGeom prst="line">
            <a:avLst/>
          </a:prstGeom>
          <a:noFill/>
          <a:ln w="15875">
            <a:solidFill>
              <a:srgbClr val="1E2A32"/>
            </a:solidFill>
            <a:prstDash val="solid"/>
          </a:ln>
        </p:spPr>
      </p:sp>
      <p:sp>
        <p:nvSpPr>
          <p:cNvPr id="126" name="mbr"/>
          <p:cNvSpPr/>
          <p:nvPr/>
        </p:nvSpPr>
        <p:spPr>
          <a:xfrm>
            <a:off x="10634472" y="2395728"/>
            <a:ext cx="0" cy="1700784"/>
          </a:xfrm>
          <a:prstGeom prst="line">
            <a:avLst/>
          </a:prstGeom>
          <a:noFill/>
          <a:ln w="15875">
            <a:solidFill>
              <a:srgbClr val="1E2A32"/>
            </a:solidFill>
            <a:prstDash val="solid"/>
          </a:ln>
        </p:spPr>
      </p:sp>
      <p:sp>
        <p:nvSpPr>
          <p:cNvPr id="127" name="mbr"/>
          <p:cNvSpPr/>
          <p:nvPr/>
        </p:nvSpPr>
        <p:spPr>
          <a:xfrm>
            <a:off x="10561320" y="2395728"/>
            <a:ext cx="73152" cy="0"/>
          </a:xfrm>
          <a:prstGeom prst="line">
            <a:avLst/>
          </a:prstGeom>
          <a:noFill/>
          <a:ln w="15875">
            <a:solidFill>
              <a:srgbClr val="1E2A32"/>
            </a:solidFill>
            <a:prstDash val="solid"/>
          </a:ln>
        </p:spPr>
      </p:sp>
      <p:sp>
        <p:nvSpPr>
          <p:cNvPr id="128" name="mbr"/>
          <p:cNvSpPr/>
          <p:nvPr/>
        </p:nvSpPr>
        <p:spPr>
          <a:xfrm>
            <a:off x="10561320" y="4096512"/>
            <a:ext cx="73152" cy="0"/>
          </a:xfrm>
          <a:prstGeom prst="line">
            <a:avLst/>
          </a:prstGeom>
          <a:noFill/>
          <a:ln w="15875">
            <a:solidFill>
              <a:srgbClr val="1E2A32"/>
            </a:solidFill>
            <a:prstDash val="solid"/>
          </a:ln>
        </p:spPr>
      </p:sp>
      <p:sp>
        <p:nvSpPr>
          <p:cNvPr id="129" name="mlab"/>
          <p:cNvSpPr txBox="1"/>
          <p:nvPr/>
        </p:nvSpPr>
        <p:spPr>
          <a:xfrm>
            <a:off x="891540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130" name="mlab"/>
          <p:cNvSpPr txBox="1"/>
          <p:nvPr/>
        </p:nvSpPr>
        <p:spPr>
          <a:xfrm>
            <a:off x="932688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r₂</a:t>
            </a:r>
            <a:endParaRPr lang="en-US" sz="1300" dirty="0"/>
          </a:p>
        </p:txBody>
      </p:sp>
      <p:sp>
        <p:nvSpPr>
          <p:cNvPr id="131" name="mlab"/>
          <p:cNvSpPr txBox="1"/>
          <p:nvPr/>
        </p:nvSpPr>
        <p:spPr>
          <a:xfrm>
            <a:off x="973836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132" name="mlab"/>
          <p:cNvSpPr txBox="1"/>
          <p:nvPr/>
        </p:nvSpPr>
        <p:spPr>
          <a:xfrm>
            <a:off x="10149840" y="2185416"/>
            <a:ext cx="502920"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133" name="mlab"/>
          <p:cNvSpPr txBox="1"/>
          <p:nvPr/>
        </p:nvSpPr>
        <p:spPr>
          <a:xfrm>
            <a:off x="8558784" y="242316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k₀′</a:t>
            </a:r>
            <a:endParaRPr lang="en-US" sz="1300" dirty="0"/>
          </a:p>
        </p:txBody>
      </p:sp>
      <p:sp>
        <p:nvSpPr>
          <p:cNvPr id="134" name="mlab"/>
          <p:cNvSpPr txBox="1"/>
          <p:nvPr/>
        </p:nvSpPr>
        <p:spPr>
          <a:xfrm>
            <a:off x="8558784" y="283464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k₁′</a:t>
            </a:r>
            <a:endParaRPr lang="en-US" sz="1300" dirty="0"/>
          </a:p>
        </p:txBody>
      </p:sp>
      <p:sp>
        <p:nvSpPr>
          <p:cNvPr id="135" name="mlab"/>
          <p:cNvSpPr txBox="1"/>
          <p:nvPr/>
        </p:nvSpPr>
        <p:spPr>
          <a:xfrm>
            <a:off x="8558784" y="324612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k₂′</a:t>
            </a:r>
            <a:endParaRPr lang="en-US" sz="1300" dirty="0"/>
          </a:p>
        </p:txBody>
      </p:sp>
      <p:sp>
        <p:nvSpPr>
          <p:cNvPr id="136" name="mlab"/>
          <p:cNvSpPr txBox="1"/>
          <p:nvPr/>
        </p:nvSpPr>
        <p:spPr>
          <a:xfrm>
            <a:off x="8558784" y="3657600"/>
            <a:ext cx="347472" cy="411480"/>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k₃′</a:t>
            </a:r>
            <a:endParaRPr lang="en-US" sz="1300" dirty="0"/>
          </a:p>
        </p:txBody>
      </p:sp>
      <p:sp>
        <p:nvSpPr>
          <p:cNvPr id="137" name="mname"/>
          <p:cNvSpPr txBox="1"/>
          <p:nvPr/>
        </p:nvSpPr>
        <p:spPr>
          <a:xfrm>
            <a:off x="8686800" y="4123944"/>
            <a:ext cx="219456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Π·L_K = I</a:t>
            </a:r>
            <a:endParaRPr lang="en-US" sz="1300" dirty="0"/>
          </a:p>
        </p:txBody>
      </p:sp>
      <p:sp>
        <p:nvSpPr>
          <p:cNvPr id="138" name="callout"/>
          <p:cNvSpPr/>
          <p:nvPr/>
        </p:nvSpPr>
        <p:spPr>
          <a:xfrm>
            <a:off x="502920" y="4892040"/>
            <a:ext cx="3657600" cy="822960"/>
          </a:xfrm>
          <a:prstGeom prst="roundRect">
            <a:avLst>
              <a:gd name="adj" fmla="val 8889"/>
            </a:avLst>
          </a:prstGeom>
          <a:solidFill>
            <a:srgbClr val="FBE3E1"/>
          </a:solidFill>
          <a:ln/>
        </p:spPr>
      </p:sp>
      <p:sp>
        <p:nvSpPr>
          <p:cNvPr id="139" name="callout-text"/>
          <p:cNvSpPr txBox="1"/>
          <p:nvPr/>
        </p:nvSpPr>
        <p:spPr>
          <a:xfrm>
            <a:off x="640080" y="4946904"/>
            <a:ext cx="3383280" cy="713232"/>
          </a:xfrm>
          <a:prstGeom prst="rect">
            <a:avLst/>
          </a:prstGeom>
          <a:noFill/>
          <a:ln/>
        </p:spPr>
        <p:txBody>
          <a:bodyPr wrap="square" lIns="0" tIns="0" rIns="0" bIns="0" rtlCol="0" anchor="ctr"/>
          <a:lstStyle/>
          <a:p>
            <a:pPr algn="l" indent="0" marL="0">
              <a:buNone/>
            </a:pPr>
            <a:r>
              <a:rPr lang="en-US" sz="1400" b="1" dirty="0">
                <a:solidFill>
                  <a:srgbClr val="B3261E"/>
                </a:solidFill>
                <a:latin typeface="Calibri" pitchFamily="34" charset="0"/>
                <a:ea typeface="Calibri" pitchFamily="34" charset="-122"/>
                <a:cs typeface="Calibri" pitchFamily="34" charset="-120"/>
              </a:rPr>
              <a:t>Before:</a:t>
            </a:r>
            <a:r>
              <a:rPr lang="en-US" sz="1400" dirty="0">
                <a:solidFill>
                  <a:srgbClr val="B3261E"/>
                </a:solidFill>
                <a:latin typeface="Calibri" pitchFamily="34" charset="0"/>
                <a:ea typeface="Calibri" pitchFamily="34" charset="-122"/>
                <a:cs typeface="Calibri" pitchFamily="34" charset="-120"/>
              </a:rPr>
              <a:t> registers need K = {0, 1, 8, 9} → only 2-wide contiguous loads.</a:t>
            </a:r>
            <a:endParaRPr lang="en-US" sz="1400" dirty="0"/>
          </a:p>
        </p:txBody>
      </p:sp>
      <p:sp>
        <p:nvSpPr>
          <p:cNvPr id="140" name="callout"/>
          <p:cNvSpPr/>
          <p:nvPr/>
        </p:nvSpPr>
        <p:spPr>
          <a:xfrm>
            <a:off x="4389120" y="4892040"/>
            <a:ext cx="7315200" cy="822960"/>
          </a:xfrm>
          <a:prstGeom prst="roundRect">
            <a:avLst>
              <a:gd name="adj" fmla="val 8889"/>
            </a:avLst>
          </a:prstGeom>
          <a:solidFill>
            <a:srgbClr val="E3F2E4"/>
          </a:solidFill>
          <a:ln/>
        </p:spPr>
      </p:sp>
      <p:sp>
        <p:nvSpPr>
          <p:cNvPr id="141" name="callout-text"/>
          <p:cNvSpPr txBox="1"/>
          <p:nvPr/>
        </p:nvSpPr>
        <p:spPr>
          <a:xfrm>
            <a:off x="4526280" y="4946904"/>
            <a:ext cx="7040880" cy="713232"/>
          </a:xfrm>
          <a:prstGeom prst="rect">
            <a:avLst/>
          </a:prstGeom>
          <a:noFill/>
          <a:ln/>
        </p:spPr>
        <p:txBody>
          <a:bodyPr wrap="square" lIns="0" tIns="0" rIns="0" bIns="0" rtlCol="0" anchor="ctr"/>
          <a:lstStyle/>
          <a:p>
            <a:pPr algn="l" indent="0" marL="0">
              <a:buNone/>
            </a:pPr>
            <a:r>
              <a:rPr lang="en-US" sz="1400" b="1" dirty="0">
                <a:solidFill>
                  <a:srgbClr val="2E7D32"/>
                </a:solidFill>
                <a:latin typeface="Calibri" pitchFamily="34" charset="0"/>
                <a:ea typeface="Calibri" pitchFamily="34" charset="-122"/>
                <a:cs typeface="Calibri" pitchFamily="34" charset="-120"/>
              </a:rPr>
              <a:t>After:</a:t>
            </a:r>
            <a:r>
              <a:rPr lang="en-US" sz="1400" dirty="0">
                <a:solidFill>
                  <a:srgbClr val="2E7D32"/>
                </a:solidFill>
                <a:latin typeface="Calibri" pitchFamily="34" charset="0"/>
                <a:ea typeface="Calibri" pitchFamily="34" charset="-122"/>
                <a:cs typeface="Calibri" pitchFamily="34" charset="-120"/>
              </a:rPr>
              <a:t> same thread needs K′ = {0, 1, 2, 3} → wider vector load. The </a:t>
            </a:r>
            <a:r>
              <a:rPr lang="en-US" sz="1400" b="1" dirty="0">
                <a:solidFill>
                  <a:srgbClr val="2E7D32"/>
                </a:solidFill>
                <a:latin typeface="Calibri" pitchFamily="34" charset="0"/>
                <a:ea typeface="Calibri" pitchFamily="34" charset="-122"/>
                <a:cs typeface="Calibri" pitchFamily="34" charset="-120"/>
              </a:rPr>
              <a:t>other</a:t>
            </a:r>
            <a:r>
              <a:rPr lang="en-US" sz="1400" dirty="0">
                <a:solidFill>
                  <a:srgbClr val="2E7D32"/>
                </a:solidFill>
                <a:latin typeface="Calibri" pitchFamily="34" charset="0"/>
                <a:ea typeface="Calibri" pitchFamily="34" charset="-122"/>
                <a:cs typeface="Calibri" pitchFamily="34" charset="-120"/>
              </a:rPr>
              <a:t> operand (bf16) is stored pre-shuffled by Π once, in HBM.</a:t>
            </a:r>
            <a:endParaRPr lang="en-US" sz="1400" dirty="0"/>
          </a:p>
        </p:txBody>
      </p:sp>
      <p:sp>
        <p:nvSpPr>
          <p:cNvPr id="142" name="tag"/>
          <p:cNvSpPr txBox="1"/>
          <p:nvPr/>
        </p:nvSpPr>
        <p:spPr>
          <a:xfrm>
            <a:off x="50292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143" name="Text 140"/>
          <p:cNvSpPr txBox="1"/>
          <p:nvPr/>
        </p:nvSpPr>
        <p:spPr>
          <a:xfrm>
            <a:off x="4892040" y="5797296"/>
            <a:ext cx="6766560" cy="274320"/>
          </a:xfrm>
          <a:prstGeom prst="rect">
            <a:avLst/>
          </a:prstGeom>
          <a:noFill/>
          <a:ln/>
        </p:spPr>
        <p:txBody>
          <a:bodyPr wrap="square" lIns="0" tIns="0" rIns="0" bIns="0" rtlCol="0" anchor="t"/>
          <a:lstStyle/>
          <a:p>
            <a:pPr indent="0" marL="0">
              <a:buNone/>
            </a:pPr>
            <a:r>
              <a:rPr lang="en-US" sz="1100" i="1" dirty="0">
                <a:solidFill>
                  <a:srgbClr val="5B6770"/>
                </a:solidFill>
                <a:latin typeface="Calibri" pitchFamily="34" charset="0"/>
                <a:ea typeface="Calibri" pitchFamily="34" charset="-122"/>
                <a:cs typeface="Calibri" pitchFamily="34" charset="-120"/>
              </a:rPr>
              <a:t>Fragment from PTX mma.m16n8k16 (f16 A operand): a₀a₁ k-pair, a₄–a₇ at k+8.</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§5.3 · THEOREM 5.1</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Shared memory: L = A⁻¹ ∘ B, then test L /ℓ T</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§5.3 Theorem 5.1 and “Shared Memory Load and Store”, p. 139</a:t>
            </a:r>
            <a:endParaRPr lang="en-US" sz="1000" dirty="0"/>
          </a:p>
        </p:txBody>
      </p:sp>
      <p:sp>
        <p:nvSpPr>
          <p:cNvPr id="6" name="callout"/>
          <p:cNvSpPr/>
          <p:nvPr/>
        </p:nvSpPr>
        <p:spPr>
          <a:xfrm>
            <a:off x="502920" y="1234440"/>
            <a:ext cx="11201400" cy="960120"/>
          </a:xfrm>
          <a:prstGeom prst="roundRect">
            <a:avLst>
              <a:gd name="adj" fmla="val 7619"/>
            </a:avLst>
          </a:prstGeom>
          <a:solidFill>
            <a:srgbClr val="DDEFF1"/>
          </a:solidFill>
          <a:ln/>
        </p:spPr>
      </p:sp>
      <p:sp>
        <p:nvSpPr>
          <p:cNvPr id="7" name="callout-text"/>
          <p:cNvSpPr txBox="1"/>
          <p:nvPr/>
        </p:nvSpPr>
        <p:spPr>
          <a:xfrm>
            <a:off x="640080" y="1289304"/>
            <a:ext cx="10927080" cy="850392"/>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A</a:t>
            </a:r>
            <a:r>
              <a:rPr lang="en-US" sz="1500" dirty="0">
                <a:solidFill>
                  <a:srgbClr val="0A4F58"/>
                </a:solidFill>
                <a:latin typeface="Calibri" pitchFamily="34" charset="0"/>
                <a:ea typeface="Calibri" pitchFamily="34" charset="-122"/>
                <a:cs typeface="Calibri" pitchFamily="34" charset="-120"/>
              </a:rPr>
              <a:t>: offset → logical (memory, invertible).   </a:t>
            </a:r>
            <a:r>
              <a:rPr lang="en-US" sz="1500" b="1" dirty="0">
                <a:solidFill>
                  <a:srgbClr val="0A4F58"/>
                </a:solidFill>
                <a:latin typeface="Calibri" pitchFamily="34" charset="0"/>
                <a:ea typeface="Calibri" pitchFamily="34" charset="-122"/>
                <a:cs typeface="Calibri" pitchFamily="34" charset="-120"/>
              </a:rPr>
              <a:t>B</a:t>
            </a:r>
            <a:r>
              <a:rPr lang="en-US" sz="1500" dirty="0">
                <a:solidFill>
                  <a:srgbClr val="0A4F58"/>
                </a:solidFill>
                <a:latin typeface="Calibri" pitchFamily="34" charset="0"/>
                <a:ea typeface="Calibri" pitchFamily="34" charset="-122"/>
                <a:cs typeface="Calibri" pitchFamily="34" charset="-120"/>
              </a:rPr>
              <a:t>: (Reg,Thr,Wrp) → logical (distributed).   Hardware → offset:  </a:t>
            </a:r>
            <a:r>
              <a:rPr lang="en-US" sz="1500" b="1" dirty="0">
                <a:solidFill>
                  <a:srgbClr val="0A4F58"/>
                </a:solidFill>
                <a:latin typeface="Calibri" pitchFamily="34" charset="0"/>
                <a:ea typeface="Calibri" pitchFamily="34" charset="-122"/>
                <a:cs typeface="Calibri" pitchFamily="34" charset="-120"/>
              </a:rPr>
              <a:t>L = A⁻¹ ∘ B</a:t>
            </a:r>
            <a:r>
              <a:rPr lang="en-US" sz="1500" dirty="0">
                <a:solidFill>
                  <a:srgbClr val="0A4F58"/>
                </a:solidFill>
                <a:latin typeface="Calibri" pitchFamily="34" charset="0"/>
                <a:ea typeface="Calibri" pitchFamily="34" charset="-122"/>
                <a:cs typeface="Calibri" pitchFamily="34" charset="-120"/>
              </a:rPr>
              <a:t>.
</a:t>
            </a:r>
            <a:r>
              <a:rPr lang="en-US" sz="1500" b="1" dirty="0">
                <a:solidFill>
                  <a:srgbClr val="0A4F58"/>
                </a:solidFill>
                <a:latin typeface="Calibri" pitchFamily="34" charset="0"/>
                <a:ea typeface="Calibri" pitchFamily="34" charset="-122"/>
                <a:cs typeface="Calibri" pitchFamily="34" charset="-120"/>
              </a:rPr>
              <a:t>Theorem 5.1.</a:t>
            </a:r>
            <a:r>
              <a:rPr lang="en-US" sz="1500" dirty="0">
                <a:solidFill>
                  <a:srgbClr val="0A4F58"/>
                </a:solidFill>
                <a:latin typeface="Calibri" pitchFamily="34" charset="0"/>
                <a:ea typeface="Calibri" pitchFamily="34" charset="-122"/>
                <a:cs typeface="Calibri" pitchFamily="34" charset="-120"/>
              </a:rPr>
              <a:t> An instruction with tile </a:t>
            </a:r>
            <a:r>
              <a:rPr lang="en-US" sz="1500" b="1" dirty="0">
                <a:solidFill>
                  <a:srgbClr val="0A4F58"/>
                </a:solidFill>
                <a:latin typeface="Calibri" pitchFamily="34" charset="0"/>
                <a:ea typeface="Calibri" pitchFamily="34" charset="-122"/>
                <a:cs typeface="Calibri" pitchFamily="34" charset="-120"/>
              </a:rPr>
              <a:t>T</a:t>
            </a:r>
            <a:r>
              <a:rPr lang="en-US" sz="1500" dirty="0">
                <a:solidFill>
                  <a:srgbClr val="0A4F58"/>
                </a:solidFill>
                <a:latin typeface="Calibri" pitchFamily="34" charset="0"/>
                <a:ea typeface="Calibri" pitchFamily="34" charset="-122"/>
                <a:cs typeface="Calibri" pitchFamily="34" charset="-120"/>
              </a:rPr>
              <a:t> can lower L if </a:t>
            </a:r>
            <a:r>
              <a:rPr lang="en-US" sz="1500" b="1" dirty="0">
                <a:solidFill>
                  <a:srgbClr val="0A4F58"/>
                </a:solidFill>
                <a:latin typeface="Calibri" pitchFamily="34" charset="0"/>
                <a:ea typeface="Calibri" pitchFamily="34" charset="-122"/>
                <a:cs typeface="Calibri" pitchFamily="34" charset="-120"/>
              </a:rPr>
              <a:t>L /ℓ T</a:t>
            </a:r>
            <a:r>
              <a:rPr lang="en-US" sz="1500" dirty="0">
                <a:solidFill>
                  <a:srgbClr val="0A4F58"/>
                </a:solidFill>
                <a:latin typeface="Calibri" pitchFamily="34" charset="0"/>
                <a:ea typeface="Calibri" pitchFamily="34" charset="-122"/>
                <a:cs typeface="Calibri" pitchFamily="34" charset="-120"/>
              </a:rPr>
              <a:t> exists.</a:t>
            </a:r>
            <a:endParaRPr lang="en-US" sz="1500" dirty="0"/>
          </a:p>
        </p:txBody>
      </p:sp>
      <p:sp>
        <p:nvSpPr>
          <p:cNvPr id="8" name="mcell"/>
          <p:cNvSpPr txBox="1"/>
          <p:nvPr/>
        </p:nvSpPr>
        <p:spPr>
          <a:xfrm>
            <a:off x="1188720" y="292608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9" name="mcell"/>
          <p:cNvSpPr txBox="1"/>
          <p:nvPr/>
        </p:nvSpPr>
        <p:spPr>
          <a:xfrm>
            <a:off x="1572768"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 name="mcell"/>
          <p:cNvSpPr txBox="1"/>
          <p:nvPr/>
        </p:nvSpPr>
        <p:spPr>
          <a:xfrm>
            <a:off x="1956816"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2340864"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2" name="mcell"/>
          <p:cNvSpPr txBox="1"/>
          <p:nvPr/>
        </p:nvSpPr>
        <p:spPr>
          <a:xfrm>
            <a:off x="1188720"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 name="mcell"/>
          <p:cNvSpPr txBox="1"/>
          <p:nvPr/>
        </p:nvSpPr>
        <p:spPr>
          <a:xfrm>
            <a:off x="1572768" y="331012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4" name="mcell"/>
          <p:cNvSpPr txBox="1"/>
          <p:nvPr/>
        </p:nvSpPr>
        <p:spPr>
          <a:xfrm>
            <a:off x="1956816"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5" name="mcell"/>
          <p:cNvSpPr txBox="1"/>
          <p:nvPr/>
        </p:nvSpPr>
        <p:spPr>
          <a:xfrm>
            <a:off x="2340864"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1188720"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7" name="mcell"/>
          <p:cNvSpPr txBox="1"/>
          <p:nvPr/>
        </p:nvSpPr>
        <p:spPr>
          <a:xfrm>
            <a:off x="1572768"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1956816" y="369417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9" name="mcell"/>
          <p:cNvSpPr txBox="1"/>
          <p:nvPr/>
        </p:nvSpPr>
        <p:spPr>
          <a:xfrm>
            <a:off x="2340864"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0" name="mcell"/>
          <p:cNvSpPr txBox="1"/>
          <p:nvPr/>
        </p:nvSpPr>
        <p:spPr>
          <a:xfrm>
            <a:off x="1188720"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1572768"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2" name="mcell"/>
          <p:cNvSpPr txBox="1"/>
          <p:nvPr/>
        </p:nvSpPr>
        <p:spPr>
          <a:xfrm>
            <a:off x="1956816"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3" name="mcell"/>
          <p:cNvSpPr txBox="1"/>
          <p:nvPr/>
        </p:nvSpPr>
        <p:spPr>
          <a:xfrm>
            <a:off x="2340864" y="407822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4" name="mbr"/>
          <p:cNvSpPr/>
          <p:nvPr/>
        </p:nvSpPr>
        <p:spPr>
          <a:xfrm>
            <a:off x="1161288" y="2898648"/>
            <a:ext cx="0" cy="1591056"/>
          </a:xfrm>
          <a:prstGeom prst="line">
            <a:avLst/>
          </a:prstGeom>
          <a:noFill/>
          <a:ln w="15875">
            <a:solidFill>
              <a:srgbClr val="1E2A32"/>
            </a:solidFill>
            <a:prstDash val="solid"/>
          </a:ln>
        </p:spPr>
      </p:sp>
      <p:sp>
        <p:nvSpPr>
          <p:cNvPr id="25" name="mbr"/>
          <p:cNvSpPr/>
          <p:nvPr/>
        </p:nvSpPr>
        <p:spPr>
          <a:xfrm>
            <a:off x="1161288" y="2898648"/>
            <a:ext cx="73152" cy="0"/>
          </a:xfrm>
          <a:prstGeom prst="line">
            <a:avLst/>
          </a:prstGeom>
          <a:noFill/>
          <a:ln w="15875">
            <a:solidFill>
              <a:srgbClr val="1E2A32"/>
            </a:solidFill>
            <a:prstDash val="solid"/>
          </a:ln>
        </p:spPr>
      </p:sp>
      <p:sp>
        <p:nvSpPr>
          <p:cNvPr id="26" name="mbr"/>
          <p:cNvSpPr/>
          <p:nvPr/>
        </p:nvSpPr>
        <p:spPr>
          <a:xfrm>
            <a:off x="1161288" y="4489704"/>
            <a:ext cx="73152" cy="0"/>
          </a:xfrm>
          <a:prstGeom prst="line">
            <a:avLst/>
          </a:prstGeom>
          <a:noFill/>
          <a:ln w="15875">
            <a:solidFill>
              <a:srgbClr val="1E2A32"/>
            </a:solidFill>
            <a:prstDash val="solid"/>
          </a:ln>
        </p:spPr>
      </p:sp>
      <p:sp>
        <p:nvSpPr>
          <p:cNvPr id="27" name="mbr"/>
          <p:cNvSpPr/>
          <p:nvPr/>
        </p:nvSpPr>
        <p:spPr>
          <a:xfrm>
            <a:off x="2752344" y="2898648"/>
            <a:ext cx="0" cy="1591056"/>
          </a:xfrm>
          <a:prstGeom prst="line">
            <a:avLst/>
          </a:prstGeom>
          <a:noFill/>
          <a:ln w="15875">
            <a:solidFill>
              <a:srgbClr val="1E2A32"/>
            </a:solidFill>
            <a:prstDash val="solid"/>
          </a:ln>
        </p:spPr>
      </p:sp>
      <p:sp>
        <p:nvSpPr>
          <p:cNvPr id="28" name="mbr"/>
          <p:cNvSpPr/>
          <p:nvPr/>
        </p:nvSpPr>
        <p:spPr>
          <a:xfrm>
            <a:off x="2679192" y="2898648"/>
            <a:ext cx="73152" cy="0"/>
          </a:xfrm>
          <a:prstGeom prst="line">
            <a:avLst/>
          </a:prstGeom>
          <a:noFill/>
          <a:ln w="15875">
            <a:solidFill>
              <a:srgbClr val="1E2A32"/>
            </a:solidFill>
            <a:prstDash val="solid"/>
          </a:ln>
        </p:spPr>
      </p:sp>
      <p:sp>
        <p:nvSpPr>
          <p:cNvPr id="29" name="mbr"/>
          <p:cNvSpPr/>
          <p:nvPr/>
        </p:nvSpPr>
        <p:spPr>
          <a:xfrm>
            <a:off x="2679192" y="4489704"/>
            <a:ext cx="73152" cy="0"/>
          </a:xfrm>
          <a:prstGeom prst="line">
            <a:avLst/>
          </a:prstGeom>
          <a:noFill/>
          <a:ln w="15875">
            <a:solidFill>
              <a:srgbClr val="1E2A32"/>
            </a:solidFill>
            <a:prstDash val="solid"/>
          </a:ln>
        </p:spPr>
      </p:sp>
      <p:sp>
        <p:nvSpPr>
          <p:cNvPr id="30" name="mlab"/>
          <p:cNvSpPr txBox="1"/>
          <p:nvPr/>
        </p:nvSpPr>
        <p:spPr>
          <a:xfrm>
            <a:off x="1143000"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31" name="mlab"/>
          <p:cNvSpPr txBox="1"/>
          <p:nvPr/>
        </p:nvSpPr>
        <p:spPr>
          <a:xfrm>
            <a:off x="1527048"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32" name="mlab"/>
          <p:cNvSpPr txBox="1"/>
          <p:nvPr/>
        </p:nvSpPr>
        <p:spPr>
          <a:xfrm>
            <a:off x="1911096"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33" name="mlab"/>
          <p:cNvSpPr txBox="1"/>
          <p:nvPr/>
        </p:nvSpPr>
        <p:spPr>
          <a:xfrm>
            <a:off x="2295144"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34" name="mlab"/>
          <p:cNvSpPr txBox="1"/>
          <p:nvPr/>
        </p:nvSpPr>
        <p:spPr>
          <a:xfrm>
            <a:off x="786384" y="29260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o₀</a:t>
            </a:r>
            <a:endParaRPr lang="en-US" sz="1200" dirty="0"/>
          </a:p>
        </p:txBody>
      </p:sp>
      <p:sp>
        <p:nvSpPr>
          <p:cNvPr id="35" name="mlab"/>
          <p:cNvSpPr txBox="1"/>
          <p:nvPr/>
        </p:nvSpPr>
        <p:spPr>
          <a:xfrm>
            <a:off x="786384" y="33101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o₁</a:t>
            </a:r>
            <a:endParaRPr lang="en-US" sz="1200" dirty="0"/>
          </a:p>
        </p:txBody>
      </p:sp>
      <p:sp>
        <p:nvSpPr>
          <p:cNvPr id="36" name="mlab"/>
          <p:cNvSpPr txBox="1"/>
          <p:nvPr/>
        </p:nvSpPr>
        <p:spPr>
          <a:xfrm>
            <a:off x="786384" y="36941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o₂</a:t>
            </a:r>
            <a:endParaRPr lang="en-US" sz="1200" dirty="0"/>
          </a:p>
        </p:txBody>
      </p:sp>
      <p:sp>
        <p:nvSpPr>
          <p:cNvPr id="37" name="mlab"/>
          <p:cNvSpPr txBox="1"/>
          <p:nvPr/>
        </p:nvSpPr>
        <p:spPr>
          <a:xfrm>
            <a:off x="786384" y="40782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o₃</a:t>
            </a:r>
            <a:endParaRPr lang="en-US" sz="1200" dirty="0"/>
          </a:p>
        </p:txBody>
      </p:sp>
      <p:sp>
        <p:nvSpPr>
          <p:cNvPr id="38" name="mname"/>
          <p:cNvSpPr txBox="1"/>
          <p:nvPr/>
        </p:nvSpPr>
        <p:spPr>
          <a:xfrm>
            <a:off x="914400" y="451713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A⁻¹ (row-major)</a:t>
            </a:r>
            <a:endParaRPr lang="en-US" sz="1300" dirty="0"/>
          </a:p>
        </p:txBody>
      </p:sp>
      <p:sp>
        <p:nvSpPr>
          <p:cNvPr id="39" name="op"/>
          <p:cNvSpPr txBox="1"/>
          <p:nvPr/>
        </p:nvSpPr>
        <p:spPr>
          <a:xfrm>
            <a:off x="2770632" y="3465576"/>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40" name="mcell"/>
          <p:cNvSpPr txBox="1"/>
          <p:nvPr/>
        </p:nvSpPr>
        <p:spPr>
          <a:xfrm>
            <a:off x="3593592" y="292608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1" name="mcell"/>
          <p:cNvSpPr txBox="1"/>
          <p:nvPr/>
        </p:nvSpPr>
        <p:spPr>
          <a:xfrm>
            <a:off x="3977640"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2" name="mcell"/>
          <p:cNvSpPr txBox="1"/>
          <p:nvPr/>
        </p:nvSpPr>
        <p:spPr>
          <a:xfrm>
            <a:off x="4361688"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3" name="mcell"/>
          <p:cNvSpPr txBox="1"/>
          <p:nvPr/>
        </p:nvSpPr>
        <p:spPr>
          <a:xfrm>
            <a:off x="4745736"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4" name="mcell"/>
          <p:cNvSpPr txBox="1"/>
          <p:nvPr/>
        </p:nvSpPr>
        <p:spPr>
          <a:xfrm>
            <a:off x="3593592"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5" name="mcell"/>
          <p:cNvSpPr txBox="1"/>
          <p:nvPr/>
        </p:nvSpPr>
        <p:spPr>
          <a:xfrm>
            <a:off x="3977640" y="331012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6" name="mcell"/>
          <p:cNvSpPr txBox="1"/>
          <p:nvPr/>
        </p:nvSpPr>
        <p:spPr>
          <a:xfrm>
            <a:off x="4361688"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7" name="mcell"/>
          <p:cNvSpPr txBox="1"/>
          <p:nvPr/>
        </p:nvSpPr>
        <p:spPr>
          <a:xfrm>
            <a:off x="4745736"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8" name="mcell"/>
          <p:cNvSpPr txBox="1"/>
          <p:nvPr/>
        </p:nvSpPr>
        <p:spPr>
          <a:xfrm>
            <a:off x="3593592"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9" name="mcell"/>
          <p:cNvSpPr txBox="1"/>
          <p:nvPr/>
        </p:nvSpPr>
        <p:spPr>
          <a:xfrm>
            <a:off x="3977640"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4361688" y="369417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1" name="mcell"/>
          <p:cNvSpPr txBox="1"/>
          <p:nvPr/>
        </p:nvSpPr>
        <p:spPr>
          <a:xfrm>
            <a:off x="4745736"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2" name="mcell"/>
          <p:cNvSpPr txBox="1"/>
          <p:nvPr/>
        </p:nvSpPr>
        <p:spPr>
          <a:xfrm>
            <a:off x="3593592"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3" name="mcell"/>
          <p:cNvSpPr txBox="1"/>
          <p:nvPr/>
        </p:nvSpPr>
        <p:spPr>
          <a:xfrm>
            <a:off x="3977640"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4" name="mcell"/>
          <p:cNvSpPr txBox="1"/>
          <p:nvPr/>
        </p:nvSpPr>
        <p:spPr>
          <a:xfrm>
            <a:off x="4361688"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5" name="mcell"/>
          <p:cNvSpPr txBox="1"/>
          <p:nvPr/>
        </p:nvSpPr>
        <p:spPr>
          <a:xfrm>
            <a:off x="4745736" y="407822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6" name="msep"/>
          <p:cNvSpPr/>
          <p:nvPr/>
        </p:nvSpPr>
        <p:spPr>
          <a:xfrm>
            <a:off x="4361688" y="2944368"/>
            <a:ext cx="0" cy="1499616"/>
          </a:xfrm>
          <a:prstGeom prst="line">
            <a:avLst/>
          </a:prstGeom>
          <a:noFill/>
          <a:ln w="9525">
            <a:solidFill>
              <a:srgbClr val="5B6770"/>
            </a:solidFill>
            <a:prstDash val="dash"/>
          </a:ln>
        </p:spPr>
      </p:sp>
      <p:sp>
        <p:nvSpPr>
          <p:cNvPr id="57" name="mbr"/>
          <p:cNvSpPr/>
          <p:nvPr/>
        </p:nvSpPr>
        <p:spPr>
          <a:xfrm>
            <a:off x="3566160" y="2898648"/>
            <a:ext cx="0" cy="1591056"/>
          </a:xfrm>
          <a:prstGeom prst="line">
            <a:avLst/>
          </a:prstGeom>
          <a:noFill/>
          <a:ln w="15875">
            <a:solidFill>
              <a:srgbClr val="1E2A32"/>
            </a:solidFill>
            <a:prstDash val="solid"/>
          </a:ln>
        </p:spPr>
      </p:sp>
      <p:sp>
        <p:nvSpPr>
          <p:cNvPr id="58" name="mbr"/>
          <p:cNvSpPr/>
          <p:nvPr/>
        </p:nvSpPr>
        <p:spPr>
          <a:xfrm>
            <a:off x="3566160" y="2898648"/>
            <a:ext cx="73152" cy="0"/>
          </a:xfrm>
          <a:prstGeom prst="line">
            <a:avLst/>
          </a:prstGeom>
          <a:noFill/>
          <a:ln w="15875">
            <a:solidFill>
              <a:srgbClr val="1E2A32"/>
            </a:solidFill>
            <a:prstDash val="solid"/>
          </a:ln>
        </p:spPr>
      </p:sp>
      <p:sp>
        <p:nvSpPr>
          <p:cNvPr id="59" name="mbr"/>
          <p:cNvSpPr/>
          <p:nvPr/>
        </p:nvSpPr>
        <p:spPr>
          <a:xfrm>
            <a:off x="3566160" y="4489704"/>
            <a:ext cx="73152" cy="0"/>
          </a:xfrm>
          <a:prstGeom prst="line">
            <a:avLst/>
          </a:prstGeom>
          <a:noFill/>
          <a:ln w="15875">
            <a:solidFill>
              <a:srgbClr val="1E2A32"/>
            </a:solidFill>
            <a:prstDash val="solid"/>
          </a:ln>
        </p:spPr>
      </p:sp>
      <p:sp>
        <p:nvSpPr>
          <p:cNvPr id="60" name="mbr"/>
          <p:cNvSpPr/>
          <p:nvPr/>
        </p:nvSpPr>
        <p:spPr>
          <a:xfrm>
            <a:off x="5157216" y="2898648"/>
            <a:ext cx="0" cy="1591056"/>
          </a:xfrm>
          <a:prstGeom prst="line">
            <a:avLst/>
          </a:prstGeom>
          <a:noFill/>
          <a:ln w="15875">
            <a:solidFill>
              <a:srgbClr val="1E2A32"/>
            </a:solidFill>
            <a:prstDash val="solid"/>
          </a:ln>
        </p:spPr>
      </p:sp>
      <p:sp>
        <p:nvSpPr>
          <p:cNvPr id="61" name="mbr"/>
          <p:cNvSpPr/>
          <p:nvPr/>
        </p:nvSpPr>
        <p:spPr>
          <a:xfrm>
            <a:off x="5084064" y="2898648"/>
            <a:ext cx="73152" cy="0"/>
          </a:xfrm>
          <a:prstGeom prst="line">
            <a:avLst/>
          </a:prstGeom>
          <a:noFill/>
          <a:ln w="15875">
            <a:solidFill>
              <a:srgbClr val="1E2A32"/>
            </a:solidFill>
            <a:prstDash val="solid"/>
          </a:ln>
        </p:spPr>
      </p:sp>
      <p:sp>
        <p:nvSpPr>
          <p:cNvPr id="62" name="mbr"/>
          <p:cNvSpPr/>
          <p:nvPr/>
        </p:nvSpPr>
        <p:spPr>
          <a:xfrm>
            <a:off x="5084064" y="4489704"/>
            <a:ext cx="73152" cy="0"/>
          </a:xfrm>
          <a:prstGeom prst="line">
            <a:avLst/>
          </a:prstGeom>
          <a:noFill/>
          <a:ln w="15875">
            <a:solidFill>
              <a:srgbClr val="1E2A32"/>
            </a:solidFill>
            <a:prstDash val="solid"/>
          </a:ln>
        </p:spPr>
      </p:sp>
      <p:sp>
        <p:nvSpPr>
          <p:cNvPr id="63" name="mlab"/>
          <p:cNvSpPr txBox="1"/>
          <p:nvPr/>
        </p:nvSpPr>
        <p:spPr>
          <a:xfrm>
            <a:off x="3547872"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64" name="mlab"/>
          <p:cNvSpPr txBox="1"/>
          <p:nvPr/>
        </p:nvSpPr>
        <p:spPr>
          <a:xfrm>
            <a:off x="3931920"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65" name="mlab"/>
          <p:cNvSpPr txBox="1"/>
          <p:nvPr/>
        </p:nvSpPr>
        <p:spPr>
          <a:xfrm>
            <a:off x="4315968"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66" name="mlab"/>
          <p:cNvSpPr txBox="1"/>
          <p:nvPr/>
        </p:nvSpPr>
        <p:spPr>
          <a:xfrm>
            <a:off x="4700016"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67" name="mgrp"/>
          <p:cNvSpPr txBox="1"/>
          <p:nvPr/>
        </p:nvSpPr>
        <p:spPr>
          <a:xfrm>
            <a:off x="3593592" y="245059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68" name="mgrp"/>
          <p:cNvSpPr txBox="1"/>
          <p:nvPr/>
        </p:nvSpPr>
        <p:spPr>
          <a:xfrm>
            <a:off x="4361688" y="245059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69" name="mlab"/>
          <p:cNvSpPr txBox="1"/>
          <p:nvPr/>
        </p:nvSpPr>
        <p:spPr>
          <a:xfrm>
            <a:off x="3191256" y="29260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j₀</a:t>
            </a:r>
            <a:endParaRPr lang="en-US" sz="1200" dirty="0"/>
          </a:p>
        </p:txBody>
      </p:sp>
      <p:sp>
        <p:nvSpPr>
          <p:cNvPr id="70" name="mlab"/>
          <p:cNvSpPr txBox="1"/>
          <p:nvPr/>
        </p:nvSpPr>
        <p:spPr>
          <a:xfrm>
            <a:off x="3191256" y="33101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j₁</a:t>
            </a:r>
            <a:endParaRPr lang="en-US" sz="1200" dirty="0"/>
          </a:p>
        </p:txBody>
      </p:sp>
      <p:sp>
        <p:nvSpPr>
          <p:cNvPr id="71" name="mlab"/>
          <p:cNvSpPr txBox="1"/>
          <p:nvPr/>
        </p:nvSpPr>
        <p:spPr>
          <a:xfrm>
            <a:off x="3191256" y="36941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i₀</a:t>
            </a:r>
            <a:endParaRPr lang="en-US" sz="1200" dirty="0"/>
          </a:p>
        </p:txBody>
      </p:sp>
      <p:sp>
        <p:nvSpPr>
          <p:cNvPr id="72" name="mlab"/>
          <p:cNvSpPr txBox="1"/>
          <p:nvPr/>
        </p:nvSpPr>
        <p:spPr>
          <a:xfrm>
            <a:off x="3191256" y="40782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i₁</a:t>
            </a:r>
            <a:endParaRPr lang="en-US" sz="1200" dirty="0"/>
          </a:p>
        </p:txBody>
      </p:sp>
      <p:sp>
        <p:nvSpPr>
          <p:cNvPr id="73" name="mname"/>
          <p:cNvSpPr txBox="1"/>
          <p:nvPr/>
        </p:nvSpPr>
        <p:spPr>
          <a:xfrm>
            <a:off x="3319272" y="451713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 (thread t owns row t)</a:t>
            </a:r>
            <a:endParaRPr lang="en-US" sz="1300" dirty="0"/>
          </a:p>
        </p:txBody>
      </p:sp>
      <p:sp>
        <p:nvSpPr>
          <p:cNvPr id="74" name="op"/>
          <p:cNvSpPr txBox="1"/>
          <p:nvPr/>
        </p:nvSpPr>
        <p:spPr>
          <a:xfrm>
            <a:off x="5175504" y="346557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75" name="mcell"/>
          <p:cNvSpPr txBox="1"/>
          <p:nvPr/>
        </p:nvSpPr>
        <p:spPr>
          <a:xfrm>
            <a:off x="5998464" y="2926080"/>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6" name="mcell"/>
          <p:cNvSpPr txBox="1"/>
          <p:nvPr/>
        </p:nvSpPr>
        <p:spPr>
          <a:xfrm>
            <a:off x="6382512" y="2926080"/>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77" name="mcell"/>
          <p:cNvSpPr txBox="1"/>
          <p:nvPr/>
        </p:nvSpPr>
        <p:spPr>
          <a:xfrm>
            <a:off x="6766560"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8" name="mcell"/>
          <p:cNvSpPr txBox="1"/>
          <p:nvPr/>
        </p:nvSpPr>
        <p:spPr>
          <a:xfrm>
            <a:off x="7150608" y="29260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9" name="mcell"/>
          <p:cNvSpPr txBox="1"/>
          <p:nvPr/>
        </p:nvSpPr>
        <p:spPr>
          <a:xfrm>
            <a:off x="5998464" y="3310128"/>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0" name="mcell"/>
          <p:cNvSpPr txBox="1"/>
          <p:nvPr/>
        </p:nvSpPr>
        <p:spPr>
          <a:xfrm>
            <a:off x="6382512" y="3310128"/>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1" name="mcell"/>
          <p:cNvSpPr txBox="1"/>
          <p:nvPr/>
        </p:nvSpPr>
        <p:spPr>
          <a:xfrm>
            <a:off x="6766560"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2" name="mcell"/>
          <p:cNvSpPr txBox="1"/>
          <p:nvPr/>
        </p:nvSpPr>
        <p:spPr>
          <a:xfrm>
            <a:off x="7150608" y="33101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3" name="mcell"/>
          <p:cNvSpPr txBox="1"/>
          <p:nvPr/>
        </p:nvSpPr>
        <p:spPr>
          <a:xfrm>
            <a:off x="5998464"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4" name="mcell"/>
          <p:cNvSpPr txBox="1"/>
          <p:nvPr/>
        </p:nvSpPr>
        <p:spPr>
          <a:xfrm>
            <a:off x="6382512"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5" name="mcell"/>
          <p:cNvSpPr txBox="1"/>
          <p:nvPr/>
        </p:nvSpPr>
        <p:spPr>
          <a:xfrm>
            <a:off x="6766560" y="369417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6" name="mcell"/>
          <p:cNvSpPr txBox="1"/>
          <p:nvPr/>
        </p:nvSpPr>
        <p:spPr>
          <a:xfrm>
            <a:off x="7150608" y="36941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7" name="mcell"/>
          <p:cNvSpPr txBox="1"/>
          <p:nvPr/>
        </p:nvSpPr>
        <p:spPr>
          <a:xfrm>
            <a:off x="5998464"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8" name="mcell"/>
          <p:cNvSpPr txBox="1"/>
          <p:nvPr/>
        </p:nvSpPr>
        <p:spPr>
          <a:xfrm>
            <a:off x="6382512"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9" name="mcell"/>
          <p:cNvSpPr txBox="1"/>
          <p:nvPr/>
        </p:nvSpPr>
        <p:spPr>
          <a:xfrm>
            <a:off x="6766560" y="40782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0" name="mcell"/>
          <p:cNvSpPr txBox="1"/>
          <p:nvPr/>
        </p:nvSpPr>
        <p:spPr>
          <a:xfrm>
            <a:off x="7150608" y="407822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91" name="msep"/>
          <p:cNvSpPr/>
          <p:nvPr/>
        </p:nvSpPr>
        <p:spPr>
          <a:xfrm>
            <a:off x="6766560" y="2944368"/>
            <a:ext cx="0" cy="1499616"/>
          </a:xfrm>
          <a:prstGeom prst="line">
            <a:avLst/>
          </a:prstGeom>
          <a:noFill/>
          <a:ln w="9525">
            <a:solidFill>
              <a:srgbClr val="5B6770"/>
            </a:solidFill>
            <a:prstDash val="dash"/>
          </a:ln>
        </p:spPr>
      </p:sp>
      <p:sp>
        <p:nvSpPr>
          <p:cNvPr id="92" name="msep"/>
          <p:cNvSpPr/>
          <p:nvPr/>
        </p:nvSpPr>
        <p:spPr>
          <a:xfrm>
            <a:off x="6016752" y="3694176"/>
            <a:ext cx="1499616" cy="0"/>
          </a:xfrm>
          <a:prstGeom prst="line">
            <a:avLst/>
          </a:prstGeom>
          <a:noFill/>
          <a:ln w="9525">
            <a:solidFill>
              <a:srgbClr val="5B6770"/>
            </a:solidFill>
            <a:prstDash val="dash"/>
          </a:ln>
        </p:spPr>
      </p:sp>
      <p:sp>
        <p:nvSpPr>
          <p:cNvPr id="93" name="mbr"/>
          <p:cNvSpPr/>
          <p:nvPr/>
        </p:nvSpPr>
        <p:spPr>
          <a:xfrm>
            <a:off x="5971032" y="2898648"/>
            <a:ext cx="0" cy="1591056"/>
          </a:xfrm>
          <a:prstGeom prst="line">
            <a:avLst/>
          </a:prstGeom>
          <a:noFill/>
          <a:ln w="15875">
            <a:solidFill>
              <a:srgbClr val="1E2A32"/>
            </a:solidFill>
            <a:prstDash val="solid"/>
          </a:ln>
        </p:spPr>
      </p:sp>
      <p:sp>
        <p:nvSpPr>
          <p:cNvPr id="94" name="mbr"/>
          <p:cNvSpPr/>
          <p:nvPr/>
        </p:nvSpPr>
        <p:spPr>
          <a:xfrm>
            <a:off x="5971032" y="2898648"/>
            <a:ext cx="73152" cy="0"/>
          </a:xfrm>
          <a:prstGeom prst="line">
            <a:avLst/>
          </a:prstGeom>
          <a:noFill/>
          <a:ln w="15875">
            <a:solidFill>
              <a:srgbClr val="1E2A32"/>
            </a:solidFill>
            <a:prstDash val="solid"/>
          </a:ln>
        </p:spPr>
      </p:sp>
      <p:sp>
        <p:nvSpPr>
          <p:cNvPr id="95" name="mbr"/>
          <p:cNvSpPr/>
          <p:nvPr/>
        </p:nvSpPr>
        <p:spPr>
          <a:xfrm>
            <a:off x="5971032" y="4489704"/>
            <a:ext cx="73152" cy="0"/>
          </a:xfrm>
          <a:prstGeom prst="line">
            <a:avLst/>
          </a:prstGeom>
          <a:noFill/>
          <a:ln w="15875">
            <a:solidFill>
              <a:srgbClr val="1E2A32"/>
            </a:solidFill>
            <a:prstDash val="solid"/>
          </a:ln>
        </p:spPr>
      </p:sp>
      <p:sp>
        <p:nvSpPr>
          <p:cNvPr id="96" name="mbr"/>
          <p:cNvSpPr/>
          <p:nvPr/>
        </p:nvSpPr>
        <p:spPr>
          <a:xfrm>
            <a:off x="7562088" y="2898648"/>
            <a:ext cx="0" cy="1591056"/>
          </a:xfrm>
          <a:prstGeom prst="line">
            <a:avLst/>
          </a:prstGeom>
          <a:noFill/>
          <a:ln w="15875">
            <a:solidFill>
              <a:srgbClr val="1E2A32"/>
            </a:solidFill>
            <a:prstDash val="solid"/>
          </a:ln>
        </p:spPr>
      </p:sp>
      <p:sp>
        <p:nvSpPr>
          <p:cNvPr id="97" name="mbr"/>
          <p:cNvSpPr/>
          <p:nvPr/>
        </p:nvSpPr>
        <p:spPr>
          <a:xfrm>
            <a:off x="7488936" y="2898648"/>
            <a:ext cx="73152" cy="0"/>
          </a:xfrm>
          <a:prstGeom prst="line">
            <a:avLst/>
          </a:prstGeom>
          <a:noFill/>
          <a:ln w="15875">
            <a:solidFill>
              <a:srgbClr val="1E2A32"/>
            </a:solidFill>
            <a:prstDash val="solid"/>
          </a:ln>
        </p:spPr>
      </p:sp>
      <p:sp>
        <p:nvSpPr>
          <p:cNvPr id="98" name="mbr"/>
          <p:cNvSpPr/>
          <p:nvPr/>
        </p:nvSpPr>
        <p:spPr>
          <a:xfrm>
            <a:off x="7488936" y="4489704"/>
            <a:ext cx="73152" cy="0"/>
          </a:xfrm>
          <a:prstGeom prst="line">
            <a:avLst/>
          </a:prstGeom>
          <a:noFill/>
          <a:ln w="15875">
            <a:solidFill>
              <a:srgbClr val="1E2A32"/>
            </a:solidFill>
            <a:prstDash val="solid"/>
          </a:ln>
        </p:spPr>
      </p:sp>
      <p:sp>
        <p:nvSpPr>
          <p:cNvPr id="99" name="mlab"/>
          <p:cNvSpPr txBox="1"/>
          <p:nvPr/>
        </p:nvSpPr>
        <p:spPr>
          <a:xfrm>
            <a:off x="5952744"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100" name="mlab"/>
          <p:cNvSpPr txBox="1"/>
          <p:nvPr/>
        </p:nvSpPr>
        <p:spPr>
          <a:xfrm>
            <a:off x="6336792"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101" name="mlab"/>
          <p:cNvSpPr txBox="1"/>
          <p:nvPr/>
        </p:nvSpPr>
        <p:spPr>
          <a:xfrm>
            <a:off x="6720840"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102" name="mlab"/>
          <p:cNvSpPr txBox="1"/>
          <p:nvPr/>
        </p:nvSpPr>
        <p:spPr>
          <a:xfrm>
            <a:off x="7104888" y="26883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103" name="mgrp"/>
          <p:cNvSpPr txBox="1"/>
          <p:nvPr/>
        </p:nvSpPr>
        <p:spPr>
          <a:xfrm>
            <a:off x="5998464" y="245059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104" name="mgrp"/>
          <p:cNvSpPr txBox="1"/>
          <p:nvPr/>
        </p:nvSpPr>
        <p:spPr>
          <a:xfrm>
            <a:off x="6766560" y="245059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105" name="mlab"/>
          <p:cNvSpPr txBox="1"/>
          <p:nvPr/>
        </p:nvSpPr>
        <p:spPr>
          <a:xfrm>
            <a:off x="5596128" y="29260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o₀</a:t>
            </a:r>
            <a:endParaRPr lang="en-US" sz="1200" dirty="0"/>
          </a:p>
        </p:txBody>
      </p:sp>
      <p:sp>
        <p:nvSpPr>
          <p:cNvPr id="106" name="mlab"/>
          <p:cNvSpPr txBox="1"/>
          <p:nvPr/>
        </p:nvSpPr>
        <p:spPr>
          <a:xfrm>
            <a:off x="5596128" y="33101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o₁</a:t>
            </a:r>
            <a:endParaRPr lang="en-US" sz="1200" dirty="0"/>
          </a:p>
        </p:txBody>
      </p:sp>
      <p:sp>
        <p:nvSpPr>
          <p:cNvPr id="107" name="mlab"/>
          <p:cNvSpPr txBox="1"/>
          <p:nvPr/>
        </p:nvSpPr>
        <p:spPr>
          <a:xfrm>
            <a:off x="5596128" y="36941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o₂</a:t>
            </a:r>
            <a:endParaRPr lang="en-US" sz="1200" dirty="0"/>
          </a:p>
        </p:txBody>
      </p:sp>
      <p:sp>
        <p:nvSpPr>
          <p:cNvPr id="108" name="mlab"/>
          <p:cNvSpPr txBox="1"/>
          <p:nvPr/>
        </p:nvSpPr>
        <p:spPr>
          <a:xfrm>
            <a:off x="5596128" y="40782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o₃</a:t>
            </a:r>
            <a:endParaRPr lang="en-US" sz="1200" dirty="0"/>
          </a:p>
        </p:txBody>
      </p:sp>
      <p:sp>
        <p:nvSpPr>
          <p:cNvPr id="109" name="mname"/>
          <p:cNvSpPr txBox="1"/>
          <p:nvPr/>
        </p:nvSpPr>
        <p:spPr>
          <a:xfrm>
            <a:off x="5724144" y="451713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 A⁻¹B</a:t>
            </a:r>
            <a:endParaRPr lang="en-US" sz="1300" dirty="0"/>
          </a:p>
        </p:txBody>
      </p:sp>
      <p:sp>
        <p:nvSpPr>
          <p:cNvPr id="110" name="panel"/>
          <p:cNvSpPr/>
          <p:nvPr/>
        </p:nvSpPr>
        <p:spPr>
          <a:xfrm>
            <a:off x="8549640" y="2423160"/>
            <a:ext cx="3154680" cy="2331720"/>
          </a:xfrm>
          <a:prstGeom prst="roundRect">
            <a:avLst>
              <a:gd name="adj" fmla="val 3137"/>
            </a:avLst>
          </a:prstGeom>
          <a:solidFill>
            <a:srgbClr val="E3F2E4"/>
          </a:solidFill>
          <a:ln/>
        </p:spPr>
      </p:sp>
      <p:sp>
        <p:nvSpPr>
          <p:cNvPr id="111" name="Text 108"/>
          <p:cNvSpPr txBox="1"/>
          <p:nvPr/>
        </p:nvSpPr>
        <p:spPr>
          <a:xfrm>
            <a:off x="8686800" y="2514600"/>
            <a:ext cx="2926080" cy="2148840"/>
          </a:xfrm>
          <a:prstGeom prst="rect">
            <a:avLst/>
          </a:prstGeom>
          <a:noFill/>
          <a:ln/>
        </p:spPr>
        <p:txBody>
          <a:bodyPr wrap="square" lIns="0" tIns="0" rIns="0" bIns="0" rtlCol="0" anchor="ctr"/>
          <a:lstStyle/>
          <a:p>
            <a:pPr indent="0" marL="0">
              <a:buNone/>
            </a:pPr>
            <a:r>
              <a:rPr lang="en-US" sz="1400" b="1" dirty="0">
                <a:solidFill>
                  <a:srgbClr val="2E7D32"/>
                </a:solidFill>
                <a:latin typeface="Calibri" pitchFamily="34" charset="0"/>
                <a:ea typeface="Calibri" pitchFamily="34" charset="-122"/>
                <a:cs typeface="Calibri" pitchFamily="34" charset="-120"/>
              </a:rPr>
              <a:t>T = id₂ (Reg → o₀,o₁)</a:t>
            </a:r>
            <a:endParaRPr lang="en-US" sz="1400" dirty="0"/>
          </a:p>
          <a:p>
            <a:pPr indent="0" marL="0">
              <a:buNone/>
            </a:pPr>
            <a:r>
              <a:rPr lang="en-US" sz="1400" dirty="0">
                <a:solidFill>
                  <a:srgbClr val="2E7D32"/>
                </a:solidFill>
                <a:latin typeface="Calibri" pitchFamily="34" charset="0"/>
                <a:ea typeface="Calibri" pitchFamily="34" charset="-122"/>
                <a:cs typeface="Calibri" pitchFamily="34" charset="-120"/>
              </a:rPr>
              <a:t>v4.b32: 4 × 32 bits = 128 bits</a:t>
            </a:r>
            <a:endParaRPr lang="en-US" sz="1400" dirty="0"/>
          </a:p>
          <a:p>
            <a:pPr indent="0" marL="0">
              <a:buNone/>
            </a:pPr>
            <a:r>
              <a:rPr lang="en-US" sz="1400" b="1" dirty="0">
                <a:solidFill>
                  <a:srgbClr val="2E7D32"/>
                </a:solidFill>
                <a:latin typeface="Calibri" pitchFamily="34" charset="0"/>
                <a:ea typeface="Calibri" pitchFamily="34" charset="-122"/>
                <a:cs typeface="Calibri" pitchFamily="34" charset="-120"/>
              </a:rPr>
              <a:t>L /ℓ T = id₂ (Thr → o₂,o₃) ✓</a:t>
            </a:r>
            <a:endParaRPr lang="en-US" sz="1400" dirty="0"/>
          </a:p>
          <a:p>
            <a:pPr indent="0" marL="0">
              <a:buNone/>
            </a:pPr>
            <a:r>
              <a:rPr lang="en-US" sz="1400" dirty="0">
                <a:solidFill>
                  <a:srgbClr val="2E7D32"/>
                </a:solidFill>
                <a:latin typeface="Calibri" pitchFamily="34" charset="0"/>
                <a:ea typeface="Calibri" pitchFamily="34" charset="-122"/>
                <a:cs typeface="Calibri" pitchFamily="34" charset="-120"/>
              </a:rPr>
              <a:t>Thread t: one st.shared.v4.b32 at offsets 4t … 4t+3</a:t>
            </a:r>
            <a:endParaRPr lang="en-US" sz="1400" dirty="0"/>
          </a:p>
        </p:txBody>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1188720" y="5074920"/>
          <a:ext cx="5029200" cy="914400"/>
        </p:xfrm>
        <a:graphic>
          <a:graphicData uri="http://schemas.openxmlformats.org/drawingml/2006/table">
            <a:tbl>
              <a:tblPr/>
              <a:tblGrid>
                <a:gridCol w="1005840"/>
                <a:gridCol w="1005840"/>
                <a:gridCol w="1005840"/>
                <a:gridCol w="1005840"/>
                <a:gridCol w="1005840"/>
              </a:tblGrid>
              <a:tr h="310896">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thread</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t₀</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t₁</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t₂</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t₃</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10896">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offsets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8–11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12–15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113" name="tag"/>
          <p:cNvSpPr txBox="1"/>
          <p:nvPr/>
        </p:nvSpPr>
        <p:spPr>
          <a:xfrm>
            <a:off x="6583680" y="5120640"/>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§5.3 · THEOREM 5.1, SECOND CASE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Same registers, swizzled memory: only 2-wide vectors fit</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§5.3 Theorem 5.1, p. 139; swizzle of Definition 4.11 (vec = 2, per_phase = 1, max_phase = 2)</a:t>
            </a:r>
            <a:endParaRPr lang="en-US" sz="1000" dirty="0"/>
          </a:p>
        </p:txBody>
      </p:sp>
      <p:sp>
        <p:nvSpPr>
          <p:cNvPr id="6" name="mcell"/>
          <p:cNvSpPr txBox="1"/>
          <p:nvPr/>
        </p:nvSpPr>
        <p:spPr>
          <a:xfrm>
            <a:off x="1325880" y="2103120"/>
            <a:ext cx="457200" cy="457200"/>
          </a:xfrm>
          <a:prstGeom prst="rect">
            <a:avLst/>
          </a:prstGeom>
          <a:solidFill>
            <a:srgbClr val="E3F2E4"/>
          </a:solid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7" name="mcell"/>
          <p:cNvSpPr txBox="1"/>
          <p:nvPr/>
        </p:nvSpPr>
        <p:spPr>
          <a:xfrm>
            <a:off x="1783080" y="21031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8" name="mcell"/>
          <p:cNvSpPr txBox="1"/>
          <p:nvPr/>
        </p:nvSpPr>
        <p:spPr>
          <a:xfrm>
            <a:off x="2240280" y="21031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9" name="mcell"/>
          <p:cNvSpPr txBox="1"/>
          <p:nvPr/>
        </p:nvSpPr>
        <p:spPr>
          <a:xfrm>
            <a:off x="2697480" y="21031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0" name="mcell"/>
          <p:cNvSpPr txBox="1"/>
          <p:nvPr/>
        </p:nvSpPr>
        <p:spPr>
          <a:xfrm>
            <a:off x="1325880" y="25603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1" name="mcell"/>
          <p:cNvSpPr txBox="1"/>
          <p:nvPr/>
        </p:nvSpPr>
        <p:spPr>
          <a:xfrm>
            <a:off x="1783080" y="256032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2" name="mcell"/>
          <p:cNvSpPr txBox="1"/>
          <p:nvPr/>
        </p:nvSpPr>
        <p:spPr>
          <a:xfrm>
            <a:off x="2240280" y="2560320"/>
            <a:ext cx="457200" cy="457200"/>
          </a:xfrm>
          <a:prstGeom prst="rect">
            <a:avLst/>
          </a:prstGeom>
          <a:solidFill>
            <a:srgbClr val="FBE3E1"/>
          </a:solid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3" name="mcell"/>
          <p:cNvSpPr txBox="1"/>
          <p:nvPr/>
        </p:nvSpPr>
        <p:spPr>
          <a:xfrm>
            <a:off x="2697480" y="25603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4" name="mcell"/>
          <p:cNvSpPr txBox="1"/>
          <p:nvPr/>
        </p:nvSpPr>
        <p:spPr>
          <a:xfrm>
            <a:off x="1325880" y="30175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5" name="mcell"/>
          <p:cNvSpPr txBox="1"/>
          <p:nvPr/>
        </p:nvSpPr>
        <p:spPr>
          <a:xfrm>
            <a:off x="1783080" y="30175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6" name="mcell"/>
          <p:cNvSpPr txBox="1"/>
          <p:nvPr/>
        </p:nvSpPr>
        <p:spPr>
          <a:xfrm>
            <a:off x="2240280" y="301752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17" name="mcell"/>
          <p:cNvSpPr txBox="1"/>
          <p:nvPr/>
        </p:nvSpPr>
        <p:spPr>
          <a:xfrm>
            <a:off x="2697480" y="30175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8" name="mcell"/>
          <p:cNvSpPr txBox="1"/>
          <p:nvPr/>
        </p:nvSpPr>
        <p:spPr>
          <a:xfrm>
            <a:off x="1325880" y="34747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19" name="mcell"/>
          <p:cNvSpPr txBox="1"/>
          <p:nvPr/>
        </p:nvSpPr>
        <p:spPr>
          <a:xfrm>
            <a:off x="1783080" y="34747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0" name="mcell"/>
          <p:cNvSpPr txBox="1"/>
          <p:nvPr/>
        </p:nvSpPr>
        <p:spPr>
          <a:xfrm>
            <a:off x="2240280" y="3474720"/>
            <a:ext cx="457200" cy="457200"/>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21" name="mcell"/>
          <p:cNvSpPr txBox="1"/>
          <p:nvPr/>
        </p:nvSpPr>
        <p:spPr>
          <a:xfrm>
            <a:off x="2697480" y="3474720"/>
            <a:ext cx="457200" cy="457200"/>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22" name="msep"/>
          <p:cNvSpPr/>
          <p:nvPr/>
        </p:nvSpPr>
        <p:spPr>
          <a:xfrm>
            <a:off x="2240280" y="2121408"/>
            <a:ext cx="0" cy="1792224"/>
          </a:xfrm>
          <a:prstGeom prst="line">
            <a:avLst/>
          </a:prstGeom>
          <a:noFill/>
          <a:ln w="9525">
            <a:solidFill>
              <a:srgbClr val="5B6770"/>
            </a:solidFill>
            <a:prstDash val="dash"/>
          </a:ln>
        </p:spPr>
      </p:sp>
      <p:sp>
        <p:nvSpPr>
          <p:cNvPr id="23" name="msep"/>
          <p:cNvSpPr/>
          <p:nvPr/>
        </p:nvSpPr>
        <p:spPr>
          <a:xfrm>
            <a:off x="1344168" y="3017520"/>
            <a:ext cx="1792224" cy="0"/>
          </a:xfrm>
          <a:prstGeom prst="line">
            <a:avLst/>
          </a:prstGeom>
          <a:noFill/>
          <a:ln w="9525">
            <a:solidFill>
              <a:srgbClr val="5B6770"/>
            </a:solidFill>
            <a:prstDash val="dash"/>
          </a:ln>
        </p:spPr>
      </p:sp>
      <p:sp>
        <p:nvSpPr>
          <p:cNvPr id="24" name="mbr"/>
          <p:cNvSpPr/>
          <p:nvPr/>
        </p:nvSpPr>
        <p:spPr>
          <a:xfrm>
            <a:off x="1298448" y="2075688"/>
            <a:ext cx="0" cy="1883664"/>
          </a:xfrm>
          <a:prstGeom prst="line">
            <a:avLst/>
          </a:prstGeom>
          <a:noFill/>
          <a:ln w="15875">
            <a:solidFill>
              <a:srgbClr val="1E2A32"/>
            </a:solidFill>
            <a:prstDash val="solid"/>
          </a:ln>
        </p:spPr>
      </p:sp>
      <p:sp>
        <p:nvSpPr>
          <p:cNvPr id="25" name="mbr"/>
          <p:cNvSpPr/>
          <p:nvPr/>
        </p:nvSpPr>
        <p:spPr>
          <a:xfrm>
            <a:off x="1298448" y="2075688"/>
            <a:ext cx="73152" cy="0"/>
          </a:xfrm>
          <a:prstGeom prst="line">
            <a:avLst/>
          </a:prstGeom>
          <a:noFill/>
          <a:ln w="15875">
            <a:solidFill>
              <a:srgbClr val="1E2A32"/>
            </a:solidFill>
            <a:prstDash val="solid"/>
          </a:ln>
        </p:spPr>
      </p:sp>
      <p:sp>
        <p:nvSpPr>
          <p:cNvPr id="26" name="mbr"/>
          <p:cNvSpPr/>
          <p:nvPr/>
        </p:nvSpPr>
        <p:spPr>
          <a:xfrm>
            <a:off x="1298448" y="3959352"/>
            <a:ext cx="73152" cy="0"/>
          </a:xfrm>
          <a:prstGeom prst="line">
            <a:avLst/>
          </a:prstGeom>
          <a:noFill/>
          <a:ln w="15875">
            <a:solidFill>
              <a:srgbClr val="1E2A32"/>
            </a:solidFill>
            <a:prstDash val="solid"/>
          </a:ln>
        </p:spPr>
      </p:sp>
      <p:sp>
        <p:nvSpPr>
          <p:cNvPr id="27" name="mbr"/>
          <p:cNvSpPr/>
          <p:nvPr/>
        </p:nvSpPr>
        <p:spPr>
          <a:xfrm>
            <a:off x="3182112" y="2075688"/>
            <a:ext cx="0" cy="1883664"/>
          </a:xfrm>
          <a:prstGeom prst="line">
            <a:avLst/>
          </a:prstGeom>
          <a:noFill/>
          <a:ln w="15875">
            <a:solidFill>
              <a:srgbClr val="1E2A32"/>
            </a:solidFill>
            <a:prstDash val="solid"/>
          </a:ln>
        </p:spPr>
      </p:sp>
      <p:sp>
        <p:nvSpPr>
          <p:cNvPr id="28" name="mbr"/>
          <p:cNvSpPr/>
          <p:nvPr/>
        </p:nvSpPr>
        <p:spPr>
          <a:xfrm>
            <a:off x="3108960" y="2075688"/>
            <a:ext cx="73152" cy="0"/>
          </a:xfrm>
          <a:prstGeom prst="line">
            <a:avLst/>
          </a:prstGeom>
          <a:noFill/>
          <a:ln w="15875">
            <a:solidFill>
              <a:srgbClr val="1E2A32"/>
            </a:solidFill>
            <a:prstDash val="solid"/>
          </a:ln>
        </p:spPr>
      </p:sp>
      <p:sp>
        <p:nvSpPr>
          <p:cNvPr id="29" name="mbr"/>
          <p:cNvSpPr/>
          <p:nvPr/>
        </p:nvSpPr>
        <p:spPr>
          <a:xfrm>
            <a:off x="3108960" y="3959352"/>
            <a:ext cx="73152" cy="0"/>
          </a:xfrm>
          <a:prstGeom prst="line">
            <a:avLst/>
          </a:prstGeom>
          <a:noFill/>
          <a:ln w="15875">
            <a:solidFill>
              <a:srgbClr val="1E2A32"/>
            </a:solidFill>
            <a:prstDash val="solid"/>
          </a:ln>
        </p:spPr>
      </p:sp>
      <p:sp>
        <p:nvSpPr>
          <p:cNvPr id="30" name="mlab"/>
          <p:cNvSpPr txBox="1"/>
          <p:nvPr/>
        </p:nvSpPr>
        <p:spPr>
          <a:xfrm>
            <a:off x="1280160" y="186537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r₀</a:t>
            </a:r>
            <a:endParaRPr lang="en-US" sz="1400" dirty="0"/>
          </a:p>
        </p:txBody>
      </p:sp>
      <p:sp>
        <p:nvSpPr>
          <p:cNvPr id="31" name="mlab"/>
          <p:cNvSpPr txBox="1"/>
          <p:nvPr/>
        </p:nvSpPr>
        <p:spPr>
          <a:xfrm>
            <a:off x="1737360" y="186537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r₁</a:t>
            </a:r>
            <a:endParaRPr lang="en-US" sz="1400" dirty="0"/>
          </a:p>
        </p:txBody>
      </p:sp>
      <p:sp>
        <p:nvSpPr>
          <p:cNvPr id="32" name="mlab"/>
          <p:cNvSpPr txBox="1"/>
          <p:nvPr/>
        </p:nvSpPr>
        <p:spPr>
          <a:xfrm>
            <a:off x="2194560" y="186537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33" name="mlab"/>
          <p:cNvSpPr txBox="1"/>
          <p:nvPr/>
        </p:nvSpPr>
        <p:spPr>
          <a:xfrm>
            <a:off x="2651760" y="1865376"/>
            <a:ext cx="548640"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34" name="mgrp"/>
          <p:cNvSpPr txBox="1"/>
          <p:nvPr/>
        </p:nvSpPr>
        <p:spPr>
          <a:xfrm>
            <a:off x="1325880" y="1627632"/>
            <a:ext cx="914400"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35" name="mgrp"/>
          <p:cNvSpPr txBox="1"/>
          <p:nvPr/>
        </p:nvSpPr>
        <p:spPr>
          <a:xfrm>
            <a:off x="2240280" y="1627632"/>
            <a:ext cx="914400"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36" name="mlab"/>
          <p:cNvSpPr txBox="1"/>
          <p:nvPr/>
        </p:nvSpPr>
        <p:spPr>
          <a:xfrm>
            <a:off x="923544" y="210312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o₀</a:t>
            </a:r>
            <a:endParaRPr lang="en-US" sz="1400" dirty="0"/>
          </a:p>
        </p:txBody>
      </p:sp>
      <p:sp>
        <p:nvSpPr>
          <p:cNvPr id="37" name="mlab"/>
          <p:cNvSpPr txBox="1"/>
          <p:nvPr/>
        </p:nvSpPr>
        <p:spPr>
          <a:xfrm>
            <a:off x="923544" y="256032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o₁</a:t>
            </a:r>
            <a:endParaRPr lang="en-US" sz="1400" dirty="0"/>
          </a:p>
        </p:txBody>
      </p:sp>
      <p:sp>
        <p:nvSpPr>
          <p:cNvPr id="38" name="mlab"/>
          <p:cNvSpPr txBox="1"/>
          <p:nvPr/>
        </p:nvSpPr>
        <p:spPr>
          <a:xfrm>
            <a:off x="923544" y="301752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o₂</a:t>
            </a:r>
            <a:endParaRPr lang="en-US" sz="1400" dirty="0"/>
          </a:p>
        </p:txBody>
      </p:sp>
      <p:sp>
        <p:nvSpPr>
          <p:cNvPr id="39" name="mlab"/>
          <p:cNvSpPr txBox="1"/>
          <p:nvPr/>
        </p:nvSpPr>
        <p:spPr>
          <a:xfrm>
            <a:off x="923544" y="3474720"/>
            <a:ext cx="347472" cy="457200"/>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o₃</a:t>
            </a:r>
            <a:endParaRPr lang="en-US" sz="1400" dirty="0"/>
          </a:p>
        </p:txBody>
      </p:sp>
      <p:sp>
        <p:nvSpPr>
          <p:cNvPr id="40" name="mname"/>
          <p:cNvSpPr txBox="1"/>
          <p:nvPr/>
        </p:nvSpPr>
        <p:spPr>
          <a:xfrm>
            <a:off x="1051560" y="3986784"/>
            <a:ext cx="237744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 A_swz⁻¹ · B = M</a:t>
            </a:r>
            <a:endParaRPr lang="en-US" sz="1300" dirty="0"/>
          </a:p>
        </p:txBody>
      </p:sp>
      <p:sp>
        <p:nvSpPr>
          <p:cNvPr id="41" name="panel"/>
          <p:cNvSpPr/>
          <p:nvPr/>
        </p:nvSpPr>
        <p:spPr>
          <a:xfrm>
            <a:off x="4023360" y="1325880"/>
            <a:ext cx="3657600" cy="1417320"/>
          </a:xfrm>
          <a:prstGeom prst="roundRect">
            <a:avLst>
              <a:gd name="adj" fmla="val 5161"/>
            </a:avLst>
          </a:prstGeom>
          <a:solidFill>
            <a:srgbClr val="FBE3E1"/>
          </a:solidFill>
          <a:ln/>
        </p:spPr>
      </p:sp>
      <p:sp>
        <p:nvSpPr>
          <p:cNvPr id="42" name="Text 39"/>
          <p:cNvSpPr txBox="1"/>
          <p:nvPr/>
        </p:nvSpPr>
        <p:spPr>
          <a:xfrm>
            <a:off x="4160520" y="1417320"/>
            <a:ext cx="3383280" cy="1234440"/>
          </a:xfrm>
          <a:prstGeom prst="rect">
            <a:avLst/>
          </a:prstGeom>
          <a:noFill/>
          <a:ln/>
        </p:spPr>
        <p:txBody>
          <a:bodyPr wrap="square" lIns="0" tIns="0" rIns="0" bIns="0" rtlCol="0" anchor="t"/>
          <a:lstStyle/>
          <a:p>
            <a:pPr indent="0" marL="0">
              <a:buNone/>
            </a:pPr>
            <a:r>
              <a:rPr lang="en-US" sz="1400" b="1" dirty="0">
                <a:solidFill>
                  <a:srgbClr val="B3261E"/>
                </a:solidFill>
                <a:latin typeface="Calibri" pitchFamily="34" charset="0"/>
                <a:ea typeface="Calibri" pitchFamily="34" charset="-122"/>
                <a:cs typeface="Calibri" pitchFamily="34" charset="-120"/>
              </a:rPr>
              <a:t>T = id₂ (v4.b32)?  ✗</a:t>
            </a:r>
            <a:endParaRPr lang="en-US" sz="1400" dirty="0"/>
          </a:p>
          <a:p>
            <a:pPr indent="0" marL="0">
              <a:buNone/>
            </a:pPr>
            <a:r>
              <a:rPr lang="en-US" sz="1400" dirty="0">
                <a:solidFill>
                  <a:srgbClr val="B3261E"/>
                </a:solidFill>
                <a:latin typeface="Calibri" pitchFamily="34" charset="0"/>
                <a:ea typeface="Calibri" pitchFamily="34" charset="-122"/>
                <a:cs typeface="Calibri" pitchFamily="34" charset="-120"/>
              </a:rPr>
              <a:t>off-diagonal entry (o₁, t₀) = 1: odd rows flip the column group → not block-diagonal</a:t>
            </a:r>
            <a:endParaRPr lang="en-US" sz="1400" dirty="0"/>
          </a:p>
        </p:txBody>
      </p:sp>
      <p:sp>
        <p:nvSpPr>
          <p:cNvPr id="43" name="panel"/>
          <p:cNvSpPr/>
          <p:nvPr/>
        </p:nvSpPr>
        <p:spPr>
          <a:xfrm>
            <a:off x="4023360" y="2926080"/>
            <a:ext cx="3657600" cy="1188720"/>
          </a:xfrm>
          <a:prstGeom prst="roundRect">
            <a:avLst>
              <a:gd name="adj" fmla="val 6154"/>
            </a:avLst>
          </a:prstGeom>
          <a:solidFill>
            <a:srgbClr val="E3F2E4"/>
          </a:solidFill>
          <a:ln/>
        </p:spPr>
      </p:sp>
      <p:sp>
        <p:nvSpPr>
          <p:cNvPr id="44" name="Text 41"/>
          <p:cNvSpPr txBox="1"/>
          <p:nvPr/>
        </p:nvSpPr>
        <p:spPr>
          <a:xfrm>
            <a:off x="4160520" y="3017520"/>
            <a:ext cx="3383280" cy="1005840"/>
          </a:xfrm>
          <a:prstGeom prst="rect">
            <a:avLst/>
          </a:prstGeom>
          <a:noFill/>
          <a:ln/>
        </p:spPr>
        <p:txBody>
          <a:bodyPr wrap="square" lIns="0" tIns="0" rIns="0" bIns="0" rtlCol="0" anchor="t"/>
          <a:lstStyle/>
          <a:p>
            <a:pPr indent="0" marL="0">
              <a:buNone/>
            </a:pPr>
            <a:r>
              <a:rPr lang="en-US" sz="1400" b="1" dirty="0">
                <a:solidFill>
                  <a:srgbClr val="2E7D32"/>
                </a:solidFill>
                <a:latin typeface="Calibri" pitchFamily="34" charset="0"/>
                <a:ea typeface="Calibri" pitchFamily="34" charset="-122"/>
                <a:cs typeface="Calibri" pitchFamily="34" charset="-120"/>
              </a:rPr>
              <a:t>T = id₁ (v2.b32)?  ✓</a:t>
            </a:r>
            <a:endParaRPr lang="en-US" sz="1400" dirty="0"/>
          </a:p>
          <a:p>
            <a:pPr indent="0" marL="0">
              <a:buNone/>
            </a:pPr>
            <a:r>
              <a:rPr lang="en-US" sz="1400" dirty="0">
                <a:solidFill>
                  <a:srgbClr val="2E7D32"/>
                </a:solidFill>
                <a:latin typeface="Calibri" pitchFamily="34" charset="0"/>
                <a:ea typeface="Calibri" pitchFamily="34" charset="-122"/>
                <a:cs typeface="Calibri" pitchFamily="34" charset="-120"/>
              </a:rPr>
              <a:t>row o₀ and column r₀ isolated → two 64-bit stores per thread</a:t>
            </a:r>
            <a:endParaRPr lang="en-US" sz="1400" dirty="0"/>
          </a:p>
        </p:txBody>
      </p:sp>
      <p:graphicFrame>
        <p:nvGraphicFramePr>
          <p:cNvPr id="40" name="table"/>
          <p:cNvGraphicFramePr>
            <a:graphicFrameLocks noGrp="1"/>
          </p:cNvGraphicFramePr>
          <p:nvPr>
            <p:extLst>
              <p:ext uri="{D42A27DB-BD31-4B8C-83A1-F6EECF244321}">
                <p14:modId xmlns:p14="http://schemas.microsoft.com/office/powerpoint/2010/main" val="1579011935"/>
              </p:ext>
            </p:extLst>
          </p:nvPr>
        </p:nvGraphicFramePr>
        <p:xfrm>
          <a:off x="8092440" y="1463040"/>
          <a:ext cx="3566160" cy="914400"/>
        </p:xfrm>
        <a:graphic>
          <a:graphicData uri="http://schemas.openxmlformats.org/drawingml/2006/table">
            <a:tbl>
              <a:tblPr/>
              <a:tblGrid>
                <a:gridCol w="713232"/>
                <a:gridCol w="713232"/>
                <a:gridCol w="713232"/>
                <a:gridCol w="713232"/>
                <a:gridCol w="713232"/>
              </a:tblGrid>
              <a:tr h="329184">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thread</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r₀</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r₁</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r₂</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r₃</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r h="329184">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t2</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t3</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bl>
          </a:graphicData>
        </a:graphic>
      </p:graphicFrame>
      <p:sp>
        <p:nvSpPr>
          <p:cNvPr id="46" name="Text 42"/>
          <p:cNvSpPr txBox="1"/>
          <p:nvPr/>
        </p:nvSpPr>
        <p:spPr>
          <a:xfrm>
            <a:off x="8092440" y="3200400"/>
            <a:ext cx="3566160" cy="5943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Memory offset of each register. Odd threads: {6,7} and {4,5} — two contiguous pairs.</a:t>
            </a:r>
            <a:endParaRPr lang="en-US" sz="1300" dirty="0"/>
          </a:p>
        </p:txBody>
      </p:sp>
      <p:sp>
        <p:nvSpPr>
          <p:cNvPr id="47" name="callout"/>
          <p:cNvSpPr/>
          <p:nvPr/>
        </p:nvSpPr>
        <p:spPr>
          <a:xfrm>
            <a:off x="4023360" y="4434840"/>
            <a:ext cx="7680960" cy="777240"/>
          </a:xfrm>
          <a:prstGeom prst="roundRect">
            <a:avLst>
              <a:gd name="adj" fmla="val 9412"/>
            </a:avLst>
          </a:prstGeom>
          <a:solidFill>
            <a:srgbClr val="DDEFF1"/>
          </a:solidFill>
          <a:ln/>
        </p:spPr>
      </p:sp>
      <p:sp>
        <p:nvSpPr>
          <p:cNvPr id="48" name="callout-text"/>
          <p:cNvSpPr txBox="1"/>
          <p:nvPr/>
        </p:nvSpPr>
        <p:spPr>
          <a:xfrm>
            <a:off x="4160520" y="4489704"/>
            <a:ext cx="7406640" cy="66751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Vector width is capped by the swizzle’s </a:t>
            </a:r>
            <a:r>
              <a:rPr lang="en-US" sz="1500" b="1" dirty="0">
                <a:solidFill>
                  <a:srgbClr val="0A4F58"/>
                </a:solidFill>
                <a:latin typeface="Calibri" pitchFamily="34" charset="0"/>
                <a:ea typeface="Calibri" pitchFamily="34" charset="-122"/>
                <a:cs typeface="Calibri" pitchFamily="34" charset="-120"/>
              </a:rPr>
              <a:t>vec</a:t>
            </a:r>
            <a:r>
              <a:rPr lang="en-US" sz="1500" dirty="0">
                <a:solidFill>
                  <a:srgbClr val="0A4F58"/>
                </a:solidFill>
                <a:latin typeface="Calibri" pitchFamily="34" charset="0"/>
                <a:ea typeface="Calibri" pitchFamily="34" charset="-122"/>
                <a:cs typeface="Calibri" pitchFamily="34" charset="-120"/>
              </a:rPr>
              <a:t>: why §5.4’s optimal swizzle first preserves the vectorization subspace V.</a:t>
            </a:r>
            <a:endParaRPr lang="en-US" sz="1500" dirty="0"/>
          </a:p>
        </p:txBody>
      </p:sp>
      <p:sp>
        <p:nvSpPr>
          <p:cNvPr id="49" name="tag"/>
          <p:cNvSpPr txBox="1"/>
          <p:nvPr/>
        </p:nvSpPr>
        <p:spPr>
          <a:xfrm>
            <a:off x="50292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§5.3 · LDMATRIX / STMATRIX</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ldmatrix / stmatrix tile: id_k(Reg, Off) × id₂(Thr, Off)</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§5.3 “ldmatrix/stmatrix”, p. 139; accumulator fragment from PTX ISA (mma.m16n8k16)</a:t>
            </a:r>
            <a:endParaRPr lang="en-US" sz="1000" dirty="0"/>
          </a:p>
        </p:txBody>
      </p:sp>
      <p:sp>
        <p:nvSpPr>
          <p:cNvPr id="6" name="Text 3"/>
          <p:cNvSpPr txBox="1"/>
          <p:nvPr/>
        </p:nvSpPr>
        <p:spPr>
          <a:xfrm>
            <a:off x="457200" y="1280160"/>
            <a:ext cx="178308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fp8: w = 1, k = 2</a:t>
            </a:r>
            <a:endParaRPr lang="en-US" sz="1300" dirty="0"/>
          </a:p>
        </p:txBody>
      </p:sp>
      <p:sp>
        <p:nvSpPr>
          <p:cNvPr id="7" name="mcell"/>
          <p:cNvSpPr txBox="1"/>
          <p:nvPr/>
        </p:nvSpPr>
        <p:spPr>
          <a:xfrm>
            <a:off x="960120" y="2148840"/>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 name="mcell"/>
          <p:cNvSpPr txBox="1"/>
          <p:nvPr/>
        </p:nvSpPr>
        <p:spPr>
          <a:xfrm>
            <a:off x="1252728" y="2148840"/>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 name="mcell"/>
          <p:cNvSpPr txBox="1"/>
          <p:nvPr/>
        </p:nvSpPr>
        <p:spPr>
          <a:xfrm>
            <a:off x="1545336" y="2148840"/>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0" name="mcell"/>
          <p:cNvSpPr txBox="1"/>
          <p:nvPr/>
        </p:nvSpPr>
        <p:spPr>
          <a:xfrm>
            <a:off x="1837944" y="2148840"/>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1" name="mcell"/>
          <p:cNvSpPr txBox="1"/>
          <p:nvPr/>
        </p:nvSpPr>
        <p:spPr>
          <a:xfrm>
            <a:off x="960120" y="2441448"/>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2" name="mcell"/>
          <p:cNvSpPr txBox="1"/>
          <p:nvPr/>
        </p:nvSpPr>
        <p:spPr>
          <a:xfrm>
            <a:off x="1252728" y="2441448"/>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3" name="mcell"/>
          <p:cNvSpPr txBox="1"/>
          <p:nvPr/>
        </p:nvSpPr>
        <p:spPr>
          <a:xfrm>
            <a:off x="1545336" y="2441448"/>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4" name="mcell"/>
          <p:cNvSpPr txBox="1"/>
          <p:nvPr/>
        </p:nvSpPr>
        <p:spPr>
          <a:xfrm>
            <a:off x="1837944" y="2441448"/>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5" name="mcell"/>
          <p:cNvSpPr txBox="1"/>
          <p:nvPr/>
        </p:nvSpPr>
        <p:spPr>
          <a:xfrm>
            <a:off x="960120" y="2734056"/>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6" name="mcell"/>
          <p:cNvSpPr txBox="1"/>
          <p:nvPr/>
        </p:nvSpPr>
        <p:spPr>
          <a:xfrm>
            <a:off x="1252728" y="2734056"/>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7" name="mcell"/>
          <p:cNvSpPr txBox="1"/>
          <p:nvPr/>
        </p:nvSpPr>
        <p:spPr>
          <a:xfrm>
            <a:off x="1545336" y="2734056"/>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18" name="mcell"/>
          <p:cNvSpPr txBox="1"/>
          <p:nvPr/>
        </p:nvSpPr>
        <p:spPr>
          <a:xfrm>
            <a:off x="1837944" y="2734056"/>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19" name="mcell"/>
          <p:cNvSpPr txBox="1"/>
          <p:nvPr/>
        </p:nvSpPr>
        <p:spPr>
          <a:xfrm>
            <a:off x="960120" y="3026664"/>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0" name="mcell"/>
          <p:cNvSpPr txBox="1"/>
          <p:nvPr/>
        </p:nvSpPr>
        <p:spPr>
          <a:xfrm>
            <a:off x="1252728" y="3026664"/>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1" name="mcell"/>
          <p:cNvSpPr txBox="1"/>
          <p:nvPr/>
        </p:nvSpPr>
        <p:spPr>
          <a:xfrm>
            <a:off x="1545336" y="3026664"/>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22" name="mcell"/>
          <p:cNvSpPr txBox="1"/>
          <p:nvPr/>
        </p:nvSpPr>
        <p:spPr>
          <a:xfrm>
            <a:off x="1837944" y="3026664"/>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23" name="msep"/>
          <p:cNvSpPr/>
          <p:nvPr/>
        </p:nvSpPr>
        <p:spPr>
          <a:xfrm>
            <a:off x="1545336" y="2167128"/>
            <a:ext cx="0" cy="1133856"/>
          </a:xfrm>
          <a:prstGeom prst="line">
            <a:avLst/>
          </a:prstGeom>
          <a:noFill/>
          <a:ln w="9525">
            <a:solidFill>
              <a:srgbClr val="5B6770"/>
            </a:solidFill>
            <a:prstDash val="dash"/>
          </a:ln>
        </p:spPr>
      </p:sp>
      <p:sp>
        <p:nvSpPr>
          <p:cNvPr id="24" name="mbr"/>
          <p:cNvSpPr/>
          <p:nvPr/>
        </p:nvSpPr>
        <p:spPr>
          <a:xfrm>
            <a:off x="932688" y="2121408"/>
            <a:ext cx="0" cy="1225296"/>
          </a:xfrm>
          <a:prstGeom prst="line">
            <a:avLst/>
          </a:prstGeom>
          <a:noFill/>
          <a:ln w="15875">
            <a:solidFill>
              <a:srgbClr val="1E2A32"/>
            </a:solidFill>
            <a:prstDash val="solid"/>
          </a:ln>
        </p:spPr>
      </p:sp>
      <p:sp>
        <p:nvSpPr>
          <p:cNvPr id="25" name="mbr"/>
          <p:cNvSpPr/>
          <p:nvPr/>
        </p:nvSpPr>
        <p:spPr>
          <a:xfrm>
            <a:off x="932688" y="2121408"/>
            <a:ext cx="73152" cy="0"/>
          </a:xfrm>
          <a:prstGeom prst="line">
            <a:avLst/>
          </a:prstGeom>
          <a:noFill/>
          <a:ln w="15875">
            <a:solidFill>
              <a:srgbClr val="1E2A32"/>
            </a:solidFill>
            <a:prstDash val="solid"/>
          </a:ln>
        </p:spPr>
      </p:sp>
      <p:sp>
        <p:nvSpPr>
          <p:cNvPr id="26" name="mbr"/>
          <p:cNvSpPr/>
          <p:nvPr/>
        </p:nvSpPr>
        <p:spPr>
          <a:xfrm>
            <a:off x="932688" y="3346704"/>
            <a:ext cx="73152" cy="0"/>
          </a:xfrm>
          <a:prstGeom prst="line">
            <a:avLst/>
          </a:prstGeom>
          <a:noFill/>
          <a:ln w="15875">
            <a:solidFill>
              <a:srgbClr val="1E2A32"/>
            </a:solidFill>
            <a:prstDash val="solid"/>
          </a:ln>
        </p:spPr>
      </p:sp>
      <p:sp>
        <p:nvSpPr>
          <p:cNvPr id="27" name="mbr"/>
          <p:cNvSpPr/>
          <p:nvPr/>
        </p:nvSpPr>
        <p:spPr>
          <a:xfrm>
            <a:off x="2157984" y="2121408"/>
            <a:ext cx="0" cy="1225296"/>
          </a:xfrm>
          <a:prstGeom prst="line">
            <a:avLst/>
          </a:prstGeom>
          <a:noFill/>
          <a:ln w="15875">
            <a:solidFill>
              <a:srgbClr val="1E2A32"/>
            </a:solidFill>
            <a:prstDash val="solid"/>
          </a:ln>
        </p:spPr>
      </p:sp>
      <p:sp>
        <p:nvSpPr>
          <p:cNvPr id="28" name="mbr"/>
          <p:cNvSpPr/>
          <p:nvPr/>
        </p:nvSpPr>
        <p:spPr>
          <a:xfrm>
            <a:off x="2084832" y="2121408"/>
            <a:ext cx="73152" cy="0"/>
          </a:xfrm>
          <a:prstGeom prst="line">
            <a:avLst/>
          </a:prstGeom>
          <a:noFill/>
          <a:ln w="15875">
            <a:solidFill>
              <a:srgbClr val="1E2A32"/>
            </a:solidFill>
            <a:prstDash val="solid"/>
          </a:ln>
        </p:spPr>
      </p:sp>
      <p:sp>
        <p:nvSpPr>
          <p:cNvPr id="29" name="mbr"/>
          <p:cNvSpPr/>
          <p:nvPr/>
        </p:nvSpPr>
        <p:spPr>
          <a:xfrm>
            <a:off x="2084832" y="3346704"/>
            <a:ext cx="73152" cy="0"/>
          </a:xfrm>
          <a:prstGeom prst="line">
            <a:avLst/>
          </a:prstGeom>
          <a:noFill/>
          <a:ln w="15875">
            <a:solidFill>
              <a:srgbClr val="1E2A32"/>
            </a:solidFill>
            <a:prstDash val="solid"/>
          </a:ln>
        </p:spPr>
      </p:sp>
      <p:sp>
        <p:nvSpPr>
          <p:cNvPr id="30" name="mlab"/>
          <p:cNvSpPr txBox="1"/>
          <p:nvPr/>
        </p:nvSpPr>
        <p:spPr>
          <a:xfrm>
            <a:off x="914400"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31" name="mlab"/>
          <p:cNvSpPr txBox="1"/>
          <p:nvPr/>
        </p:nvSpPr>
        <p:spPr>
          <a:xfrm>
            <a:off x="1207008"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32" name="mlab"/>
          <p:cNvSpPr txBox="1"/>
          <p:nvPr/>
        </p:nvSpPr>
        <p:spPr>
          <a:xfrm>
            <a:off x="1499616"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33" name="mlab"/>
          <p:cNvSpPr txBox="1"/>
          <p:nvPr/>
        </p:nvSpPr>
        <p:spPr>
          <a:xfrm>
            <a:off x="1792224"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34" name="mgrp"/>
          <p:cNvSpPr txBox="1"/>
          <p:nvPr/>
        </p:nvSpPr>
        <p:spPr>
          <a:xfrm>
            <a:off x="960120" y="1673352"/>
            <a:ext cx="585216"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35" name="mgrp"/>
          <p:cNvSpPr txBox="1"/>
          <p:nvPr/>
        </p:nvSpPr>
        <p:spPr>
          <a:xfrm>
            <a:off x="1545336" y="1673352"/>
            <a:ext cx="585216"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36" name="mlab"/>
          <p:cNvSpPr txBox="1"/>
          <p:nvPr/>
        </p:nvSpPr>
        <p:spPr>
          <a:xfrm>
            <a:off x="649224" y="2148840"/>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o₀</a:t>
            </a:r>
            <a:endParaRPr lang="en-US" sz="1000" dirty="0"/>
          </a:p>
        </p:txBody>
      </p:sp>
      <p:sp>
        <p:nvSpPr>
          <p:cNvPr id="37" name="mlab"/>
          <p:cNvSpPr txBox="1"/>
          <p:nvPr/>
        </p:nvSpPr>
        <p:spPr>
          <a:xfrm>
            <a:off x="649224" y="2441448"/>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o₁</a:t>
            </a:r>
            <a:endParaRPr lang="en-US" sz="1000" dirty="0"/>
          </a:p>
        </p:txBody>
      </p:sp>
      <p:sp>
        <p:nvSpPr>
          <p:cNvPr id="38" name="mlab"/>
          <p:cNvSpPr txBox="1"/>
          <p:nvPr/>
        </p:nvSpPr>
        <p:spPr>
          <a:xfrm>
            <a:off x="649224" y="2734056"/>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o₂</a:t>
            </a:r>
            <a:endParaRPr lang="en-US" sz="1000" dirty="0"/>
          </a:p>
        </p:txBody>
      </p:sp>
      <p:sp>
        <p:nvSpPr>
          <p:cNvPr id="39" name="mlab"/>
          <p:cNvSpPr txBox="1"/>
          <p:nvPr/>
        </p:nvSpPr>
        <p:spPr>
          <a:xfrm>
            <a:off x="649224" y="3026664"/>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o₃</a:t>
            </a:r>
            <a:endParaRPr lang="en-US" sz="1000" dirty="0"/>
          </a:p>
        </p:txBody>
      </p:sp>
      <p:sp>
        <p:nvSpPr>
          <p:cNvPr id="40" name="Text 37"/>
          <p:cNvSpPr txBox="1"/>
          <p:nvPr/>
        </p:nvSpPr>
        <p:spPr>
          <a:xfrm>
            <a:off x="2377440" y="1280160"/>
            <a:ext cx="178308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fp16: w = 2, k = 1</a:t>
            </a:r>
            <a:endParaRPr lang="en-US" sz="1300" dirty="0"/>
          </a:p>
        </p:txBody>
      </p:sp>
      <p:sp>
        <p:nvSpPr>
          <p:cNvPr id="41" name="mcell"/>
          <p:cNvSpPr txBox="1"/>
          <p:nvPr/>
        </p:nvSpPr>
        <p:spPr>
          <a:xfrm>
            <a:off x="2880360" y="2148840"/>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2" name="mcell"/>
          <p:cNvSpPr txBox="1"/>
          <p:nvPr/>
        </p:nvSpPr>
        <p:spPr>
          <a:xfrm>
            <a:off x="3172968" y="2148840"/>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3" name="mcell"/>
          <p:cNvSpPr txBox="1"/>
          <p:nvPr/>
        </p:nvSpPr>
        <p:spPr>
          <a:xfrm>
            <a:off x="3465576" y="2148840"/>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4" name="mcell"/>
          <p:cNvSpPr txBox="1"/>
          <p:nvPr/>
        </p:nvSpPr>
        <p:spPr>
          <a:xfrm>
            <a:off x="2880360" y="2441448"/>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5" name="mcell"/>
          <p:cNvSpPr txBox="1"/>
          <p:nvPr/>
        </p:nvSpPr>
        <p:spPr>
          <a:xfrm>
            <a:off x="3172968" y="2441448"/>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46" name="mcell"/>
          <p:cNvSpPr txBox="1"/>
          <p:nvPr/>
        </p:nvSpPr>
        <p:spPr>
          <a:xfrm>
            <a:off x="3465576" y="2441448"/>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7" name="mcell"/>
          <p:cNvSpPr txBox="1"/>
          <p:nvPr/>
        </p:nvSpPr>
        <p:spPr>
          <a:xfrm>
            <a:off x="2880360" y="2734056"/>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8" name="mcell"/>
          <p:cNvSpPr txBox="1"/>
          <p:nvPr/>
        </p:nvSpPr>
        <p:spPr>
          <a:xfrm>
            <a:off x="3172968" y="2734056"/>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49" name="mcell"/>
          <p:cNvSpPr txBox="1"/>
          <p:nvPr/>
        </p:nvSpPr>
        <p:spPr>
          <a:xfrm>
            <a:off x="3465576" y="2734056"/>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50" name="msep"/>
          <p:cNvSpPr/>
          <p:nvPr/>
        </p:nvSpPr>
        <p:spPr>
          <a:xfrm>
            <a:off x="3172968" y="2167128"/>
            <a:ext cx="0" cy="841248"/>
          </a:xfrm>
          <a:prstGeom prst="line">
            <a:avLst/>
          </a:prstGeom>
          <a:noFill/>
          <a:ln w="9525">
            <a:solidFill>
              <a:srgbClr val="5B6770"/>
            </a:solidFill>
            <a:prstDash val="dash"/>
          </a:ln>
        </p:spPr>
      </p:sp>
      <p:sp>
        <p:nvSpPr>
          <p:cNvPr id="51" name="mbr"/>
          <p:cNvSpPr/>
          <p:nvPr/>
        </p:nvSpPr>
        <p:spPr>
          <a:xfrm>
            <a:off x="2852928" y="2121408"/>
            <a:ext cx="0" cy="932688"/>
          </a:xfrm>
          <a:prstGeom prst="line">
            <a:avLst/>
          </a:prstGeom>
          <a:noFill/>
          <a:ln w="15875">
            <a:solidFill>
              <a:srgbClr val="1E2A32"/>
            </a:solidFill>
            <a:prstDash val="solid"/>
          </a:ln>
        </p:spPr>
      </p:sp>
      <p:sp>
        <p:nvSpPr>
          <p:cNvPr id="52" name="mbr"/>
          <p:cNvSpPr/>
          <p:nvPr/>
        </p:nvSpPr>
        <p:spPr>
          <a:xfrm>
            <a:off x="2852928" y="2121408"/>
            <a:ext cx="73152" cy="0"/>
          </a:xfrm>
          <a:prstGeom prst="line">
            <a:avLst/>
          </a:prstGeom>
          <a:noFill/>
          <a:ln w="15875">
            <a:solidFill>
              <a:srgbClr val="1E2A32"/>
            </a:solidFill>
            <a:prstDash val="solid"/>
          </a:ln>
        </p:spPr>
      </p:sp>
      <p:sp>
        <p:nvSpPr>
          <p:cNvPr id="53" name="mbr"/>
          <p:cNvSpPr/>
          <p:nvPr/>
        </p:nvSpPr>
        <p:spPr>
          <a:xfrm>
            <a:off x="2852928" y="3054096"/>
            <a:ext cx="73152" cy="0"/>
          </a:xfrm>
          <a:prstGeom prst="line">
            <a:avLst/>
          </a:prstGeom>
          <a:noFill/>
          <a:ln w="15875">
            <a:solidFill>
              <a:srgbClr val="1E2A32"/>
            </a:solidFill>
            <a:prstDash val="solid"/>
          </a:ln>
        </p:spPr>
      </p:sp>
      <p:sp>
        <p:nvSpPr>
          <p:cNvPr id="54" name="mbr"/>
          <p:cNvSpPr/>
          <p:nvPr/>
        </p:nvSpPr>
        <p:spPr>
          <a:xfrm>
            <a:off x="3785616" y="2121408"/>
            <a:ext cx="0" cy="932688"/>
          </a:xfrm>
          <a:prstGeom prst="line">
            <a:avLst/>
          </a:prstGeom>
          <a:noFill/>
          <a:ln w="15875">
            <a:solidFill>
              <a:srgbClr val="1E2A32"/>
            </a:solidFill>
            <a:prstDash val="solid"/>
          </a:ln>
        </p:spPr>
      </p:sp>
      <p:sp>
        <p:nvSpPr>
          <p:cNvPr id="55" name="mbr"/>
          <p:cNvSpPr/>
          <p:nvPr/>
        </p:nvSpPr>
        <p:spPr>
          <a:xfrm>
            <a:off x="3712464" y="2121408"/>
            <a:ext cx="73152" cy="0"/>
          </a:xfrm>
          <a:prstGeom prst="line">
            <a:avLst/>
          </a:prstGeom>
          <a:noFill/>
          <a:ln w="15875">
            <a:solidFill>
              <a:srgbClr val="1E2A32"/>
            </a:solidFill>
            <a:prstDash val="solid"/>
          </a:ln>
        </p:spPr>
      </p:sp>
      <p:sp>
        <p:nvSpPr>
          <p:cNvPr id="56" name="mbr"/>
          <p:cNvSpPr/>
          <p:nvPr/>
        </p:nvSpPr>
        <p:spPr>
          <a:xfrm>
            <a:off x="3712464" y="3054096"/>
            <a:ext cx="73152" cy="0"/>
          </a:xfrm>
          <a:prstGeom prst="line">
            <a:avLst/>
          </a:prstGeom>
          <a:noFill/>
          <a:ln w="15875">
            <a:solidFill>
              <a:srgbClr val="1E2A32"/>
            </a:solidFill>
            <a:prstDash val="solid"/>
          </a:ln>
        </p:spPr>
      </p:sp>
      <p:sp>
        <p:nvSpPr>
          <p:cNvPr id="57" name="mlab"/>
          <p:cNvSpPr txBox="1"/>
          <p:nvPr/>
        </p:nvSpPr>
        <p:spPr>
          <a:xfrm>
            <a:off x="2834640"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58" name="mlab"/>
          <p:cNvSpPr txBox="1"/>
          <p:nvPr/>
        </p:nvSpPr>
        <p:spPr>
          <a:xfrm>
            <a:off x="3127248"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59" name="mlab"/>
          <p:cNvSpPr txBox="1"/>
          <p:nvPr/>
        </p:nvSpPr>
        <p:spPr>
          <a:xfrm>
            <a:off x="3419856"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60" name="mgrp"/>
          <p:cNvSpPr txBox="1"/>
          <p:nvPr/>
        </p:nvSpPr>
        <p:spPr>
          <a:xfrm>
            <a:off x="2880360" y="1673352"/>
            <a:ext cx="292608"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Reg</a:t>
            </a:r>
            <a:endParaRPr lang="en-US" sz="1000" dirty="0"/>
          </a:p>
        </p:txBody>
      </p:sp>
      <p:sp>
        <p:nvSpPr>
          <p:cNvPr id="61" name="mgrp"/>
          <p:cNvSpPr txBox="1"/>
          <p:nvPr/>
        </p:nvSpPr>
        <p:spPr>
          <a:xfrm>
            <a:off x="3172968" y="1673352"/>
            <a:ext cx="585216"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62" name="mlab"/>
          <p:cNvSpPr txBox="1"/>
          <p:nvPr/>
        </p:nvSpPr>
        <p:spPr>
          <a:xfrm>
            <a:off x="2569464" y="2148840"/>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o₀</a:t>
            </a:r>
            <a:endParaRPr lang="en-US" sz="1000" dirty="0"/>
          </a:p>
        </p:txBody>
      </p:sp>
      <p:sp>
        <p:nvSpPr>
          <p:cNvPr id="63" name="mlab"/>
          <p:cNvSpPr txBox="1"/>
          <p:nvPr/>
        </p:nvSpPr>
        <p:spPr>
          <a:xfrm>
            <a:off x="2569464" y="2441448"/>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o₁</a:t>
            </a:r>
            <a:endParaRPr lang="en-US" sz="1000" dirty="0"/>
          </a:p>
        </p:txBody>
      </p:sp>
      <p:sp>
        <p:nvSpPr>
          <p:cNvPr id="64" name="mlab"/>
          <p:cNvSpPr txBox="1"/>
          <p:nvPr/>
        </p:nvSpPr>
        <p:spPr>
          <a:xfrm>
            <a:off x="2569464" y="2734056"/>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o₂</a:t>
            </a:r>
            <a:endParaRPr lang="en-US" sz="1000" dirty="0"/>
          </a:p>
        </p:txBody>
      </p:sp>
      <p:sp>
        <p:nvSpPr>
          <p:cNvPr id="65" name="Text 62"/>
          <p:cNvSpPr txBox="1"/>
          <p:nvPr/>
        </p:nvSpPr>
        <p:spPr>
          <a:xfrm>
            <a:off x="4114800" y="1280160"/>
            <a:ext cx="1783080" cy="274320"/>
          </a:xfrm>
          <a:prstGeom prst="rect">
            <a:avLst/>
          </a:prstGeom>
          <a:noFill/>
          <a:ln/>
        </p:spPr>
        <p:txBody>
          <a:bodyPr wrap="square" lIns="0" tIns="0" rIns="0" bIns="0" rtlCol="0" anchor="t"/>
          <a:lstStyle/>
          <a:p>
            <a:pPr indent="0" marL="0">
              <a:buNone/>
            </a:pPr>
            <a:r>
              <a:rPr lang="en-US" sz="1300" b="1" dirty="0">
                <a:solidFill>
                  <a:srgbClr val="0E6E7A"/>
                </a:solidFill>
                <a:latin typeface="Calibri" pitchFamily="34" charset="0"/>
                <a:ea typeface="Calibri" pitchFamily="34" charset="-122"/>
                <a:cs typeface="Calibri" pitchFamily="34" charset="-120"/>
              </a:rPr>
              <a:t>fp32: w = 4, k = 0</a:t>
            </a:r>
            <a:endParaRPr lang="en-US" sz="1300" dirty="0"/>
          </a:p>
        </p:txBody>
      </p:sp>
      <p:sp>
        <p:nvSpPr>
          <p:cNvPr id="66" name="mcell"/>
          <p:cNvSpPr txBox="1"/>
          <p:nvPr/>
        </p:nvSpPr>
        <p:spPr>
          <a:xfrm>
            <a:off x="4617720" y="2148840"/>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67" name="mcell"/>
          <p:cNvSpPr txBox="1"/>
          <p:nvPr/>
        </p:nvSpPr>
        <p:spPr>
          <a:xfrm>
            <a:off x="4910328" y="2148840"/>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8" name="mcell"/>
          <p:cNvSpPr txBox="1"/>
          <p:nvPr/>
        </p:nvSpPr>
        <p:spPr>
          <a:xfrm>
            <a:off x="4617720" y="2441448"/>
            <a:ext cx="292608" cy="292608"/>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69" name="mcell"/>
          <p:cNvSpPr txBox="1"/>
          <p:nvPr/>
        </p:nvSpPr>
        <p:spPr>
          <a:xfrm>
            <a:off x="4910328" y="2441448"/>
            <a:ext cx="292608" cy="292608"/>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70" name="mbr"/>
          <p:cNvSpPr/>
          <p:nvPr/>
        </p:nvSpPr>
        <p:spPr>
          <a:xfrm>
            <a:off x="4590288" y="2121408"/>
            <a:ext cx="0" cy="640080"/>
          </a:xfrm>
          <a:prstGeom prst="line">
            <a:avLst/>
          </a:prstGeom>
          <a:noFill/>
          <a:ln w="15875">
            <a:solidFill>
              <a:srgbClr val="1E2A32"/>
            </a:solidFill>
            <a:prstDash val="solid"/>
          </a:ln>
        </p:spPr>
      </p:sp>
      <p:sp>
        <p:nvSpPr>
          <p:cNvPr id="71" name="mbr"/>
          <p:cNvSpPr/>
          <p:nvPr/>
        </p:nvSpPr>
        <p:spPr>
          <a:xfrm>
            <a:off x="4590288" y="2121408"/>
            <a:ext cx="73152" cy="0"/>
          </a:xfrm>
          <a:prstGeom prst="line">
            <a:avLst/>
          </a:prstGeom>
          <a:noFill/>
          <a:ln w="15875">
            <a:solidFill>
              <a:srgbClr val="1E2A32"/>
            </a:solidFill>
            <a:prstDash val="solid"/>
          </a:ln>
        </p:spPr>
      </p:sp>
      <p:sp>
        <p:nvSpPr>
          <p:cNvPr id="72" name="mbr"/>
          <p:cNvSpPr/>
          <p:nvPr/>
        </p:nvSpPr>
        <p:spPr>
          <a:xfrm>
            <a:off x="4590288" y="2761488"/>
            <a:ext cx="73152" cy="0"/>
          </a:xfrm>
          <a:prstGeom prst="line">
            <a:avLst/>
          </a:prstGeom>
          <a:noFill/>
          <a:ln w="15875">
            <a:solidFill>
              <a:srgbClr val="1E2A32"/>
            </a:solidFill>
            <a:prstDash val="solid"/>
          </a:ln>
        </p:spPr>
      </p:sp>
      <p:sp>
        <p:nvSpPr>
          <p:cNvPr id="73" name="mbr"/>
          <p:cNvSpPr/>
          <p:nvPr/>
        </p:nvSpPr>
        <p:spPr>
          <a:xfrm>
            <a:off x="5230368" y="2121408"/>
            <a:ext cx="0" cy="640080"/>
          </a:xfrm>
          <a:prstGeom prst="line">
            <a:avLst/>
          </a:prstGeom>
          <a:noFill/>
          <a:ln w="15875">
            <a:solidFill>
              <a:srgbClr val="1E2A32"/>
            </a:solidFill>
            <a:prstDash val="solid"/>
          </a:ln>
        </p:spPr>
      </p:sp>
      <p:sp>
        <p:nvSpPr>
          <p:cNvPr id="74" name="mbr"/>
          <p:cNvSpPr/>
          <p:nvPr/>
        </p:nvSpPr>
        <p:spPr>
          <a:xfrm>
            <a:off x="5157216" y="2121408"/>
            <a:ext cx="73152" cy="0"/>
          </a:xfrm>
          <a:prstGeom prst="line">
            <a:avLst/>
          </a:prstGeom>
          <a:noFill/>
          <a:ln w="15875">
            <a:solidFill>
              <a:srgbClr val="1E2A32"/>
            </a:solidFill>
            <a:prstDash val="solid"/>
          </a:ln>
        </p:spPr>
      </p:sp>
      <p:sp>
        <p:nvSpPr>
          <p:cNvPr id="75" name="mbr"/>
          <p:cNvSpPr/>
          <p:nvPr/>
        </p:nvSpPr>
        <p:spPr>
          <a:xfrm>
            <a:off x="5157216" y="2761488"/>
            <a:ext cx="73152" cy="0"/>
          </a:xfrm>
          <a:prstGeom prst="line">
            <a:avLst/>
          </a:prstGeom>
          <a:noFill/>
          <a:ln w="15875">
            <a:solidFill>
              <a:srgbClr val="1E2A32"/>
            </a:solidFill>
            <a:prstDash val="solid"/>
          </a:ln>
        </p:spPr>
      </p:sp>
      <p:sp>
        <p:nvSpPr>
          <p:cNvPr id="76" name="mlab"/>
          <p:cNvSpPr txBox="1"/>
          <p:nvPr/>
        </p:nvSpPr>
        <p:spPr>
          <a:xfrm>
            <a:off x="4572000"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77" name="mlab"/>
          <p:cNvSpPr txBox="1"/>
          <p:nvPr/>
        </p:nvSpPr>
        <p:spPr>
          <a:xfrm>
            <a:off x="4864608" y="1911096"/>
            <a:ext cx="384048"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78" name="mgrp"/>
          <p:cNvSpPr txBox="1"/>
          <p:nvPr/>
        </p:nvSpPr>
        <p:spPr>
          <a:xfrm>
            <a:off x="4617720" y="1673352"/>
            <a:ext cx="585216" cy="219456"/>
          </a:xfrm>
          <a:prstGeom prst="rect">
            <a:avLst/>
          </a:prstGeom>
          <a:noFill/>
          <a:ln/>
        </p:spPr>
        <p:txBody>
          <a:bodyPr wrap="square" lIns="0" tIns="0" rIns="0" bIns="0" rtlCol="0" anchor="b"/>
          <a:lstStyle/>
          <a:p>
            <a:pPr algn="ctr" indent="0" marL="0">
              <a:buNone/>
            </a:pPr>
            <a:r>
              <a:rPr lang="en-US" sz="1000" b="1" dirty="0">
                <a:solidFill>
                  <a:srgbClr val="0A4F58"/>
                </a:solidFill>
                <a:latin typeface="Calibri" pitchFamily="34" charset="0"/>
                <a:ea typeface="Calibri" pitchFamily="34" charset="-122"/>
                <a:cs typeface="Calibri" pitchFamily="34" charset="-120"/>
              </a:rPr>
              <a:t>Thr</a:t>
            </a:r>
            <a:endParaRPr lang="en-US" sz="1000" dirty="0"/>
          </a:p>
        </p:txBody>
      </p:sp>
      <p:sp>
        <p:nvSpPr>
          <p:cNvPr id="79" name="mlab"/>
          <p:cNvSpPr txBox="1"/>
          <p:nvPr/>
        </p:nvSpPr>
        <p:spPr>
          <a:xfrm>
            <a:off x="4306824" y="2148840"/>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o₀</a:t>
            </a:r>
            <a:endParaRPr lang="en-US" sz="1000" dirty="0"/>
          </a:p>
        </p:txBody>
      </p:sp>
      <p:sp>
        <p:nvSpPr>
          <p:cNvPr id="80" name="mlab"/>
          <p:cNvSpPr txBox="1"/>
          <p:nvPr/>
        </p:nvSpPr>
        <p:spPr>
          <a:xfrm>
            <a:off x="4306824" y="2441448"/>
            <a:ext cx="256032" cy="292608"/>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o₁</a:t>
            </a:r>
            <a:endParaRPr lang="en-US" sz="1000" dirty="0"/>
          </a:p>
        </p:txBody>
      </p:sp>
      <p:sp>
        <p:nvSpPr>
          <p:cNvPr id="81" name="Text 78"/>
          <p:cNvSpPr txBox="1"/>
          <p:nvPr/>
        </p:nvSpPr>
        <p:spPr>
          <a:xfrm>
            <a:off x="502920" y="3520440"/>
            <a:ext cx="5394960" cy="59436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k = log₂(4 / w): each thread moves 4 contiguous bytes; 4 threads (t₀, t₁) = one 16-byte row; 8 groups of 4 threads → 8 rows.</a:t>
            </a:r>
            <a:endParaRPr lang="en-US" sz="1400" dirty="0"/>
          </a:p>
        </p:txBody>
      </p:sp>
      <p:sp>
        <p:nvSpPr>
          <p:cNvPr id="82" name="mcell"/>
          <p:cNvSpPr txBox="1"/>
          <p:nvPr/>
        </p:nvSpPr>
        <p:spPr>
          <a:xfrm>
            <a:off x="1417320" y="452628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3" name="mcell"/>
          <p:cNvSpPr txBox="1"/>
          <p:nvPr/>
        </p:nvSpPr>
        <p:spPr>
          <a:xfrm>
            <a:off x="1691640" y="452628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4" name="mcell"/>
          <p:cNvSpPr txBox="1"/>
          <p:nvPr/>
        </p:nvSpPr>
        <p:spPr>
          <a:xfrm>
            <a:off x="1965960" y="452628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5" name="mcell"/>
          <p:cNvSpPr txBox="1"/>
          <p:nvPr/>
        </p:nvSpPr>
        <p:spPr>
          <a:xfrm>
            <a:off x="2240280" y="452628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6" name="mcell"/>
          <p:cNvSpPr txBox="1"/>
          <p:nvPr/>
        </p:nvSpPr>
        <p:spPr>
          <a:xfrm>
            <a:off x="1417320" y="48006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7" name="mcell"/>
          <p:cNvSpPr txBox="1"/>
          <p:nvPr/>
        </p:nvSpPr>
        <p:spPr>
          <a:xfrm>
            <a:off x="1691640" y="48006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88" name="mcell"/>
          <p:cNvSpPr txBox="1"/>
          <p:nvPr/>
        </p:nvSpPr>
        <p:spPr>
          <a:xfrm>
            <a:off x="1965960" y="480060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89" name="mcell"/>
          <p:cNvSpPr txBox="1"/>
          <p:nvPr/>
        </p:nvSpPr>
        <p:spPr>
          <a:xfrm>
            <a:off x="2240280" y="480060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0" name="mcell"/>
          <p:cNvSpPr txBox="1"/>
          <p:nvPr/>
        </p:nvSpPr>
        <p:spPr>
          <a:xfrm>
            <a:off x="1417320" y="50749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1" name="mcell"/>
          <p:cNvSpPr txBox="1"/>
          <p:nvPr/>
        </p:nvSpPr>
        <p:spPr>
          <a:xfrm>
            <a:off x="1691640" y="50749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2" name="mcell"/>
          <p:cNvSpPr txBox="1"/>
          <p:nvPr/>
        </p:nvSpPr>
        <p:spPr>
          <a:xfrm>
            <a:off x="1965960" y="507492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3" name="mcell"/>
          <p:cNvSpPr txBox="1"/>
          <p:nvPr/>
        </p:nvSpPr>
        <p:spPr>
          <a:xfrm>
            <a:off x="2240280" y="507492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4" name="mcell"/>
          <p:cNvSpPr txBox="1"/>
          <p:nvPr/>
        </p:nvSpPr>
        <p:spPr>
          <a:xfrm>
            <a:off x="1417320" y="5349240"/>
            <a:ext cx="274320" cy="274320"/>
          </a:xfrm>
          <a:prstGeom prst="rect">
            <a:avLst/>
          </a:prstGeom>
          <a:noFill/>
          <a:ln/>
        </p:spPr>
        <p:txBody>
          <a:bodyPr wrap="square" lIns="0" tIns="0" rIns="0" bIns="0" rtlCol="0" anchor="ctr"/>
          <a:lstStyle/>
          <a:p>
            <a:pPr algn="ctr" indent="0" marL="0">
              <a:buNone/>
            </a:pPr>
            <a:r>
              <a:rPr lang="en-US" sz="1300" b="1" dirty="0">
                <a:solidFill>
                  <a:srgbClr val="1E2A32"/>
                </a:solidFill>
                <a:latin typeface="Calibri" pitchFamily="34" charset="0"/>
                <a:ea typeface="Calibri" pitchFamily="34" charset="-122"/>
                <a:cs typeface="Calibri" pitchFamily="34" charset="-120"/>
              </a:rPr>
              <a:t>1</a:t>
            </a:r>
            <a:endParaRPr lang="en-US" sz="1300" dirty="0"/>
          </a:p>
        </p:txBody>
      </p:sp>
      <p:sp>
        <p:nvSpPr>
          <p:cNvPr id="95" name="mcell"/>
          <p:cNvSpPr txBox="1"/>
          <p:nvPr/>
        </p:nvSpPr>
        <p:spPr>
          <a:xfrm>
            <a:off x="1691640" y="53492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6" name="mcell"/>
          <p:cNvSpPr txBox="1"/>
          <p:nvPr/>
        </p:nvSpPr>
        <p:spPr>
          <a:xfrm>
            <a:off x="1965960" y="53492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7" name="mcell"/>
          <p:cNvSpPr txBox="1"/>
          <p:nvPr/>
        </p:nvSpPr>
        <p:spPr>
          <a:xfrm>
            <a:off x="2240280" y="5349240"/>
            <a:ext cx="274320" cy="274320"/>
          </a:xfrm>
          <a:prstGeom prst="rect">
            <a:avLst/>
          </a:prstGeom>
          <a:noFill/>
          <a:ln/>
        </p:spPr>
        <p:txBody>
          <a:bodyPr wrap="square" lIns="0" tIns="0" rIns="0" bIns="0" rtlCol="0" anchor="ctr"/>
          <a:lstStyle/>
          <a:p>
            <a:pPr algn="ctr" indent="0" marL="0">
              <a:buNone/>
            </a:pPr>
            <a:r>
              <a:rPr lang="en-US" sz="1300" dirty="0">
                <a:solidFill>
                  <a:srgbClr val="B9C1C7"/>
                </a:solidFill>
                <a:latin typeface="Calibri" pitchFamily="34" charset="0"/>
                <a:ea typeface="Calibri" pitchFamily="34" charset="-122"/>
                <a:cs typeface="Calibri" pitchFamily="34" charset="-120"/>
              </a:rPr>
              <a:t>0</a:t>
            </a:r>
            <a:endParaRPr lang="en-US" sz="1300" dirty="0"/>
          </a:p>
        </p:txBody>
      </p:sp>
      <p:sp>
        <p:nvSpPr>
          <p:cNvPr id="98" name="mbr"/>
          <p:cNvSpPr/>
          <p:nvPr/>
        </p:nvSpPr>
        <p:spPr>
          <a:xfrm>
            <a:off x="1389888" y="4498848"/>
            <a:ext cx="0" cy="1152144"/>
          </a:xfrm>
          <a:prstGeom prst="line">
            <a:avLst/>
          </a:prstGeom>
          <a:noFill/>
          <a:ln w="15875">
            <a:solidFill>
              <a:srgbClr val="1E2A32"/>
            </a:solidFill>
            <a:prstDash val="solid"/>
          </a:ln>
        </p:spPr>
      </p:sp>
      <p:sp>
        <p:nvSpPr>
          <p:cNvPr id="99" name="mbr"/>
          <p:cNvSpPr/>
          <p:nvPr/>
        </p:nvSpPr>
        <p:spPr>
          <a:xfrm>
            <a:off x="1389888" y="4498848"/>
            <a:ext cx="73152" cy="0"/>
          </a:xfrm>
          <a:prstGeom prst="line">
            <a:avLst/>
          </a:prstGeom>
          <a:noFill/>
          <a:ln w="15875">
            <a:solidFill>
              <a:srgbClr val="1E2A32"/>
            </a:solidFill>
            <a:prstDash val="solid"/>
          </a:ln>
        </p:spPr>
      </p:sp>
      <p:sp>
        <p:nvSpPr>
          <p:cNvPr id="100" name="mbr"/>
          <p:cNvSpPr/>
          <p:nvPr/>
        </p:nvSpPr>
        <p:spPr>
          <a:xfrm>
            <a:off x="1389888" y="5650992"/>
            <a:ext cx="73152" cy="0"/>
          </a:xfrm>
          <a:prstGeom prst="line">
            <a:avLst/>
          </a:prstGeom>
          <a:noFill/>
          <a:ln w="15875">
            <a:solidFill>
              <a:srgbClr val="1E2A32"/>
            </a:solidFill>
            <a:prstDash val="solid"/>
          </a:ln>
        </p:spPr>
      </p:sp>
      <p:sp>
        <p:nvSpPr>
          <p:cNvPr id="101" name="mbr"/>
          <p:cNvSpPr/>
          <p:nvPr/>
        </p:nvSpPr>
        <p:spPr>
          <a:xfrm>
            <a:off x="2542032" y="4498848"/>
            <a:ext cx="0" cy="1152144"/>
          </a:xfrm>
          <a:prstGeom prst="line">
            <a:avLst/>
          </a:prstGeom>
          <a:noFill/>
          <a:ln w="15875">
            <a:solidFill>
              <a:srgbClr val="1E2A32"/>
            </a:solidFill>
            <a:prstDash val="solid"/>
          </a:ln>
        </p:spPr>
      </p:sp>
      <p:sp>
        <p:nvSpPr>
          <p:cNvPr id="102" name="mbr"/>
          <p:cNvSpPr/>
          <p:nvPr/>
        </p:nvSpPr>
        <p:spPr>
          <a:xfrm>
            <a:off x="2468880" y="4498848"/>
            <a:ext cx="73152" cy="0"/>
          </a:xfrm>
          <a:prstGeom prst="line">
            <a:avLst/>
          </a:prstGeom>
          <a:noFill/>
          <a:ln w="15875">
            <a:solidFill>
              <a:srgbClr val="1E2A32"/>
            </a:solidFill>
            <a:prstDash val="solid"/>
          </a:ln>
        </p:spPr>
      </p:sp>
      <p:sp>
        <p:nvSpPr>
          <p:cNvPr id="103" name="mbr"/>
          <p:cNvSpPr/>
          <p:nvPr/>
        </p:nvSpPr>
        <p:spPr>
          <a:xfrm>
            <a:off x="2468880" y="5650992"/>
            <a:ext cx="73152" cy="0"/>
          </a:xfrm>
          <a:prstGeom prst="line">
            <a:avLst/>
          </a:prstGeom>
          <a:noFill/>
          <a:ln w="15875">
            <a:solidFill>
              <a:srgbClr val="1E2A32"/>
            </a:solidFill>
            <a:prstDash val="solid"/>
          </a:ln>
        </p:spPr>
      </p:sp>
      <p:sp>
        <p:nvSpPr>
          <p:cNvPr id="104" name="mlab"/>
          <p:cNvSpPr txBox="1"/>
          <p:nvPr/>
        </p:nvSpPr>
        <p:spPr>
          <a:xfrm>
            <a:off x="1371600" y="42885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105" name="mlab"/>
          <p:cNvSpPr txBox="1"/>
          <p:nvPr/>
        </p:nvSpPr>
        <p:spPr>
          <a:xfrm>
            <a:off x="1645920" y="42885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t₂</a:t>
            </a:r>
            <a:endParaRPr lang="en-US" sz="1000" dirty="0"/>
          </a:p>
        </p:txBody>
      </p:sp>
      <p:sp>
        <p:nvSpPr>
          <p:cNvPr id="106" name="mlab"/>
          <p:cNvSpPr txBox="1"/>
          <p:nvPr/>
        </p:nvSpPr>
        <p:spPr>
          <a:xfrm>
            <a:off x="1920240" y="42885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t₃</a:t>
            </a:r>
            <a:endParaRPr lang="en-US" sz="1000" dirty="0"/>
          </a:p>
        </p:txBody>
      </p:sp>
      <p:sp>
        <p:nvSpPr>
          <p:cNvPr id="107" name="mlab"/>
          <p:cNvSpPr txBox="1"/>
          <p:nvPr/>
        </p:nvSpPr>
        <p:spPr>
          <a:xfrm>
            <a:off x="2194560" y="42885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t₄</a:t>
            </a:r>
            <a:endParaRPr lang="en-US" sz="1000" dirty="0"/>
          </a:p>
        </p:txBody>
      </p:sp>
      <p:sp>
        <p:nvSpPr>
          <p:cNvPr id="108" name="mlab"/>
          <p:cNvSpPr txBox="1"/>
          <p:nvPr/>
        </p:nvSpPr>
        <p:spPr>
          <a:xfrm>
            <a:off x="1014984" y="452628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o₃</a:t>
            </a:r>
            <a:endParaRPr lang="en-US" sz="1000" dirty="0"/>
          </a:p>
        </p:txBody>
      </p:sp>
      <p:sp>
        <p:nvSpPr>
          <p:cNvPr id="109" name="mlab"/>
          <p:cNvSpPr txBox="1"/>
          <p:nvPr/>
        </p:nvSpPr>
        <p:spPr>
          <a:xfrm>
            <a:off x="1014984" y="480060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o₄</a:t>
            </a:r>
            <a:endParaRPr lang="en-US" sz="1000" dirty="0"/>
          </a:p>
        </p:txBody>
      </p:sp>
      <p:sp>
        <p:nvSpPr>
          <p:cNvPr id="110" name="mlab"/>
          <p:cNvSpPr txBox="1"/>
          <p:nvPr/>
        </p:nvSpPr>
        <p:spPr>
          <a:xfrm>
            <a:off x="1014984" y="507492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o₅</a:t>
            </a:r>
            <a:endParaRPr lang="en-US" sz="1000" dirty="0"/>
          </a:p>
        </p:txBody>
      </p:sp>
      <p:sp>
        <p:nvSpPr>
          <p:cNvPr id="111" name="mlab"/>
          <p:cNvSpPr txBox="1"/>
          <p:nvPr/>
        </p:nvSpPr>
        <p:spPr>
          <a:xfrm>
            <a:off x="1014984" y="534924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o₆</a:t>
            </a:r>
            <a:endParaRPr lang="en-US" sz="1000" dirty="0"/>
          </a:p>
        </p:txBody>
      </p:sp>
      <p:sp>
        <p:nvSpPr>
          <p:cNvPr id="112" name="mname"/>
          <p:cNvSpPr txBox="1"/>
          <p:nvPr/>
        </p:nvSpPr>
        <p:spPr>
          <a:xfrm>
            <a:off x="1143000" y="5678424"/>
            <a:ext cx="16459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/ℓ T (quotient)</a:t>
            </a:r>
            <a:endParaRPr lang="en-US" sz="1300" dirty="0"/>
          </a:p>
        </p:txBody>
      </p:sp>
      <p:sp>
        <p:nvSpPr>
          <p:cNvPr id="113" name="Text 110"/>
          <p:cNvSpPr txBox="1"/>
          <p:nvPr/>
        </p:nvSpPr>
        <p:spPr>
          <a:xfrm>
            <a:off x="2880360" y="4572000"/>
            <a:ext cx="2880360" cy="100584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Quotient: lanes t₂…t₄ pick one of 8 rows; r₁ picks the second 8×8 matrix.</a:t>
            </a:r>
            <a:endParaRPr lang="en-US" sz="1300" dirty="0"/>
          </a:p>
        </p:txBody>
      </p:sp>
      <p:sp>
        <p:nvSpPr>
          <p:cNvPr id="114" name="Text 111"/>
          <p:cNvSpPr txBox="1"/>
          <p:nvPr/>
        </p:nvSpPr>
        <p:spPr>
          <a:xfrm>
            <a:off x="6309360" y="1280160"/>
            <a:ext cx="539496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Worked: mma accumulator (fp16) → row-major 16×8 shared</a:t>
            </a:r>
            <a:endParaRPr lang="en-US" sz="1400" dirty="0"/>
          </a:p>
        </p:txBody>
      </p:sp>
      <p:sp>
        <p:nvSpPr>
          <p:cNvPr id="115" name="mcell"/>
          <p:cNvSpPr txBox="1"/>
          <p:nvPr/>
        </p:nvSpPr>
        <p:spPr>
          <a:xfrm>
            <a:off x="7589520" y="2148840"/>
            <a:ext cx="329184" cy="329184"/>
          </a:xfrm>
          <a:prstGeom prst="rect">
            <a:avLst/>
          </a:prstGeom>
          <a:solidFill>
            <a:srgbClr val="E3F2E4"/>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16" name="mcell"/>
          <p:cNvSpPr txBox="1"/>
          <p:nvPr/>
        </p:nvSpPr>
        <p:spPr>
          <a:xfrm>
            <a:off x="7918704" y="21488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17" name="mcell"/>
          <p:cNvSpPr txBox="1"/>
          <p:nvPr/>
        </p:nvSpPr>
        <p:spPr>
          <a:xfrm>
            <a:off x="8247888" y="2148840"/>
            <a:ext cx="329184" cy="329184"/>
          </a:xfrm>
          <a:prstGeom prst="rect">
            <a:avLst/>
          </a:prstGeom>
          <a:solidFill>
            <a:srgbClr val="E3F2E4"/>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18" name="mcell"/>
          <p:cNvSpPr txBox="1"/>
          <p:nvPr/>
        </p:nvSpPr>
        <p:spPr>
          <a:xfrm>
            <a:off x="8577072" y="2148840"/>
            <a:ext cx="329184" cy="329184"/>
          </a:xfrm>
          <a:prstGeom prst="rect">
            <a:avLst/>
          </a:prstGeom>
          <a:solidFill>
            <a:srgbClr val="E3F2E4"/>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19" name="mcell"/>
          <p:cNvSpPr txBox="1"/>
          <p:nvPr/>
        </p:nvSpPr>
        <p:spPr>
          <a:xfrm>
            <a:off x="8906256" y="21488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0" name="mcell"/>
          <p:cNvSpPr txBox="1"/>
          <p:nvPr/>
        </p:nvSpPr>
        <p:spPr>
          <a:xfrm>
            <a:off x="9235440" y="21488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1" name="mcell"/>
          <p:cNvSpPr txBox="1"/>
          <p:nvPr/>
        </p:nvSpPr>
        <p:spPr>
          <a:xfrm>
            <a:off x="9564624" y="214884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2" name="mcell"/>
          <p:cNvSpPr txBox="1"/>
          <p:nvPr/>
        </p:nvSpPr>
        <p:spPr>
          <a:xfrm>
            <a:off x="7589520" y="2478024"/>
            <a:ext cx="329184" cy="329184"/>
          </a:xfrm>
          <a:prstGeom prst="rect">
            <a:avLst/>
          </a:prstGeom>
          <a:solidFill>
            <a:srgbClr val="E3F2E4"/>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23" name="mcell"/>
          <p:cNvSpPr txBox="1"/>
          <p:nvPr/>
        </p:nvSpPr>
        <p:spPr>
          <a:xfrm>
            <a:off x="7918704" y="24780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4" name="mcell"/>
          <p:cNvSpPr txBox="1"/>
          <p:nvPr/>
        </p:nvSpPr>
        <p:spPr>
          <a:xfrm>
            <a:off x="8247888" y="2478024"/>
            <a:ext cx="329184" cy="329184"/>
          </a:xfrm>
          <a:prstGeom prst="rect">
            <a:avLst/>
          </a:prstGeom>
          <a:solidFill>
            <a:srgbClr val="E3F2E4"/>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25" name="mcell"/>
          <p:cNvSpPr txBox="1"/>
          <p:nvPr/>
        </p:nvSpPr>
        <p:spPr>
          <a:xfrm>
            <a:off x="8577072" y="2478024"/>
            <a:ext cx="329184" cy="329184"/>
          </a:xfrm>
          <a:prstGeom prst="rect">
            <a:avLst/>
          </a:prstGeom>
          <a:solidFill>
            <a:srgbClr val="E3F2E4"/>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26" name="mcell"/>
          <p:cNvSpPr txBox="1"/>
          <p:nvPr/>
        </p:nvSpPr>
        <p:spPr>
          <a:xfrm>
            <a:off x="8906256" y="24780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7" name="mcell"/>
          <p:cNvSpPr txBox="1"/>
          <p:nvPr/>
        </p:nvSpPr>
        <p:spPr>
          <a:xfrm>
            <a:off x="9235440" y="24780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8" name="mcell"/>
          <p:cNvSpPr txBox="1"/>
          <p:nvPr/>
        </p:nvSpPr>
        <p:spPr>
          <a:xfrm>
            <a:off x="9564624" y="247802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29" name="mcell"/>
          <p:cNvSpPr txBox="1"/>
          <p:nvPr/>
        </p:nvSpPr>
        <p:spPr>
          <a:xfrm>
            <a:off x="7589520" y="2807208"/>
            <a:ext cx="329184" cy="329184"/>
          </a:xfrm>
          <a:prstGeom prst="rect">
            <a:avLst/>
          </a:prstGeom>
          <a:solidFill>
            <a:srgbClr val="E3F2E4"/>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30" name="mcell"/>
          <p:cNvSpPr txBox="1"/>
          <p:nvPr/>
        </p:nvSpPr>
        <p:spPr>
          <a:xfrm>
            <a:off x="7918704" y="28072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1" name="mcell"/>
          <p:cNvSpPr txBox="1"/>
          <p:nvPr/>
        </p:nvSpPr>
        <p:spPr>
          <a:xfrm>
            <a:off x="8247888" y="2807208"/>
            <a:ext cx="329184" cy="329184"/>
          </a:xfrm>
          <a:prstGeom prst="rect">
            <a:avLst/>
          </a:prstGeom>
          <a:solidFill>
            <a:srgbClr val="E3F2E4"/>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32" name="mcell"/>
          <p:cNvSpPr txBox="1"/>
          <p:nvPr/>
        </p:nvSpPr>
        <p:spPr>
          <a:xfrm>
            <a:off x="8577072" y="2807208"/>
            <a:ext cx="329184" cy="329184"/>
          </a:xfrm>
          <a:prstGeom prst="rect">
            <a:avLst/>
          </a:prstGeom>
          <a:solidFill>
            <a:srgbClr val="E3F2E4"/>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33" name="mcell"/>
          <p:cNvSpPr txBox="1"/>
          <p:nvPr/>
        </p:nvSpPr>
        <p:spPr>
          <a:xfrm>
            <a:off x="8906256" y="28072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4" name="mcell"/>
          <p:cNvSpPr txBox="1"/>
          <p:nvPr/>
        </p:nvSpPr>
        <p:spPr>
          <a:xfrm>
            <a:off x="9235440" y="28072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5" name="mcell"/>
          <p:cNvSpPr txBox="1"/>
          <p:nvPr/>
        </p:nvSpPr>
        <p:spPr>
          <a:xfrm>
            <a:off x="9564624" y="280720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6" name="mcell"/>
          <p:cNvSpPr txBox="1"/>
          <p:nvPr/>
        </p:nvSpPr>
        <p:spPr>
          <a:xfrm>
            <a:off x="7589520" y="31363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7" name="mcell"/>
          <p:cNvSpPr txBox="1"/>
          <p:nvPr/>
        </p:nvSpPr>
        <p:spPr>
          <a:xfrm>
            <a:off x="7918704" y="31363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8" name="mcell"/>
          <p:cNvSpPr txBox="1"/>
          <p:nvPr/>
        </p:nvSpPr>
        <p:spPr>
          <a:xfrm>
            <a:off x="8247888" y="31363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9" name="mcell"/>
          <p:cNvSpPr txBox="1"/>
          <p:nvPr/>
        </p:nvSpPr>
        <p:spPr>
          <a:xfrm>
            <a:off x="8577072" y="31363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0" name="mcell"/>
          <p:cNvSpPr txBox="1"/>
          <p:nvPr/>
        </p:nvSpPr>
        <p:spPr>
          <a:xfrm>
            <a:off x="8906256" y="3136392"/>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41" name="mcell"/>
          <p:cNvSpPr txBox="1"/>
          <p:nvPr/>
        </p:nvSpPr>
        <p:spPr>
          <a:xfrm>
            <a:off x="9235440" y="31363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2" name="mcell"/>
          <p:cNvSpPr txBox="1"/>
          <p:nvPr/>
        </p:nvSpPr>
        <p:spPr>
          <a:xfrm>
            <a:off x="9564624" y="3136392"/>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3" name="mcell"/>
          <p:cNvSpPr txBox="1"/>
          <p:nvPr/>
        </p:nvSpPr>
        <p:spPr>
          <a:xfrm>
            <a:off x="7589520" y="3465576"/>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4" name="mcell"/>
          <p:cNvSpPr txBox="1"/>
          <p:nvPr/>
        </p:nvSpPr>
        <p:spPr>
          <a:xfrm>
            <a:off x="7918704" y="3465576"/>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5" name="mcell"/>
          <p:cNvSpPr txBox="1"/>
          <p:nvPr/>
        </p:nvSpPr>
        <p:spPr>
          <a:xfrm>
            <a:off x="8247888" y="3465576"/>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6" name="mcell"/>
          <p:cNvSpPr txBox="1"/>
          <p:nvPr/>
        </p:nvSpPr>
        <p:spPr>
          <a:xfrm>
            <a:off x="8577072" y="3465576"/>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7" name="mcell"/>
          <p:cNvSpPr txBox="1"/>
          <p:nvPr/>
        </p:nvSpPr>
        <p:spPr>
          <a:xfrm>
            <a:off x="8906256" y="3465576"/>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8" name="mcell"/>
          <p:cNvSpPr txBox="1"/>
          <p:nvPr/>
        </p:nvSpPr>
        <p:spPr>
          <a:xfrm>
            <a:off x="9235440" y="3465576"/>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49" name="mcell"/>
          <p:cNvSpPr txBox="1"/>
          <p:nvPr/>
        </p:nvSpPr>
        <p:spPr>
          <a:xfrm>
            <a:off x="9564624" y="3465576"/>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0" name="mcell"/>
          <p:cNvSpPr txBox="1"/>
          <p:nvPr/>
        </p:nvSpPr>
        <p:spPr>
          <a:xfrm>
            <a:off x="7589520" y="379476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1" name="mcell"/>
          <p:cNvSpPr txBox="1"/>
          <p:nvPr/>
        </p:nvSpPr>
        <p:spPr>
          <a:xfrm>
            <a:off x="7918704" y="379476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2" name="mcell"/>
          <p:cNvSpPr txBox="1"/>
          <p:nvPr/>
        </p:nvSpPr>
        <p:spPr>
          <a:xfrm>
            <a:off x="8247888" y="379476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3" name="mcell"/>
          <p:cNvSpPr txBox="1"/>
          <p:nvPr/>
        </p:nvSpPr>
        <p:spPr>
          <a:xfrm>
            <a:off x="8577072" y="379476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4" name="mcell"/>
          <p:cNvSpPr txBox="1"/>
          <p:nvPr/>
        </p:nvSpPr>
        <p:spPr>
          <a:xfrm>
            <a:off x="8906256" y="379476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5" name="mcell"/>
          <p:cNvSpPr txBox="1"/>
          <p:nvPr/>
        </p:nvSpPr>
        <p:spPr>
          <a:xfrm>
            <a:off x="9235440" y="379476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6" name="mcell"/>
          <p:cNvSpPr txBox="1"/>
          <p:nvPr/>
        </p:nvSpPr>
        <p:spPr>
          <a:xfrm>
            <a:off x="9564624" y="379476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57" name="mcell"/>
          <p:cNvSpPr txBox="1"/>
          <p:nvPr/>
        </p:nvSpPr>
        <p:spPr>
          <a:xfrm>
            <a:off x="7589520" y="412394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8" name="mcell"/>
          <p:cNvSpPr txBox="1"/>
          <p:nvPr/>
        </p:nvSpPr>
        <p:spPr>
          <a:xfrm>
            <a:off x="7918704" y="4123944"/>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59" name="mcell"/>
          <p:cNvSpPr txBox="1"/>
          <p:nvPr/>
        </p:nvSpPr>
        <p:spPr>
          <a:xfrm>
            <a:off x="8247888" y="412394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0" name="mcell"/>
          <p:cNvSpPr txBox="1"/>
          <p:nvPr/>
        </p:nvSpPr>
        <p:spPr>
          <a:xfrm>
            <a:off x="8577072" y="412394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1" name="mcell"/>
          <p:cNvSpPr txBox="1"/>
          <p:nvPr/>
        </p:nvSpPr>
        <p:spPr>
          <a:xfrm>
            <a:off x="8906256" y="412394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2" name="mcell"/>
          <p:cNvSpPr txBox="1"/>
          <p:nvPr/>
        </p:nvSpPr>
        <p:spPr>
          <a:xfrm>
            <a:off x="9235440" y="412394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3" name="mcell"/>
          <p:cNvSpPr txBox="1"/>
          <p:nvPr/>
        </p:nvSpPr>
        <p:spPr>
          <a:xfrm>
            <a:off x="9564624" y="412394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4" name="msep"/>
          <p:cNvSpPr/>
          <p:nvPr/>
        </p:nvSpPr>
        <p:spPr>
          <a:xfrm>
            <a:off x="8247888" y="2167128"/>
            <a:ext cx="0" cy="2267712"/>
          </a:xfrm>
          <a:prstGeom prst="line">
            <a:avLst/>
          </a:prstGeom>
          <a:noFill/>
          <a:ln w="9525">
            <a:solidFill>
              <a:srgbClr val="5B6770"/>
            </a:solidFill>
            <a:prstDash val="dash"/>
          </a:ln>
        </p:spPr>
      </p:sp>
      <p:sp>
        <p:nvSpPr>
          <p:cNvPr id="165" name="mbr"/>
          <p:cNvSpPr/>
          <p:nvPr/>
        </p:nvSpPr>
        <p:spPr>
          <a:xfrm>
            <a:off x="7562088" y="2121408"/>
            <a:ext cx="0" cy="2359152"/>
          </a:xfrm>
          <a:prstGeom prst="line">
            <a:avLst/>
          </a:prstGeom>
          <a:noFill/>
          <a:ln w="15875">
            <a:solidFill>
              <a:srgbClr val="1E2A32"/>
            </a:solidFill>
            <a:prstDash val="solid"/>
          </a:ln>
        </p:spPr>
      </p:sp>
      <p:sp>
        <p:nvSpPr>
          <p:cNvPr id="166" name="mbr"/>
          <p:cNvSpPr/>
          <p:nvPr/>
        </p:nvSpPr>
        <p:spPr>
          <a:xfrm>
            <a:off x="7562088" y="2121408"/>
            <a:ext cx="73152" cy="0"/>
          </a:xfrm>
          <a:prstGeom prst="line">
            <a:avLst/>
          </a:prstGeom>
          <a:noFill/>
          <a:ln w="15875">
            <a:solidFill>
              <a:srgbClr val="1E2A32"/>
            </a:solidFill>
            <a:prstDash val="solid"/>
          </a:ln>
        </p:spPr>
      </p:sp>
      <p:sp>
        <p:nvSpPr>
          <p:cNvPr id="167" name="mbr"/>
          <p:cNvSpPr/>
          <p:nvPr/>
        </p:nvSpPr>
        <p:spPr>
          <a:xfrm>
            <a:off x="7562088" y="4480560"/>
            <a:ext cx="73152" cy="0"/>
          </a:xfrm>
          <a:prstGeom prst="line">
            <a:avLst/>
          </a:prstGeom>
          <a:noFill/>
          <a:ln w="15875">
            <a:solidFill>
              <a:srgbClr val="1E2A32"/>
            </a:solidFill>
            <a:prstDash val="solid"/>
          </a:ln>
        </p:spPr>
      </p:sp>
      <p:sp>
        <p:nvSpPr>
          <p:cNvPr id="168" name="mbr"/>
          <p:cNvSpPr/>
          <p:nvPr/>
        </p:nvSpPr>
        <p:spPr>
          <a:xfrm>
            <a:off x="9921240" y="2121408"/>
            <a:ext cx="0" cy="2359152"/>
          </a:xfrm>
          <a:prstGeom prst="line">
            <a:avLst/>
          </a:prstGeom>
          <a:noFill/>
          <a:ln w="15875">
            <a:solidFill>
              <a:srgbClr val="1E2A32"/>
            </a:solidFill>
            <a:prstDash val="solid"/>
          </a:ln>
        </p:spPr>
      </p:sp>
      <p:sp>
        <p:nvSpPr>
          <p:cNvPr id="169" name="mbr"/>
          <p:cNvSpPr/>
          <p:nvPr/>
        </p:nvSpPr>
        <p:spPr>
          <a:xfrm>
            <a:off x="9848088" y="2121408"/>
            <a:ext cx="73152" cy="0"/>
          </a:xfrm>
          <a:prstGeom prst="line">
            <a:avLst/>
          </a:prstGeom>
          <a:noFill/>
          <a:ln w="15875">
            <a:solidFill>
              <a:srgbClr val="1E2A32"/>
            </a:solidFill>
            <a:prstDash val="solid"/>
          </a:ln>
        </p:spPr>
      </p:sp>
      <p:sp>
        <p:nvSpPr>
          <p:cNvPr id="170" name="mbr"/>
          <p:cNvSpPr/>
          <p:nvPr/>
        </p:nvSpPr>
        <p:spPr>
          <a:xfrm>
            <a:off x="9848088" y="4480560"/>
            <a:ext cx="73152" cy="0"/>
          </a:xfrm>
          <a:prstGeom prst="line">
            <a:avLst/>
          </a:prstGeom>
          <a:noFill/>
          <a:ln w="15875">
            <a:solidFill>
              <a:srgbClr val="1E2A32"/>
            </a:solidFill>
            <a:prstDash val="solid"/>
          </a:ln>
        </p:spPr>
      </p:sp>
      <p:sp>
        <p:nvSpPr>
          <p:cNvPr id="171" name="mlab"/>
          <p:cNvSpPr txBox="1"/>
          <p:nvPr/>
        </p:nvSpPr>
        <p:spPr>
          <a:xfrm>
            <a:off x="7543800"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r₀</a:t>
            </a:r>
            <a:endParaRPr lang="en-US" sz="1100" dirty="0"/>
          </a:p>
        </p:txBody>
      </p:sp>
      <p:sp>
        <p:nvSpPr>
          <p:cNvPr id="172" name="mlab"/>
          <p:cNvSpPr txBox="1"/>
          <p:nvPr/>
        </p:nvSpPr>
        <p:spPr>
          <a:xfrm>
            <a:off x="7872984"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r₁</a:t>
            </a:r>
            <a:endParaRPr lang="en-US" sz="1100" dirty="0"/>
          </a:p>
        </p:txBody>
      </p:sp>
      <p:sp>
        <p:nvSpPr>
          <p:cNvPr id="173" name="mlab"/>
          <p:cNvSpPr txBox="1"/>
          <p:nvPr/>
        </p:nvSpPr>
        <p:spPr>
          <a:xfrm>
            <a:off x="8202168"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t₀</a:t>
            </a:r>
            <a:endParaRPr lang="en-US" sz="1100" dirty="0"/>
          </a:p>
        </p:txBody>
      </p:sp>
      <p:sp>
        <p:nvSpPr>
          <p:cNvPr id="174" name="mlab"/>
          <p:cNvSpPr txBox="1"/>
          <p:nvPr/>
        </p:nvSpPr>
        <p:spPr>
          <a:xfrm>
            <a:off x="8531352"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t₁</a:t>
            </a:r>
            <a:endParaRPr lang="en-US" sz="1100" dirty="0"/>
          </a:p>
        </p:txBody>
      </p:sp>
      <p:sp>
        <p:nvSpPr>
          <p:cNvPr id="175" name="mlab"/>
          <p:cNvSpPr txBox="1"/>
          <p:nvPr/>
        </p:nvSpPr>
        <p:spPr>
          <a:xfrm>
            <a:off x="8860536"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t₂</a:t>
            </a:r>
            <a:endParaRPr lang="en-US" sz="1100" dirty="0"/>
          </a:p>
        </p:txBody>
      </p:sp>
      <p:sp>
        <p:nvSpPr>
          <p:cNvPr id="176" name="mlab"/>
          <p:cNvSpPr txBox="1"/>
          <p:nvPr/>
        </p:nvSpPr>
        <p:spPr>
          <a:xfrm>
            <a:off x="9189720"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t₃</a:t>
            </a:r>
            <a:endParaRPr lang="en-US" sz="1100" dirty="0"/>
          </a:p>
        </p:txBody>
      </p:sp>
      <p:sp>
        <p:nvSpPr>
          <p:cNvPr id="177" name="mlab"/>
          <p:cNvSpPr txBox="1"/>
          <p:nvPr/>
        </p:nvSpPr>
        <p:spPr>
          <a:xfrm>
            <a:off x="9518904" y="191109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t₄</a:t>
            </a:r>
            <a:endParaRPr lang="en-US" sz="1100" dirty="0"/>
          </a:p>
        </p:txBody>
      </p:sp>
      <p:sp>
        <p:nvSpPr>
          <p:cNvPr id="178" name="mgrp"/>
          <p:cNvSpPr txBox="1"/>
          <p:nvPr/>
        </p:nvSpPr>
        <p:spPr>
          <a:xfrm>
            <a:off x="7589520" y="1673352"/>
            <a:ext cx="658368"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Reg</a:t>
            </a:r>
            <a:endParaRPr lang="en-US" sz="1100" dirty="0"/>
          </a:p>
        </p:txBody>
      </p:sp>
      <p:sp>
        <p:nvSpPr>
          <p:cNvPr id="179" name="mgrp"/>
          <p:cNvSpPr txBox="1"/>
          <p:nvPr/>
        </p:nvSpPr>
        <p:spPr>
          <a:xfrm>
            <a:off x="8247888" y="1673352"/>
            <a:ext cx="1645920"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Lane</a:t>
            </a:r>
            <a:endParaRPr lang="en-US" sz="1100" dirty="0"/>
          </a:p>
        </p:txBody>
      </p:sp>
      <p:sp>
        <p:nvSpPr>
          <p:cNvPr id="180" name="mlab"/>
          <p:cNvSpPr txBox="1"/>
          <p:nvPr/>
        </p:nvSpPr>
        <p:spPr>
          <a:xfrm>
            <a:off x="7187184" y="2148840"/>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o₀</a:t>
            </a:r>
            <a:endParaRPr lang="en-US" sz="1100" dirty="0"/>
          </a:p>
        </p:txBody>
      </p:sp>
      <p:sp>
        <p:nvSpPr>
          <p:cNvPr id="181" name="mlab"/>
          <p:cNvSpPr txBox="1"/>
          <p:nvPr/>
        </p:nvSpPr>
        <p:spPr>
          <a:xfrm>
            <a:off x="7187184" y="2478024"/>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o₁</a:t>
            </a:r>
            <a:endParaRPr lang="en-US" sz="1100" dirty="0"/>
          </a:p>
        </p:txBody>
      </p:sp>
      <p:sp>
        <p:nvSpPr>
          <p:cNvPr id="182" name="mlab"/>
          <p:cNvSpPr txBox="1"/>
          <p:nvPr/>
        </p:nvSpPr>
        <p:spPr>
          <a:xfrm>
            <a:off x="7187184" y="2807208"/>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o₂</a:t>
            </a:r>
            <a:endParaRPr lang="en-US" sz="1100" dirty="0"/>
          </a:p>
        </p:txBody>
      </p:sp>
      <p:sp>
        <p:nvSpPr>
          <p:cNvPr id="183" name="mlab"/>
          <p:cNvSpPr txBox="1"/>
          <p:nvPr/>
        </p:nvSpPr>
        <p:spPr>
          <a:xfrm>
            <a:off x="7187184" y="3136392"/>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o₃</a:t>
            </a:r>
            <a:endParaRPr lang="en-US" sz="1100" dirty="0"/>
          </a:p>
        </p:txBody>
      </p:sp>
      <p:sp>
        <p:nvSpPr>
          <p:cNvPr id="184" name="mlab"/>
          <p:cNvSpPr txBox="1"/>
          <p:nvPr/>
        </p:nvSpPr>
        <p:spPr>
          <a:xfrm>
            <a:off x="7187184" y="3465576"/>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o₄</a:t>
            </a:r>
            <a:endParaRPr lang="en-US" sz="1100" dirty="0"/>
          </a:p>
        </p:txBody>
      </p:sp>
      <p:sp>
        <p:nvSpPr>
          <p:cNvPr id="185" name="mlab"/>
          <p:cNvSpPr txBox="1"/>
          <p:nvPr/>
        </p:nvSpPr>
        <p:spPr>
          <a:xfrm>
            <a:off x="7187184" y="3794760"/>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o₅</a:t>
            </a:r>
            <a:endParaRPr lang="en-US" sz="1100" dirty="0"/>
          </a:p>
        </p:txBody>
      </p:sp>
      <p:sp>
        <p:nvSpPr>
          <p:cNvPr id="186" name="mlab"/>
          <p:cNvSpPr txBox="1"/>
          <p:nvPr/>
        </p:nvSpPr>
        <p:spPr>
          <a:xfrm>
            <a:off x="7187184" y="4123944"/>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o₆</a:t>
            </a:r>
            <a:endParaRPr lang="en-US" sz="1100" dirty="0"/>
          </a:p>
        </p:txBody>
      </p:sp>
      <p:sp>
        <p:nvSpPr>
          <p:cNvPr id="187" name="mname"/>
          <p:cNvSpPr txBox="1"/>
          <p:nvPr/>
        </p:nvSpPr>
        <p:spPr>
          <a:xfrm>
            <a:off x="7315200" y="4507992"/>
            <a:ext cx="285292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 A⁻¹B</a:t>
            </a:r>
            <a:endParaRPr lang="en-US" sz="1300" dirty="0"/>
          </a:p>
        </p:txBody>
      </p:sp>
      <p:sp>
        <p:nvSpPr>
          <p:cNvPr id="188" name="callout"/>
          <p:cNvSpPr/>
          <p:nvPr/>
        </p:nvSpPr>
        <p:spPr>
          <a:xfrm>
            <a:off x="6309360" y="4892040"/>
            <a:ext cx="5394960" cy="777240"/>
          </a:xfrm>
          <a:prstGeom prst="roundRect">
            <a:avLst>
              <a:gd name="adj" fmla="val 9412"/>
            </a:avLst>
          </a:prstGeom>
          <a:solidFill>
            <a:srgbClr val="E3F2E4"/>
          </a:solidFill>
          <a:ln/>
        </p:spPr>
      </p:sp>
      <p:sp>
        <p:nvSpPr>
          <p:cNvPr id="189" name="callout-text"/>
          <p:cNvSpPr txBox="1"/>
          <p:nvPr/>
        </p:nvSpPr>
        <p:spPr>
          <a:xfrm>
            <a:off x="6446520" y="4946904"/>
            <a:ext cx="5120640" cy="667512"/>
          </a:xfrm>
          <a:prstGeom prst="rect">
            <a:avLst/>
          </a:prstGeom>
          <a:noFill/>
          <a:ln/>
        </p:spPr>
        <p:txBody>
          <a:bodyPr wrap="square" lIns="0" tIns="0" rIns="0" bIns="0" rtlCol="0" anchor="ctr"/>
          <a:lstStyle/>
          <a:p>
            <a:pPr algn="l" indent="0" marL="0">
              <a:buNone/>
            </a:pPr>
            <a:r>
              <a:rPr lang="en-US" sz="1400" dirty="0">
                <a:solidFill>
                  <a:srgbClr val="2E7D32"/>
                </a:solidFill>
                <a:latin typeface="Calibri" pitchFamily="34" charset="0"/>
                <a:ea typeface="Calibri" pitchFamily="34" charset="-122"/>
                <a:cs typeface="Calibri" pitchFamily="34" charset="-120"/>
              </a:rPr>
              <a:t>Tile cells (green: r₀ → o₀, t₀ t₁ → o₁ o₂) are isolated from the rest → </a:t>
            </a:r>
            <a:r>
              <a:rPr lang="en-US" sz="1400" b="1" dirty="0">
                <a:solidFill>
                  <a:srgbClr val="2E7D32"/>
                </a:solidFill>
                <a:latin typeface="Calibri" pitchFamily="34" charset="0"/>
                <a:ea typeface="Calibri" pitchFamily="34" charset="-122"/>
                <a:cs typeface="Calibri" pitchFamily="34" charset="-120"/>
              </a:rPr>
              <a:t>L /ℓ T exists</a:t>
            </a:r>
            <a:r>
              <a:rPr lang="en-US" sz="1400" dirty="0">
                <a:solidFill>
                  <a:srgbClr val="2E7D32"/>
                </a:solidFill>
                <a:latin typeface="Calibri" pitchFamily="34" charset="0"/>
                <a:ea typeface="Calibri" pitchFamily="34" charset="-122"/>
                <a:cs typeface="Calibri" pitchFamily="34" charset="-120"/>
              </a:rPr>
              <a:t> → stmatrix-style store.</a:t>
            </a:r>
            <a:endParaRPr lang="en-US" sz="1400" dirty="0"/>
          </a:p>
        </p:txBody>
      </p:sp>
      <p:sp>
        <p:nvSpPr>
          <p:cNvPr id="190" name="tag"/>
          <p:cNvSpPr txBox="1"/>
          <p:nvPr/>
        </p:nvSpPr>
        <p:spPr>
          <a:xfrm>
            <a:off x="7498080" y="5815584"/>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§5.3 · GENERALIZED VECTORIZATION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Not divisible? Permute the registers: L′ = P_Reg L</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§5.3 “Generalized Vectorization”, p. 139</a:t>
            </a:r>
            <a:endParaRPr lang="en-US" sz="1000" dirty="0"/>
          </a:p>
        </p:txBody>
      </p:sp>
      <p:sp>
        <p:nvSpPr>
          <p:cNvPr id="6" name="mcell"/>
          <p:cNvSpPr txBox="1"/>
          <p:nvPr/>
        </p:nvSpPr>
        <p:spPr>
          <a:xfrm>
            <a:off x="1143000" y="2057400"/>
            <a:ext cx="402336" cy="402336"/>
          </a:xfrm>
          <a:prstGeom prst="rect">
            <a:avLst/>
          </a:prstGeom>
          <a:solidFill>
            <a:srgbClr val="FBE3E1"/>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7" name="mcell"/>
          <p:cNvSpPr txBox="1"/>
          <p:nvPr/>
        </p:nvSpPr>
        <p:spPr>
          <a:xfrm>
            <a:off x="1545336" y="2057400"/>
            <a:ext cx="402336" cy="402336"/>
          </a:xfrm>
          <a:prstGeom prst="rect">
            <a:avLst/>
          </a:prstGeom>
          <a:solidFill>
            <a:srgbClr val="FBE3E1"/>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 name="mcell"/>
          <p:cNvSpPr txBox="1"/>
          <p:nvPr/>
        </p:nvSpPr>
        <p:spPr>
          <a:xfrm>
            <a:off x="1947672"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9" name="mcell"/>
          <p:cNvSpPr txBox="1"/>
          <p:nvPr/>
        </p:nvSpPr>
        <p:spPr>
          <a:xfrm>
            <a:off x="2350008"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0" name="mcell"/>
          <p:cNvSpPr txBox="1"/>
          <p:nvPr/>
        </p:nvSpPr>
        <p:spPr>
          <a:xfrm>
            <a:off x="1143000" y="2459736"/>
            <a:ext cx="402336" cy="402336"/>
          </a:xfrm>
          <a:prstGeom prst="rect">
            <a:avLst/>
          </a:prstGeom>
          <a:solidFill>
            <a:srgbClr val="FBE3E1"/>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1" name="mcell"/>
          <p:cNvSpPr txBox="1"/>
          <p:nvPr/>
        </p:nvSpPr>
        <p:spPr>
          <a:xfrm>
            <a:off x="1545336" y="2459736"/>
            <a:ext cx="402336" cy="402336"/>
          </a:xfrm>
          <a:prstGeom prst="rect">
            <a:avLst/>
          </a:prstGeom>
          <a:solidFill>
            <a:srgbClr val="FBE3E1"/>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12" name="mcell"/>
          <p:cNvSpPr txBox="1"/>
          <p:nvPr/>
        </p:nvSpPr>
        <p:spPr>
          <a:xfrm>
            <a:off x="1947672"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3" name="mcell"/>
          <p:cNvSpPr txBox="1"/>
          <p:nvPr/>
        </p:nvSpPr>
        <p:spPr>
          <a:xfrm>
            <a:off x="2350008"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4" name="mcell"/>
          <p:cNvSpPr txBox="1"/>
          <p:nvPr/>
        </p:nvSpPr>
        <p:spPr>
          <a:xfrm>
            <a:off x="1143000"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5" name="mcell"/>
          <p:cNvSpPr txBox="1"/>
          <p:nvPr/>
        </p:nvSpPr>
        <p:spPr>
          <a:xfrm>
            <a:off x="1545336"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6" name="mcell"/>
          <p:cNvSpPr txBox="1"/>
          <p:nvPr/>
        </p:nvSpPr>
        <p:spPr>
          <a:xfrm>
            <a:off x="1947672" y="2862072"/>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7" name="mcell"/>
          <p:cNvSpPr txBox="1"/>
          <p:nvPr/>
        </p:nvSpPr>
        <p:spPr>
          <a:xfrm>
            <a:off x="2350008"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8" name="mcell"/>
          <p:cNvSpPr txBox="1"/>
          <p:nvPr/>
        </p:nvSpPr>
        <p:spPr>
          <a:xfrm>
            <a:off x="1143000"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9" name="mcell"/>
          <p:cNvSpPr txBox="1"/>
          <p:nvPr/>
        </p:nvSpPr>
        <p:spPr>
          <a:xfrm>
            <a:off x="1545336"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0" name="mcell"/>
          <p:cNvSpPr txBox="1"/>
          <p:nvPr/>
        </p:nvSpPr>
        <p:spPr>
          <a:xfrm>
            <a:off x="1947672"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1" name="mcell"/>
          <p:cNvSpPr txBox="1"/>
          <p:nvPr/>
        </p:nvSpPr>
        <p:spPr>
          <a:xfrm>
            <a:off x="2350008" y="3264408"/>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2" name="msep"/>
          <p:cNvSpPr/>
          <p:nvPr/>
        </p:nvSpPr>
        <p:spPr>
          <a:xfrm>
            <a:off x="1947672" y="2075688"/>
            <a:ext cx="0" cy="1572768"/>
          </a:xfrm>
          <a:prstGeom prst="line">
            <a:avLst/>
          </a:prstGeom>
          <a:noFill/>
          <a:ln w="9525">
            <a:solidFill>
              <a:srgbClr val="5B6770"/>
            </a:solidFill>
            <a:prstDash val="dash"/>
          </a:ln>
        </p:spPr>
      </p:sp>
      <p:sp>
        <p:nvSpPr>
          <p:cNvPr id="23" name="msep"/>
          <p:cNvSpPr/>
          <p:nvPr/>
        </p:nvSpPr>
        <p:spPr>
          <a:xfrm>
            <a:off x="1161288" y="2862072"/>
            <a:ext cx="1572768" cy="0"/>
          </a:xfrm>
          <a:prstGeom prst="line">
            <a:avLst/>
          </a:prstGeom>
          <a:noFill/>
          <a:ln w="9525">
            <a:solidFill>
              <a:srgbClr val="5B6770"/>
            </a:solidFill>
            <a:prstDash val="dash"/>
          </a:ln>
        </p:spPr>
      </p:sp>
      <p:sp>
        <p:nvSpPr>
          <p:cNvPr id="24" name="mbr"/>
          <p:cNvSpPr/>
          <p:nvPr/>
        </p:nvSpPr>
        <p:spPr>
          <a:xfrm>
            <a:off x="1115568" y="2029968"/>
            <a:ext cx="0" cy="1664208"/>
          </a:xfrm>
          <a:prstGeom prst="line">
            <a:avLst/>
          </a:prstGeom>
          <a:noFill/>
          <a:ln w="15875">
            <a:solidFill>
              <a:srgbClr val="1E2A32"/>
            </a:solidFill>
            <a:prstDash val="solid"/>
          </a:ln>
        </p:spPr>
      </p:sp>
      <p:sp>
        <p:nvSpPr>
          <p:cNvPr id="25" name="mbr"/>
          <p:cNvSpPr/>
          <p:nvPr/>
        </p:nvSpPr>
        <p:spPr>
          <a:xfrm>
            <a:off x="1115568" y="2029968"/>
            <a:ext cx="73152" cy="0"/>
          </a:xfrm>
          <a:prstGeom prst="line">
            <a:avLst/>
          </a:prstGeom>
          <a:noFill/>
          <a:ln w="15875">
            <a:solidFill>
              <a:srgbClr val="1E2A32"/>
            </a:solidFill>
            <a:prstDash val="solid"/>
          </a:ln>
        </p:spPr>
      </p:sp>
      <p:sp>
        <p:nvSpPr>
          <p:cNvPr id="26" name="mbr"/>
          <p:cNvSpPr/>
          <p:nvPr/>
        </p:nvSpPr>
        <p:spPr>
          <a:xfrm>
            <a:off x="1115568" y="3694176"/>
            <a:ext cx="73152" cy="0"/>
          </a:xfrm>
          <a:prstGeom prst="line">
            <a:avLst/>
          </a:prstGeom>
          <a:noFill/>
          <a:ln w="15875">
            <a:solidFill>
              <a:srgbClr val="1E2A32"/>
            </a:solidFill>
            <a:prstDash val="solid"/>
          </a:ln>
        </p:spPr>
      </p:sp>
      <p:sp>
        <p:nvSpPr>
          <p:cNvPr id="27" name="mbr"/>
          <p:cNvSpPr/>
          <p:nvPr/>
        </p:nvSpPr>
        <p:spPr>
          <a:xfrm>
            <a:off x="2779776" y="2029968"/>
            <a:ext cx="0" cy="1664208"/>
          </a:xfrm>
          <a:prstGeom prst="line">
            <a:avLst/>
          </a:prstGeom>
          <a:noFill/>
          <a:ln w="15875">
            <a:solidFill>
              <a:srgbClr val="1E2A32"/>
            </a:solidFill>
            <a:prstDash val="solid"/>
          </a:ln>
        </p:spPr>
      </p:sp>
      <p:sp>
        <p:nvSpPr>
          <p:cNvPr id="28" name="mbr"/>
          <p:cNvSpPr/>
          <p:nvPr/>
        </p:nvSpPr>
        <p:spPr>
          <a:xfrm>
            <a:off x="2706624" y="2029968"/>
            <a:ext cx="73152" cy="0"/>
          </a:xfrm>
          <a:prstGeom prst="line">
            <a:avLst/>
          </a:prstGeom>
          <a:noFill/>
          <a:ln w="15875">
            <a:solidFill>
              <a:srgbClr val="1E2A32"/>
            </a:solidFill>
            <a:prstDash val="solid"/>
          </a:ln>
        </p:spPr>
      </p:sp>
      <p:sp>
        <p:nvSpPr>
          <p:cNvPr id="29" name="mbr"/>
          <p:cNvSpPr/>
          <p:nvPr/>
        </p:nvSpPr>
        <p:spPr>
          <a:xfrm>
            <a:off x="2706624" y="3694176"/>
            <a:ext cx="73152" cy="0"/>
          </a:xfrm>
          <a:prstGeom prst="line">
            <a:avLst/>
          </a:prstGeom>
          <a:noFill/>
          <a:ln w="15875">
            <a:solidFill>
              <a:srgbClr val="1E2A32"/>
            </a:solidFill>
            <a:prstDash val="solid"/>
          </a:ln>
        </p:spPr>
      </p:sp>
      <p:sp>
        <p:nvSpPr>
          <p:cNvPr id="30" name="mlab"/>
          <p:cNvSpPr txBox="1"/>
          <p:nvPr/>
        </p:nvSpPr>
        <p:spPr>
          <a:xfrm>
            <a:off x="1097280"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31" name="mlab"/>
          <p:cNvSpPr txBox="1"/>
          <p:nvPr/>
        </p:nvSpPr>
        <p:spPr>
          <a:xfrm>
            <a:off x="1499616"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32" name="mlab"/>
          <p:cNvSpPr txBox="1"/>
          <p:nvPr/>
        </p:nvSpPr>
        <p:spPr>
          <a:xfrm>
            <a:off x="1901952"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33" name="mlab"/>
          <p:cNvSpPr txBox="1"/>
          <p:nvPr/>
        </p:nvSpPr>
        <p:spPr>
          <a:xfrm>
            <a:off x="2304288"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34" name="mgrp"/>
          <p:cNvSpPr txBox="1"/>
          <p:nvPr/>
        </p:nvSpPr>
        <p:spPr>
          <a:xfrm>
            <a:off x="1143000" y="1581912"/>
            <a:ext cx="804672"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Reg</a:t>
            </a:r>
            <a:endParaRPr lang="en-US" sz="1300" dirty="0"/>
          </a:p>
        </p:txBody>
      </p:sp>
      <p:sp>
        <p:nvSpPr>
          <p:cNvPr id="35" name="mgrp"/>
          <p:cNvSpPr txBox="1"/>
          <p:nvPr/>
        </p:nvSpPr>
        <p:spPr>
          <a:xfrm>
            <a:off x="1947672" y="1581912"/>
            <a:ext cx="804672"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Thr</a:t>
            </a:r>
            <a:endParaRPr lang="en-US" sz="1300" dirty="0"/>
          </a:p>
        </p:txBody>
      </p:sp>
      <p:sp>
        <p:nvSpPr>
          <p:cNvPr id="36" name="mlab"/>
          <p:cNvSpPr txBox="1"/>
          <p:nvPr/>
        </p:nvSpPr>
        <p:spPr>
          <a:xfrm>
            <a:off x="740664" y="2057400"/>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o₀</a:t>
            </a:r>
            <a:endParaRPr lang="en-US" sz="1300" dirty="0"/>
          </a:p>
        </p:txBody>
      </p:sp>
      <p:sp>
        <p:nvSpPr>
          <p:cNvPr id="37" name="mlab"/>
          <p:cNvSpPr txBox="1"/>
          <p:nvPr/>
        </p:nvSpPr>
        <p:spPr>
          <a:xfrm>
            <a:off x="740664" y="2459736"/>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o₁</a:t>
            </a:r>
            <a:endParaRPr lang="en-US" sz="1300" dirty="0"/>
          </a:p>
        </p:txBody>
      </p:sp>
      <p:sp>
        <p:nvSpPr>
          <p:cNvPr id="38" name="mlab"/>
          <p:cNvSpPr txBox="1"/>
          <p:nvPr/>
        </p:nvSpPr>
        <p:spPr>
          <a:xfrm>
            <a:off x="740664" y="2862072"/>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o₂</a:t>
            </a:r>
            <a:endParaRPr lang="en-US" sz="1300" dirty="0"/>
          </a:p>
        </p:txBody>
      </p:sp>
      <p:sp>
        <p:nvSpPr>
          <p:cNvPr id="39" name="mlab"/>
          <p:cNvSpPr txBox="1"/>
          <p:nvPr/>
        </p:nvSpPr>
        <p:spPr>
          <a:xfrm>
            <a:off x="740664" y="3264408"/>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o₃</a:t>
            </a:r>
            <a:endParaRPr lang="en-US" sz="1300" dirty="0"/>
          </a:p>
        </p:txBody>
      </p:sp>
      <p:sp>
        <p:nvSpPr>
          <p:cNvPr id="40" name="mname"/>
          <p:cNvSpPr txBox="1"/>
          <p:nvPr/>
        </p:nvSpPr>
        <p:spPr>
          <a:xfrm>
            <a:off x="868680" y="3721608"/>
            <a:ext cx="215798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regs hold 0, 2, 1, 3</a:t>
            </a:r>
            <a:endParaRPr lang="en-US" sz="1300" dirty="0"/>
          </a:p>
        </p:txBody>
      </p:sp>
      <p:sp>
        <p:nvSpPr>
          <p:cNvPr id="41" name="op"/>
          <p:cNvSpPr txBox="1"/>
          <p:nvPr/>
        </p:nvSpPr>
        <p:spPr>
          <a:xfrm>
            <a:off x="2798064" y="2633472"/>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42" name="mcell"/>
          <p:cNvSpPr txBox="1"/>
          <p:nvPr/>
        </p:nvSpPr>
        <p:spPr>
          <a:xfrm>
            <a:off x="3575304"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3" name="mcell"/>
          <p:cNvSpPr txBox="1"/>
          <p:nvPr/>
        </p:nvSpPr>
        <p:spPr>
          <a:xfrm>
            <a:off x="3977640" y="2057400"/>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44" name="mcell"/>
          <p:cNvSpPr txBox="1"/>
          <p:nvPr/>
        </p:nvSpPr>
        <p:spPr>
          <a:xfrm>
            <a:off x="4379976"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5" name="mcell"/>
          <p:cNvSpPr txBox="1"/>
          <p:nvPr/>
        </p:nvSpPr>
        <p:spPr>
          <a:xfrm>
            <a:off x="4782312"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6" name="mcell"/>
          <p:cNvSpPr txBox="1"/>
          <p:nvPr/>
        </p:nvSpPr>
        <p:spPr>
          <a:xfrm>
            <a:off x="3575304" y="2459736"/>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47" name="mcell"/>
          <p:cNvSpPr txBox="1"/>
          <p:nvPr/>
        </p:nvSpPr>
        <p:spPr>
          <a:xfrm>
            <a:off x="3977640"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8" name="mcell"/>
          <p:cNvSpPr txBox="1"/>
          <p:nvPr/>
        </p:nvSpPr>
        <p:spPr>
          <a:xfrm>
            <a:off x="4379976"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49" name="mcell"/>
          <p:cNvSpPr txBox="1"/>
          <p:nvPr/>
        </p:nvSpPr>
        <p:spPr>
          <a:xfrm>
            <a:off x="4782312"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0" name="mcell"/>
          <p:cNvSpPr txBox="1"/>
          <p:nvPr/>
        </p:nvSpPr>
        <p:spPr>
          <a:xfrm>
            <a:off x="3575304"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1" name="mcell"/>
          <p:cNvSpPr txBox="1"/>
          <p:nvPr/>
        </p:nvSpPr>
        <p:spPr>
          <a:xfrm>
            <a:off x="3977640"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2" name="mcell"/>
          <p:cNvSpPr txBox="1"/>
          <p:nvPr/>
        </p:nvSpPr>
        <p:spPr>
          <a:xfrm>
            <a:off x="4379976" y="2862072"/>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3" name="mcell"/>
          <p:cNvSpPr txBox="1"/>
          <p:nvPr/>
        </p:nvSpPr>
        <p:spPr>
          <a:xfrm>
            <a:off x="4782312"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4" name="mcell"/>
          <p:cNvSpPr txBox="1"/>
          <p:nvPr/>
        </p:nvSpPr>
        <p:spPr>
          <a:xfrm>
            <a:off x="3575304"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5" name="mcell"/>
          <p:cNvSpPr txBox="1"/>
          <p:nvPr/>
        </p:nvSpPr>
        <p:spPr>
          <a:xfrm>
            <a:off x="3977640"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6" name="mcell"/>
          <p:cNvSpPr txBox="1"/>
          <p:nvPr/>
        </p:nvSpPr>
        <p:spPr>
          <a:xfrm>
            <a:off x="4379976"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57" name="mcell"/>
          <p:cNvSpPr txBox="1"/>
          <p:nvPr/>
        </p:nvSpPr>
        <p:spPr>
          <a:xfrm>
            <a:off x="4782312" y="3264408"/>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8" name="mbr"/>
          <p:cNvSpPr/>
          <p:nvPr/>
        </p:nvSpPr>
        <p:spPr>
          <a:xfrm>
            <a:off x="3547872" y="2029968"/>
            <a:ext cx="0" cy="1664208"/>
          </a:xfrm>
          <a:prstGeom prst="line">
            <a:avLst/>
          </a:prstGeom>
          <a:noFill/>
          <a:ln w="15875">
            <a:solidFill>
              <a:srgbClr val="1E2A32"/>
            </a:solidFill>
            <a:prstDash val="solid"/>
          </a:ln>
        </p:spPr>
      </p:sp>
      <p:sp>
        <p:nvSpPr>
          <p:cNvPr id="59" name="mbr"/>
          <p:cNvSpPr/>
          <p:nvPr/>
        </p:nvSpPr>
        <p:spPr>
          <a:xfrm>
            <a:off x="3547872" y="2029968"/>
            <a:ext cx="73152" cy="0"/>
          </a:xfrm>
          <a:prstGeom prst="line">
            <a:avLst/>
          </a:prstGeom>
          <a:noFill/>
          <a:ln w="15875">
            <a:solidFill>
              <a:srgbClr val="1E2A32"/>
            </a:solidFill>
            <a:prstDash val="solid"/>
          </a:ln>
        </p:spPr>
      </p:sp>
      <p:sp>
        <p:nvSpPr>
          <p:cNvPr id="60" name="mbr"/>
          <p:cNvSpPr/>
          <p:nvPr/>
        </p:nvSpPr>
        <p:spPr>
          <a:xfrm>
            <a:off x="3547872" y="3694176"/>
            <a:ext cx="73152" cy="0"/>
          </a:xfrm>
          <a:prstGeom prst="line">
            <a:avLst/>
          </a:prstGeom>
          <a:noFill/>
          <a:ln w="15875">
            <a:solidFill>
              <a:srgbClr val="1E2A32"/>
            </a:solidFill>
            <a:prstDash val="solid"/>
          </a:ln>
        </p:spPr>
      </p:sp>
      <p:sp>
        <p:nvSpPr>
          <p:cNvPr id="61" name="mbr"/>
          <p:cNvSpPr/>
          <p:nvPr/>
        </p:nvSpPr>
        <p:spPr>
          <a:xfrm>
            <a:off x="5212080" y="2029968"/>
            <a:ext cx="0" cy="1664208"/>
          </a:xfrm>
          <a:prstGeom prst="line">
            <a:avLst/>
          </a:prstGeom>
          <a:noFill/>
          <a:ln w="15875">
            <a:solidFill>
              <a:srgbClr val="1E2A32"/>
            </a:solidFill>
            <a:prstDash val="solid"/>
          </a:ln>
        </p:spPr>
      </p:sp>
      <p:sp>
        <p:nvSpPr>
          <p:cNvPr id="62" name="mbr"/>
          <p:cNvSpPr/>
          <p:nvPr/>
        </p:nvSpPr>
        <p:spPr>
          <a:xfrm>
            <a:off x="5138928" y="2029968"/>
            <a:ext cx="73152" cy="0"/>
          </a:xfrm>
          <a:prstGeom prst="line">
            <a:avLst/>
          </a:prstGeom>
          <a:noFill/>
          <a:ln w="15875">
            <a:solidFill>
              <a:srgbClr val="1E2A32"/>
            </a:solidFill>
            <a:prstDash val="solid"/>
          </a:ln>
        </p:spPr>
      </p:sp>
      <p:sp>
        <p:nvSpPr>
          <p:cNvPr id="63" name="mbr"/>
          <p:cNvSpPr/>
          <p:nvPr/>
        </p:nvSpPr>
        <p:spPr>
          <a:xfrm>
            <a:off x="5138928" y="3694176"/>
            <a:ext cx="73152" cy="0"/>
          </a:xfrm>
          <a:prstGeom prst="line">
            <a:avLst/>
          </a:prstGeom>
          <a:noFill/>
          <a:ln w="15875">
            <a:solidFill>
              <a:srgbClr val="1E2A32"/>
            </a:solidFill>
            <a:prstDash val="solid"/>
          </a:ln>
        </p:spPr>
      </p:sp>
      <p:sp>
        <p:nvSpPr>
          <p:cNvPr id="64" name="mlab"/>
          <p:cNvSpPr txBox="1"/>
          <p:nvPr/>
        </p:nvSpPr>
        <p:spPr>
          <a:xfrm>
            <a:off x="3529584"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65" name="mlab"/>
          <p:cNvSpPr txBox="1"/>
          <p:nvPr/>
        </p:nvSpPr>
        <p:spPr>
          <a:xfrm>
            <a:off x="3931920"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66" name="mlab"/>
          <p:cNvSpPr txBox="1"/>
          <p:nvPr/>
        </p:nvSpPr>
        <p:spPr>
          <a:xfrm>
            <a:off x="4334256"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67" name="mlab"/>
          <p:cNvSpPr txBox="1"/>
          <p:nvPr/>
        </p:nvSpPr>
        <p:spPr>
          <a:xfrm>
            <a:off x="4736592"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68" name="mlab"/>
          <p:cNvSpPr txBox="1"/>
          <p:nvPr/>
        </p:nvSpPr>
        <p:spPr>
          <a:xfrm>
            <a:off x="3172968" y="2057400"/>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69" name="mlab"/>
          <p:cNvSpPr txBox="1"/>
          <p:nvPr/>
        </p:nvSpPr>
        <p:spPr>
          <a:xfrm>
            <a:off x="3172968" y="2459736"/>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70" name="mlab"/>
          <p:cNvSpPr txBox="1"/>
          <p:nvPr/>
        </p:nvSpPr>
        <p:spPr>
          <a:xfrm>
            <a:off x="3172968" y="2862072"/>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71" name="mlab"/>
          <p:cNvSpPr txBox="1"/>
          <p:nvPr/>
        </p:nvSpPr>
        <p:spPr>
          <a:xfrm>
            <a:off x="3172968" y="3264408"/>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72" name="mname"/>
          <p:cNvSpPr txBox="1"/>
          <p:nvPr/>
        </p:nvSpPr>
        <p:spPr>
          <a:xfrm>
            <a:off x="3300984" y="3721608"/>
            <a:ext cx="215798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P_Reg (swap r₀, r₁)</a:t>
            </a:r>
            <a:endParaRPr lang="en-US" sz="1300" dirty="0"/>
          </a:p>
        </p:txBody>
      </p:sp>
      <p:sp>
        <p:nvSpPr>
          <p:cNvPr id="73" name="op"/>
          <p:cNvSpPr txBox="1"/>
          <p:nvPr/>
        </p:nvSpPr>
        <p:spPr>
          <a:xfrm>
            <a:off x="5230368" y="2633472"/>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74" name="mcell"/>
          <p:cNvSpPr txBox="1"/>
          <p:nvPr/>
        </p:nvSpPr>
        <p:spPr>
          <a:xfrm>
            <a:off x="6007608" y="2057400"/>
            <a:ext cx="402336" cy="402336"/>
          </a:xfrm>
          <a:prstGeom prst="rect">
            <a:avLst/>
          </a:prstGeom>
          <a:solidFill>
            <a:srgbClr val="E3F2E4"/>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75" name="mcell"/>
          <p:cNvSpPr txBox="1"/>
          <p:nvPr/>
        </p:nvSpPr>
        <p:spPr>
          <a:xfrm>
            <a:off x="6409944" y="2057400"/>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76" name="mcell"/>
          <p:cNvSpPr txBox="1"/>
          <p:nvPr/>
        </p:nvSpPr>
        <p:spPr>
          <a:xfrm>
            <a:off x="6812280"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7" name="mcell"/>
          <p:cNvSpPr txBox="1"/>
          <p:nvPr/>
        </p:nvSpPr>
        <p:spPr>
          <a:xfrm>
            <a:off x="7214616" y="20574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8" name="mcell"/>
          <p:cNvSpPr txBox="1"/>
          <p:nvPr/>
        </p:nvSpPr>
        <p:spPr>
          <a:xfrm>
            <a:off x="6007608" y="2459736"/>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79" name="mcell"/>
          <p:cNvSpPr txBox="1"/>
          <p:nvPr/>
        </p:nvSpPr>
        <p:spPr>
          <a:xfrm>
            <a:off x="6409944" y="2459736"/>
            <a:ext cx="402336" cy="402336"/>
          </a:xfrm>
          <a:prstGeom prst="rect">
            <a:avLst/>
          </a:prstGeom>
          <a:solidFill>
            <a:srgbClr val="E3F2E4"/>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0" name="mcell"/>
          <p:cNvSpPr txBox="1"/>
          <p:nvPr/>
        </p:nvSpPr>
        <p:spPr>
          <a:xfrm>
            <a:off x="6812280"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1" name="mcell"/>
          <p:cNvSpPr txBox="1"/>
          <p:nvPr/>
        </p:nvSpPr>
        <p:spPr>
          <a:xfrm>
            <a:off x="7214616" y="24597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2" name="mcell"/>
          <p:cNvSpPr txBox="1"/>
          <p:nvPr/>
        </p:nvSpPr>
        <p:spPr>
          <a:xfrm>
            <a:off x="6007608"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3" name="mcell"/>
          <p:cNvSpPr txBox="1"/>
          <p:nvPr/>
        </p:nvSpPr>
        <p:spPr>
          <a:xfrm>
            <a:off x="6409944"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4" name="mcell"/>
          <p:cNvSpPr txBox="1"/>
          <p:nvPr/>
        </p:nvSpPr>
        <p:spPr>
          <a:xfrm>
            <a:off x="6812280" y="2862072"/>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5" name="mcell"/>
          <p:cNvSpPr txBox="1"/>
          <p:nvPr/>
        </p:nvSpPr>
        <p:spPr>
          <a:xfrm>
            <a:off x="7214616" y="28620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6" name="mcell"/>
          <p:cNvSpPr txBox="1"/>
          <p:nvPr/>
        </p:nvSpPr>
        <p:spPr>
          <a:xfrm>
            <a:off x="6007608"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7" name="mcell"/>
          <p:cNvSpPr txBox="1"/>
          <p:nvPr/>
        </p:nvSpPr>
        <p:spPr>
          <a:xfrm>
            <a:off x="6409944"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8" name="mcell"/>
          <p:cNvSpPr txBox="1"/>
          <p:nvPr/>
        </p:nvSpPr>
        <p:spPr>
          <a:xfrm>
            <a:off x="6812280" y="32644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9" name="mcell"/>
          <p:cNvSpPr txBox="1"/>
          <p:nvPr/>
        </p:nvSpPr>
        <p:spPr>
          <a:xfrm>
            <a:off x="7214616" y="3264408"/>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90" name="msep"/>
          <p:cNvSpPr/>
          <p:nvPr/>
        </p:nvSpPr>
        <p:spPr>
          <a:xfrm>
            <a:off x="6025896" y="2862072"/>
            <a:ext cx="1572768" cy="0"/>
          </a:xfrm>
          <a:prstGeom prst="line">
            <a:avLst/>
          </a:prstGeom>
          <a:noFill/>
          <a:ln w="9525">
            <a:solidFill>
              <a:srgbClr val="5B6770"/>
            </a:solidFill>
            <a:prstDash val="dash"/>
          </a:ln>
        </p:spPr>
      </p:sp>
      <p:sp>
        <p:nvSpPr>
          <p:cNvPr id="91" name="mbr"/>
          <p:cNvSpPr/>
          <p:nvPr/>
        </p:nvSpPr>
        <p:spPr>
          <a:xfrm>
            <a:off x="5980176" y="2029968"/>
            <a:ext cx="0" cy="1664208"/>
          </a:xfrm>
          <a:prstGeom prst="line">
            <a:avLst/>
          </a:prstGeom>
          <a:noFill/>
          <a:ln w="15875">
            <a:solidFill>
              <a:srgbClr val="1E2A32"/>
            </a:solidFill>
            <a:prstDash val="solid"/>
          </a:ln>
        </p:spPr>
      </p:sp>
      <p:sp>
        <p:nvSpPr>
          <p:cNvPr id="92" name="mbr"/>
          <p:cNvSpPr/>
          <p:nvPr/>
        </p:nvSpPr>
        <p:spPr>
          <a:xfrm>
            <a:off x="5980176" y="2029968"/>
            <a:ext cx="73152" cy="0"/>
          </a:xfrm>
          <a:prstGeom prst="line">
            <a:avLst/>
          </a:prstGeom>
          <a:noFill/>
          <a:ln w="15875">
            <a:solidFill>
              <a:srgbClr val="1E2A32"/>
            </a:solidFill>
            <a:prstDash val="solid"/>
          </a:ln>
        </p:spPr>
      </p:sp>
      <p:sp>
        <p:nvSpPr>
          <p:cNvPr id="93" name="mbr"/>
          <p:cNvSpPr/>
          <p:nvPr/>
        </p:nvSpPr>
        <p:spPr>
          <a:xfrm>
            <a:off x="5980176" y="3694176"/>
            <a:ext cx="73152" cy="0"/>
          </a:xfrm>
          <a:prstGeom prst="line">
            <a:avLst/>
          </a:prstGeom>
          <a:noFill/>
          <a:ln w="15875">
            <a:solidFill>
              <a:srgbClr val="1E2A32"/>
            </a:solidFill>
            <a:prstDash val="solid"/>
          </a:ln>
        </p:spPr>
      </p:sp>
      <p:sp>
        <p:nvSpPr>
          <p:cNvPr id="94" name="mbr"/>
          <p:cNvSpPr/>
          <p:nvPr/>
        </p:nvSpPr>
        <p:spPr>
          <a:xfrm>
            <a:off x="7644384" y="2029968"/>
            <a:ext cx="0" cy="1664208"/>
          </a:xfrm>
          <a:prstGeom prst="line">
            <a:avLst/>
          </a:prstGeom>
          <a:noFill/>
          <a:ln w="15875">
            <a:solidFill>
              <a:srgbClr val="1E2A32"/>
            </a:solidFill>
            <a:prstDash val="solid"/>
          </a:ln>
        </p:spPr>
      </p:sp>
      <p:sp>
        <p:nvSpPr>
          <p:cNvPr id="95" name="mbr"/>
          <p:cNvSpPr/>
          <p:nvPr/>
        </p:nvSpPr>
        <p:spPr>
          <a:xfrm>
            <a:off x="7571232" y="2029968"/>
            <a:ext cx="73152" cy="0"/>
          </a:xfrm>
          <a:prstGeom prst="line">
            <a:avLst/>
          </a:prstGeom>
          <a:noFill/>
          <a:ln w="15875">
            <a:solidFill>
              <a:srgbClr val="1E2A32"/>
            </a:solidFill>
            <a:prstDash val="solid"/>
          </a:ln>
        </p:spPr>
      </p:sp>
      <p:sp>
        <p:nvSpPr>
          <p:cNvPr id="96" name="mbr"/>
          <p:cNvSpPr/>
          <p:nvPr/>
        </p:nvSpPr>
        <p:spPr>
          <a:xfrm>
            <a:off x="7571232" y="3694176"/>
            <a:ext cx="73152" cy="0"/>
          </a:xfrm>
          <a:prstGeom prst="line">
            <a:avLst/>
          </a:prstGeom>
          <a:noFill/>
          <a:ln w="15875">
            <a:solidFill>
              <a:srgbClr val="1E2A32"/>
            </a:solidFill>
            <a:prstDash val="solid"/>
          </a:ln>
        </p:spPr>
      </p:sp>
      <p:sp>
        <p:nvSpPr>
          <p:cNvPr id="97" name="mlab"/>
          <p:cNvSpPr txBox="1"/>
          <p:nvPr/>
        </p:nvSpPr>
        <p:spPr>
          <a:xfrm>
            <a:off x="5961888"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98" name="mlab"/>
          <p:cNvSpPr txBox="1"/>
          <p:nvPr/>
        </p:nvSpPr>
        <p:spPr>
          <a:xfrm>
            <a:off x="6364224"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r₁′</a:t>
            </a:r>
            <a:endParaRPr lang="en-US" sz="1300" dirty="0"/>
          </a:p>
        </p:txBody>
      </p:sp>
      <p:sp>
        <p:nvSpPr>
          <p:cNvPr id="99" name="mlab"/>
          <p:cNvSpPr txBox="1"/>
          <p:nvPr/>
        </p:nvSpPr>
        <p:spPr>
          <a:xfrm>
            <a:off x="6766560"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100" name="mlab"/>
          <p:cNvSpPr txBox="1"/>
          <p:nvPr/>
        </p:nvSpPr>
        <p:spPr>
          <a:xfrm>
            <a:off x="7168896" y="18196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101" name="mlab"/>
          <p:cNvSpPr txBox="1"/>
          <p:nvPr/>
        </p:nvSpPr>
        <p:spPr>
          <a:xfrm>
            <a:off x="5605272" y="2057400"/>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o₀</a:t>
            </a:r>
            <a:endParaRPr lang="en-US" sz="1300" dirty="0"/>
          </a:p>
        </p:txBody>
      </p:sp>
      <p:sp>
        <p:nvSpPr>
          <p:cNvPr id="102" name="mlab"/>
          <p:cNvSpPr txBox="1"/>
          <p:nvPr/>
        </p:nvSpPr>
        <p:spPr>
          <a:xfrm>
            <a:off x="5605272" y="2459736"/>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o₁</a:t>
            </a:r>
            <a:endParaRPr lang="en-US" sz="1300" dirty="0"/>
          </a:p>
        </p:txBody>
      </p:sp>
      <p:sp>
        <p:nvSpPr>
          <p:cNvPr id="103" name="mlab"/>
          <p:cNvSpPr txBox="1"/>
          <p:nvPr/>
        </p:nvSpPr>
        <p:spPr>
          <a:xfrm>
            <a:off x="5605272" y="2862072"/>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o₂</a:t>
            </a:r>
            <a:endParaRPr lang="en-US" sz="1300" dirty="0"/>
          </a:p>
        </p:txBody>
      </p:sp>
      <p:sp>
        <p:nvSpPr>
          <p:cNvPr id="104" name="mlab"/>
          <p:cNvSpPr txBox="1"/>
          <p:nvPr/>
        </p:nvSpPr>
        <p:spPr>
          <a:xfrm>
            <a:off x="5605272" y="3264408"/>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o₃</a:t>
            </a:r>
            <a:endParaRPr lang="en-US" sz="1300" dirty="0"/>
          </a:p>
        </p:txBody>
      </p:sp>
      <p:sp>
        <p:nvSpPr>
          <p:cNvPr id="105" name="mname"/>
          <p:cNvSpPr txBox="1"/>
          <p:nvPr/>
        </p:nvSpPr>
        <p:spPr>
          <a:xfrm>
            <a:off x="5733288" y="3721608"/>
            <a:ext cx="215798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divisible by id₂ ✓</a:t>
            </a:r>
            <a:endParaRPr lang="en-US" sz="1300" dirty="0"/>
          </a:p>
        </p:txBody>
      </p:sp>
      <p:sp>
        <p:nvSpPr>
          <p:cNvPr id="106" name="callout"/>
          <p:cNvSpPr/>
          <p:nvPr/>
        </p:nvSpPr>
        <p:spPr>
          <a:xfrm>
            <a:off x="8915400" y="2011680"/>
            <a:ext cx="2788920" cy="1600200"/>
          </a:xfrm>
          <a:prstGeom prst="roundRect">
            <a:avLst>
              <a:gd name="adj" fmla="val 4571"/>
            </a:avLst>
          </a:prstGeom>
          <a:solidFill>
            <a:srgbClr val="E3F2E4"/>
          </a:solidFill>
          <a:ln/>
        </p:spPr>
      </p:sp>
      <p:sp>
        <p:nvSpPr>
          <p:cNvPr id="107" name="callout-text"/>
          <p:cNvSpPr txBox="1"/>
          <p:nvPr/>
        </p:nvSpPr>
        <p:spPr>
          <a:xfrm>
            <a:off x="9052560" y="2066544"/>
            <a:ext cx="2514600" cy="1490472"/>
          </a:xfrm>
          <a:prstGeom prst="rect">
            <a:avLst/>
          </a:prstGeom>
          <a:noFill/>
          <a:ln/>
        </p:spPr>
        <p:txBody>
          <a:bodyPr wrap="square" lIns="0" tIns="0" rIns="0" bIns="0" rtlCol="0" anchor="ctr"/>
          <a:lstStyle/>
          <a:p>
            <a:pPr algn="l" indent="0" marL="0">
              <a:buNone/>
            </a:pPr>
            <a:r>
              <a:rPr lang="en-US" sz="1400" dirty="0">
                <a:solidFill>
                  <a:srgbClr val="2E7D32"/>
                </a:solidFill>
                <a:latin typeface="Calibri" pitchFamily="34" charset="0"/>
                <a:ea typeface="Calibri" pitchFamily="34" charset="-122"/>
                <a:cs typeface="Calibri" pitchFamily="34" charset="-120"/>
              </a:rPr>
              <a:t>Emit one </a:t>
            </a:r>
            <a:r>
              <a:rPr lang="en-US" sz="1400" b="1" dirty="0">
                <a:solidFill>
                  <a:srgbClr val="2E7D32"/>
                </a:solidFill>
                <a:latin typeface="Calibri" pitchFamily="34" charset="0"/>
                <a:ea typeface="Calibri" pitchFamily="34" charset="-122"/>
                <a:cs typeface="Calibri" pitchFamily="34" charset="-120"/>
              </a:rPr>
              <a:t>v4</a:t>
            </a:r>
            <a:r>
              <a:rPr lang="en-US" sz="1400" dirty="0">
                <a:solidFill>
                  <a:srgbClr val="2E7D32"/>
                </a:solidFill>
                <a:latin typeface="Calibri" pitchFamily="34" charset="0"/>
                <a:ea typeface="Calibri" pitchFamily="34" charset="-122"/>
                <a:cs typeface="Calibri" pitchFamily="34" charset="-120"/>
              </a:rPr>
              <a:t> store with operands (r₀, r₂, r₁, r₃): no data moves, only operand order.</a:t>
            </a:r>
            <a:endParaRPr lang="en-US" sz="1400" dirty="0"/>
          </a:p>
        </p:txBody>
      </p:sp>
      <p:sp>
        <p:nvSpPr>
          <p:cNvPr id="108" name="Text 105"/>
          <p:cNvSpPr txBox="1"/>
          <p:nvPr/>
        </p:nvSpPr>
        <p:spPr>
          <a:xfrm>
            <a:off x="502920" y="4251960"/>
            <a:ext cx="3657600" cy="274320"/>
          </a:xfrm>
          <a:prstGeom prst="rect">
            <a:avLst/>
          </a:prstGeom>
          <a:noFill/>
          <a:ln/>
        </p:spPr>
        <p:txBody>
          <a:bodyPr wrap="square" lIns="0" tIns="0" rIns="0" bIns="0" rtlCol="0" anchor="t"/>
          <a:lstStyle/>
          <a:p>
            <a:pPr indent="0" marL="0">
              <a:buNone/>
            </a:pPr>
            <a:r>
              <a:rPr lang="en-US" sz="1500" b="1" dirty="0">
                <a:solidFill>
                  <a:srgbClr val="B3261E"/>
                </a:solidFill>
                <a:latin typeface="Calibri" pitchFamily="34" charset="0"/>
                <a:ea typeface="Calibri" pitchFamily="34" charset="-122"/>
                <a:cs typeface="Calibri" pitchFamily="34" charset="-120"/>
              </a:rPr>
              <a:t>When it cannot help</a:t>
            </a:r>
            <a:endParaRPr lang="en-US" sz="1500" dirty="0"/>
          </a:p>
        </p:txBody>
      </p:sp>
      <p:sp>
        <p:nvSpPr>
          <p:cNvPr id="109" name="mcell"/>
          <p:cNvSpPr txBox="1"/>
          <p:nvPr/>
        </p:nvSpPr>
        <p:spPr>
          <a:xfrm>
            <a:off x="1143000" y="466344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10" name="mcell"/>
          <p:cNvSpPr txBox="1"/>
          <p:nvPr/>
        </p:nvSpPr>
        <p:spPr>
          <a:xfrm>
            <a:off x="1417320" y="46634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1" name="mcell"/>
          <p:cNvSpPr txBox="1"/>
          <p:nvPr/>
        </p:nvSpPr>
        <p:spPr>
          <a:xfrm>
            <a:off x="1691640" y="46634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2" name="mcell"/>
          <p:cNvSpPr txBox="1"/>
          <p:nvPr/>
        </p:nvSpPr>
        <p:spPr>
          <a:xfrm>
            <a:off x="1965960" y="46634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3" name="mcell"/>
          <p:cNvSpPr txBox="1"/>
          <p:nvPr/>
        </p:nvSpPr>
        <p:spPr>
          <a:xfrm>
            <a:off x="1143000" y="49377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4" name="mcell"/>
          <p:cNvSpPr txBox="1"/>
          <p:nvPr/>
        </p:nvSpPr>
        <p:spPr>
          <a:xfrm>
            <a:off x="1417320" y="4937760"/>
            <a:ext cx="274320" cy="274320"/>
          </a:xfrm>
          <a:prstGeom prst="rect">
            <a:avLst/>
          </a:prstGeom>
          <a:solidFill>
            <a:srgbClr val="FBE3E1"/>
          </a:solidFill>
          <a:ln/>
        </p:spPr>
        <p:txBody>
          <a:bodyPr wrap="square" lIns="0" tIns="0" rIns="0" bIns="0" rtlCol="0" anchor="ctr"/>
          <a:lstStyle/>
          <a:p>
            <a:pPr algn="ctr" indent="0" marL="0">
              <a:buNone/>
            </a:pPr>
            <a:r>
              <a:rPr lang="en-US" sz="1200" dirty="0">
                <a:solidFill>
                  <a:srgbClr val="1E2A32"/>
                </a:solidFill>
                <a:latin typeface="Calibri" pitchFamily="34" charset="0"/>
                <a:ea typeface="Calibri" pitchFamily="34" charset="-122"/>
                <a:cs typeface="Calibri" pitchFamily="34" charset="-120"/>
              </a:rPr>
              <a:t>0</a:t>
            </a:r>
            <a:endParaRPr lang="en-US" sz="1200" dirty="0"/>
          </a:p>
        </p:txBody>
      </p:sp>
      <p:sp>
        <p:nvSpPr>
          <p:cNvPr id="115" name="mcell"/>
          <p:cNvSpPr txBox="1"/>
          <p:nvPr/>
        </p:nvSpPr>
        <p:spPr>
          <a:xfrm>
            <a:off x="1691640" y="493776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16" name="mcell"/>
          <p:cNvSpPr txBox="1"/>
          <p:nvPr/>
        </p:nvSpPr>
        <p:spPr>
          <a:xfrm>
            <a:off x="1965960" y="49377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7" name="mcell"/>
          <p:cNvSpPr txBox="1"/>
          <p:nvPr/>
        </p:nvSpPr>
        <p:spPr>
          <a:xfrm>
            <a:off x="1143000" y="52120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8" name="mcell"/>
          <p:cNvSpPr txBox="1"/>
          <p:nvPr/>
        </p:nvSpPr>
        <p:spPr>
          <a:xfrm>
            <a:off x="1417320" y="5212080"/>
            <a:ext cx="274320" cy="274320"/>
          </a:xfrm>
          <a:prstGeom prst="rect">
            <a:avLst/>
          </a:prstGeom>
          <a:solidFill>
            <a:srgbClr val="FBE3E1"/>
          </a:solid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19" name="mcell"/>
          <p:cNvSpPr txBox="1"/>
          <p:nvPr/>
        </p:nvSpPr>
        <p:spPr>
          <a:xfrm>
            <a:off x="1691640" y="52120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0" name="mcell"/>
          <p:cNvSpPr txBox="1"/>
          <p:nvPr/>
        </p:nvSpPr>
        <p:spPr>
          <a:xfrm>
            <a:off x="1965960" y="52120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1" name="mcell"/>
          <p:cNvSpPr txBox="1"/>
          <p:nvPr/>
        </p:nvSpPr>
        <p:spPr>
          <a:xfrm>
            <a:off x="1143000" y="54864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2" name="mcell"/>
          <p:cNvSpPr txBox="1"/>
          <p:nvPr/>
        </p:nvSpPr>
        <p:spPr>
          <a:xfrm>
            <a:off x="1417320" y="54864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3" name="mcell"/>
          <p:cNvSpPr txBox="1"/>
          <p:nvPr/>
        </p:nvSpPr>
        <p:spPr>
          <a:xfrm>
            <a:off x="1691640" y="54864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4" name="mcell"/>
          <p:cNvSpPr txBox="1"/>
          <p:nvPr/>
        </p:nvSpPr>
        <p:spPr>
          <a:xfrm>
            <a:off x="1965960" y="548640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25" name="mbr"/>
          <p:cNvSpPr/>
          <p:nvPr/>
        </p:nvSpPr>
        <p:spPr>
          <a:xfrm>
            <a:off x="1115568" y="4636008"/>
            <a:ext cx="0" cy="1152144"/>
          </a:xfrm>
          <a:prstGeom prst="line">
            <a:avLst/>
          </a:prstGeom>
          <a:noFill/>
          <a:ln w="15875">
            <a:solidFill>
              <a:srgbClr val="1E2A32"/>
            </a:solidFill>
            <a:prstDash val="solid"/>
          </a:ln>
        </p:spPr>
      </p:sp>
      <p:sp>
        <p:nvSpPr>
          <p:cNvPr id="126" name="mbr"/>
          <p:cNvSpPr/>
          <p:nvPr/>
        </p:nvSpPr>
        <p:spPr>
          <a:xfrm>
            <a:off x="1115568" y="4636008"/>
            <a:ext cx="73152" cy="0"/>
          </a:xfrm>
          <a:prstGeom prst="line">
            <a:avLst/>
          </a:prstGeom>
          <a:noFill/>
          <a:ln w="15875">
            <a:solidFill>
              <a:srgbClr val="1E2A32"/>
            </a:solidFill>
            <a:prstDash val="solid"/>
          </a:ln>
        </p:spPr>
      </p:sp>
      <p:sp>
        <p:nvSpPr>
          <p:cNvPr id="127" name="mbr"/>
          <p:cNvSpPr/>
          <p:nvPr/>
        </p:nvSpPr>
        <p:spPr>
          <a:xfrm>
            <a:off x="1115568" y="5788152"/>
            <a:ext cx="73152" cy="0"/>
          </a:xfrm>
          <a:prstGeom prst="line">
            <a:avLst/>
          </a:prstGeom>
          <a:noFill/>
          <a:ln w="15875">
            <a:solidFill>
              <a:srgbClr val="1E2A32"/>
            </a:solidFill>
            <a:prstDash val="solid"/>
          </a:ln>
        </p:spPr>
      </p:sp>
      <p:sp>
        <p:nvSpPr>
          <p:cNvPr id="128" name="mbr"/>
          <p:cNvSpPr/>
          <p:nvPr/>
        </p:nvSpPr>
        <p:spPr>
          <a:xfrm>
            <a:off x="2267712" y="4636008"/>
            <a:ext cx="0" cy="1152144"/>
          </a:xfrm>
          <a:prstGeom prst="line">
            <a:avLst/>
          </a:prstGeom>
          <a:noFill/>
          <a:ln w="15875">
            <a:solidFill>
              <a:srgbClr val="1E2A32"/>
            </a:solidFill>
            <a:prstDash val="solid"/>
          </a:ln>
        </p:spPr>
      </p:sp>
      <p:sp>
        <p:nvSpPr>
          <p:cNvPr id="129" name="mbr"/>
          <p:cNvSpPr/>
          <p:nvPr/>
        </p:nvSpPr>
        <p:spPr>
          <a:xfrm>
            <a:off x="2194560" y="4636008"/>
            <a:ext cx="73152" cy="0"/>
          </a:xfrm>
          <a:prstGeom prst="line">
            <a:avLst/>
          </a:prstGeom>
          <a:noFill/>
          <a:ln w="15875">
            <a:solidFill>
              <a:srgbClr val="1E2A32"/>
            </a:solidFill>
            <a:prstDash val="solid"/>
          </a:ln>
        </p:spPr>
      </p:sp>
      <p:sp>
        <p:nvSpPr>
          <p:cNvPr id="130" name="mbr"/>
          <p:cNvSpPr/>
          <p:nvPr/>
        </p:nvSpPr>
        <p:spPr>
          <a:xfrm>
            <a:off x="2194560" y="5788152"/>
            <a:ext cx="73152" cy="0"/>
          </a:xfrm>
          <a:prstGeom prst="line">
            <a:avLst/>
          </a:prstGeom>
          <a:noFill/>
          <a:ln w="15875">
            <a:solidFill>
              <a:srgbClr val="1E2A32"/>
            </a:solidFill>
            <a:prstDash val="solid"/>
          </a:ln>
        </p:spPr>
      </p:sp>
      <p:sp>
        <p:nvSpPr>
          <p:cNvPr id="131" name="mlab"/>
          <p:cNvSpPr txBox="1"/>
          <p:nvPr/>
        </p:nvSpPr>
        <p:spPr>
          <a:xfrm>
            <a:off x="1097280" y="442569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132" name="mlab"/>
          <p:cNvSpPr txBox="1"/>
          <p:nvPr/>
        </p:nvSpPr>
        <p:spPr>
          <a:xfrm>
            <a:off x="1371600" y="442569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133" name="mlab"/>
          <p:cNvSpPr txBox="1"/>
          <p:nvPr/>
        </p:nvSpPr>
        <p:spPr>
          <a:xfrm>
            <a:off x="1645920" y="442569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34" name="mlab"/>
          <p:cNvSpPr txBox="1"/>
          <p:nvPr/>
        </p:nvSpPr>
        <p:spPr>
          <a:xfrm>
            <a:off x="1920240" y="442569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35" name="mlab"/>
          <p:cNvSpPr txBox="1"/>
          <p:nvPr/>
        </p:nvSpPr>
        <p:spPr>
          <a:xfrm>
            <a:off x="740664" y="466344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o₀</a:t>
            </a:r>
            <a:endParaRPr lang="en-US" sz="1000" dirty="0"/>
          </a:p>
        </p:txBody>
      </p:sp>
      <p:sp>
        <p:nvSpPr>
          <p:cNvPr id="136" name="mlab"/>
          <p:cNvSpPr txBox="1"/>
          <p:nvPr/>
        </p:nvSpPr>
        <p:spPr>
          <a:xfrm>
            <a:off x="740664" y="493776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o₁</a:t>
            </a:r>
            <a:endParaRPr lang="en-US" sz="1000" dirty="0"/>
          </a:p>
        </p:txBody>
      </p:sp>
      <p:sp>
        <p:nvSpPr>
          <p:cNvPr id="137" name="mlab"/>
          <p:cNvSpPr txBox="1"/>
          <p:nvPr/>
        </p:nvSpPr>
        <p:spPr>
          <a:xfrm>
            <a:off x="740664" y="521208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o₂</a:t>
            </a:r>
            <a:endParaRPr lang="en-US" sz="1000" dirty="0"/>
          </a:p>
        </p:txBody>
      </p:sp>
      <p:sp>
        <p:nvSpPr>
          <p:cNvPr id="138" name="mlab"/>
          <p:cNvSpPr txBox="1"/>
          <p:nvPr/>
        </p:nvSpPr>
        <p:spPr>
          <a:xfrm>
            <a:off x="740664" y="548640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o₃</a:t>
            </a:r>
            <a:endParaRPr lang="en-US" sz="1000" dirty="0"/>
          </a:p>
        </p:txBody>
      </p:sp>
      <p:sp>
        <p:nvSpPr>
          <p:cNvPr id="139" name="callout"/>
          <p:cNvSpPr/>
          <p:nvPr/>
        </p:nvSpPr>
        <p:spPr>
          <a:xfrm>
            <a:off x="2926080" y="4572000"/>
            <a:ext cx="8778240" cy="914400"/>
          </a:xfrm>
          <a:prstGeom prst="roundRect">
            <a:avLst>
              <a:gd name="adj" fmla="val 8000"/>
            </a:avLst>
          </a:prstGeom>
          <a:solidFill>
            <a:srgbClr val="FBE3E1"/>
          </a:solidFill>
          <a:ln/>
        </p:spPr>
      </p:sp>
      <p:sp>
        <p:nvSpPr>
          <p:cNvPr id="140" name="callout-text"/>
          <p:cNvSpPr txBox="1"/>
          <p:nvPr/>
        </p:nvSpPr>
        <p:spPr>
          <a:xfrm>
            <a:off x="3063240" y="4626864"/>
            <a:ext cx="8503920" cy="804672"/>
          </a:xfrm>
          <a:prstGeom prst="rect">
            <a:avLst/>
          </a:prstGeom>
          <a:noFill/>
          <a:ln/>
        </p:spPr>
        <p:txBody>
          <a:bodyPr wrap="square" lIns="0" tIns="0" rIns="0" bIns="0" rtlCol="0" anchor="ctr"/>
          <a:lstStyle/>
          <a:p>
            <a:pPr algn="l" indent="0" marL="0">
              <a:buNone/>
            </a:pPr>
            <a:r>
              <a:rPr lang="en-US" sz="1400" dirty="0">
                <a:solidFill>
                  <a:srgbClr val="B3261E"/>
                </a:solidFill>
                <a:latin typeface="Calibri" pitchFamily="34" charset="0"/>
                <a:ea typeface="Calibri" pitchFamily="34" charset="-122"/>
                <a:cs typeface="Calibri" pitchFamily="34" charset="-120"/>
              </a:rPr>
              <a:t>Registers hold offsets 0, 1, 4, 5: no register bit points to o₁ → </a:t>
            </a:r>
            <a:r>
              <a:rPr lang="en-US" sz="1400" b="1" dirty="0">
                <a:solidFill>
                  <a:srgbClr val="B3261E"/>
                </a:solidFill>
                <a:latin typeface="Calibri" pitchFamily="34" charset="0"/>
                <a:ea typeface="Calibri" pitchFamily="34" charset="-122"/>
                <a:cs typeface="Calibri" pitchFamily="34" charset="-120"/>
              </a:rPr>
              <a:t>no permutation</a:t>
            </a:r>
            <a:r>
              <a:rPr lang="en-US" sz="1400" dirty="0">
                <a:solidFill>
                  <a:srgbClr val="B3261E"/>
                </a:solidFill>
                <a:latin typeface="Calibri" pitchFamily="34" charset="0"/>
                <a:ea typeface="Calibri" pitchFamily="34" charset="-122"/>
                <a:cs typeface="Calibri" pitchFamily="34" charset="-120"/>
              </a:rPr>
              <a:t> gives id₂. Best: id₁ → two v2 stores. Truly strided addresses stay strided.</a:t>
            </a:r>
            <a:endParaRPr lang="en-US" sz="1400" dirty="0"/>
          </a:p>
        </p:txBody>
      </p:sp>
      <p:sp>
        <p:nvSpPr>
          <p:cNvPr id="141"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OPTIMAL CODEGEN FOR LAYOUT CONVERSIONS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Layout conversion: y = B⁻¹ ∘ A (x)</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p. 140; matrices A and B of Figure 4</a:t>
            </a:r>
            <a:endParaRPr lang="en-US" sz="1000" dirty="0"/>
          </a:p>
        </p:txBody>
      </p:sp>
      <p:sp>
        <p:nvSpPr>
          <p:cNvPr id="6" name="mcell"/>
          <p:cNvSpPr txBox="1"/>
          <p:nvPr/>
        </p:nvSpPr>
        <p:spPr>
          <a:xfrm>
            <a:off x="1097280" y="196596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7" name="mcell"/>
          <p:cNvSpPr txBox="1"/>
          <p:nvPr/>
        </p:nvSpPr>
        <p:spPr>
          <a:xfrm>
            <a:off x="1517904" y="196596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8" name="mcell"/>
          <p:cNvSpPr txBox="1"/>
          <p:nvPr/>
        </p:nvSpPr>
        <p:spPr>
          <a:xfrm>
            <a:off x="1938528" y="1965960"/>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9" name="mcell"/>
          <p:cNvSpPr txBox="1"/>
          <p:nvPr/>
        </p:nvSpPr>
        <p:spPr>
          <a:xfrm>
            <a:off x="1097280" y="2386584"/>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0" name="mcell"/>
          <p:cNvSpPr txBox="1"/>
          <p:nvPr/>
        </p:nvSpPr>
        <p:spPr>
          <a:xfrm>
            <a:off x="1517904" y="238658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1" name="mcell"/>
          <p:cNvSpPr txBox="1"/>
          <p:nvPr/>
        </p:nvSpPr>
        <p:spPr>
          <a:xfrm>
            <a:off x="1938528" y="238658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2" name="mcell"/>
          <p:cNvSpPr txBox="1"/>
          <p:nvPr/>
        </p:nvSpPr>
        <p:spPr>
          <a:xfrm>
            <a:off x="1097280" y="280720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3" name="mcell"/>
          <p:cNvSpPr txBox="1"/>
          <p:nvPr/>
        </p:nvSpPr>
        <p:spPr>
          <a:xfrm>
            <a:off x="1517904" y="2807208"/>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14" name="mcell"/>
          <p:cNvSpPr txBox="1"/>
          <p:nvPr/>
        </p:nvSpPr>
        <p:spPr>
          <a:xfrm>
            <a:off x="1938528" y="280720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15" name="mbr"/>
          <p:cNvSpPr/>
          <p:nvPr/>
        </p:nvSpPr>
        <p:spPr>
          <a:xfrm>
            <a:off x="1069848" y="1938528"/>
            <a:ext cx="0" cy="1316736"/>
          </a:xfrm>
          <a:prstGeom prst="line">
            <a:avLst/>
          </a:prstGeom>
          <a:noFill/>
          <a:ln w="15875">
            <a:solidFill>
              <a:srgbClr val="1E2A32"/>
            </a:solidFill>
            <a:prstDash val="solid"/>
          </a:ln>
        </p:spPr>
      </p:sp>
      <p:sp>
        <p:nvSpPr>
          <p:cNvPr id="16" name="mbr"/>
          <p:cNvSpPr/>
          <p:nvPr/>
        </p:nvSpPr>
        <p:spPr>
          <a:xfrm>
            <a:off x="1069848" y="1938528"/>
            <a:ext cx="73152" cy="0"/>
          </a:xfrm>
          <a:prstGeom prst="line">
            <a:avLst/>
          </a:prstGeom>
          <a:noFill/>
          <a:ln w="15875">
            <a:solidFill>
              <a:srgbClr val="1E2A32"/>
            </a:solidFill>
            <a:prstDash val="solid"/>
          </a:ln>
        </p:spPr>
      </p:sp>
      <p:sp>
        <p:nvSpPr>
          <p:cNvPr id="17" name="mbr"/>
          <p:cNvSpPr/>
          <p:nvPr/>
        </p:nvSpPr>
        <p:spPr>
          <a:xfrm>
            <a:off x="1069848" y="3255264"/>
            <a:ext cx="73152" cy="0"/>
          </a:xfrm>
          <a:prstGeom prst="line">
            <a:avLst/>
          </a:prstGeom>
          <a:noFill/>
          <a:ln w="15875">
            <a:solidFill>
              <a:srgbClr val="1E2A32"/>
            </a:solidFill>
            <a:prstDash val="solid"/>
          </a:ln>
        </p:spPr>
      </p:sp>
      <p:sp>
        <p:nvSpPr>
          <p:cNvPr id="18" name="mbr"/>
          <p:cNvSpPr/>
          <p:nvPr/>
        </p:nvSpPr>
        <p:spPr>
          <a:xfrm>
            <a:off x="2386584" y="1938528"/>
            <a:ext cx="0" cy="1316736"/>
          </a:xfrm>
          <a:prstGeom prst="line">
            <a:avLst/>
          </a:prstGeom>
          <a:noFill/>
          <a:ln w="15875">
            <a:solidFill>
              <a:srgbClr val="1E2A32"/>
            </a:solidFill>
            <a:prstDash val="solid"/>
          </a:ln>
        </p:spPr>
      </p:sp>
      <p:sp>
        <p:nvSpPr>
          <p:cNvPr id="19" name="mbr"/>
          <p:cNvSpPr/>
          <p:nvPr/>
        </p:nvSpPr>
        <p:spPr>
          <a:xfrm>
            <a:off x="2313432" y="1938528"/>
            <a:ext cx="73152" cy="0"/>
          </a:xfrm>
          <a:prstGeom prst="line">
            <a:avLst/>
          </a:prstGeom>
          <a:noFill/>
          <a:ln w="15875">
            <a:solidFill>
              <a:srgbClr val="1E2A32"/>
            </a:solidFill>
            <a:prstDash val="solid"/>
          </a:ln>
        </p:spPr>
      </p:sp>
      <p:sp>
        <p:nvSpPr>
          <p:cNvPr id="20" name="mbr"/>
          <p:cNvSpPr/>
          <p:nvPr/>
        </p:nvSpPr>
        <p:spPr>
          <a:xfrm>
            <a:off x="2313432" y="3255264"/>
            <a:ext cx="73152" cy="0"/>
          </a:xfrm>
          <a:prstGeom prst="line">
            <a:avLst/>
          </a:prstGeom>
          <a:noFill/>
          <a:ln w="15875">
            <a:solidFill>
              <a:srgbClr val="1E2A32"/>
            </a:solidFill>
            <a:prstDash val="solid"/>
          </a:ln>
        </p:spPr>
      </p:sp>
      <p:sp>
        <p:nvSpPr>
          <p:cNvPr id="21" name="mlab"/>
          <p:cNvSpPr txBox="1"/>
          <p:nvPr/>
        </p:nvSpPr>
        <p:spPr>
          <a:xfrm>
            <a:off x="1051560"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e₀</a:t>
            </a:r>
            <a:endParaRPr lang="en-US" sz="1400" dirty="0"/>
          </a:p>
        </p:txBody>
      </p:sp>
      <p:sp>
        <p:nvSpPr>
          <p:cNvPr id="22" name="mlab"/>
          <p:cNvSpPr txBox="1"/>
          <p:nvPr/>
        </p:nvSpPr>
        <p:spPr>
          <a:xfrm>
            <a:off x="1472184"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e₁</a:t>
            </a:r>
            <a:endParaRPr lang="en-US" sz="1400" dirty="0"/>
          </a:p>
        </p:txBody>
      </p:sp>
      <p:sp>
        <p:nvSpPr>
          <p:cNvPr id="23" name="mlab"/>
          <p:cNvSpPr txBox="1"/>
          <p:nvPr/>
        </p:nvSpPr>
        <p:spPr>
          <a:xfrm>
            <a:off x="1892808"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e₂</a:t>
            </a:r>
            <a:endParaRPr lang="en-US" sz="1400" dirty="0"/>
          </a:p>
        </p:txBody>
      </p:sp>
      <p:sp>
        <p:nvSpPr>
          <p:cNvPr id="24" name="mlab"/>
          <p:cNvSpPr txBox="1"/>
          <p:nvPr/>
        </p:nvSpPr>
        <p:spPr>
          <a:xfrm>
            <a:off x="694944" y="1965960"/>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r′</a:t>
            </a:r>
            <a:endParaRPr lang="en-US" sz="1400" dirty="0"/>
          </a:p>
        </p:txBody>
      </p:sp>
      <p:sp>
        <p:nvSpPr>
          <p:cNvPr id="25" name="mlab"/>
          <p:cNvSpPr txBox="1"/>
          <p:nvPr/>
        </p:nvSpPr>
        <p:spPr>
          <a:xfrm>
            <a:off x="694944" y="2386584"/>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26" name="mlab"/>
          <p:cNvSpPr txBox="1"/>
          <p:nvPr/>
        </p:nvSpPr>
        <p:spPr>
          <a:xfrm>
            <a:off x="694944" y="2807208"/>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27" name="mname"/>
          <p:cNvSpPr txBox="1"/>
          <p:nvPr/>
        </p:nvSpPr>
        <p:spPr>
          <a:xfrm>
            <a:off x="822960" y="3282696"/>
            <a:ext cx="18105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B⁻¹</a:t>
            </a:r>
            <a:endParaRPr lang="en-US" sz="1300" dirty="0"/>
          </a:p>
        </p:txBody>
      </p:sp>
      <p:sp>
        <p:nvSpPr>
          <p:cNvPr id="28" name="op"/>
          <p:cNvSpPr txBox="1"/>
          <p:nvPr/>
        </p:nvSpPr>
        <p:spPr>
          <a:xfrm>
            <a:off x="2404872" y="2368296"/>
            <a:ext cx="457200" cy="457200"/>
          </a:xfrm>
          <a:prstGeom prst="rect">
            <a:avLst/>
          </a:prstGeom>
          <a:noFill/>
          <a:ln/>
        </p:spPr>
        <p:txBody>
          <a:bodyPr wrap="square" lIns="0" tIns="0" rIns="0" bIns="0" rtlCol="0" anchor="ctr"/>
          <a:lstStyle/>
          <a:p>
            <a:pPr algn="ctr" indent="0" marL="0">
              <a:buNone/>
            </a:pPr>
            <a:r>
              <a:rPr lang="en-US" sz="2800" dirty="0">
                <a:solidFill>
                  <a:srgbClr val="5B6770"/>
                </a:solidFill>
                <a:latin typeface="Calibri" pitchFamily="34" charset="0"/>
                <a:ea typeface="Calibri" pitchFamily="34" charset="-122"/>
                <a:cs typeface="Calibri" pitchFamily="34" charset="-120"/>
              </a:rPr>
              <a:t>·</a:t>
            </a:r>
            <a:endParaRPr lang="en-US" sz="2800" dirty="0"/>
          </a:p>
        </p:txBody>
      </p:sp>
      <p:sp>
        <p:nvSpPr>
          <p:cNvPr id="29" name="mcell"/>
          <p:cNvSpPr txBox="1"/>
          <p:nvPr/>
        </p:nvSpPr>
        <p:spPr>
          <a:xfrm>
            <a:off x="3182112" y="1965960"/>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30" name="mcell"/>
          <p:cNvSpPr txBox="1"/>
          <p:nvPr/>
        </p:nvSpPr>
        <p:spPr>
          <a:xfrm>
            <a:off x="3602736" y="196596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31" name="mcell"/>
          <p:cNvSpPr txBox="1"/>
          <p:nvPr/>
        </p:nvSpPr>
        <p:spPr>
          <a:xfrm>
            <a:off x="4023360" y="196596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32" name="mcell"/>
          <p:cNvSpPr txBox="1"/>
          <p:nvPr/>
        </p:nvSpPr>
        <p:spPr>
          <a:xfrm>
            <a:off x="3182112" y="238658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33" name="mcell"/>
          <p:cNvSpPr txBox="1"/>
          <p:nvPr/>
        </p:nvSpPr>
        <p:spPr>
          <a:xfrm>
            <a:off x="3602736" y="2386584"/>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34" name="mcell"/>
          <p:cNvSpPr txBox="1"/>
          <p:nvPr/>
        </p:nvSpPr>
        <p:spPr>
          <a:xfrm>
            <a:off x="4023360" y="238658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35" name="mcell"/>
          <p:cNvSpPr txBox="1"/>
          <p:nvPr/>
        </p:nvSpPr>
        <p:spPr>
          <a:xfrm>
            <a:off x="3182112" y="280720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36" name="mcell"/>
          <p:cNvSpPr txBox="1"/>
          <p:nvPr/>
        </p:nvSpPr>
        <p:spPr>
          <a:xfrm>
            <a:off x="3602736" y="280720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37" name="mcell"/>
          <p:cNvSpPr txBox="1"/>
          <p:nvPr/>
        </p:nvSpPr>
        <p:spPr>
          <a:xfrm>
            <a:off x="4023360" y="2807208"/>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38" name="msep"/>
          <p:cNvSpPr/>
          <p:nvPr/>
        </p:nvSpPr>
        <p:spPr>
          <a:xfrm>
            <a:off x="3602736" y="1984248"/>
            <a:ext cx="0" cy="1225296"/>
          </a:xfrm>
          <a:prstGeom prst="line">
            <a:avLst/>
          </a:prstGeom>
          <a:noFill/>
          <a:ln w="9525">
            <a:solidFill>
              <a:srgbClr val="5B6770"/>
            </a:solidFill>
            <a:prstDash val="dash"/>
          </a:ln>
        </p:spPr>
      </p:sp>
      <p:sp>
        <p:nvSpPr>
          <p:cNvPr id="39" name="mbr"/>
          <p:cNvSpPr/>
          <p:nvPr/>
        </p:nvSpPr>
        <p:spPr>
          <a:xfrm>
            <a:off x="3154680" y="1938528"/>
            <a:ext cx="0" cy="1316736"/>
          </a:xfrm>
          <a:prstGeom prst="line">
            <a:avLst/>
          </a:prstGeom>
          <a:noFill/>
          <a:ln w="15875">
            <a:solidFill>
              <a:srgbClr val="1E2A32"/>
            </a:solidFill>
            <a:prstDash val="solid"/>
          </a:ln>
        </p:spPr>
      </p:sp>
      <p:sp>
        <p:nvSpPr>
          <p:cNvPr id="40" name="mbr"/>
          <p:cNvSpPr/>
          <p:nvPr/>
        </p:nvSpPr>
        <p:spPr>
          <a:xfrm>
            <a:off x="3154680" y="1938528"/>
            <a:ext cx="73152" cy="0"/>
          </a:xfrm>
          <a:prstGeom prst="line">
            <a:avLst/>
          </a:prstGeom>
          <a:noFill/>
          <a:ln w="15875">
            <a:solidFill>
              <a:srgbClr val="1E2A32"/>
            </a:solidFill>
            <a:prstDash val="solid"/>
          </a:ln>
        </p:spPr>
      </p:sp>
      <p:sp>
        <p:nvSpPr>
          <p:cNvPr id="41" name="mbr"/>
          <p:cNvSpPr/>
          <p:nvPr/>
        </p:nvSpPr>
        <p:spPr>
          <a:xfrm>
            <a:off x="3154680" y="3255264"/>
            <a:ext cx="73152" cy="0"/>
          </a:xfrm>
          <a:prstGeom prst="line">
            <a:avLst/>
          </a:prstGeom>
          <a:noFill/>
          <a:ln w="15875">
            <a:solidFill>
              <a:srgbClr val="1E2A32"/>
            </a:solidFill>
            <a:prstDash val="solid"/>
          </a:ln>
        </p:spPr>
      </p:sp>
      <p:sp>
        <p:nvSpPr>
          <p:cNvPr id="42" name="mbr"/>
          <p:cNvSpPr/>
          <p:nvPr/>
        </p:nvSpPr>
        <p:spPr>
          <a:xfrm>
            <a:off x="4471416" y="1938528"/>
            <a:ext cx="0" cy="1316736"/>
          </a:xfrm>
          <a:prstGeom prst="line">
            <a:avLst/>
          </a:prstGeom>
          <a:noFill/>
          <a:ln w="15875">
            <a:solidFill>
              <a:srgbClr val="1E2A32"/>
            </a:solidFill>
            <a:prstDash val="solid"/>
          </a:ln>
        </p:spPr>
      </p:sp>
      <p:sp>
        <p:nvSpPr>
          <p:cNvPr id="43" name="mbr"/>
          <p:cNvSpPr/>
          <p:nvPr/>
        </p:nvSpPr>
        <p:spPr>
          <a:xfrm>
            <a:off x="4398264" y="1938528"/>
            <a:ext cx="73152" cy="0"/>
          </a:xfrm>
          <a:prstGeom prst="line">
            <a:avLst/>
          </a:prstGeom>
          <a:noFill/>
          <a:ln w="15875">
            <a:solidFill>
              <a:srgbClr val="1E2A32"/>
            </a:solidFill>
            <a:prstDash val="solid"/>
          </a:ln>
        </p:spPr>
      </p:sp>
      <p:sp>
        <p:nvSpPr>
          <p:cNvPr id="44" name="mbr"/>
          <p:cNvSpPr/>
          <p:nvPr/>
        </p:nvSpPr>
        <p:spPr>
          <a:xfrm>
            <a:off x="4398264" y="3255264"/>
            <a:ext cx="73152" cy="0"/>
          </a:xfrm>
          <a:prstGeom prst="line">
            <a:avLst/>
          </a:prstGeom>
          <a:noFill/>
          <a:ln w="15875">
            <a:solidFill>
              <a:srgbClr val="1E2A32"/>
            </a:solidFill>
            <a:prstDash val="solid"/>
          </a:ln>
        </p:spPr>
      </p:sp>
      <p:sp>
        <p:nvSpPr>
          <p:cNvPr id="45" name="mlab"/>
          <p:cNvSpPr txBox="1"/>
          <p:nvPr/>
        </p:nvSpPr>
        <p:spPr>
          <a:xfrm>
            <a:off x="3136392"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a:t>
            </a:r>
            <a:endParaRPr lang="en-US" sz="1400" dirty="0"/>
          </a:p>
        </p:txBody>
      </p:sp>
      <p:sp>
        <p:nvSpPr>
          <p:cNvPr id="46" name="mlab"/>
          <p:cNvSpPr txBox="1"/>
          <p:nvPr/>
        </p:nvSpPr>
        <p:spPr>
          <a:xfrm>
            <a:off x="3557016"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47" name="mlab"/>
          <p:cNvSpPr txBox="1"/>
          <p:nvPr/>
        </p:nvSpPr>
        <p:spPr>
          <a:xfrm>
            <a:off x="3977640"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48" name="mgrp"/>
          <p:cNvSpPr txBox="1"/>
          <p:nvPr/>
        </p:nvSpPr>
        <p:spPr>
          <a:xfrm>
            <a:off x="3182112" y="1490472"/>
            <a:ext cx="4206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49" name="mgrp"/>
          <p:cNvSpPr txBox="1"/>
          <p:nvPr/>
        </p:nvSpPr>
        <p:spPr>
          <a:xfrm>
            <a:off x="3602736" y="1490472"/>
            <a:ext cx="841248"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50" name="mlab"/>
          <p:cNvSpPr txBox="1"/>
          <p:nvPr/>
        </p:nvSpPr>
        <p:spPr>
          <a:xfrm>
            <a:off x="2779776" y="1965960"/>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e₀</a:t>
            </a:r>
            <a:endParaRPr lang="en-US" sz="1400" dirty="0"/>
          </a:p>
        </p:txBody>
      </p:sp>
      <p:sp>
        <p:nvSpPr>
          <p:cNvPr id="51" name="mlab"/>
          <p:cNvSpPr txBox="1"/>
          <p:nvPr/>
        </p:nvSpPr>
        <p:spPr>
          <a:xfrm>
            <a:off x="2779776" y="2386584"/>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e₁</a:t>
            </a:r>
            <a:endParaRPr lang="en-US" sz="1400" dirty="0"/>
          </a:p>
        </p:txBody>
      </p:sp>
      <p:sp>
        <p:nvSpPr>
          <p:cNvPr id="52" name="mlab"/>
          <p:cNvSpPr txBox="1"/>
          <p:nvPr/>
        </p:nvSpPr>
        <p:spPr>
          <a:xfrm>
            <a:off x="2779776" y="2807208"/>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e₂</a:t>
            </a:r>
            <a:endParaRPr lang="en-US" sz="1400" dirty="0"/>
          </a:p>
        </p:txBody>
      </p:sp>
      <p:sp>
        <p:nvSpPr>
          <p:cNvPr id="53" name="mname"/>
          <p:cNvSpPr txBox="1"/>
          <p:nvPr/>
        </p:nvSpPr>
        <p:spPr>
          <a:xfrm>
            <a:off x="2907792" y="3282696"/>
            <a:ext cx="18105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 (source)</a:t>
            </a:r>
            <a:endParaRPr lang="en-US" sz="1300" dirty="0"/>
          </a:p>
        </p:txBody>
      </p:sp>
      <p:sp>
        <p:nvSpPr>
          <p:cNvPr id="54" name="op"/>
          <p:cNvSpPr txBox="1"/>
          <p:nvPr/>
        </p:nvSpPr>
        <p:spPr>
          <a:xfrm>
            <a:off x="4489704" y="236829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55" name="mcol"/>
          <p:cNvSpPr/>
          <p:nvPr/>
        </p:nvSpPr>
        <p:spPr>
          <a:xfrm>
            <a:off x="5266944" y="1965960"/>
            <a:ext cx="420624" cy="1261872"/>
          </a:xfrm>
          <a:prstGeom prst="rect">
            <a:avLst/>
          </a:prstGeom>
          <a:solidFill>
            <a:srgbClr val="FFF0CC"/>
          </a:solidFill>
          <a:ln/>
        </p:spPr>
      </p:sp>
      <p:sp>
        <p:nvSpPr>
          <p:cNvPr id="56" name="mcol"/>
          <p:cNvSpPr/>
          <p:nvPr/>
        </p:nvSpPr>
        <p:spPr>
          <a:xfrm>
            <a:off x="6108192" y="1965960"/>
            <a:ext cx="420624" cy="1261872"/>
          </a:xfrm>
          <a:prstGeom prst="rect">
            <a:avLst/>
          </a:prstGeom>
          <a:solidFill>
            <a:srgbClr val="FFF0CC"/>
          </a:solidFill>
          <a:ln/>
        </p:spPr>
      </p:sp>
      <p:sp>
        <p:nvSpPr>
          <p:cNvPr id="57" name="mcell"/>
          <p:cNvSpPr txBox="1"/>
          <p:nvPr/>
        </p:nvSpPr>
        <p:spPr>
          <a:xfrm>
            <a:off x="5266944" y="196596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8" name="mcell"/>
          <p:cNvSpPr txBox="1"/>
          <p:nvPr/>
        </p:nvSpPr>
        <p:spPr>
          <a:xfrm>
            <a:off x="5687568" y="1965960"/>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59" name="mcell"/>
          <p:cNvSpPr txBox="1"/>
          <p:nvPr/>
        </p:nvSpPr>
        <p:spPr>
          <a:xfrm>
            <a:off x="6108192" y="1965960"/>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60" name="mcell"/>
          <p:cNvSpPr txBox="1"/>
          <p:nvPr/>
        </p:nvSpPr>
        <p:spPr>
          <a:xfrm>
            <a:off x="5266944" y="2386584"/>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61" name="mcell"/>
          <p:cNvSpPr txBox="1"/>
          <p:nvPr/>
        </p:nvSpPr>
        <p:spPr>
          <a:xfrm>
            <a:off x="5687568" y="238658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62" name="mcell"/>
          <p:cNvSpPr txBox="1"/>
          <p:nvPr/>
        </p:nvSpPr>
        <p:spPr>
          <a:xfrm>
            <a:off x="6108192" y="2386584"/>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63" name="mcell"/>
          <p:cNvSpPr txBox="1"/>
          <p:nvPr/>
        </p:nvSpPr>
        <p:spPr>
          <a:xfrm>
            <a:off x="5266944" y="280720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64" name="mcell"/>
          <p:cNvSpPr txBox="1"/>
          <p:nvPr/>
        </p:nvSpPr>
        <p:spPr>
          <a:xfrm>
            <a:off x="5687568" y="2807208"/>
            <a:ext cx="420624" cy="420624"/>
          </a:xfrm>
          <a:prstGeom prst="rect">
            <a:avLst/>
          </a:prstGeom>
          <a:noFill/>
          <a:ln/>
        </p:spPr>
        <p:txBody>
          <a:bodyPr wrap="square" lIns="0" tIns="0" rIns="0" bIns="0" rtlCol="0" anchor="ctr"/>
          <a:lstStyle/>
          <a:p>
            <a:pPr algn="ctr" indent="0" marL="0">
              <a:buNone/>
            </a:pPr>
            <a:r>
              <a:rPr lang="en-US" sz="1700" b="1" dirty="0">
                <a:solidFill>
                  <a:srgbClr val="1E2A32"/>
                </a:solidFill>
                <a:latin typeface="Calibri" pitchFamily="34" charset="0"/>
                <a:ea typeface="Calibri" pitchFamily="34" charset="-122"/>
                <a:cs typeface="Calibri" pitchFamily="34" charset="-120"/>
              </a:rPr>
              <a:t>1</a:t>
            </a:r>
            <a:endParaRPr lang="en-US" sz="1700" dirty="0"/>
          </a:p>
        </p:txBody>
      </p:sp>
      <p:sp>
        <p:nvSpPr>
          <p:cNvPr id="65" name="mcell"/>
          <p:cNvSpPr txBox="1"/>
          <p:nvPr/>
        </p:nvSpPr>
        <p:spPr>
          <a:xfrm>
            <a:off x="6108192" y="2807208"/>
            <a:ext cx="420624" cy="420624"/>
          </a:xfrm>
          <a:prstGeom prst="rect">
            <a:avLst/>
          </a:prstGeom>
          <a:noFill/>
          <a:ln/>
        </p:spPr>
        <p:txBody>
          <a:bodyPr wrap="square" lIns="0" tIns="0" rIns="0" bIns="0" rtlCol="0" anchor="ctr"/>
          <a:lstStyle/>
          <a:p>
            <a:pPr algn="ctr" indent="0" marL="0">
              <a:buNone/>
            </a:pPr>
            <a:r>
              <a:rPr lang="en-US" sz="1700" dirty="0">
                <a:solidFill>
                  <a:srgbClr val="B9C1C7"/>
                </a:solidFill>
                <a:latin typeface="Calibri" pitchFamily="34" charset="0"/>
                <a:ea typeface="Calibri" pitchFamily="34" charset="-122"/>
                <a:cs typeface="Calibri" pitchFamily="34" charset="-120"/>
              </a:rPr>
              <a:t>0</a:t>
            </a:r>
            <a:endParaRPr lang="en-US" sz="1700" dirty="0"/>
          </a:p>
        </p:txBody>
      </p:sp>
      <p:sp>
        <p:nvSpPr>
          <p:cNvPr id="66" name="msep"/>
          <p:cNvSpPr/>
          <p:nvPr/>
        </p:nvSpPr>
        <p:spPr>
          <a:xfrm>
            <a:off x="5687568" y="1984248"/>
            <a:ext cx="0" cy="1225296"/>
          </a:xfrm>
          <a:prstGeom prst="line">
            <a:avLst/>
          </a:prstGeom>
          <a:noFill/>
          <a:ln w="9525">
            <a:solidFill>
              <a:srgbClr val="5B6770"/>
            </a:solidFill>
            <a:prstDash val="dash"/>
          </a:ln>
        </p:spPr>
      </p:sp>
      <p:sp>
        <p:nvSpPr>
          <p:cNvPr id="67" name="mbr"/>
          <p:cNvSpPr/>
          <p:nvPr/>
        </p:nvSpPr>
        <p:spPr>
          <a:xfrm>
            <a:off x="5239512" y="1938528"/>
            <a:ext cx="0" cy="1316736"/>
          </a:xfrm>
          <a:prstGeom prst="line">
            <a:avLst/>
          </a:prstGeom>
          <a:noFill/>
          <a:ln w="15875">
            <a:solidFill>
              <a:srgbClr val="1E2A32"/>
            </a:solidFill>
            <a:prstDash val="solid"/>
          </a:ln>
        </p:spPr>
      </p:sp>
      <p:sp>
        <p:nvSpPr>
          <p:cNvPr id="68" name="mbr"/>
          <p:cNvSpPr/>
          <p:nvPr/>
        </p:nvSpPr>
        <p:spPr>
          <a:xfrm>
            <a:off x="5239512" y="1938528"/>
            <a:ext cx="73152" cy="0"/>
          </a:xfrm>
          <a:prstGeom prst="line">
            <a:avLst/>
          </a:prstGeom>
          <a:noFill/>
          <a:ln w="15875">
            <a:solidFill>
              <a:srgbClr val="1E2A32"/>
            </a:solidFill>
            <a:prstDash val="solid"/>
          </a:ln>
        </p:spPr>
      </p:sp>
      <p:sp>
        <p:nvSpPr>
          <p:cNvPr id="69" name="mbr"/>
          <p:cNvSpPr/>
          <p:nvPr/>
        </p:nvSpPr>
        <p:spPr>
          <a:xfrm>
            <a:off x="5239512" y="3255264"/>
            <a:ext cx="73152" cy="0"/>
          </a:xfrm>
          <a:prstGeom prst="line">
            <a:avLst/>
          </a:prstGeom>
          <a:noFill/>
          <a:ln w="15875">
            <a:solidFill>
              <a:srgbClr val="1E2A32"/>
            </a:solidFill>
            <a:prstDash val="solid"/>
          </a:ln>
        </p:spPr>
      </p:sp>
      <p:sp>
        <p:nvSpPr>
          <p:cNvPr id="70" name="mbr"/>
          <p:cNvSpPr/>
          <p:nvPr/>
        </p:nvSpPr>
        <p:spPr>
          <a:xfrm>
            <a:off x="6556248" y="1938528"/>
            <a:ext cx="0" cy="1316736"/>
          </a:xfrm>
          <a:prstGeom prst="line">
            <a:avLst/>
          </a:prstGeom>
          <a:noFill/>
          <a:ln w="15875">
            <a:solidFill>
              <a:srgbClr val="1E2A32"/>
            </a:solidFill>
            <a:prstDash val="solid"/>
          </a:ln>
        </p:spPr>
      </p:sp>
      <p:sp>
        <p:nvSpPr>
          <p:cNvPr id="71" name="mbr"/>
          <p:cNvSpPr/>
          <p:nvPr/>
        </p:nvSpPr>
        <p:spPr>
          <a:xfrm>
            <a:off x="6483096" y="1938528"/>
            <a:ext cx="73152" cy="0"/>
          </a:xfrm>
          <a:prstGeom prst="line">
            <a:avLst/>
          </a:prstGeom>
          <a:noFill/>
          <a:ln w="15875">
            <a:solidFill>
              <a:srgbClr val="1E2A32"/>
            </a:solidFill>
            <a:prstDash val="solid"/>
          </a:ln>
        </p:spPr>
      </p:sp>
      <p:sp>
        <p:nvSpPr>
          <p:cNvPr id="72" name="mbr"/>
          <p:cNvSpPr/>
          <p:nvPr/>
        </p:nvSpPr>
        <p:spPr>
          <a:xfrm>
            <a:off x="6483096" y="3255264"/>
            <a:ext cx="73152" cy="0"/>
          </a:xfrm>
          <a:prstGeom prst="line">
            <a:avLst/>
          </a:prstGeom>
          <a:noFill/>
          <a:ln w="15875">
            <a:solidFill>
              <a:srgbClr val="1E2A32"/>
            </a:solidFill>
            <a:prstDash val="solid"/>
          </a:ln>
        </p:spPr>
      </p:sp>
      <p:sp>
        <p:nvSpPr>
          <p:cNvPr id="73" name="mlab"/>
          <p:cNvSpPr txBox="1"/>
          <p:nvPr/>
        </p:nvSpPr>
        <p:spPr>
          <a:xfrm>
            <a:off x="5221224"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r</a:t>
            </a:r>
            <a:endParaRPr lang="en-US" sz="1400" dirty="0"/>
          </a:p>
        </p:txBody>
      </p:sp>
      <p:sp>
        <p:nvSpPr>
          <p:cNvPr id="74" name="mlab"/>
          <p:cNvSpPr txBox="1"/>
          <p:nvPr/>
        </p:nvSpPr>
        <p:spPr>
          <a:xfrm>
            <a:off x="5641848"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75" name="mlab"/>
          <p:cNvSpPr txBox="1"/>
          <p:nvPr/>
        </p:nvSpPr>
        <p:spPr>
          <a:xfrm>
            <a:off x="6062472" y="1728216"/>
            <a:ext cx="512064"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76" name="mgrp"/>
          <p:cNvSpPr txBox="1"/>
          <p:nvPr/>
        </p:nvSpPr>
        <p:spPr>
          <a:xfrm>
            <a:off x="5266944" y="1490472"/>
            <a:ext cx="4206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Reg</a:t>
            </a:r>
            <a:endParaRPr lang="en-US" sz="1400" dirty="0"/>
          </a:p>
        </p:txBody>
      </p:sp>
      <p:sp>
        <p:nvSpPr>
          <p:cNvPr id="77" name="mgrp"/>
          <p:cNvSpPr txBox="1"/>
          <p:nvPr/>
        </p:nvSpPr>
        <p:spPr>
          <a:xfrm>
            <a:off x="5687568" y="1490472"/>
            <a:ext cx="841248"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Thr</a:t>
            </a:r>
            <a:endParaRPr lang="en-US" sz="1400" dirty="0"/>
          </a:p>
        </p:txBody>
      </p:sp>
      <p:sp>
        <p:nvSpPr>
          <p:cNvPr id="78" name="mlab"/>
          <p:cNvSpPr txBox="1"/>
          <p:nvPr/>
        </p:nvSpPr>
        <p:spPr>
          <a:xfrm>
            <a:off x="4864608" y="1965960"/>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r′</a:t>
            </a:r>
            <a:endParaRPr lang="en-US" sz="1400" dirty="0"/>
          </a:p>
        </p:txBody>
      </p:sp>
      <p:sp>
        <p:nvSpPr>
          <p:cNvPr id="79" name="mlab"/>
          <p:cNvSpPr txBox="1"/>
          <p:nvPr/>
        </p:nvSpPr>
        <p:spPr>
          <a:xfrm>
            <a:off x="4864608" y="2386584"/>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t₀′</a:t>
            </a:r>
            <a:endParaRPr lang="en-US" sz="1400" dirty="0"/>
          </a:p>
        </p:txBody>
      </p:sp>
      <p:sp>
        <p:nvSpPr>
          <p:cNvPr id="80" name="mlab"/>
          <p:cNvSpPr txBox="1"/>
          <p:nvPr/>
        </p:nvSpPr>
        <p:spPr>
          <a:xfrm>
            <a:off x="4864608" y="2807208"/>
            <a:ext cx="347472" cy="420624"/>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t₁′</a:t>
            </a:r>
            <a:endParaRPr lang="en-US" sz="1400" dirty="0"/>
          </a:p>
        </p:txBody>
      </p:sp>
      <p:sp>
        <p:nvSpPr>
          <p:cNvPr id="81" name="mname"/>
          <p:cNvSpPr txBox="1"/>
          <p:nvPr/>
        </p:nvSpPr>
        <p:spPr>
          <a:xfrm>
            <a:off x="4992624" y="3282696"/>
            <a:ext cx="181051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B⁻¹A: source → destination</a:t>
            </a:r>
            <a:endParaRPr lang="en-US" sz="1300" dirty="0"/>
          </a:p>
        </p:txBody>
      </p:sp>
      <p:sp>
        <p:nvSpPr>
          <p:cNvPr id="82" name="mcell"/>
          <p:cNvSpPr txBox="1"/>
          <p:nvPr/>
        </p:nvSpPr>
        <p:spPr>
          <a:xfrm>
            <a:off x="1097280" y="406908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83" name="mcell"/>
          <p:cNvSpPr txBox="1"/>
          <p:nvPr/>
        </p:nvSpPr>
        <p:spPr>
          <a:xfrm>
            <a:off x="1426464" y="406908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84" name="mcell"/>
          <p:cNvSpPr txBox="1"/>
          <p:nvPr/>
        </p:nvSpPr>
        <p:spPr>
          <a:xfrm>
            <a:off x="1755648" y="406908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85" name="mcell"/>
          <p:cNvSpPr txBox="1"/>
          <p:nvPr/>
        </p:nvSpPr>
        <p:spPr>
          <a:xfrm>
            <a:off x="1097280" y="439826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86" name="mcell"/>
          <p:cNvSpPr txBox="1"/>
          <p:nvPr/>
        </p:nvSpPr>
        <p:spPr>
          <a:xfrm>
            <a:off x="1426464" y="439826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87" name="mcell"/>
          <p:cNvSpPr txBox="1"/>
          <p:nvPr/>
        </p:nvSpPr>
        <p:spPr>
          <a:xfrm>
            <a:off x="1755648" y="4398264"/>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88" name="mcell"/>
          <p:cNvSpPr txBox="1"/>
          <p:nvPr/>
        </p:nvSpPr>
        <p:spPr>
          <a:xfrm>
            <a:off x="1097280" y="4727448"/>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89" name="mcell"/>
          <p:cNvSpPr txBox="1"/>
          <p:nvPr/>
        </p:nvSpPr>
        <p:spPr>
          <a:xfrm>
            <a:off x="1426464" y="472744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90" name="mcell"/>
          <p:cNvSpPr txBox="1"/>
          <p:nvPr/>
        </p:nvSpPr>
        <p:spPr>
          <a:xfrm>
            <a:off x="1755648" y="4727448"/>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91" name="mbr"/>
          <p:cNvSpPr/>
          <p:nvPr/>
        </p:nvSpPr>
        <p:spPr>
          <a:xfrm>
            <a:off x="1069848" y="4041648"/>
            <a:ext cx="0" cy="1042416"/>
          </a:xfrm>
          <a:prstGeom prst="line">
            <a:avLst/>
          </a:prstGeom>
          <a:noFill/>
          <a:ln w="15875">
            <a:solidFill>
              <a:srgbClr val="1E2A32"/>
            </a:solidFill>
            <a:prstDash val="solid"/>
          </a:ln>
        </p:spPr>
      </p:sp>
      <p:sp>
        <p:nvSpPr>
          <p:cNvPr id="92" name="mbr"/>
          <p:cNvSpPr/>
          <p:nvPr/>
        </p:nvSpPr>
        <p:spPr>
          <a:xfrm>
            <a:off x="1069848" y="4041648"/>
            <a:ext cx="73152" cy="0"/>
          </a:xfrm>
          <a:prstGeom prst="line">
            <a:avLst/>
          </a:prstGeom>
          <a:noFill/>
          <a:ln w="15875">
            <a:solidFill>
              <a:srgbClr val="1E2A32"/>
            </a:solidFill>
            <a:prstDash val="solid"/>
          </a:ln>
        </p:spPr>
      </p:sp>
      <p:sp>
        <p:nvSpPr>
          <p:cNvPr id="93" name="mbr"/>
          <p:cNvSpPr/>
          <p:nvPr/>
        </p:nvSpPr>
        <p:spPr>
          <a:xfrm>
            <a:off x="1069848" y="5084064"/>
            <a:ext cx="73152" cy="0"/>
          </a:xfrm>
          <a:prstGeom prst="line">
            <a:avLst/>
          </a:prstGeom>
          <a:noFill/>
          <a:ln w="15875">
            <a:solidFill>
              <a:srgbClr val="1E2A32"/>
            </a:solidFill>
            <a:prstDash val="solid"/>
          </a:ln>
        </p:spPr>
      </p:sp>
      <p:sp>
        <p:nvSpPr>
          <p:cNvPr id="94" name="mbr"/>
          <p:cNvSpPr/>
          <p:nvPr/>
        </p:nvSpPr>
        <p:spPr>
          <a:xfrm>
            <a:off x="2112264" y="4041648"/>
            <a:ext cx="0" cy="1042416"/>
          </a:xfrm>
          <a:prstGeom prst="line">
            <a:avLst/>
          </a:prstGeom>
          <a:noFill/>
          <a:ln w="15875">
            <a:solidFill>
              <a:srgbClr val="1E2A32"/>
            </a:solidFill>
            <a:prstDash val="solid"/>
          </a:ln>
        </p:spPr>
      </p:sp>
      <p:sp>
        <p:nvSpPr>
          <p:cNvPr id="95" name="mbr"/>
          <p:cNvSpPr/>
          <p:nvPr/>
        </p:nvSpPr>
        <p:spPr>
          <a:xfrm>
            <a:off x="2039112" y="4041648"/>
            <a:ext cx="73152" cy="0"/>
          </a:xfrm>
          <a:prstGeom prst="line">
            <a:avLst/>
          </a:prstGeom>
          <a:noFill/>
          <a:ln w="15875">
            <a:solidFill>
              <a:srgbClr val="1E2A32"/>
            </a:solidFill>
            <a:prstDash val="solid"/>
          </a:ln>
        </p:spPr>
      </p:sp>
      <p:sp>
        <p:nvSpPr>
          <p:cNvPr id="96" name="mbr"/>
          <p:cNvSpPr/>
          <p:nvPr/>
        </p:nvSpPr>
        <p:spPr>
          <a:xfrm>
            <a:off x="2039112" y="5084064"/>
            <a:ext cx="73152" cy="0"/>
          </a:xfrm>
          <a:prstGeom prst="line">
            <a:avLst/>
          </a:prstGeom>
          <a:noFill/>
          <a:ln w="15875">
            <a:solidFill>
              <a:srgbClr val="1E2A32"/>
            </a:solidFill>
            <a:prstDash val="solid"/>
          </a:ln>
        </p:spPr>
      </p:sp>
      <p:sp>
        <p:nvSpPr>
          <p:cNvPr id="97" name="mlab"/>
          <p:cNvSpPr txBox="1"/>
          <p:nvPr/>
        </p:nvSpPr>
        <p:spPr>
          <a:xfrm>
            <a:off x="1051560" y="383133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a:t>
            </a:r>
            <a:endParaRPr lang="en-US" sz="1100" dirty="0"/>
          </a:p>
        </p:txBody>
      </p:sp>
      <p:sp>
        <p:nvSpPr>
          <p:cNvPr id="98" name="mlab"/>
          <p:cNvSpPr txBox="1"/>
          <p:nvPr/>
        </p:nvSpPr>
        <p:spPr>
          <a:xfrm>
            <a:off x="1380744" y="383133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t₀′</a:t>
            </a:r>
            <a:endParaRPr lang="en-US" sz="1100" dirty="0"/>
          </a:p>
        </p:txBody>
      </p:sp>
      <p:sp>
        <p:nvSpPr>
          <p:cNvPr id="99" name="mlab"/>
          <p:cNvSpPr txBox="1"/>
          <p:nvPr/>
        </p:nvSpPr>
        <p:spPr>
          <a:xfrm>
            <a:off x="1709928" y="383133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t₁′</a:t>
            </a:r>
            <a:endParaRPr lang="en-US" sz="1100" dirty="0"/>
          </a:p>
        </p:txBody>
      </p:sp>
      <p:sp>
        <p:nvSpPr>
          <p:cNvPr id="100" name="mlab"/>
          <p:cNvSpPr txBox="1"/>
          <p:nvPr/>
        </p:nvSpPr>
        <p:spPr>
          <a:xfrm>
            <a:off x="694944" y="4069080"/>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e₀</a:t>
            </a:r>
            <a:endParaRPr lang="en-US" sz="1100" dirty="0"/>
          </a:p>
        </p:txBody>
      </p:sp>
      <p:sp>
        <p:nvSpPr>
          <p:cNvPr id="101" name="mlab"/>
          <p:cNvSpPr txBox="1"/>
          <p:nvPr/>
        </p:nvSpPr>
        <p:spPr>
          <a:xfrm>
            <a:off x="694944" y="4398264"/>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e₁</a:t>
            </a:r>
            <a:endParaRPr lang="en-US" sz="1100" dirty="0"/>
          </a:p>
        </p:txBody>
      </p:sp>
      <p:sp>
        <p:nvSpPr>
          <p:cNvPr id="102" name="mlab"/>
          <p:cNvSpPr txBox="1"/>
          <p:nvPr/>
        </p:nvSpPr>
        <p:spPr>
          <a:xfrm>
            <a:off x="694944" y="4727448"/>
            <a:ext cx="347472" cy="329184"/>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e₂</a:t>
            </a:r>
            <a:endParaRPr lang="en-US" sz="1100" dirty="0"/>
          </a:p>
        </p:txBody>
      </p:sp>
      <p:sp>
        <p:nvSpPr>
          <p:cNvPr id="103" name="mname"/>
          <p:cNvSpPr txBox="1"/>
          <p:nvPr/>
        </p:nvSpPr>
        <p:spPr>
          <a:xfrm>
            <a:off x="822960" y="5111496"/>
            <a:ext cx="153619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 (destination)</a:t>
            </a:r>
            <a:endParaRPr lang="en-US" sz="1300" dirty="0"/>
          </a:p>
        </p:txBody>
      </p:sp>
      <p:sp>
        <p:nvSpPr>
          <p:cNvPr id="104" name="Text 101"/>
          <p:cNvSpPr txBox="1"/>
          <p:nvPr/>
        </p:nvSpPr>
        <p:spPr>
          <a:xfrm>
            <a:off x="3108960" y="4114800"/>
            <a:ext cx="365760" cy="365760"/>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A:</a:t>
            </a:r>
            <a:endParaRPr lang="en-US" sz="1400" dirty="0"/>
          </a:p>
        </p:txBody>
      </p:sp>
      <p:sp>
        <p:nvSpPr>
          <p:cNvPr id="105" name="gcell"/>
          <p:cNvSpPr txBox="1"/>
          <p:nvPr/>
        </p:nvSpPr>
        <p:spPr>
          <a:xfrm>
            <a:off x="3520440" y="411480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06" name="gcell"/>
          <p:cNvSpPr txBox="1"/>
          <p:nvPr/>
        </p:nvSpPr>
        <p:spPr>
          <a:xfrm>
            <a:off x="3886200" y="411480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p>
        </p:txBody>
      </p:sp>
      <p:sp>
        <p:nvSpPr>
          <p:cNvPr id="107" name="gcell"/>
          <p:cNvSpPr txBox="1"/>
          <p:nvPr/>
        </p:nvSpPr>
        <p:spPr>
          <a:xfrm>
            <a:off x="4343400" y="411480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p>
        </p:txBody>
      </p:sp>
      <p:sp>
        <p:nvSpPr>
          <p:cNvPr id="108" name="gcell"/>
          <p:cNvSpPr txBox="1"/>
          <p:nvPr/>
        </p:nvSpPr>
        <p:spPr>
          <a:xfrm>
            <a:off x="4709160" y="411480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p>
        </p:txBody>
      </p:sp>
      <p:sp>
        <p:nvSpPr>
          <p:cNvPr id="109" name="gcell"/>
          <p:cNvSpPr txBox="1"/>
          <p:nvPr/>
        </p:nvSpPr>
        <p:spPr>
          <a:xfrm>
            <a:off x="5166360" y="4114800"/>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p>
        </p:txBody>
      </p:sp>
      <p:sp>
        <p:nvSpPr>
          <p:cNvPr id="110" name="gcell"/>
          <p:cNvSpPr txBox="1"/>
          <p:nvPr/>
        </p:nvSpPr>
        <p:spPr>
          <a:xfrm>
            <a:off x="5532120" y="4114800"/>
            <a:ext cx="365760" cy="36576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5</a:t>
            </a:r>
            <a:endParaRPr lang="en-US" sz="1300" dirty="0"/>
          </a:p>
        </p:txBody>
      </p:sp>
      <p:sp>
        <p:nvSpPr>
          <p:cNvPr id="111" name="gcell"/>
          <p:cNvSpPr txBox="1"/>
          <p:nvPr/>
        </p:nvSpPr>
        <p:spPr>
          <a:xfrm>
            <a:off x="5989320" y="411480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6</a:t>
            </a:r>
            <a:endParaRPr lang="en-US" sz="1300" dirty="0"/>
          </a:p>
        </p:txBody>
      </p:sp>
      <p:sp>
        <p:nvSpPr>
          <p:cNvPr id="112" name="gcell"/>
          <p:cNvSpPr txBox="1"/>
          <p:nvPr/>
        </p:nvSpPr>
        <p:spPr>
          <a:xfrm>
            <a:off x="6355080" y="4114800"/>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7</a:t>
            </a:r>
            <a:endParaRPr lang="en-US" sz="1300" dirty="0"/>
          </a:p>
        </p:txBody>
      </p:sp>
      <p:sp>
        <p:nvSpPr>
          <p:cNvPr id="113" name="Text 110"/>
          <p:cNvSpPr txBox="1"/>
          <p:nvPr/>
        </p:nvSpPr>
        <p:spPr>
          <a:xfrm>
            <a:off x="3108960" y="4681728"/>
            <a:ext cx="365760" cy="365760"/>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B:</a:t>
            </a:r>
            <a:endParaRPr lang="en-US" sz="1400" dirty="0"/>
          </a:p>
        </p:txBody>
      </p:sp>
      <p:sp>
        <p:nvSpPr>
          <p:cNvPr id="114" name="gcell"/>
          <p:cNvSpPr txBox="1"/>
          <p:nvPr/>
        </p:nvSpPr>
        <p:spPr>
          <a:xfrm>
            <a:off x="3520440" y="4681728"/>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p>
        </p:txBody>
      </p:sp>
      <p:sp>
        <p:nvSpPr>
          <p:cNvPr id="115" name="gcell"/>
          <p:cNvSpPr txBox="1"/>
          <p:nvPr/>
        </p:nvSpPr>
        <p:spPr>
          <a:xfrm>
            <a:off x="3886200" y="4681728"/>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p>
        </p:txBody>
      </p:sp>
      <p:sp>
        <p:nvSpPr>
          <p:cNvPr id="116" name="gcell"/>
          <p:cNvSpPr txBox="1"/>
          <p:nvPr/>
        </p:nvSpPr>
        <p:spPr>
          <a:xfrm>
            <a:off x="4343400" y="4681728"/>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p>
        </p:txBody>
      </p:sp>
      <p:sp>
        <p:nvSpPr>
          <p:cNvPr id="117" name="gcell"/>
          <p:cNvSpPr txBox="1"/>
          <p:nvPr/>
        </p:nvSpPr>
        <p:spPr>
          <a:xfrm>
            <a:off x="4709160" y="4681728"/>
            <a:ext cx="365760" cy="36576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5</a:t>
            </a:r>
            <a:endParaRPr lang="en-US" sz="1300" dirty="0"/>
          </a:p>
        </p:txBody>
      </p:sp>
      <p:sp>
        <p:nvSpPr>
          <p:cNvPr id="118" name="gcell"/>
          <p:cNvSpPr txBox="1"/>
          <p:nvPr/>
        </p:nvSpPr>
        <p:spPr>
          <a:xfrm>
            <a:off x="5166360" y="4681728"/>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p>
        </p:txBody>
      </p:sp>
      <p:sp>
        <p:nvSpPr>
          <p:cNvPr id="119" name="gcell"/>
          <p:cNvSpPr txBox="1"/>
          <p:nvPr/>
        </p:nvSpPr>
        <p:spPr>
          <a:xfrm>
            <a:off x="5532120" y="4681728"/>
            <a:ext cx="36576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6</a:t>
            </a:r>
            <a:endParaRPr lang="en-US" sz="1300" dirty="0"/>
          </a:p>
        </p:txBody>
      </p:sp>
      <p:sp>
        <p:nvSpPr>
          <p:cNvPr id="120" name="gcell"/>
          <p:cNvSpPr txBox="1"/>
          <p:nvPr/>
        </p:nvSpPr>
        <p:spPr>
          <a:xfrm>
            <a:off x="5989320" y="4681728"/>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p>
        </p:txBody>
      </p:sp>
      <p:sp>
        <p:nvSpPr>
          <p:cNvPr id="121" name="gcell"/>
          <p:cNvSpPr txBox="1"/>
          <p:nvPr/>
        </p:nvSpPr>
        <p:spPr>
          <a:xfrm>
            <a:off x="6355080" y="4681728"/>
            <a:ext cx="365760" cy="365760"/>
          </a:xfrm>
          <a:prstGeom prst="rect">
            <a:avLst/>
          </a:prstGeom>
          <a:solidFill>
            <a:srgbClr val="F3F6F7"/>
          </a:solidFill>
          <a:ln w="9525">
            <a:solidFill>
              <a:srgbClr val="D3DADF"/>
            </a:solidFill>
          </a:ln>
        </p:spPr>
        <p:txBody>
          <a:bodyPr wrap="square" lIns="0" tIns="0" rIns="0" bIns="0" rtlCol="0" anchor="ctr"/>
          <a:lstStyle/>
          <a:p>
            <a:pPr algn="ctr" indent="0" marL="0">
              <a:buNone/>
            </a:pPr>
            <a:r>
              <a:rPr lang="en-US" sz="1300" dirty="0">
                <a:solidFill>
                  <a:srgbClr val="1E2A32"/>
                </a:solidFill>
                <a:latin typeface="Calibri" pitchFamily="34" charset="0"/>
                <a:ea typeface="Calibri" pitchFamily="34" charset="-122"/>
                <a:cs typeface="Calibri" pitchFamily="34" charset="-120"/>
              </a:rPr>
              <a:t>7</a:t>
            </a:r>
            <a:endParaRPr lang="en-US" sz="1300" dirty="0"/>
          </a:p>
        </p:txBody>
      </p:sp>
      <p:sp>
        <p:nvSpPr>
          <p:cNvPr id="122" name="Text 119"/>
          <p:cNvSpPr txBox="1"/>
          <p:nvPr/>
        </p:nvSpPr>
        <p:spPr>
          <a:xfrm>
            <a:off x="3520440" y="5257800"/>
            <a:ext cx="731520"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123" name="Text 120"/>
          <p:cNvSpPr txBox="1"/>
          <p:nvPr/>
        </p:nvSpPr>
        <p:spPr>
          <a:xfrm>
            <a:off x="4343400" y="5257800"/>
            <a:ext cx="731520"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124" name="Text 121"/>
          <p:cNvSpPr txBox="1"/>
          <p:nvPr/>
        </p:nvSpPr>
        <p:spPr>
          <a:xfrm>
            <a:off x="5166360" y="5257800"/>
            <a:ext cx="731520"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t₂</a:t>
            </a:r>
            <a:endParaRPr lang="en-US" sz="1200" dirty="0"/>
          </a:p>
        </p:txBody>
      </p:sp>
      <p:sp>
        <p:nvSpPr>
          <p:cNvPr id="125" name="Text 122"/>
          <p:cNvSpPr txBox="1"/>
          <p:nvPr/>
        </p:nvSpPr>
        <p:spPr>
          <a:xfrm>
            <a:off x="5989320" y="5257800"/>
            <a:ext cx="731520"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t₃</a:t>
            </a:r>
            <a:endParaRPr lang="en-US" sz="1200" dirty="0"/>
          </a:p>
        </p:txBody>
      </p:sp>
      <p:sp>
        <p:nvSpPr>
          <p:cNvPr id="126" name="panel"/>
          <p:cNvSpPr/>
          <p:nvPr/>
        </p:nvSpPr>
        <p:spPr>
          <a:xfrm>
            <a:off x="7589520" y="1371600"/>
            <a:ext cx="4114800" cy="4206240"/>
          </a:xfrm>
          <a:prstGeom prst="roundRect">
            <a:avLst>
              <a:gd name="adj" fmla="val 1778"/>
            </a:avLst>
          </a:prstGeom>
          <a:solidFill>
            <a:srgbClr val="FFF0CC"/>
          </a:solidFill>
          <a:ln/>
        </p:spPr>
      </p:sp>
      <p:sp>
        <p:nvSpPr>
          <p:cNvPr id="127" name="Text 124"/>
          <p:cNvSpPr txBox="1"/>
          <p:nvPr/>
        </p:nvSpPr>
        <p:spPr>
          <a:xfrm>
            <a:off x="7726680" y="1463040"/>
            <a:ext cx="3840480" cy="274320"/>
          </a:xfrm>
          <a:prstGeom prst="rect">
            <a:avLst/>
          </a:prstGeom>
          <a:noFill/>
          <a:ln/>
        </p:spPr>
        <p:txBody>
          <a:bodyPr wrap="square" lIns="0" tIns="0" rIns="0" bIns="0" rtlCol="0" anchor="t"/>
          <a:lstStyle/>
          <a:p>
            <a:pPr indent="0" marL="0">
              <a:buNone/>
            </a:pPr>
            <a:r>
              <a:rPr lang="en-US" sz="1500" b="1" dirty="0">
                <a:solidFill>
                  <a:srgbClr val="6B4100"/>
                </a:solidFill>
                <a:latin typeface="Calibri" pitchFamily="34" charset="0"/>
                <a:ea typeface="Calibri" pitchFamily="34" charset="-122"/>
                <a:cs typeface="Calibri" pitchFamily="34" charset="-120"/>
              </a:rPr>
              <a:t>Trace element 5</a:t>
            </a:r>
            <a:endParaRPr lang="en-US" sz="1500" dirty="0"/>
          </a:p>
        </p:txBody>
      </p:sp>
      <p:sp>
        <p:nvSpPr>
          <p:cNvPr id="128" name="Text 125"/>
          <p:cNvSpPr txBox="1"/>
          <p:nvPr/>
        </p:nvSpPr>
        <p:spPr>
          <a:xfrm>
            <a:off x="7726680" y="1828800"/>
            <a:ext cx="3840480" cy="3657600"/>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In A: thread 2, register 1</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x = [r, t₀, t₁] = [1, 0, 1]</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y = (B⁻¹A) x = col(r) ⊕ col(t₁)</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   = t₀′ ⊕ r′ = [1, 1, 0]</a:t>
            </a:r>
            <a:endParaRPr lang="en-US" sz="1400" dirty="0"/>
          </a:p>
          <a:p>
            <a:pPr indent="0" marL="0">
              <a:buNone/>
            </a:pPr>
            <a:r>
              <a:rPr lang="en-US" sz="1400" b="1" dirty="0">
                <a:solidFill>
                  <a:srgbClr val="1E2A32"/>
                </a:solidFill>
                <a:latin typeface="Calibri" pitchFamily="34" charset="0"/>
                <a:ea typeface="Calibri" pitchFamily="34" charset="-122"/>
                <a:cs typeface="Calibri" pitchFamily="34" charset="-120"/>
              </a:rPr>
              <a:t>→ destination thread 1, register 1</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B: thread 1 holds [1, 5] ✓</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Reg column → a thread bit: data crosses threads.  No warp bits: stays inside the warp → shuffles.</a:t>
            </a:r>
            <a:endParaRPr lang="en-US" sz="1400" dirty="0"/>
          </a:p>
        </p:txBody>
      </p:sp>
      <p:sp>
        <p:nvSpPr>
          <p:cNvPr id="129" name="tag"/>
          <p:cNvSpPr txBox="1"/>
          <p:nvPr/>
        </p:nvSpPr>
        <p:spPr>
          <a:xfrm>
            <a:off x="502920" y="5760720"/>
            <a:ext cx="169164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Matrices from Figure 4</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CHOOSING AMONG VALID CONVERSIONS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Two criteria: keep warps put, read duplicates from one place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criteria 1–2, p. 140; Hamming weight [1]</a:t>
            </a:r>
            <a:endParaRPr lang="en-US" sz="1000" dirty="0"/>
          </a:p>
        </p:txBody>
      </p:sp>
      <p:sp>
        <p:nvSpPr>
          <p:cNvPr id="6" name="Text 3"/>
          <p:cNvSpPr txBox="1"/>
          <p:nvPr/>
        </p:nvSpPr>
        <p:spPr>
          <a:xfrm>
            <a:off x="502920" y="1234440"/>
            <a:ext cx="5486400" cy="868680"/>
          </a:xfrm>
          <a:prstGeom prst="rect">
            <a:avLst/>
          </a:prstGeom>
          <a:noFill/>
          <a:ln/>
        </p:spPr>
        <p:txBody>
          <a:bodyPr wrap="square" lIns="0" tIns="0" rIns="0" bIns="0" rtlCol="0" anchor="t"/>
          <a:lstStyle/>
          <a:p>
            <a:pPr indent="0" marL="0">
              <a:buNone/>
            </a:pPr>
            <a:r>
              <a:rPr lang="en-US" sz="1500" b="1" dirty="0">
                <a:solidFill>
                  <a:srgbClr val="1E2A32"/>
                </a:solidFill>
                <a:latin typeface="Calibri" pitchFamily="34" charset="0"/>
                <a:ea typeface="Calibri" pitchFamily="34" charset="-122"/>
                <a:cs typeface="Calibri" pitchFamily="34" charset="-120"/>
              </a:rPr>
              <a:t>① Minimize inter-thread / inter-warp movement:</a:t>
            </a:r>
            <a:r>
              <a:rPr lang="en-US" sz="1500" dirty="0">
                <a:solidFill>
                  <a:srgbClr val="1E2A32"/>
                </a:solidFill>
                <a:latin typeface="Calibri" pitchFamily="34" charset="0"/>
                <a:ea typeface="Calibri" pitchFamily="34" charset="-122"/>
                <a:cs typeface="Calibri" pitchFamily="34" charset="-120"/>
              </a:rPr>
              <a:t> if Aᵢ = Bᵢ, make (B⁻¹∘A)ᵢ the identity, i ∈ {Reg, Thr, Wrp}.</a:t>
            </a:r>
            <a:endParaRPr lang="en-US" sz="1500" dirty="0"/>
          </a:p>
        </p:txBody>
      </p:sp>
      <p:sp>
        <p:nvSpPr>
          <p:cNvPr id="7" name="mcell"/>
          <p:cNvSpPr txBox="1"/>
          <p:nvPr/>
        </p:nvSpPr>
        <p:spPr>
          <a:xfrm>
            <a:off x="1463040" y="269748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 name="mcell"/>
          <p:cNvSpPr txBox="1"/>
          <p:nvPr/>
        </p:nvSpPr>
        <p:spPr>
          <a:xfrm>
            <a:off x="1865376" y="269748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9" name="mcell"/>
          <p:cNvSpPr txBox="1"/>
          <p:nvPr/>
        </p:nvSpPr>
        <p:spPr>
          <a:xfrm>
            <a:off x="2267712" y="2697480"/>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0" name="mcell"/>
          <p:cNvSpPr txBox="1"/>
          <p:nvPr/>
        </p:nvSpPr>
        <p:spPr>
          <a:xfrm>
            <a:off x="2670048" y="2697480"/>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11" name="mcell"/>
          <p:cNvSpPr txBox="1"/>
          <p:nvPr/>
        </p:nvSpPr>
        <p:spPr>
          <a:xfrm>
            <a:off x="1463040" y="3099816"/>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2" name="mcell"/>
          <p:cNvSpPr txBox="1"/>
          <p:nvPr/>
        </p:nvSpPr>
        <p:spPr>
          <a:xfrm>
            <a:off x="1865376" y="309981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3" name="mcell"/>
          <p:cNvSpPr txBox="1"/>
          <p:nvPr/>
        </p:nvSpPr>
        <p:spPr>
          <a:xfrm>
            <a:off x="2267712" y="309981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4" name="mcell"/>
          <p:cNvSpPr txBox="1"/>
          <p:nvPr/>
        </p:nvSpPr>
        <p:spPr>
          <a:xfrm>
            <a:off x="2670048" y="3099816"/>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15" name="mcell"/>
          <p:cNvSpPr txBox="1"/>
          <p:nvPr/>
        </p:nvSpPr>
        <p:spPr>
          <a:xfrm>
            <a:off x="1463040" y="350215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6" name="mcell"/>
          <p:cNvSpPr txBox="1"/>
          <p:nvPr/>
        </p:nvSpPr>
        <p:spPr>
          <a:xfrm>
            <a:off x="1865376" y="3502152"/>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7" name="mcell"/>
          <p:cNvSpPr txBox="1"/>
          <p:nvPr/>
        </p:nvSpPr>
        <p:spPr>
          <a:xfrm>
            <a:off x="2267712" y="350215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8" name="mcell"/>
          <p:cNvSpPr txBox="1"/>
          <p:nvPr/>
        </p:nvSpPr>
        <p:spPr>
          <a:xfrm>
            <a:off x="2670048" y="3502152"/>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19" name="mcell"/>
          <p:cNvSpPr txBox="1"/>
          <p:nvPr/>
        </p:nvSpPr>
        <p:spPr>
          <a:xfrm>
            <a:off x="1463040" y="3904488"/>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20" name="mcell"/>
          <p:cNvSpPr txBox="1"/>
          <p:nvPr/>
        </p:nvSpPr>
        <p:spPr>
          <a:xfrm>
            <a:off x="1865376" y="3904488"/>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21" name="mcell"/>
          <p:cNvSpPr txBox="1"/>
          <p:nvPr/>
        </p:nvSpPr>
        <p:spPr>
          <a:xfrm>
            <a:off x="2267712" y="3904488"/>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22" name="mcell"/>
          <p:cNvSpPr txBox="1"/>
          <p:nvPr/>
        </p:nvSpPr>
        <p:spPr>
          <a:xfrm>
            <a:off x="2670048" y="3904488"/>
            <a:ext cx="402336" cy="402336"/>
          </a:xfrm>
          <a:prstGeom prst="rect">
            <a:avLst/>
          </a:prstGeom>
          <a:solidFill>
            <a:srgbClr val="E3F2E4"/>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3" name="msep"/>
          <p:cNvSpPr/>
          <p:nvPr/>
        </p:nvSpPr>
        <p:spPr>
          <a:xfrm>
            <a:off x="1865376" y="2715768"/>
            <a:ext cx="0" cy="1572768"/>
          </a:xfrm>
          <a:prstGeom prst="line">
            <a:avLst/>
          </a:prstGeom>
          <a:noFill/>
          <a:ln w="9525">
            <a:solidFill>
              <a:srgbClr val="5B6770"/>
            </a:solidFill>
            <a:prstDash val="dash"/>
          </a:ln>
        </p:spPr>
      </p:sp>
      <p:sp>
        <p:nvSpPr>
          <p:cNvPr id="24" name="msep"/>
          <p:cNvSpPr/>
          <p:nvPr/>
        </p:nvSpPr>
        <p:spPr>
          <a:xfrm>
            <a:off x="2670048" y="2715768"/>
            <a:ext cx="0" cy="1572768"/>
          </a:xfrm>
          <a:prstGeom prst="line">
            <a:avLst/>
          </a:prstGeom>
          <a:noFill/>
          <a:ln w="9525">
            <a:solidFill>
              <a:srgbClr val="5B6770"/>
            </a:solidFill>
            <a:prstDash val="dash"/>
          </a:ln>
        </p:spPr>
      </p:sp>
      <p:sp>
        <p:nvSpPr>
          <p:cNvPr id="25" name="msep"/>
          <p:cNvSpPr/>
          <p:nvPr/>
        </p:nvSpPr>
        <p:spPr>
          <a:xfrm>
            <a:off x="1481328" y="3099816"/>
            <a:ext cx="1572768" cy="0"/>
          </a:xfrm>
          <a:prstGeom prst="line">
            <a:avLst/>
          </a:prstGeom>
          <a:noFill/>
          <a:ln w="9525">
            <a:solidFill>
              <a:srgbClr val="5B6770"/>
            </a:solidFill>
            <a:prstDash val="dash"/>
          </a:ln>
        </p:spPr>
      </p:sp>
      <p:sp>
        <p:nvSpPr>
          <p:cNvPr id="26" name="msep"/>
          <p:cNvSpPr/>
          <p:nvPr/>
        </p:nvSpPr>
        <p:spPr>
          <a:xfrm>
            <a:off x="1481328" y="3904488"/>
            <a:ext cx="1572768" cy="0"/>
          </a:xfrm>
          <a:prstGeom prst="line">
            <a:avLst/>
          </a:prstGeom>
          <a:noFill/>
          <a:ln w="9525">
            <a:solidFill>
              <a:srgbClr val="5B6770"/>
            </a:solidFill>
            <a:prstDash val="dash"/>
          </a:ln>
        </p:spPr>
      </p:sp>
      <p:sp>
        <p:nvSpPr>
          <p:cNvPr id="27" name="mbr"/>
          <p:cNvSpPr/>
          <p:nvPr/>
        </p:nvSpPr>
        <p:spPr>
          <a:xfrm>
            <a:off x="1435608" y="2670048"/>
            <a:ext cx="0" cy="1664208"/>
          </a:xfrm>
          <a:prstGeom prst="line">
            <a:avLst/>
          </a:prstGeom>
          <a:noFill/>
          <a:ln w="15875">
            <a:solidFill>
              <a:srgbClr val="1E2A32"/>
            </a:solidFill>
            <a:prstDash val="solid"/>
          </a:ln>
        </p:spPr>
      </p:sp>
      <p:sp>
        <p:nvSpPr>
          <p:cNvPr id="28" name="mbr"/>
          <p:cNvSpPr/>
          <p:nvPr/>
        </p:nvSpPr>
        <p:spPr>
          <a:xfrm>
            <a:off x="1435608" y="2670048"/>
            <a:ext cx="73152" cy="0"/>
          </a:xfrm>
          <a:prstGeom prst="line">
            <a:avLst/>
          </a:prstGeom>
          <a:noFill/>
          <a:ln w="15875">
            <a:solidFill>
              <a:srgbClr val="1E2A32"/>
            </a:solidFill>
            <a:prstDash val="solid"/>
          </a:ln>
        </p:spPr>
      </p:sp>
      <p:sp>
        <p:nvSpPr>
          <p:cNvPr id="29" name="mbr"/>
          <p:cNvSpPr/>
          <p:nvPr/>
        </p:nvSpPr>
        <p:spPr>
          <a:xfrm>
            <a:off x="1435608" y="4334256"/>
            <a:ext cx="73152" cy="0"/>
          </a:xfrm>
          <a:prstGeom prst="line">
            <a:avLst/>
          </a:prstGeom>
          <a:noFill/>
          <a:ln w="15875">
            <a:solidFill>
              <a:srgbClr val="1E2A32"/>
            </a:solidFill>
            <a:prstDash val="solid"/>
          </a:ln>
        </p:spPr>
      </p:sp>
      <p:sp>
        <p:nvSpPr>
          <p:cNvPr id="30" name="mbr"/>
          <p:cNvSpPr/>
          <p:nvPr/>
        </p:nvSpPr>
        <p:spPr>
          <a:xfrm>
            <a:off x="3099816" y="2670048"/>
            <a:ext cx="0" cy="1664208"/>
          </a:xfrm>
          <a:prstGeom prst="line">
            <a:avLst/>
          </a:prstGeom>
          <a:noFill/>
          <a:ln w="15875">
            <a:solidFill>
              <a:srgbClr val="1E2A32"/>
            </a:solidFill>
            <a:prstDash val="solid"/>
          </a:ln>
        </p:spPr>
      </p:sp>
      <p:sp>
        <p:nvSpPr>
          <p:cNvPr id="31" name="mbr"/>
          <p:cNvSpPr/>
          <p:nvPr/>
        </p:nvSpPr>
        <p:spPr>
          <a:xfrm>
            <a:off x="3026664" y="2670048"/>
            <a:ext cx="73152" cy="0"/>
          </a:xfrm>
          <a:prstGeom prst="line">
            <a:avLst/>
          </a:prstGeom>
          <a:noFill/>
          <a:ln w="15875">
            <a:solidFill>
              <a:srgbClr val="1E2A32"/>
            </a:solidFill>
            <a:prstDash val="solid"/>
          </a:ln>
        </p:spPr>
      </p:sp>
      <p:sp>
        <p:nvSpPr>
          <p:cNvPr id="32" name="mbr"/>
          <p:cNvSpPr/>
          <p:nvPr/>
        </p:nvSpPr>
        <p:spPr>
          <a:xfrm>
            <a:off x="3026664" y="4334256"/>
            <a:ext cx="73152" cy="0"/>
          </a:xfrm>
          <a:prstGeom prst="line">
            <a:avLst/>
          </a:prstGeom>
          <a:noFill/>
          <a:ln w="15875">
            <a:solidFill>
              <a:srgbClr val="1E2A32"/>
            </a:solidFill>
            <a:prstDash val="solid"/>
          </a:ln>
        </p:spPr>
      </p:sp>
      <p:sp>
        <p:nvSpPr>
          <p:cNvPr id="33" name="mlab"/>
          <p:cNvSpPr txBox="1"/>
          <p:nvPr/>
        </p:nvSpPr>
        <p:spPr>
          <a:xfrm>
            <a:off x="1417320" y="245973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a:t>
            </a:r>
            <a:endParaRPr lang="en-US" sz="1300" dirty="0"/>
          </a:p>
        </p:txBody>
      </p:sp>
      <p:sp>
        <p:nvSpPr>
          <p:cNvPr id="34" name="mlab"/>
          <p:cNvSpPr txBox="1"/>
          <p:nvPr/>
        </p:nvSpPr>
        <p:spPr>
          <a:xfrm>
            <a:off x="1819656" y="245973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35" name="mlab"/>
          <p:cNvSpPr txBox="1"/>
          <p:nvPr/>
        </p:nvSpPr>
        <p:spPr>
          <a:xfrm>
            <a:off x="2221992" y="245973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36" name="mlab"/>
          <p:cNvSpPr txBox="1"/>
          <p:nvPr/>
        </p:nvSpPr>
        <p:spPr>
          <a:xfrm>
            <a:off x="2624328" y="245973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w</a:t>
            </a:r>
            <a:endParaRPr lang="en-US" sz="1300" dirty="0"/>
          </a:p>
        </p:txBody>
      </p:sp>
      <p:sp>
        <p:nvSpPr>
          <p:cNvPr id="37" name="mgrp"/>
          <p:cNvSpPr txBox="1"/>
          <p:nvPr/>
        </p:nvSpPr>
        <p:spPr>
          <a:xfrm>
            <a:off x="1463040" y="2221992"/>
            <a:ext cx="402336"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Reg</a:t>
            </a:r>
            <a:endParaRPr lang="en-US" sz="1300" dirty="0"/>
          </a:p>
        </p:txBody>
      </p:sp>
      <p:sp>
        <p:nvSpPr>
          <p:cNvPr id="38" name="mgrp"/>
          <p:cNvSpPr txBox="1"/>
          <p:nvPr/>
        </p:nvSpPr>
        <p:spPr>
          <a:xfrm>
            <a:off x="1865376" y="2221992"/>
            <a:ext cx="804672"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Thr</a:t>
            </a:r>
            <a:endParaRPr lang="en-US" sz="1300" dirty="0"/>
          </a:p>
        </p:txBody>
      </p:sp>
      <p:sp>
        <p:nvSpPr>
          <p:cNvPr id="39" name="mgrp"/>
          <p:cNvSpPr txBox="1"/>
          <p:nvPr/>
        </p:nvSpPr>
        <p:spPr>
          <a:xfrm>
            <a:off x="2670048" y="2221992"/>
            <a:ext cx="402336"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Wrp</a:t>
            </a:r>
            <a:endParaRPr lang="en-US" sz="1300" dirty="0"/>
          </a:p>
        </p:txBody>
      </p:sp>
      <p:sp>
        <p:nvSpPr>
          <p:cNvPr id="40" name="mlab"/>
          <p:cNvSpPr txBox="1"/>
          <p:nvPr/>
        </p:nvSpPr>
        <p:spPr>
          <a:xfrm>
            <a:off x="1060704" y="2697480"/>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r′</a:t>
            </a:r>
            <a:endParaRPr lang="en-US" sz="1300" dirty="0"/>
          </a:p>
        </p:txBody>
      </p:sp>
      <p:sp>
        <p:nvSpPr>
          <p:cNvPr id="41" name="mlab"/>
          <p:cNvSpPr txBox="1"/>
          <p:nvPr/>
        </p:nvSpPr>
        <p:spPr>
          <a:xfrm>
            <a:off x="1060704" y="3099816"/>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42" name="mlab"/>
          <p:cNvSpPr txBox="1"/>
          <p:nvPr/>
        </p:nvSpPr>
        <p:spPr>
          <a:xfrm>
            <a:off x="1060704" y="3502152"/>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43" name="mlab"/>
          <p:cNvSpPr txBox="1"/>
          <p:nvPr/>
        </p:nvSpPr>
        <p:spPr>
          <a:xfrm>
            <a:off x="1060704" y="3904488"/>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w′</a:t>
            </a:r>
            <a:endParaRPr lang="en-US" sz="1300" dirty="0"/>
          </a:p>
        </p:txBody>
      </p:sp>
      <p:sp>
        <p:nvSpPr>
          <p:cNvPr id="44" name="mname"/>
          <p:cNvSpPr txBox="1"/>
          <p:nvPr/>
        </p:nvSpPr>
        <p:spPr>
          <a:xfrm>
            <a:off x="1188720" y="4361688"/>
            <a:ext cx="215798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B⁻¹A with warp bit w → e₃ in both</a:t>
            </a:r>
            <a:endParaRPr lang="en-US" sz="1300" dirty="0"/>
          </a:p>
        </p:txBody>
      </p:sp>
      <p:sp>
        <p:nvSpPr>
          <p:cNvPr id="45" name="callout"/>
          <p:cNvSpPr/>
          <p:nvPr/>
        </p:nvSpPr>
        <p:spPr>
          <a:xfrm>
            <a:off x="3840480" y="3108960"/>
            <a:ext cx="2148840" cy="1188720"/>
          </a:xfrm>
          <a:prstGeom prst="roundRect">
            <a:avLst>
              <a:gd name="adj" fmla="val 6154"/>
            </a:avLst>
          </a:prstGeom>
          <a:solidFill>
            <a:srgbClr val="E3F2E4"/>
          </a:solidFill>
          <a:ln/>
        </p:spPr>
      </p:sp>
      <p:sp>
        <p:nvSpPr>
          <p:cNvPr id="46" name="callout-text"/>
          <p:cNvSpPr txBox="1"/>
          <p:nvPr/>
        </p:nvSpPr>
        <p:spPr>
          <a:xfrm>
            <a:off x="3977640" y="3163824"/>
            <a:ext cx="1874520" cy="1078992"/>
          </a:xfrm>
          <a:prstGeom prst="rect">
            <a:avLst/>
          </a:prstGeom>
          <a:noFill/>
          <a:ln/>
        </p:spPr>
        <p:txBody>
          <a:bodyPr wrap="square" lIns="0" tIns="0" rIns="0" bIns="0" rtlCol="0" anchor="ctr"/>
          <a:lstStyle/>
          <a:p>
            <a:pPr algn="l" indent="0" marL="0">
              <a:buNone/>
            </a:pPr>
            <a:r>
              <a:rPr lang="en-US" sz="1400" dirty="0">
                <a:solidFill>
                  <a:srgbClr val="2E7D32"/>
                </a:solidFill>
                <a:latin typeface="Calibri" pitchFamily="34" charset="0"/>
                <a:ea typeface="Calibri" pitchFamily="34" charset="-122"/>
                <a:cs typeface="Calibri" pitchFamily="34" charset="-120"/>
              </a:rPr>
              <a:t>Warp block = identity → </a:t>
            </a:r>
            <a:r>
              <a:rPr lang="en-US" sz="1400" b="1" dirty="0">
                <a:solidFill>
                  <a:srgbClr val="2E7D32"/>
                </a:solidFill>
                <a:latin typeface="Calibri" pitchFamily="34" charset="0"/>
                <a:ea typeface="Calibri" pitchFamily="34" charset="-122"/>
                <a:cs typeface="Calibri" pitchFamily="34" charset="-120"/>
              </a:rPr>
              <a:t>no element changes warp</a:t>
            </a:r>
            <a:r>
              <a:rPr lang="en-US" sz="1400" dirty="0">
                <a:solidFill>
                  <a:srgbClr val="2E7D32"/>
                </a:solidFill>
                <a:latin typeface="Calibri" pitchFamily="34" charset="0"/>
                <a:ea typeface="Calibri" pitchFamily="34" charset="-122"/>
                <a:cs typeface="Calibri" pitchFamily="34" charset="-120"/>
              </a:rPr>
              <a:t>.</a:t>
            </a:r>
            <a:endParaRPr lang="en-US" sz="1400" dirty="0"/>
          </a:p>
        </p:txBody>
      </p:sp>
      <p:sp>
        <p:nvSpPr>
          <p:cNvPr id="47" name="Text 44"/>
          <p:cNvSpPr txBox="1"/>
          <p:nvPr/>
        </p:nvSpPr>
        <p:spPr>
          <a:xfrm>
            <a:off x="6400800" y="1234440"/>
            <a:ext cx="5303520" cy="868680"/>
          </a:xfrm>
          <a:prstGeom prst="rect">
            <a:avLst/>
          </a:prstGeom>
          <a:noFill/>
          <a:ln/>
        </p:spPr>
        <p:txBody>
          <a:bodyPr wrap="square" lIns="0" tIns="0" rIns="0" bIns="0" rtlCol="0" anchor="t"/>
          <a:lstStyle/>
          <a:p>
            <a:pPr indent="0" marL="0">
              <a:buNone/>
            </a:pPr>
            <a:r>
              <a:rPr lang="en-US" sz="1500" b="1" dirty="0">
                <a:solidFill>
                  <a:srgbClr val="1E2A32"/>
                </a:solidFill>
                <a:latin typeface="Calibri" pitchFamily="34" charset="0"/>
                <a:ea typeface="Calibri" pitchFamily="34" charset="-122"/>
                <a:cs typeface="Calibri" pitchFamily="34" charset="-120"/>
              </a:rPr>
              <a:t>② Promote broadcasting:</a:t>
            </a:r>
            <a:r>
              <a:rPr lang="en-US" sz="1500" dirty="0">
                <a:solidFill>
                  <a:srgbClr val="1E2A32"/>
                </a:solidFill>
                <a:latin typeface="Calibri" pitchFamily="34" charset="0"/>
                <a:ea typeface="Calibri" pitchFamily="34" charset="-122"/>
                <a:cs typeface="Calibri" pitchFamily="34" charset="-120"/>
              </a:rPr>
              <a:t> solve </a:t>
            </a:r>
            <a:r>
              <a:rPr lang="en-US" sz="1500" b="1" dirty="0">
                <a:solidFill>
                  <a:srgbClr val="1E2A32"/>
                </a:solidFill>
                <a:latin typeface="Calibri" pitchFamily="34" charset="0"/>
                <a:ea typeface="Calibri" pitchFamily="34" charset="-122"/>
                <a:cs typeface="Calibri" pitchFamily="34" charset="-120"/>
              </a:rPr>
              <a:t>B X = A</a:t>
            </a:r>
            <a:r>
              <a:rPr lang="en-US" sz="1500" dirty="0">
                <a:solidFill>
                  <a:srgbClr val="1E2A32"/>
                </a:solidFill>
                <a:latin typeface="Calibri" pitchFamily="34" charset="0"/>
                <a:ea typeface="Calibri" pitchFamily="34" charset="-122"/>
                <a:cs typeface="Calibri" pitchFamily="34" charset="-120"/>
              </a:rPr>
              <a:t> with slack variables = 0 → minimal Hamming weight.</a:t>
            </a:r>
            <a:endParaRPr lang="en-US" sz="1500" dirty="0"/>
          </a:p>
        </p:txBody>
      </p:sp>
      <p:sp>
        <p:nvSpPr>
          <p:cNvPr id="48" name="mcol"/>
          <p:cNvSpPr/>
          <p:nvPr/>
        </p:nvSpPr>
        <p:spPr>
          <a:xfrm>
            <a:off x="7360920" y="2697480"/>
            <a:ext cx="365760" cy="1097280"/>
          </a:xfrm>
          <a:prstGeom prst="rect">
            <a:avLst/>
          </a:prstGeom>
          <a:solidFill>
            <a:srgbClr val="FBE3E1"/>
          </a:solidFill>
          <a:ln/>
        </p:spPr>
      </p:sp>
      <p:sp>
        <p:nvSpPr>
          <p:cNvPr id="49" name="mcell"/>
          <p:cNvSpPr txBox="1"/>
          <p:nvPr/>
        </p:nvSpPr>
        <p:spPr>
          <a:xfrm>
            <a:off x="6995160" y="26974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7360920" y="26974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1" name="mcell"/>
          <p:cNvSpPr txBox="1"/>
          <p:nvPr/>
        </p:nvSpPr>
        <p:spPr>
          <a:xfrm>
            <a:off x="7726680" y="269748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2" name="mcell"/>
          <p:cNvSpPr txBox="1"/>
          <p:nvPr/>
        </p:nvSpPr>
        <p:spPr>
          <a:xfrm>
            <a:off x="8092440" y="269748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3" name="mcell"/>
          <p:cNvSpPr txBox="1"/>
          <p:nvPr/>
        </p:nvSpPr>
        <p:spPr>
          <a:xfrm>
            <a:off x="6995160" y="30632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4" name="mcell"/>
          <p:cNvSpPr txBox="1"/>
          <p:nvPr/>
        </p:nvSpPr>
        <p:spPr>
          <a:xfrm>
            <a:off x="7360920" y="30632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5" name="mcell"/>
          <p:cNvSpPr txBox="1"/>
          <p:nvPr/>
        </p:nvSpPr>
        <p:spPr>
          <a:xfrm>
            <a:off x="7726680" y="306324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6" name="mcell"/>
          <p:cNvSpPr txBox="1"/>
          <p:nvPr/>
        </p:nvSpPr>
        <p:spPr>
          <a:xfrm>
            <a:off x="8092440" y="306324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7" name="mcell"/>
          <p:cNvSpPr txBox="1"/>
          <p:nvPr/>
        </p:nvSpPr>
        <p:spPr>
          <a:xfrm>
            <a:off x="6995160" y="3429000"/>
            <a:ext cx="365760" cy="365760"/>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8" name="mcell"/>
          <p:cNvSpPr txBox="1"/>
          <p:nvPr/>
        </p:nvSpPr>
        <p:spPr>
          <a:xfrm>
            <a:off x="7360920" y="34290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9" name="mcell"/>
          <p:cNvSpPr txBox="1"/>
          <p:nvPr/>
        </p:nvSpPr>
        <p:spPr>
          <a:xfrm>
            <a:off x="7726680" y="34290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0" name="mcell"/>
          <p:cNvSpPr txBox="1"/>
          <p:nvPr/>
        </p:nvSpPr>
        <p:spPr>
          <a:xfrm>
            <a:off x="8092440" y="3429000"/>
            <a:ext cx="365760" cy="365760"/>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61" name="mbr"/>
          <p:cNvSpPr/>
          <p:nvPr/>
        </p:nvSpPr>
        <p:spPr>
          <a:xfrm>
            <a:off x="6967728" y="2670048"/>
            <a:ext cx="0" cy="1152144"/>
          </a:xfrm>
          <a:prstGeom prst="line">
            <a:avLst/>
          </a:prstGeom>
          <a:noFill/>
          <a:ln w="15875">
            <a:solidFill>
              <a:srgbClr val="1E2A32"/>
            </a:solidFill>
            <a:prstDash val="solid"/>
          </a:ln>
        </p:spPr>
      </p:sp>
      <p:sp>
        <p:nvSpPr>
          <p:cNvPr id="62" name="mbr"/>
          <p:cNvSpPr/>
          <p:nvPr/>
        </p:nvSpPr>
        <p:spPr>
          <a:xfrm>
            <a:off x="6967728" y="2670048"/>
            <a:ext cx="73152" cy="0"/>
          </a:xfrm>
          <a:prstGeom prst="line">
            <a:avLst/>
          </a:prstGeom>
          <a:noFill/>
          <a:ln w="15875">
            <a:solidFill>
              <a:srgbClr val="1E2A32"/>
            </a:solidFill>
            <a:prstDash val="solid"/>
          </a:ln>
        </p:spPr>
      </p:sp>
      <p:sp>
        <p:nvSpPr>
          <p:cNvPr id="63" name="mbr"/>
          <p:cNvSpPr/>
          <p:nvPr/>
        </p:nvSpPr>
        <p:spPr>
          <a:xfrm>
            <a:off x="6967728" y="3822192"/>
            <a:ext cx="73152" cy="0"/>
          </a:xfrm>
          <a:prstGeom prst="line">
            <a:avLst/>
          </a:prstGeom>
          <a:noFill/>
          <a:ln w="15875">
            <a:solidFill>
              <a:srgbClr val="1E2A32"/>
            </a:solidFill>
            <a:prstDash val="solid"/>
          </a:ln>
        </p:spPr>
      </p:sp>
      <p:sp>
        <p:nvSpPr>
          <p:cNvPr id="64" name="mbr"/>
          <p:cNvSpPr/>
          <p:nvPr/>
        </p:nvSpPr>
        <p:spPr>
          <a:xfrm>
            <a:off x="8485632" y="2670048"/>
            <a:ext cx="0" cy="1152144"/>
          </a:xfrm>
          <a:prstGeom prst="line">
            <a:avLst/>
          </a:prstGeom>
          <a:noFill/>
          <a:ln w="15875">
            <a:solidFill>
              <a:srgbClr val="1E2A32"/>
            </a:solidFill>
            <a:prstDash val="solid"/>
          </a:ln>
        </p:spPr>
      </p:sp>
      <p:sp>
        <p:nvSpPr>
          <p:cNvPr id="65" name="mbr"/>
          <p:cNvSpPr/>
          <p:nvPr/>
        </p:nvSpPr>
        <p:spPr>
          <a:xfrm>
            <a:off x="8412480" y="2670048"/>
            <a:ext cx="73152" cy="0"/>
          </a:xfrm>
          <a:prstGeom prst="line">
            <a:avLst/>
          </a:prstGeom>
          <a:noFill/>
          <a:ln w="15875">
            <a:solidFill>
              <a:srgbClr val="1E2A32"/>
            </a:solidFill>
            <a:prstDash val="solid"/>
          </a:ln>
        </p:spPr>
      </p:sp>
      <p:sp>
        <p:nvSpPr>
          <p:cNvPr id="66" name="mbr"/>
          <p:cNvSpPr/>
          <p:nvPr/>
        </p:nvSpPr>
        <p:spPr>
          <a:xfrm>
            <a:off x="8412480" y="3822192"/>
            <a:ext cx="73152" cy="0"/>
          </a:xfrm>
          <a:prstGeom prst="line">
            <a:avLst/>
          </a:prstGeom>
          <a:noFill/>
          <a:ln w="15875">
            <a:solidFill>
              <a:srgbClr val="1E2A32"/>
            </a:solidFill>
            <a:prstDash val="solid"/>
          </a:ln>
        </p:spPr>
      </p:sp>
      <p:sp>
        <p:nvSpPr>
          <p:cNvPr id="67" name="mlab"/>
          <p:cNvSpPr txBox="1"/>
          <p:nvPr/>
        </p:nvSpPr>
        <p:spPr>
          <a:xfrm>
            <a:off x="6949440" y="245973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68" name="mlab"/>
          <p:cNvSpPr txBox="1"/>
          <p:nvPr/>
        </p:nvSpPr>
        <p:spPr>
          <a:xfrm>
            <a:off x="7315200" y="245973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69" name="mlab"/>
          <p:cNvSpPr txBox="1"/>
          <p:nvPr/>
        </p:nvSpPr>
        <p:spPr>
          <a:xfrm>
            <a:off x="7680960" y="245973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70" name="mlab"/>
          <p:cNvSpPr txBox="1"/>
          <p:nvPr/>
        </p:nvSpPr>
        <p:spPr>
          <a:xfrm>
            <a:off x="8046720" y="2459736"/>
            <a:ext cx="457200"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71" name="mlab"/>
          <p:cNvSpPr txBox="1"/>
          <p:nvPr/>
        </p:nvSpPr>
        <p:spPr>
          <a:xfrm>
            <a:off x="6592824" y="269748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e₀</a:t>
            </a:r>
            <a:endParaRPr lang="en-US" sz="1200" dirty="0"/>
          </a:p>
        </p:txBody>
      </p:sp>
      <p:sp>
        <p:nvSpPr>
          <p:cNvPr id="72" name="mlab"/>
          <p:cNvSpPr txBox="1"/>
          <p:nvPr/>
        </p:nvSpPr>
        <p:spPr>
          <a:xfrm>
            <a:off x="6592824" y="306324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e₁</a:t>
            </a:r>
            <a:endParaRPr lang="en-US" sz="1200" dirty="0"/>
          </a:p>
        </p:txBody>
      </p:sp>
      <p:sp>
        <p:nvSpPr>
          <p:cNvPr id="73" name="mlab"/>
          <p:cNvSpPr txBox="1"/>
          <p:nvPr/>
        </p:nvSpPr>
        <p:spPr>
          <a:xfrm>
            <a:off x="6592824" y="3429000"/>
            <a:ext cx="347472" cy="365760"/>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e₂</a:t>
            </a:r>
            <a:endParaRPr lang="en-US" sz="1200" dirty="0"/>
          </a:p>
        </p:txBody>
      </p:sp>
      <p:sp>
        <p:nvSpPr>
          <p:cNvPr id="74" name="mname"/>
          <p:cNvSpPr txBox="1"/>
          <p:nvPr/>
        </p:nvSpPr>
        <p:spPr>
          <a:xfrm>
            <a:off x="6720840" y="3849624"/>
            <a:ext cx="201168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 (r₁′ duplicates)</a:t>
            </a:r>
            <a:endParaRPr lang="en-US" sz="1300" dirty="0"/>
          </a:p>
        </p:txBody>
      </p:sp>
      <p:graphicFrame>
        <p:nvGraphicFramePr>
          <p:cNvPr id="44" name="table"/>
          <p:cNvGraphicFramePr>
            <a:graphicFrameLocks noGrp="1"/>
          </p:cNvGraphicFramePr>
          <p:nvPr>
            <p:extLst>
              <p:ext uri="{D42A27DB-BD31-4B8C-83A1-F6EECF244321}">
                <p14:modId xmlns:p14="http://schemas.microsoft.com/office/powerpoint/2010/main" val="1579011935"/>
              </p:ext>
            </p:extLst>
          </p:nvPr>
        </p:nvGraphicFramePr>
        <p:xfrm>
          <a:off x="8778240" y="2514600"/>
          <a:ext cx="2926080" cy="914400"/>
        </p:xfrm>
        <a:graphic>
          <a:graphicData uri="http://schemas.openxmlformats.org/drawingml/2006/table">
            <a:tbl>
              <a:tblPr/>
              <a:tblGrid>
                <a:gridCol w="822960"/>
                <a:gridCol w="1371600"/>
                <a:gridCol w="731520"/>
              </a:tblGrid>
              <a:tr h="329184">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A column</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solutions x</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pick</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 → e₀</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0010 or 0110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0010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E3F2E4"/>
                    </a:solidFill>
                  </a:tcPr>
                </a:tc>
              </a:tr>
              <a:tr h="329184">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t₀ → e₁</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0001 or 0101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E3F2E4"/>
                    </a:solidFill>
                  </a:tcPr>
                </a:tc>
              </a:tr>
              <a:tr h="329184">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t₁ → e₂</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1000 or 1100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E3F2E4"/>
                    </a:solidFill>
                  </a:tcPr>
                </a:tc>
              </a:tr>
            </a:tbl>
          </a:graphicData>
        </a:graphic>
      </p:graphicFrame>
      <p:sp>
        <p:nvSpPr>
          <p:cNvPr id="76" name="mrow"/>
          <p:cNvSpPr/>
          <p:nvPr/>
        </p:nvSpPr>
        <p:spPr>
          <a:xfrm>
            <a:off x="9464040" y="4572000"/>
            <a:ext cx="822960" cy="274320"/>
          </a:xfrm>
          <a:prstGeom prst="rect">
            <a:avLst/>
          </a:prstGeom>
          <a:solidFill>
            <a:srgbClr val="FFF0CC"/>
          </a:solidFill>
          <a:ln/>
        </p:spPr>
      </p:sp>
      <p:sp>
        <p:nvSpPr>
          <p:cNvPr id="77" name="mcell"/>
          <p:cNvSpPr txBox="1"/>
          <p:nvPr/>
        </p:nvSpPr>
        <p:spPr>
          <a:xfrm>
            <a:off x="9464040" y="42976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8" name="mcell"/>
          <p:cNvSpPr txBox="1"/>
          <p:nvPr/>
        </p:nvSpPr>
        <p:spPr>
          <a:xfrm>
            <a:off x="9738360" y="42976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79" name="mcell"/>
          <p:cNvSpPr txBox="1"/>
          <p:nvPr/>
        </p:nvSpPr>
        <p:spPr>
          <a:xfrm>
            <a:off x="10012680" y="429768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80" name="mcell"/>
          <p:cNvSpPr txBox="1"/>
          <p:nvPr/>
        </p:nvSpPr>
        <p:spPr>
          <a:xfrm>
            <a:off x="9464040" y="45720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1" name="mcell"/>
          <p:cNvSpPr txBox="1"/>
          <p:nvPr/>
        </p:nvSpPr>
        <p:spPr>
          <a:xfrm>
            <a:off x="9738360" y="45720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2" name="mcell"/>
          <p:cNvSpPr txBox="1"/>
          <p:nvPr/>
        </p:nvSpPr>
        <p:spPr>
          <a:xfrm>
            <a:off x="10012680" y="45720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3" name="mcell"/>
          <p:cNvSpPr txBox="1"/>
          <p:nvPr/>
        </p:nvSpPr>
        <p:spPr>
          <a:xfrm>
            <a:off x="9464040" y="484632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84" name="mcell"/>
          <p:cNvSpPr txBox="1"/>
          <p:nvPr/>
        </p:nvSpPr>
        <p:spPr>
          <a:xfrm>
            <a:off x="9738360" y="48463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5" name="mcell"/>
          <p:cNvSpPr txBox="1"/>
          <p:nvPr/>
        </p:nvSpPr>
        <p:spPr>
          <a:xfrm>
            <a:off x="10012680" y="48463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6" name="mcell"/>
          <p:cNvSpPr txBox="1"/>
          <p:nvPr/>
        </p:nvSpPr>
        <p:spPr>
          <a:xfrm>
            <a:off x="9464040" y="51206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7" name="mcell"/>
          <p:cNvSpPr txBox="1"/>
          <p:nvPr/>
        </p:nvSpPr>
        <p:spPr>
          <a:xfrm>
            <a:off x="9738360" y="512064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88" name="mcell"/>
          <p:cNvSpPr txBox="1"/>
          <p:nvPr/>
        </p:nvSpPr>
        <p:spPr>
          <a:xfrm>
            <a:off x="10012680" y="51206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9" name="mbr"/>
          <p:cNvSpPr/>
          <p:nvPr/>
        </p:nvSpPr>
        <p:spPr>
          <a:xfrm>
            <a:off x="9436608" y="4270248"/>
            <a:ext cx="0" cy="1152144"/>
          </a:xfrm>
          <a:prstGeom prst="line">
            <a:avLst/>
          </a:prstGeom>
          <a:noFill/>
          <a:ln w="15875">
            <a:solidFill>
              <a:srgbClr val="1E2A32"/>
            </a:solidFill>
            <a:prstDash val="solid"/>
          </a:ln>
        </p:spPr>
      </p:sp>
      <p:sp>
        <p:nvSpPr>
          <p:cNvPr id="90" name="mbr"/>
          <p:cNvSpPr/>
          <p:nvPr/>
        </p:nvSpPr>
        <p:spPr>
          <a:xfrm>
            <a:off x="9436608" y="4270248"/>
            <a:ext cx="73152" cy="0"/>
          </a:xfrm>
          <a:prstGeom prst="line">
            <a:avLst/>
          </a:prstGeom>
          <a:noFill/>
          <a:ln w="15875">
            <a:solidFill>
              <a:srgbClr val="1E2A32"/>
            </a:solidFill>
            <a:prstDash val="solid"/>
          </a:ln>
        </p:spPr>
      </p:sp>
      <p:sp>
        <p:nvSpPr>
          <p:cNvPr id="91" name="mbr"/>
          <p:cNvSpPr/>
          <p:nvPr/>
        </p:nvSpPr>
        <p:spPr>
          <a:xfrm>
            <a:off x="9436608" y="5422392"/>
            <a:ext cx="73152" cy="0"/>
          </a:xfrm>
          <a:prstGeom prst="line">
            <a:avLst/>
          </a:prstGeom>
          <a:noFill/>
          <a:ln w="15875">
            <a:solidFill>
              <a:srgbClr val="1E2A32"/>
            </a:solidFill>
            <a:prstDash val="solid"/>
          </a:ln>
        </p:spPr>
      </p:sp>
      <p:sp>
        <p:nvSpPr>
          <p:cNvPr id="92" name="mbr"/>
          <p:cNvSpPr/>
          <p:nvPr/>
        </p:nvSpPr>
        <p:spPr>
          <a:xfrm>
            <a:off x="10314432" y="4270248"/>
            <a:ext cx="0" cy="1152144"/>
          </a:xfrm>
          <a:prstGeom prst="line">
            <a:avLst/>
          </a:prstGeom>
          <a:noFill/>
          <a:ln w="15875">
            <a:solidFill>
              <a:srgbClr val="1E2A32"/>
            </a:solidFill>
            <a:prstDash val="solid"/>
          </a:ln>
        </p:spPr>
      </p:sp>
      <p:sp>
        <p:nvSpPr>
          <p:cNvPr id="93" name="mbr"/>
          <p:cNvSpPr/>
          <p:nvPr/>
        </p:nvSpPr>
        <p:spPr>
          <a:xfrm>
            <a:off x="10241280" y="4270248"/>
            <a:ext cx="73152" cy="0"/>
          </a:xfrm>
          <a:prstGeom prst="line">
            <a:avLst/>
          </a:prstGeom>
          <a:noFill/>
          <a:ln w="15875">
            <a:solidFill>
              <a:srgbClr val="1E2A32"/>
            </a:solidFill>
            <a:prstDash val="solid"/>
          </a:ln>
        </p:spPr>
      </p:sp>
      <p:sp>
        <p:nvSpPr>
          <p:cNvPr id="94" name="mbr"/>
          <p:cNvSpPr/>
          <p:nvPr/>
        </p:nvSpPr>
        <p:spPr>
          <a:xfrm>
            <a:off x="10241280" y="5422392"/>
            <a:ext cx="73152" cy="0"/>
          </a:xfrm>
          <a:prstGeom prst="line">
            <a:avLst/>
          </a:prstGeom>
          <a:noFill/>
          <a:ln w="15875">
            <a:solidFill>
              <a:srgbClr val="1E2A32"/>
            </a:solidFill>
            <a:prstDash val="solid"/>
          </a:ln>
        </p:spPr>
      </p:sp>
      <p:sp>
        <p:nvSpPr>
          <p:cNvPr id="95" name="mlab"/>
          <p:cNvSpPr txBox="1"/>
          <p:nvPr/>
        </p:nvSpPr>
        <p:spPr>
          <a:xfrm>
            <a:off x="9418320" y="40599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r</a:t>
            </a:r>
            <a:endParaRPr lang="en-US" sz="1000" dirty="0"/>
          </a:p>
        </p:txBody>
      </p:sp>
      <p:sp>
        <p:nvSpPr>
          <p:cNvPr id="96" name="mlab"/>
          <p:cNvSpPr txBox="1"/>
          <p:nvPr/>
        </p:nvSpPr>
        <p:spPr>
          <a:xfrm>
            <a:off x="9692640" y="40599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97" name="mlab"/>
          <p:cNvSpPr txBox="1"/>
          <p:nvPr/>
        </p:nvSpPr>
        <p:spPr>
          <a:xfrm>
            <a:off x="9966960" y="4059936"/>
            <a:ext cx="365760" cy="219456"/>
          </a:xfrm>
          <a:prstGeom prst="rect">
            <a:avLst/>
          </a:prstGeom>
          <a:noFill/>
          <a:ln/>
        </p:spPr>
        <p:txBody>
          <a:bodyPr wrap="square" lIns="0" tIns="0" rIns="0" bIns="0" rtlCol="0" anchor="b"/>
          <a:lstStyle/>
          <a:p>
            <a:pPr algn="ct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98" name="mlab"/>
          <p:cNvSpPr txBox="1"/>
          <p:nvPr/>
        </p:nvSpPr>
        <p:spPr>
          <a:xfrm>
            <a:off x="9061704" y="429768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r₀′</a:t>
            </a:r>
            <a:endParaRPr lang="en-US" sz="1000" dirty="0"/>
          </a:p>
        </p:txBody>
      </p:sp>
      <p:sp>
        <p:nvSpPr>
          <p:cNvPr id="99" name="mlab"/>
          <p:cNvSpPr txBox="1"/>
          <p:nvPr/>
        </p:nvSpPr>
        <p:spPr>
          <a:xfrm>
            <a:off x="9061704" y="457200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r₁′</a:t>
            </a:r>
            <a:endParaRPr lang="en-US" sz="1000" dirty="0"/>
          </a:p>
        </p:txBody>
      </p:sp>
      <p:sp>
        <p:nvSpPr>
          <p:cNvPr id="100" name="mlab"/>
          <p:cNvSpPr txBox="1"/>
          <p:nvPr/>
        </p:nvSpPr>
        <p:spPr>
          <a:xfrm>
            <a:off x="9061704" y="484632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t₀′</a:t>
            </a:r>
            <a:endParaRPr lang="en-US" sz="1000" dirty="0"/>
          </a:p>
        </p:txBody>
      </p:sp>
      <p:sp>
        <p:nvSpPr>
          <p:cNvPr id="101" name="mlab"/>
          <p:cNvSpPr txBox="1"/>
          <p:nvPr/>
        </p:nvSpPr>
        <p:spPr>
          <a:xfrm>
            <a:off x="9061704" y="5120640"/>
            <a:ext cx="347472"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t₁′</a:t>
            </a:r>
            <a:endParaRPr lang="en-US" sz="1000" dirty="0"/>
          </a:p>
        </p:txBody>
      </p:sp>
      <p:sp>
        <p:nvSpPr>
          <p:cNvPr id="102" name="mname"/>
          <p:cNvSpPr txBox="1"/>
          <p:nvPr/>
        </p:nvSpPr>
        <p:spPr>
          <a:xfrm>
            <a:off x="9189720" y="5449824"/>
            <a:ext cx="137160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X (row r₁′ = 0)</a:t>
            </a:r>
            <a:endParaRPr lang="en-US" sz="1300" dirty="0"/>
          </a:p>
        </p:txBody>
      </p:sp>
      <p:sp>
        <p:nvSpPr>
          <p:cNvPr id="103" name="Text 99"/>
          <p:cNvSpPr txBox="1"/>
          <p:nvPr/>
        </p:nvSpPr>
        <p:spPr>
          <a:xfrm>
            <a:off x="6400800" y="4160520"/>
            <a:ext cx="265176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bits listed as [r₀′ r₁′ t₀′ t₁′]</a:t>
            </a:r>
            <a:endParaRPr lang="en-US" sz="1200" dirty="0"/>
          </a:p>
        </p:txBody>
      </p:sp>
      <p:sp>
        <p:nvSpPr>
          <p:cNvPr id="104" name="callout"/>
          <p:cNvSpPr/>
          <p:nvPr/>
        </p:nvSpPr>
        <p:spPr>
          <a:xfrm>
            <a:off x="6400800" y="4572000"/>
            <a:ext cx="2651760" cy="960120"/>
          </a:xfrm>
          <a:prstGeom prst="roundRect">
            <a:avLst>
              <a:gd name="adj" fmla="val 7619"/>
            </a:avLst>
          </a:prstGeom>
          <a:solidFill>
            <a:srgbClr val="DDEFF1"/>
          </a:solidFill>
          <a:ln/>
        </p:spPr>
      </p:sp>
      <p:sp>
        <p:nvSpPr>
          <p:cNvPr id="105" name="callout-text"/>
          <p:cNvSpPr txBox="1"/>
          <p:nvPr/>
        </p:nvSpPr>
        <p:spPr>
          <a:xfrm>
            <a:off x="6537960" y="4626864"/>
            <a:ext cx="2377440" cy="850392"/>
          </a:xfrm>
          <a:prstGeom prst="rect">
            <a:avLst/>
          </a:prstGeom>
          <a:noFill/>
          <a:ln/>
        </p:spPr>
        <p:txBody>
          <a:bodyPr wrap="square" lIns="0" tIns="0" rIns="0" bIns="0" rtlCol="0" anchor="ctr"/>
          <a:lstStyle/>
          <a:p>
            <a:pPr algn="l" indent="0" marL="0">
              <a:buNone/>
            </a:pPr>
            <a:r>
              <a:rPr lang="en-US" sz="1300" dirty="0">
                <a:solidFill>
                  <a:srgbClr val="0A4F58"/>
                </a:solidFill>
                <a:latin typeface="Calibri" pitchFamily="34" charset="0"/>
                <a:ea typeface="Calibri" pitchFamily="34" charset="-122"/>
                <a:cs typeface="Calibri" pitchFamily="34" charset="-120"/>
              </a:rPr>
              <a:t>Both copies (r₁′ = 0 / 1) read the </a:t>
            </a:r>
            <a:r>
              <a:rPr lang="en-US" sz="1300" b="1" dirty="0">
                <a:solidFill>
                  <a:srgbClr val="0A4F58"/>
                </a:solidFill>
                <a:latin typeface="Calibri" pitchFamily="34" charset="0"/>
                <a:ea typeface="Calibri" pitchFamily="34" charset="-122"/>
                <a:cs typeface="Calibri" pitchFamily="34" charset="-120"/>
              </a:rPr>
              <a:t>same source unit</a:t>
            </a:r>
            <a:r>
              <a:rPr lang="en-US" sz="1300" dirty="0">
                <a:solidFill>
                  <a:srgbClr val="0A4F58"/>
                </a:solidFill>
                <a:latin typeface="Calibri" pitchFamily="34" charset="0"/>
                <a:ea typeface="Calibri" pitchFamily="34" charset="-122"/>
                <a:cs typeface="Calibri" pitchFamily="34" charset="-120"/>
              </a:rPr>
              <a:t>.</a:t>
            </a:r>
            <a:endParaRPr lang="en-US" sz="1300" dirty="0"/>
          </a:p>
        </p:txBody>
      </p:sp>
      <p:sp>
        <p:nvSpPr>
          <p:cNvPr id="106" name="tag"/>
          <p:cNvSpPr txBox="1"/>
          <p:nvPr/>
        </p:nvSpPr>
        <p:spPr>
          <a:xfrm>
            <a:off x="502920" y="5779008"/>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INTRA-THREAD DATA EXCHANGE</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Thread block of B⁻¹A is identity: just rename registers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“Intra-thread Data Exchange”, p. 140; gl.convert_layout(…, assert_trivial=True) in the Gluon tutorial (upstream)</a:t>
            </a:r>
            <a:endParaRPr lang="en-US" sz="1000" dirty="0"/>
          </a:p>
        </p:txBody>
      </p:sp>
      <p:sp>
        <p:nvSpPr>
          <p:cNvPr id="6" name="mcell"/>
          <p:cNvSpPr txBox="1"/>
          <p:nvPr/>
        </p:nvSpPr>
        <p:spPr>
          <a:xfrm>
            <a:off x="1371600" y="2011680"/>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 name="mcell"/>
          <p:cNvSpPr txBox="1"/>
          <p:nvPr/>
        </p:nvSpPr>
        <p:spPr>
          <a:xfrm>
            <a:off x="1755648"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 name="mcell"/>
          <p:cNvSpPr txBox="1"/>
          <p:nvPr/>
        </p:nvSpPr>
        <p:spPr>
          <a:xfrm>
            <a:off x="2139696"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9" name="mcell"/>
          <p:cNvSpPr txBox="1"/>
          <p:nvPr/>
        </p:nvSpPr>
        <p:spPr>
          <a:xfrm>
            <a:off x="2523744"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 name="mcell"/>
          <p:cNvSpPr txBox="1"/>
          <p:nvPr/>
        </p:nvSpPr>
        <p:spPr>
          <a:xfrm>
            <a:off x="1371600"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cell"/>
          <p:cNvSpPr txBox="1"/>
          <p:nvPr/>
        </p:nvSpPr>
        <p:spPr>
          <a:xfrm>
            <a:off x="1755648" y="2395728"/>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2" name="mcell"/>
          <p:cNvSpPr txBox="1"/>
          <p:nvPr/>
        </p:nvSpPr>
        <p:spPr>
          <a:xfrm>
            <a:off x="2139696"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3" name="mcell"/>
          <p:cNvSpPr txBox="1"/>
          <p:nvPr/>
        </p:nvSpPr>
        <p:spPr>
          <a:xfrm>
            <a:off x="2523744"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4" name="mcell"/>
          <p:cNvSpPr txBox="1"/>
          <p:nvPr/>
        </p:nvSpPr>
        <p:spPr>
          <a:xfrm>
            <a:off x="1371600"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5" name="mcell"/>
          <p:cNvSpPr txBox="1"/>
          <p:nvPr/>
        </p:nvSpPr>
        <p:spPr>
          <a:xfrm>
            <a:off x="1755648"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6" name="mcell"/>
          <p:cNvSpPr txBox="1"/>
          <p:nvPr/>
        </p:nvSpPr>
        <p:spPr>
          <a:xfrm>
            <a:off x="2139696" y="277977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17" name="mcell"/>
          <p:cNvSpPr txBox="1"/>
          <p:nvPr/>
        </p:nvSpPr>
        <p:spPr>
          <a:xfrm>
            <a:off x="2523744"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8" name="mcell"/>
          <p:cNvSpPr txBox="1"/>
          <p:nvPr/>
        </p:nvSpPr>
        <p:spPr>
          <a:xfrm>
            <a:off x="1371600"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9" name="mcell"/>
          <p:cNvSpPr txBox="1"/>
          <p:nvPr/>
        </p:nvSpPr>
        <p:spPr>
          <a:xfrm>
            <a:off x="1755648"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0" name="mcell"/>
          <p:cNvSpPr txBox="1"/>
          <p:nvPr/>
        </p:nvSpPr>
        <p:spPr>
          <a:xfrm>
            <a:off x="2139696"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1" name="mcell"/>
          <p:cNvSpPr txBox="1"/>
          <p:nvPr/>
        </p:nvSpPr>
        <p:spPr>
          <a:xfrm>
            <a:off x="2523744" y="316382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2" name="mbr"/>
          <p:cNvSpPr/>
          <p:nvPr/>
        </p:nvSpPr>
        <p:spPr>
          <a:xfrm>
            <a:off x="1344168" y="1984248"/>
            <a:ext cx="0" cy="1591056"/>
          </a:xfrm>
          <a:prstGeom prst="line">
            <a:avLst/>
          </a:prstGeom>
          <a:noFill/>
          <a:ln w="15875">
            <a:solidFill>
              <a:srgbClr val="1E2A32"/>
            </a:solidFill>
            <a:prstDash val="solid"/>
          </a:ln>
        </p:spPr>
      </p:sp>
      <p:sp>
        <p:nvSpPr>
          <p:cNvPr id="23" name="mbr"/>
          <p:cNvSpPr/>
          <p:nvPr/>
        </p:nvSpPr>
        <p:spPr>
          <a:xfrm>
            <a:off x="1344168" y="1984248"/>
            <a:ext cx="73152" cy="0"/>
          </a:xfrm>
          <a:prstGeom prst="line">
            <a:avLst/>
          </a:prstGeom>
          <a:noFill/>
          <a:ln w="15875">
            <a:solidFill>
              <a:srgbClr val="1E2A32"/>
            </a:solidFill>
            <a:prstDash val="solid"/>
          </a:ln>
        </p:spPr>
      </p:sp>
      <p:sp>
        <p:nvSpPr>
          <p:cNvPr id="24" name="mbr"/>
          <p:cNvSpPr/>
          <p:nvPr/>
        </p:nvSpPr>
        <p:spPr>
          <a:xfrm>
            <a:off x="1344168" y="3575304"/>
            <a:ext cx="73152" cy="0"/>
          </a:xfrm>
          <a:prstGeom prst="line">
            <a:avLst/>
          </a:prstGeom>
          <a:noFill/>
          <a:ln w="15875">
            <a:solidFill>
              <a:srgbClr val="1E2A32"/>
            </a:solidFill>
            <a:prstDash val="solid"/>
          </a:ln>
        </p:spPr>
      </p:sp>
      <p:sp>
        <p:nvSpPr>
          <p:cNvPr id="25" name="mbr"/>
          <p:cNvSpPr/>
          <p:nvPr/>
        </p:nvSpPr>
        <p:spPr>
          <a:xfrm>
            <a:off x="2935224" y="1984248"/>
            <a:ext cx="0" cy="1591056"/>
          </a:xfrm>
          <a:prstGeom prst="line">
            <a:avLst/>
          </a:prstGeom>
          <a:noFill/>
          <a:ln w="15875">
            <a:solidFill>
              <a:srgbClr val="1E2A32"/>
            </a:solidFill>
            <a:prstDash val="solid"/>
          </a:ln>
        </p:spPr>
      </p:sp>
      <p:sp>
        <p:nvSpPr>
          <p:cNvPr id="26" name="mbr"/>
          <p:cNvSpPr/>
          <p:nvPr/>
        </p:nvSpPr>
        <p:spPr>
          <a:xfrm>
            <a:off x="2862072" y="1984248"/>
            <a:ext cx="73152" cy="0"/>
          </a:xfrm>
          <a:prstGeom prst="line">
            <a:avLst/>
          </a:prstGeom>
          <a:noFill/>
          <a:ln w="15875">
            <a:solidFill>
              <a:srgbClr val="1E2A32"/>
            </a:solidFill>
            <a:prstDash val="solid"/>
          </a:ln>
        </p:spPr>
      </p:sp>
      <p:sp>
        <p:nvSpPr>
          <p:cNvPr id="27" name="mbr"/>
          <p:cNvSpPr/>
          <p:nvPr/>
        </p:nvSpPr>
        <p:spPr>
          <a:xfrm>
            <a:off x="2862072" y="3575304"/>
            <a:ext cx="73152" cy="0"/>
          </a:xfrm>
          <a:prstGeom prst="line">
            <a:avLst/>
          </a:prstGeom>
          <a:noFill/>
          <a:ln w="15875">
            <a:solidFill>
              <a:srgbClr val="1E2A32"/>
            </a:solidFill>
            <a:prstDash val="solid"/>
          </a:ln>
        </p:spPr>
      </p:sp>
      <p:sp>
        <p:nvSpPr>
          <p:cNvPr id="28" name="mlab"/>
          <p:cNvSpPr txBox="1"/>
          <p:nvPr/>
        </p:nvSpPr>
        <p:spPr>
          <a:xfrm>
            <a:off x="1325880"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29" name="mlab"/>
          <p:cNvSpPr txBox="1"/>
          <p:nvPr/>
        </p:nvSpPr>
        <p:spPr>
          <a:xfrm>
            <a:off x="1709928"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30" name="mlab"/>
          <p:cNvSpPr txBox="1"/>
          <p:nvPr/>
        </p:nvSpPr>
        <p:spPr>
          <a:xfrm>
            <a:off x="2093976"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31" name="mlab"/>
          <p:cNvSpPr txBox="1"/>
          <p:nvPr/>
        </p:nvSpPr>
        <p:spPr>
          <a:xfrm>
            <a:off x="2478024"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32" name="mlab"/>
          <p:cNvSpPr txBox="1"/>
          <p:nvPr/>
        </p:nvSpPr>
        <p:spPr>
          <a:xfrm>
            <a:off x="969264" y="20116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e₀</a:t>
            </a:r>
            <a:endParaRPr lang="en-US" sz="1200" dirty="0"/>
          </a:p>
        </p:txBody>
      </p:sp>
      <p:sp>
        <p:nvSpPr>
          <p:cNvPr id="33" name="mlab"/>
          <p:cNvSpPr txBox="1"/>
          <p:nvPr/>
        </p:nvSpPr>
        <p:spPr>
          <a:xfrm>
            <a:off x="969264" y="23957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e₁</a:t>
            </a:r>
            <a:endParaRPr lang="en-US" sz="1200" dirty="0"/>
          </a:p>
        </p:txBody>
      </p:sp>
      <p:sp>
        <p:nvSpPr>
          <p:cNvPr id="34" name="mlab"/>
          <p:cNvSpPr txBox="1"/>
          <p:nvPr/>
        </p:nvSpPr>
        <p:spPr>
          <a:xfrm>
            <a:off x="969264" y="27797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e₂</a:t>
            </a:r>
            <a:endParaRPr lang="en-US" sz="1200" dirty="0"/>
          </a:p>
        </p:txBody>
      </p:sp>
      <p:sp>
        <p:nvSpPr>
          <p:cNvPr id="35" name="mlab"/>
          <p:cNvSpPr txBox="1"/>
          <p:nvPr/>
        </p:nvSpPr>
        <p:spPr>
          <a:xfrm>
            <a:off x="969264" y="31638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e₃</a:t>
            </a:r>
            <a:endParaRPr lang="en-US" sz="1200" dirty="0"/>
          </a:p>
        </p:txBody>
      </p:sp>
      <p:sp>
        <p:nvSpPr>
          <p:cNvPr id="36" name="mname"/>
          <p:cNvSpPr txBox="1"/>
          <p:nvPr/>
        </p:nvSpPr>
        <p:spPr>
          <a:xfrm>
            <a:off x="1097280" y="360273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a:t>
            </a:r>
            <a:endParaRPr lang="en-US" sz="1300" dirty="0"/>
          </a:p>
        </p:txBody>
      </p:sp>
      <p:sp>
        <p:nvSpPr>
          <p:cNvPr id="37" name="mcell"/>
          <p:cNvSpPr txBox="1"/>
          <p:nvPr/>
        </p:nvSpPr>
        <p:spPr>
          <a:xfrm>
            <a:off x="4023360" y="2011680"/>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38" name="mcell"/>
          <p:cNvSpPr txBox="1"/>
          <p:nvPr/>
        </p:nvSpPr>
        <p:spPr>
          <a:xfrm>
            <a:off x="4407408" y="2011680"/>
            <a:ext cx="384048" cy="384048"/>
          </a:xfrm>
          <a:prstGeom prst="rect">
            <a:avLst/>
          </a:prstGeom>
          <a:solidFill>
            <a:srgbClr val="F3F6F7"/>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9" name="mcell"/>
          <p:cNvSpPr txBox="1"/>
          <p:nvPr/>
        </p:nvSpPr>
        <p:spPr>
          <a:xfrm>
            <a:off x="4791456"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0" name="mcell"/>
          <p:cNvSpPr txBox="1"/>
          <p:nvPr/>
        </p:nvSpPr>
        <p:spPr>
          <a:xfrm>
            <a:off x="5175504"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1" name="mcell"/>
          <p:cNvSpPr txBox="1"/>
          <p:nvPr/>
        </p:nvSpPr>
        <p:spPr>
          <a:xfrm>
            <a:off x="4023360" y="2395728"/>
            <a:ext cx="384048" cy="384048"/>
          </a:xfrm>
          <a:prstGeom prst="rect">
            <a:avLst/>
          </a:prstGeom>
          <a:solidFill>
            <a:srgbClr val="F3F6F7"/>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2" name="mcell"/>
          <p:cNvSpPr txBox="1"/>
          <p:nvPr/>
        </p:nvSpPr>
        <p:spPr>
          <a:xfrm>
            <a:off x="4407408" y="2395728"/>
            <a:ext cx="384048" cy="384048"/>
          </a:xfrm>
          <a:prstGeom prst="rect">
            <a:avLst/>
          </a:prstGeom>
          <a:solidFill>
            <a:srgbClr val="F3F6F7"/>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43" name="mcell"/>
          <p:cNvSpPr txBox="1"/>
          <p:nvPr/>
        </p:nvSpPr>
        <p:spPr>
          <a:xfrm>
            <a:off x="4791456"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4" name="mcell"/>
          <p:cNvSpPr txBox="1"/>
          <p:nvPr/>
        </p:nvSpPr>
        <p:spPr>
          <a:xfrm>
            <a:off x="5175504"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5" name="mcell"/>
          <p:cNvSpPr txBox="1"/>
          <p:nvPr/>
        </p:nvSpPr>
        <p:spPr>
          <a:xfrm>
            <a:off x="4023360"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6" name="mcell"/>
          <p:cNvSpPr txBox="1"/>
          <p:nvPr/>
        </p:nvSpPr>
        <p:spPr>
          <a:xfrm>
            <a:off x="4407408"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7" name="mcell"/>
          <p:cNvSpPr txBox="1"/>
          <p:nvPr/>
        </p:nvSpPr>
        <p:spPr>
          <a:xfrm>
            <a:off x="4791456" y="2779776"/>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48" name="mcell"/>
          <p:cNvSpPr txBox="1"/>
          <p:nvPr/>
        </p:nvSpPr>
        <p:spPr>
          <a:xfrm>
            <a:off x="5175504"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9" name="mcell"/>
          <p:cNvSpPr txBox="1"/>
          <p:nvPr/>
        </p:nvSpPr>
        <p:spPr>
          <a:xfrm>
            <a:off x="4023360"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4407408"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1" name="mcell"/>
          <p:cNvSpPr txBox="1"/>
          <p:nvPr/>
        </p:nvSpPr>
        <p:spPr>
          <a:xfrm>
            <a:off x="4791456"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2" name="mcell"/>
          <p:cNvSpPr txBox="1"/>
          <p:nvPr/>
        </p:nvSpPr>
        <p:spPr>
          <a:xfrm>
            <a:off x="5175504" y="3163824"/>
            <a:ext cx="384048" cy="384048"/>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3" name="mbr"/>
          <p:cNvSpPr/>
          <p:nvPr/>
        </p:nvSpPr>
        <p:spPr>
          <a:xfrm>
            <a:off x="3995928" y="1984248"/>
            <a:ext cx="0" cy="1591056"/>
          </a:xfrm>
          <a:prstGeom prst="line">
            <a:avLst/>
          </a:prstGeom>
          <a:noFill/>
          <a:ln w="15875">
            <a:solidFill>
              <a:srgbClr val="1E2A32"/>
            </a:solidFill>
            <a:prstDash val="solid"/>
          </a:ln>
        </p:spPr>
      </p:sp>
      <p:sp>
        <p:nvSpPr>
          <p:cNvPr id="54" name="mbr"/>
          <p:cNvSpPr/>
          <p:nvPr/>
        </p:nvSpPr>
        <p:spPr>
          <a:xfrm>
            <a:off x="3995928" y="1984248"/>
            <a:ext cx="73152" cy="0"/>
          </a:xfrm>
          <a:prstGeom prst="line">
            <a:avLst/>
          </a:prstGeom>
          <a:noFill/>
          <a:ln w="15875">
            <a:solidFill>
              <a:srgbClr val="1E2A32"/>
            </a:solidFill>
            <a:prstDash val="solid"/>
          </a:ln>
        </p:spPr>
      </p:sp>
      <p:sp>
        <p:nvSpPr>
          <p:cNvPr id="55" name="mbr"/>
          <p:cNvSpPr/>
          <p:nvPr/>
        </p:nvSpPr>
        <p:spPr>
          <a:xfrm>
            <a:off x="3995928" y="3575304"/>
            <a:ext cx="73152" cy="0"/>
          </a:xfrm>
          <a:prstGeom prst="line">
            <a:avLst/>
          </a:prstGeom>
          <a:noFill/>
          <a:ln w="15875">
            <a:solidFill>
              <a:srgbClr val="1E2A32"/>
            </a:solidFill>
            <a:prstDash val="solid"/>
          </a:ln>
        </p:spPr>
      </p:sp>
      <p:sp>
        <p:nvSpPr>
          <p:cNvPr id="56" name="mbr"/>
          <p:cNvSpPr/>
          <p:nvPr/>
        </p:nvSpPr>
        <p:spPr>
          <a:xfrm>
            <a:off x="5586984" y="1984248"/>
            <a:ext cx="0" cy="1591056"/>
          </a:xfrm>
          <a:prstGeom prst="line">
            <a:avLst/>
          </a:prstGeom>
          <a:noFill/>
          <a:ln w="15875">
            <a:solidFill>
              <a:srgbClr val="1E2A32"/>
            </a:solidFill>
            <a:prstDash val="solid"/>
          </a:ln>
        </p:spPr>
      </p:sp>
      <p:sp>
        <p:nvSpPr>
          <p:cNvPr id="57" name="mbr"/>
          <p:cNvSpPr/>
          <p:nvPr/>
        </p:nvSpPr>
        <p:spPr>
          <a:xfrm>
            <a:off x="5513832" y="1984248"/>
            <a:ext cx="73152" cy="0"/>
          </a:xfrm>
          <a:prstGeom prst="line">
            <a:avLst/>
          </a:prstGeom>
          <a:noFill/>
          <a:ln w="15875">
            <a:solidFill>
              <a:srgbClr val="1E2A32"/>
            </a:solidFill>
            <a:prstDash val="solid"/>
          </a:ln>
        </p:spPr>
      </p:sp>
      <p:sp>
        <p:nvSpPr>
          <p:cNvPr id="58" name="mbr"/>
          <p:cNvSpPr/>
          <p:nvPr/>
        </p:nvSpPr>
        <p:spPr>
          <a:xfrm>
            <a:off x="5513832" y="3575304"/>
            <a:ext cx="73152" cy="0"/>
          </a:xfrm>
          <a:prstGeom prst="line">
            <a:avLst/>
          </a:prstGeom>
          <a:noFill/>
          <a:ln w="15875">
            <a:solidFill>
              <a:srgbClr val="1E2A32"/>
            </a:solidFill>
            <a:prstDash val="solid"/>
          </a:ln>
        </p:spPr>
      </p:sp>
      <p:sp>
        <p:nvSpPr>
          <p:cNvPr id="59" name="mlab"/>
          <p:cNvSpPr txBox="1"/>
          <p:nvPr/>
        </p:nvSpPr>
        <p:spPr>
          <a:xfrm>
            <a:off x="3977640"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60" name="mlab"/>
          <p:cNvSpPr txBox="1"/>
          <p:nvPr/>
        </p:nvSpPr>
        <p:spPr>
          <a:xfrm>
            <a:off x="4361688"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61" name="mlab"/>
          <p:cNvSpPr txBox="1"/>
          <p:nvPr/>
        </p:nvSpPr>
        <p:spPr>
          <a:xfrm>
            <a:off x="4745736"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62" name="mlab"/>
          <p:cNvSpPr txBox="1"/>
          <p:nvPr/>
        </p:nvSpPr>
        <p:spPr>
          <a:xfrm>
            <a:off x="5129784"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63" name="mlab"/>
          <p:cNvSpPr txBox="1"/>
          <p:nvPr/>
        </p:nvSpPr>
        <p:spPr>
          <a:xfrm>
            <a:off x="3621024" y="20116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e₀</a:t>
            </a:r>
            <a:endParaRPr lang="en-US" sz="1200" dirty="0"/>
          </a:p>
        </p:txBody>
      </p:sp>
      <p:sp>
        <p:nvSpPr>
          <p:cNvPr id="64" name="mlab"/>
          <p:cNvSpPr txBox="1"/>
          <p:nvPr/>
        </p:nvSpPr>
        <p:spPr>
          <a:xfrm>
            <a:off x="3621024" y="23957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e₁</a:t>
            </a:r>
            <a:endParaRPr lang="en-US" sz="1200" dirty="0"/>
          </a:p>
        </p:txBody>
      </p:sp>
      <p:sp>
        <p:nvSpPr>
          <p:cNvPr id="65" name="mlab"/>
          <p:cNvSpPr txBox="1"/>
          <p:nvPr/>
        </p:nvSpPr>
        <p:spPr>
          <a:xfrm>
            <a:off x="3621024" y="27797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e₂</a:t>
            </a:r>
            <a:endParaRPr lang="en-US" sz="1200" dirty="0"/>
          </a:p>
        </p:txBody>
      </p:sp>
      <p:sp>
        <p:nvSpPr>
          <p:cNvPr id="66" name="mlab"/>
          <p:cNvSpPr txBox="1"/>
          <p:nvPr/>
        </p:nvSpPr>
        <p:spPr>
          <a:xfrm>
            <a:off x="3621024" y="31638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e₃</a:t>
            </a:r>
            <a:endParaRPr lang="en-US" sz="1200" dirty="0"/>
          </a:p>
        </p:txBody>
      </p:sp>
      <p:sp>
        <p:nvSpPr>
          <p:cNvPr id="67" name="mname"/>
          <p:cNvSpPr txBox="1"/>
          <p:nvPr/>
        </p:nvSpPr>
        <p:spPr>
          <a:xfrm>
            <a:off x="3749040" y="360273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 (register bits swapped)</a:t>
            </a:r>
            <a:endParaRPr lang="en-US" sz="1300" dirty="0"/>
          </a:p>
        </p:txBody>
      </p:sp>
      <p:sp>
        <p:nvSpPr>
          <p:cNvPr id="68" name="op"/>
          <p:cNvSpPr txBox="1"/>
          <p:nvPr/>
        </p:nvSpPr>
        <p:spPr>
          <a:xfrm>
            <a:off x="6172200" y="2551176"/>
            <a:ext cx="457200" cy="457200"/>
          </a:xfrm>
          <a:prstGeom prst="rect">
            <a:avLst/>
          </a:prstGeom>
          <a:noFill/>
          <a:ln/>
        </p:spPr>
        <p:txBody>
          <a:bodyPr wrap="square" lIns="0" tIns="0" rIns="0" bIns="0" rtlCol="0" anchor="ctr"/>
          <a:lstStyle/>
          <a:p>
            <a:pPr algn="ctr" indent="0" marL="0">
              <a:buNone/>
            </a:pPr>
            <a:r>
              <a:rPr lang="en-US" sz="2200" dirty="0">
                <a:solidFill>
                  <a:srgbClr val="5B6770"/>
                </a:solidFill>
                <a:latin typeface="Calibri" pitchFamily="34" charset="0"/>
                <a:ea typeface="Calibri" pitchFamily="34" charset="-122"/>
                <a:cs typeface="Calibri" pitchFamily="34" charset="-120"/>
              </a:rPr>
              <a:t>→</a:t>
            </a:r>
            <a:endParaRPr lang="en-US" sz="2200" dirty="0"/>
          </a:p>
        </p:txBody>
      </p:sp>
      <p:sp>
        <p:nvSpPr>
          <p:cNvPr id="69" name="mcell"/>
          <p:cNvSpPr txBox="1"/>
          <p:nvPr/>
        </p:nvSpPr>
        <p:spPr>
          <a:xfrm>
            <a:off x="7315200" y="2011680"/>
            <a:ext cx="384048" cy="384048"/>
          </a:xfrm>
          <a:prstGeom prst="rect">
            <a:avLst/>
          </a:prstGeom>
          <a:solidFill>
            <a:srgbClr val="FFF0CC"/>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70" name="mcell"/>
          <p:cNvSpPr txBox="1"/>
          <p:nvPr/>
        </p:nvSpPr>
        <p:spPr>
          <a:xfrm>
            <a:off x="7699248" y="2011680"/>
            <a:ext cx="384048" cy="384048"/>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1" name="mcell"/>
          <p:cNvSpPr txBox="1"/>
          <p:nvPr/>
        </p:nvSpPr>
        <p:spPr>
          <a:xfrm>
            <a:off x="8083296"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2" name="mcell"/>
          <p:cNvSpPr txBox="1"/>
          <p:nvPr/>
        </p:nvSpPr>
        <p:spPr>
          <a:xfrm>
            <a:off x="8467344" y="2011680"/>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3" name="mcell"/>
          <p:cNvSpPr txBox="1"/>
          <p:nvPr/>
        </p:nvSpPr>
        <p:spPr>
          <a:xfrm>
            <a:off x="7315200" y="2395728"/>
            <a:ext cx="384048" cy="384048"/>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74" name="mcell"/>
          <p:cNvSpPr txBox="1"/>
          <p:nvPr/>
        </p:nvSpPr>
        <p:spPr>
          <a:xfrm>
            <a:off x="7699248" y="2395728"/>
            <a:ext cx="384048" cy="384048"/>
          </a:xfrm>
          <a:prstGeom prst="rect">
            <a:avLst/>
          </a:prstGeom>
          <a:solidFill>
            <a:srgbClr val="FFF0CC"/>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75" name="mcell"/>
          <p:cNvSpPr txBox="1"/>
          <p:nvPr/>
        </p:nvSpPr>
        <p:spPr>
          <a:xfrm>
            <a:off x="8083296"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6" name="mcell"/>
          <p:cNvSpPr txBox="1"/>
          <p:nvPr/>
        </p:nvSpPr>
        <p:spPr>
          <a:xfrm>
            <a:off x="8467344" y="2395728"/>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7" name="mcell"/>
          <p:cNvSpPr txBox="1"/>
          <p:nvPr/>
        </p:nvSpPr>
        <p:spPr>
          <a:xfrm>
            <a:off x="7315200"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8" name="mcell"/>
          <p:cNvSpPr txBox="1"/>
          <p:nvPr/>
        </p:nvSpPr>
        <p:spPr>
          <a:xfrm>
            <a:off x="7699248" y="2779776"/>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79" name="mcell"/>
          <p:cNvSpPr txBox="1"/>
          <p:nvPr/>
        </p:nvSpPr>
        <p:spPr>
          <a:xfrm>
            <a:off x="8083296" y="2779776"/>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0" name="mcell"/>
          <p:cNvSpPr txBox="1"/>
          <p:nvPr/>
        </p:nvSpPr>
        <p:spPr>
          <a:xfrm>
            <a:off x="8467344" y="2779776"/>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1" name="mcell"/>
          <p:cNvSpPr txBox="1"/>
          <p:nvPr/>
        </p:nvSpPr>
        <p:spPr>
          <a:xfrm>
            <a:off x="7315200"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2" name="mcell"/>
          <p:cNvSpPr txBox="1"/>
          <p:nvPr/>
        </p:nvSpPr>
        <p:spPr>
          <a:xfrm>
            <a:off x="7699248" y="3163824"/>
            <a:ext cx="384048" cy="384048"/>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3" name="mcell"/>
          <p:cNvSpPr txBox="1"/>
          <p:nvPr/>
        </p:nvSpPr>
        <p:spPr>
          <a:xfrm>
            <a:off x="8083296" y="3163824"/>
            <a:ext cx="384048" cy="384048"/>
          </a:xfrm>
          <a:prstGeom prst="rect">
            <a:avLst/>
          </a:prstGeom>
          <a:solidFill>
            <a:srgbClr val="E3F2E4"/>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84" name="mcell"/>
          <p:cNvSpPr txBox="1"/>
          <p:nvPr/>
        </p:nvSpPr>
        <p:spPr>
          <a:xfrm>
            <a:off x="8467344" y="3163824"/>
            <a:ext cx="384048" cy="384048"/>
          </a:xfrm>
          <a:prstGeom prst="rect">
            <a:avLst/>
          </a:prstGeom>
          <a:solidFill>
            <a:srgbClr val="E3F2E4"/>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85" name="msep"/>
          <p:cNvSpPr/>
          <p:nvPr/>
        </p:nvSpPr>
        <p:spPr>
          <a:xfrm>
            <a:off x="8083296" y="2029968"/>
            <a:ext cx="0" cy="1499616"/>
          </a:xfrm>
          <a:prstGeom prst="line">
            <a:avLst/>
          </a:prstGeom>
          <a:noFill/>
          <a:ln w="9525">
            <a:solidFill>
              <a:srgbClr val="5B6770"/>
            </a:solidFill>
            <a:prstDash val="dash"/>
          </a:ln>
        </p:spPr>
      </p:sp>
      <p:sp>
        <p:nvSpPr>
          <p:cNvPr id="86" name="msep"/>
          <p:cNvSpPr/>
          <p:nvPr/>
        </p:nvSpPr>
        <p:spPr>
          <a:xfrm>
            <a:off x="7333488" y="2779776"/>
            <a:ext cx="1499616" cy="0"/>
          </a:xfrm>
          <a:prstGeom prst="line">
            <a:avLst/>
          </a:prstGeom>
          <a:noFill/>
          <a:ln w="9525">
            <a:solidFill>
              <a:srgbClr val="5B6770"/>
            </a:solidFill>
            <a:prstDash val="dash"/>
          </a:ln>
        </p:spPr>
      </p:sp>
      <p:sp>
        <p:nvSpPr>
          <p:cNvPr id="87" name="mbr"/>
          <p:cNvSpPr/>
          <p:nvPr/>
        </p:nvSpPr>
        <p:spPr>
          <a:xfrm>
            <a:off x="7287768" y="1984248"/>
            <a:ext cx="0" cy="1591056"/>
          </a:xfrm>
          <a:prstGeom prst="line">
            <a:avLst/>
          </a:prstGeom>
          <a:noFill/>
          <a:ln w="15875">
            <a:solidFill>
              <a:srgbClr val="1E2A32"/>
            </a:solidFill>
            <a:prstDash val="solid"/>
          </a:ln>
        </p:spPr>
      </p:sp>
      <p:sp>
        <p:nvSpPr>
          <p:cNvPr id="88" name="mbr"/>
          <p:cNvSpPr/>
          <p:nvPr/>
        </p:nvSpPr>
        <p:spPr>
          <a:xfrm>
            <a:off x="7287768" y="1984248"/>
            <a:ext cx="73152" cy="0"/>
          </a:xfrm>
          <a:prstGeom prst="line">
            <a:avLst/>
          </a:prstGeom>
          <a:noFill/>
          <a:ln w="15875">
            <a:solidFill>
              <a:srgbClr val="1E2A32"/>
            </a:solidFill>
            <a:prstDash val="solid"/>
          </a:ln>
        </p:spPr>
      </p:sp>
      <p:sp>
        <p:nvSpPr>
          <p:cNvPr id="89" name="mbr"/>
          <p:cNvSpPr/>
          <p:nvPr/>
        </p:nvSpPr>
        <p:spPr>
          <a:xfrm>
            <a:off x="7287768" y="3575304"/>
            <a:ext cx="73152" cy="0"/>
          </a:xfrm>
          <a:prstGeom prst="line">
            <a:avLst/>
          </a:prstGeom>
          <a:noFill/>
          <a:ln w="15875">
            <a:solidFill>
              <a:srgbClr val="1E2A32"/>
            </a:solidFill>
            <a:prstDash val="solid"/>
          </a:ln>
        </p:spPr>
      </p:sp>
      <p:sp>
        <p:nvSpPr>
          <p:cNvPr id="90" name="mbr"/>
          <p:cNvSpPr/>
          <p:nvPr/>
        </p:nvSpPr>
        <p:spPr>
          <a:xfrm>
            <a:off x="8878824" y="1984248"/>
            <a:ext cx="0" cy="1591056"/>
          </a:xfrm>
          <a:prstGeom prst="line">
            <a:avLst/>
          </a:prstGeom>
          <a:noFill/>
          <a:ln w="15875">
            <a:solidFill>
              <a:srgbClr val="1E2A32"/>
            </a:solidFill>
            <a:prstDash val="solid"/>
          </a:ln>
        </p:spPr>
      </p:sp>
      <p:sp>
        <p:nvSpPr>
          <p:cNvPr id="91" name="mbr"/>
          <p:cNvSpPr/>
          <p:nvPr/>
        </p:nvSpPr>
        <p:spPr>
          <a:xfrm>
            <a:off x="8805672" y="1984248"/>
            <a:ext cx="73152" cy="0"/>
          </a:xfrm>
          <a:prstGeom prst="line">
            <a:avLst/>
          </a:prstGeom>
          <a:noFill/>
          <a:ln w="15875">
            <a:solidFill>
              <a:srgbClr val="1E2A32"/>
            </a:solidFill>
            <a:prstDash val="solid"/>
          </a:ln>
        </p:spPr>
      </p:sp>
      <p:sp>
        <p:nvSpPr>
          <p:cNvPr id="92" name="mbr"/>
          <p:cNvSpPr/>
          <p:nvPr/>
        </p:nvSpPr>
        <p:spPr>
          <a:xfrm>
            <a:off x="8805672" y="3575304"/>
            <a:ext cx="73152" cy="0"/>
          </a:xfrm>
          <a:prstGeom prst="line">
            <a:avLst/>
          </a:prstGeom>
          <a:noFill/>
          <a:ln w="15875">
            <a:solidFill>
              <a:srgbClr val="1E2A32"/>
            </a:solidFill>
            <a:prstDash val="solid"/>
          </a:ln>
        </p:spPr>
      </p:sp>
      <p:sp>
        <p:nvSpPr>
          <p:cNvPr id="93" name="mlab"/>
          <p:cNvSpPr txBox="1"/>
          <p:nvPr/>
        </p:nvSpPr>
        <p:spPr>
          <a:xfrm>
            <a:off x="7269480"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94" name="mlab"/>
          <p:cNvSpPr txBox="1"/>
          <p:nvPr/>
        </p:nvSpPr>
        <p:spPr>
          <a:xfrm>
            <a:off x="7653528"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95" name="mlab"/>
          <p:cNvSpPr txBox="1"/>
          <p:nvPr/>
        </p:nvSpPr>
        <p:spPr>
          <a:xfrm>
            <a:off x="8037576"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96" name="mlab"/>
          <p:cNvSpPr txBox="1"/>
          <p:nvPr/>
        </p:nvSpPr>
        <p:spPr>
          <a:xfrm>
            <a:off x="8421624" y="1773936"/>
            <a:ext cx="475488" cy="219456"/>
          </a:xfrm>
          <a:prstGeom prst="rect">
            <a:avLst/>
          </a:prstGeom>
          <a:noFill/>
          <a:ln/>
        </p:spPr>
        <p:txBody>
          <a:bodyPr wrap="square" lIns="0" tIns="0" rIns="0" bIns="0" rtlCol="0" anchor="b"/>
          <a:lstStyle/>
          <a:p>
            <a:pPr algn="ct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97" name="mgrp"/>
          <p:cNvSpPr txBox="1"/>
          <p:nvPr/>
        </p:nvSpPr>
        <p:spPr>
          <a:xfrm>
            <a:off x="7315200" y="153619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Reg</a:t>
            </a:r>
            <a:endParaRPr lang="en-US" sz="1200" dirty="0"/>
          </a:p>
        </p:txBody>
      </p:sp>
      <p:sp>
        <p:nvSpPr>
          <p:cNvPr id="98" name="mgrp"/>
          <p:cNvSpPr txBox="1"/>
          <p:nvPr/>
        </p:nvSpPr>
        <p:spPr>
          <a:xfrm>
            <a:off x="8083296" y="1536192"/>
            <a:ext cx="768096" cy="219456"/>
          </a:xfrm>
          <a:prstGeom prst="rect">
            <a:avLst/>
          </a:prstGeom>
          <a:noFill/>
          <a:ln/>
        </p:spPr>
        <p:txBody>
          <a:bodyPr wrap="square" lIns="0" tIns="0" rIns="0" bIns="0" rtlCol="0" anchor="b"/>
          <a:lstStyle/>
          <a:p>
            <a:pPr algn="ctr" indent="0" marL="0">
              <a:buNone/>
            </a:pPr>
            <a:r>
              <a:rPr lang="en-US" sz="1200" b="1" dirty="0">
                <a:solidFill>
                  <a:srgbClr val="0A4F58"/>
                </a:solidFill>
                <a:latin typeface="Calibri" pitchFamily="34" charset="0"/>
                <a:ea typeface="Calibri" pitchFamily="34" charset="-122"/>
                <a:cs typeface="Calibri" pitchFamily="34" charset="-120"/>
              </a:rPr>
              <a:t>Thr</a:t>
            </a:r>
            <a:endParaRPr lang="en-US" sz="1200" dirty="0"/>
          </a:p>
        </p:txBody>
      </p:sp>
      <p:sp>
        <p:nvSpPr>
          <p:cNvPr id="99" name="mlab"/>
          <p:cNvSpPr txBox="1"/>
          <p:nvPr/>
        </p:nvSpPr>
        <p:spPr>
          <a:xfrm>
            <a:off x="6912864" y="2011680"/>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100" name="mlab"/>
          <p:cNvSpPr txBox="1"/>
          <p:nvPr/>
        </p:nvSpPr>
        <p:spPr>
          <a:xfrm>
            <a:off x="6912864" y="2395728"/>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101" name="mlab"/>
          <p:cNvSpPr txBox="1"/>
          <p:nvPr/>
        </p:nvSpPr>
        <p:spPr>
          <a:xfrm>
            <a:off x="6912864" y="2779776"/>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t₀′</a:t>
            </a:r>
            <a:endParaRPr lang="en-US" sz="1200" dirty="0"/>
          </a:p>
        </p:txBody>
      </p:sp>
      <p:sp>
        <p:nvSpPr>
          <p:cNvPr id="102" name="mlab"/>
          <p:cNvSpPr txBox="1"/>
          <p:nvPr/>
        </p:nvSpPr>
        <p:spPr>
          <a:xfrm>
            <a:off x="6912864" y="3163824"/>
            <a:ext cx="347472" cy="384048"/>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t₁′</a:t>
            </a:r>
            <a:endParaRPr lang="en-US" sz="1200" dirty="0"/>
          </a:p>
        </p:txBody>
      </p:sp>
      <p:sp>
        <p:nvSpPr>
          <p:cNvPr id="103" name="mname"/>
          <p:cNvSpPr txBox="1"/>
          <p:nvPr/>
        </p:nvSpPr>
        <p:spPr>
          <a:xfrm>
            <a:off x="7040880" y="3602736"/>
            <a:ext cx="208483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B⁻¹A</a:t>
            </a:r>
            <a:endParaRPr lang="en-US" sz="1300" dirty="0"/>
          </a:p>
        </p:txBody>
      </p:sp>
      <p:sp>
        <p:nvSpPr>
          <p:cNvPr id="104" name="Text 101"/>
          <p:cNvSpPr txBox="1"/>
          <p:nvPr/>
        </p:nvSpPr>
        <p:spPr>
          <a:xfrm>
            <a:off x="914400" y="4389120"/>
            <a:ext cx="1371600" cy="365760"/>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thread 0, A:</a:t>
            </a:r>
            <a:endParaRPr lang="en-US" sz="1400" dirty="0"/>
          </a:p>
        </p:txBody>
      </p:sp>
      <p:sp>
        <p:nvSpPr>
          <p:cNvPr id="105" name="gcell"/>
          <p:cNvSpPr txBox="1"/>
          <p:nvPr/>
        </p:nvSpPr>
        <p:spPr>
          <a:xfrm>
            <a:off x="2377440" y="4389120"/>
            <a:ext cx="45720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06" name="gcell"/>
          <p:cNvSpPr txBox="1"/>
          <p:nvPr/>
        </p:nvSpPr>
        <p:spPr>
          <a:xfrm>
            <a:off x="2834640" y="4389120"/>
            <a:ext cx="45720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a:t>
            </a:r>
            <a:endParaRPr lang="en-US" sz="1400" dirty="0"/>
          </a:p>
        </p:txBody>
      </p:sp>
      <p:sp>
        <p:nvSpPr>
          <p:cNvPr id="107" name="gcell"/>
          <p:cNvSpPr txBox="1"/>
          <p:nvPr/>
        </p:nvSpPr>
        <p:spPr>
          <a:xfrm>
            <a:off x="3291840" y="4389120"/>
            <a:ext cx="45720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a:t>
            </a:r>
            <a:endParaRPr lang="en-US" sz="1400" dirty="0"/>
          </a:p>
        </p:txBody>
      </p:sp>
      <p:sp>
        <p:nvSpPr>
          <p:cNvPr id="108" name="gcell"/>
          <p:cNvSpPr txBox="1"/>
          <p:nvPr/>
        </p:nvSpPr>
        <p:spPr>
          <a:xfrm>
            <a:off x="3749040" y="4389120"/>
            <a:ext cx="45720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a:t>
            </a:r>
            <a:endParaRPr lang="en-US" sz="1400" dirty="0"/>
          </a:p>
        </p:txBody>
      </p:sp>
      <p:sp>
        <p:nvSpPr>
          <p:cNvPr id="109" name="Text 106"/>
          <p:cNvSpPr txBox="1"/>
          <p:nvPr/>
        </p:nvSpPr>
        <p:spPr>
          <a:xfrm>
            <a:off x="4480560" y="4389120"/>
            <a:ext cx="1371600" cy="365760"/>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thread 0, B:</a:t>
            </a:r>
            <a:endParaRPr lang="en-US" sz="1400" dirty="0"/>
          </a:p>
        </p:txBody>
      </p:sp>
      <p:sp>
        <p:nvSpPr>
          <p:cNvPr id="110" name="gcell"/>
          <p:cNvSpPr txBox="1"/>
          <p:nvPr/>
        </p:nvSpPr>
        <p:spPr>
          <a:xfrm>
            <a:off x="5943600" y="4389120"/>
            <a:ext cx="45720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11" name="gcell"/>
          <p:cNvSpPr txBox="1"/>
          <p:nvPr/>
        </p:nvSpPr>
        <p:spPr>
          <a:xfrm>
            <a:off x="6400800" y="4389120"/>
            <a:ext cx="457200" cy="36576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2</a:t>
            </a:r>
            <a:endParaRPr lang="en-US" sz="1400" dirty="0"/>
          </a:p>
        </p:txBody>
      </p:sp>
      <p:sp>
        <p:nvSpPr>
          <p:cNvPr id="112" name="gcell"/>
          <p:cNvSpPr txBox="1"/>
          <p:nvPr/>
        </p:nvSpPr>
        <p:spPr>
          <a:xfrm>
            <a:off x="6858000" y="4389120"/>
            <a:ext cx="457200" cy="365760"/>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1</a:t>
            </a:r>
            <a:endParaRPr lang="en-US" sz="1400" dirty="0"/>
          </a:p>
        </p:txBody>
      </p:sp>
      <p:sp>
        <p:nvSpPr>
          <p:cNvPr id="113" name="gcell"/>
          <p:cNvSpPr txBox="1"/>
          <p:nvPr/>
        </p:nvSpPr>
        <p:spPr>
          <a:xfrm>
            <a:off x="7315200" y="4389120"/>
            <a:ext cx="457200" cy="365760"/>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3</a:t>
            </a:r>
            <a:endParaRPr lang="en-US" sz="1400" dirty="0"/>
          </a:p>
        </p:txBody>
      </p:sp>
      <p:sp>
        <p:nvSpPr>
          <p:cNvPr id="114" name="callout"/>
          <p:cNvSpPr/>
          <p:nvPr/>
        </p:nvSpPr>
        <p:spPr>
          <a:xfrm>
            <a:off x="502920" y="4983480"/>
            <a:ext cx="11201400" cy="777240"/>
          </a:xfrm>
          <a:prstGeom prst="roundRect">
            <a:avLst>
              <a:gd name="adj" fmla="val 9412"/>
            </a:avLst>
          </a:prstGeom>
          <a:solidFill>
            <a:srgbClr val="E3F2E4"/>
          </a:solidFill>
          <a:ln/>
        </p:spPr>
      </p:sp>
      <p:sp>
        <p:nvSpPr>
          <p:cNvPr id="115" name="callout-text"/>
          <p:cNvSpPr txBox="1"/>
          <p:nvPr/>
        </p:nvSpPr>
        <p:spPr>
          <a:xfrm>
            <a:off x="640080" y="5038344"/>
            <a:ext cx="10927080" cy="667512"/>
          </a:xfrm>
          <a:prstGeom prst="rect">
            <a:avLst/>
          </a:prstGeom>
          <a:noFill/>
          <a:ln/>
        </p:spPr>
        <p:txBody>
          <a:bodyPr wrap="square" lIns="0" tIns="0" rIns="0" bIns="0" rtlCol="0" anchor="ctr"/>
          <a:lstStyle/>
          <a:p>
            <a:pPr algn="l" indent="0" marL="0">
              <a:buNone/>
            </a:pPr>
            <a:r>
              <a:rPr lang="en-US" sz="1500" dirty="0">
                <a:solidFill>
                  <a:srgbClr val="2E7D32"/>
                </a:solidFill>
                <a:latin typeface="Calibri" pitchFamily="34" charset="0"/>
                <a:ea typeface="Calibri" pitchFamily="34" charset="-122"/>
                <a:cs typeface="Calibri" pitchFamily="34" charset="-120"/>
              </a:rPr>
              <a:t>Thread block = </a:t>
            </a:r>
            <a:r>
              <a:rPr lang="en-US" sz="1500" b="1" dirty="0">
                <a:solidFill>
                  <a:srgbClr val="2E7D32"/>
                </a:solidFill>
                <a:latin typeface="Calibri" pitchFamily="34" charset="0"/>
                <a:ea typeface="Calibri" pitchFamily="34" charset="-122"/>
                <a:cs typeface="Calibri" pitchFamily="34" charset="-120"/>
              </a:rPr>
              <a:t>identity</a:t>
            </a:r>
            <a:r>
              <a:rPr lang="en-US" sz="1500" dirty="0">
                <a:solidFill>
                  <a:srgbClr val="2E7D32"/>
                </a:solidFill>
                <a:latin typeface="Calibri" pitchFamily="34" charset="0"/>
                <a:ea typeface="Calibri" pitchFamily="34" charset="-122"/>
                <a:cs typeface="Calibri" pitchFamily="34" charset="-120"/>
              </a:rPr>
              <a:t> (green), Reg↔Thr blocks zero → no communication. Register block (amber) = permutation → </a:t>
            </a:r>
            <a:r>
              <a:rPr lang="en-US" sz="1500" b="1" dirty="0">
                <a:solidFill>
                  <a:srgbClr val="2E7D32"/>
                </a:solidFill>
                <a:latin typeface="Calibri" pitchFamily="34" charset="0"/>
                <a:ea typeface="Calibri" pitchFamily="34" charset="-122"/>
                <a:cs typeface="Calibri" pitchFamily="34" charset="-120"/>
              </a:rPr>
              <a:t>rename registers, zero instructions</a:t>
            </a:r>
            <a:r>
              <a:rPr lang="en-US" sz="1500" dirty="0">
                <a:solidFill>
                  <a:srgbClr val="2E7D32"/>
                </a:solidFill>
                <a:latin typeface="Calibri" pitchFamily="34" charset="0"/>
                <a:ea typeface="Calibri" pitchFamily="34" charset="-122"/>
                <a:cs typeface="Calibri" pitchFamily="34" charset="-120"/>
              </a:rPr>
              <a:t>.</a:t>
            </a:r>
            <a:endParaRPr lang="en-US" sz="1500" dirty="0"/>
          </a:p>
        </p:txBody>
      </p:sp>
      <p:sp>
        <p:nvSpPr>
          <p:cNvPr id="116" name="tag"/>
          <p:cNvSpPr txBox="1"/>
          <p:nvPr/>
        </p:nvSpPr>
        <p:spPr>
          <a:xfrm>
            <a:off x="7863840" y="4434840"/>
            <a:ext cx="384048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INTRA-WARP DATA EXCHANGE (FIGURE 4)</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Warp shuffles, step 1: sets V, I, E, F and G</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“Intra-warp Data Exchange” and Figure 4, p. 140</a:t>
            </a:r>
            <a:endParaRPr lang="en-US" sz="1000" dirty="0"/>
          </a:p>
        </p:txBody>
      </p:sp>
      <p:pic>
        <p:nvPicPr>
          <p:cNvPr id="6" name="fig-fig4_right" descr="Figure 4 right: A, B, A_Thr, E, F, G, R(0), R(1)">    </p:cNvPr>
          <p:cNvPicPr>
            <a:picLocks noChangeAspect="1"/>
          </p:cNvPicPr>
          <p:nvPr/>
        </p:nvPicPr>
        <p:blipFill>
          <a:blip r:embed="rId1"/>
          <a:stretch>
            <a:fillRect/>
          </a:stretch>
        </p:blipFill>
        <p:spPr>
          <a:xfrm>
            <a:off x="6949440" y="1290568"/>
            <a:ext cx="4754880" cy="1990864"/>
          </a:xfrm>
          <a:prstGeom prst="rect">
            <a:avLst/>
          </a:prstGeom>
        </p:spPr>
      </p:pic>
      <p:sp>
        <p:nvSpPr>
          <p:cNvPr id="7" name="caption"/>
          <p:cNvSpPr txBox="1"/>
          <p:nvPr/>
        </p:nvSpPr>
        <p:spPr>
          <a:xfrm>
            <a:off x="6949440" y="3327152"/>
            <a:ext cx="475488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4</a:t>
            </a:r>
            <a:r>
              <a:rPr lang="en-US" sz="1100" dirty="0">
                <a:solidFill>
                  <a:srgbClr val="5B6770"/>
                </a:solidFill>
                <a:latin typeface="Calibri" pitchFamily="34" charset="0"/>
                <a:ea typeface="Calibri" pitchFamily="34" charset="-122"/>
                <a:cs typeface="Calibri" pitchFamily="34" charset="-120"/>
              </a:rPr>
              <a:t> (right half): the matrices of the shuffle construction.</a:t>
            </a:r>
            <a:endParaRPr lang="en-US" sz="1100" dirty="0"/>
          </a:p>
        </p:txBody>
      </p:sp>
      <p:sp>
        <p:nvSpPr>
          <p:cNvPr id="8" name="panel"/>
          <p:cNvSpPr/>
          <p:nvPr/>
        </p:nvSpPr>
        <p:spPr>
          <a:xfrm>
            <a:off x="502920" y="1325880"/>
            <a:ext cx="6126480" cy="749808"/>
          </a:xfrm>
          <a:prstGeom prst="roundRect">
            <a:avLst>
              <a:gd name="adj" fmla="val 9756"/>
            </a:avLst>
          </a:prstGeom>
          <a:solidFill>
            <a:srgbClr val="F3F6F7"/>
          </a:solidFill>
          <a:ln/>
        </p:spPr>
      </p:sp>
      <p:sp>
        <p:nvSpPr>
          <p:cNvPr id="9" name="Text 5"/>
          <p:cNvSpPr txBox="1"/>
          <p:nvPr/>
        </p:nvSpPr>
        <p:spPr>
          <a:xfrm>
            <a:off x="640080" y="1371600"/>
            <a:ext cx="5852160" cy="292608"/>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V = A_Reg ∩ B_Reg</a:t>
            </a:r>
            <a:endParaRPr lang="en-US" sz="1500" dirty="0"/>
          </a:p>
        </p:txBody>
      </p:sp>
      <p:sp>
        <p:nvSpPr>
          <p:cNvPr id="10" name="Text 6"/>
          <p:cNvSpPr txBox="1"/>
          <p:nvPr/>
        </p:nvSpPr>
        <p:spPr>
          <a:xfrm>
            <a:off x="640080" y="1691640"/>
            <a:ext cx="5852160" cy="347472"/>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A_Reg = {100}, B_Reg = {001} → V = ∅ → 2⁰ = 1 element per shuffle</a:t>
            </a:r>
            <a:endParaRPr lang="en-US" sz="1400" dirty="0"/>
          </a:p>
        </p:txBody>
      </p:sp>
      <p:sp>
        <p:nvSpPr>
          <p:cNvPr id="11" name="panel"/>
          <p:cNvSpPr/>
          <p:nvPr/>
        </p:nvSpPr>
        <p:spPr>
          <a:xfrm>
            <a:off x="502920" y="2194560"/>
            <a:ext cx="6126480" cy="749808"/>
          </a:xfrm>
          <a:prstGeom prst="roundRect">
            <a:avLst>
              <a:gd name="adj" fmla="val 9756"/>
            </a:avLst>
          </a:prstGeom>
          <a:solidFill>
            <a:srgbClr val="F3F6F7"/>
          </a:solidFill>
          <a:ln/>
        </p:spPr>
      </p:sp>
      <p:sp>
        <p:nvSpPr>
          <p:cNvPr id="12" name="Text 8"/>
          <p:cNvSpPr txBox="1"/>
          <p:nvPr/>
        </p:nvSpPr>
        <p:spPr>
          <a:xfrm>
            <a:off x="640080" y="2240280"/>
            <a:ext cx="5852160" cy="292608"/>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I = A_Thr ∩ B_Thr</a:t>
            </a:r>
            <a:endParaRPr lang="en-US" sz="1500" dirty="0"/>
          </a:p>
        </p:txBody>
      </p:sp>
      <p:sp>
        <p:nvSpPr>
          <p:cNvPr id="13" name="Text 9"/>
          <p:cNvSpPr txBox="1"/>
          <p:nvPr/>
        </p:nvSpPr>
        <p:spPr>
          <a:xfrm>
            <a:off x="640080" y="2560320"/>
            <a:ext cx="5852160" cy="347472"/>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compare per thread bit: t₀: 010 vs 100, t₁: 001 vs 010 → I = ∅ (paper)</a:t>
            </a:r>
            <a:endParaRPr lang="en-US" sz="1400" dirty="0"/>
          </a:p>
        </p:txBody>
      </p:sp>
      <p:sp>
        <p:nvSpPr>
          <p:cNvPr id="14" name="panel"/>
          <p:cNvSpPr/>
          <p:nvPr/>
        </p:nvSpPr>
        <p:spPr>
          <a:xfrm>
            <a:off x="502920" y="3063240"/>
            <a:ext cx="6126480" cy="749808"/>
          </a:xfrm>
          <a:prstGeom prst="roundRect">
            <a:avLst>
              <a:gd name="adj" fmla="val 9756"/>
            </a:avLst>
          </a:prstGeom>
          <a:solidFill>
            <a:srgbClr val="F3F6F7"/>
          </a:solidFill>
          <a:ln/>
        </p:spPr>
      </p:sp>
      <p:sp>
        <p:nvSpPr>
          <p:cNvPr id="15" name="Text 11"/>
          <p:cNvSpPr txBox="1"/>
          <p:nvPr/>
        </p:nvSpPr>
        <p:spPr>
          <a:xfrm>
            <a:off x="640080" y="3108960"/>
            <a:ext cx="5852160" cy="292608"/>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E = A_Thr \ I,  F = B_Thr \ I</a:t>
            </a:r>
            <a:endParaRPr lang="en-US" sz="1500" dirty="0"/>
          </a:p>
        </p:txBody>
      </p:sp>
      <p:sp>
        <p:nvSpPr>
          <p:cNvPr id="16" name="Text 12"/>
          <p:cNvSpPr txBox="1"/>
          <p:nvPr/>
        </p:nvSpPr>
        <p:spPr>
          <a:xfrm>
            <a:off x="640080" y="3429000"/>
            <a:ext cx="5852160" cy="347472"/>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E = (010, 001),   F = (100, 010)</a:t>
            </a:r>
            <a:endParaRPr lang="en-US" sz="1400" dirty="0"/>
          </a:p>
        </p:txBody>
      </p:sp>
      <p:sp>
        <p:nvSpPr>
          <p:cNvPr id="17" name="panel"/>
          <p:cNvSpPr/>
          <p:nvPr/>
        </p:nvSpPr>
        <p:spPr>
          <a:xfrm>
            <a:off x="502920" y="3931920"/>
            <a:ext cx="6126480" cy="749808"/>
          </a:xfrm>
          <a:prstGeom prst="roundRect">
            <a:avLst>
              <a:gd name="adj" fmla="val 9756"/>
            </a:avLst>
          </a:prstGeom>
          <a:solidFill>
            <a:srgbClr val="FFF0CC"/>
          </a:solidFill>
          <a:ln/>
        </p:spPr>
      </p:sp>
      <p:sp>
        <p:nvSpPr>
          <p:cNvPr id="18" name="Text 14"/>
          <p:cNvSpPr txBox="1"/>
          <p:nvPr/>
        </p:nvSpPr>
        <p:spPr>
          <a:xfrm>
            <a:off x="640080" y="3977640"/>
            <a:ext cx="5852160" cy="292608"/>
          </a:xfrm>
          <a:prstGeom prst="rect">
            <a:avLst/>
          </a:prstGeom>
          <a:noFill/>
          <a:ln/>
        </p:spPr>
        <p:txBody>
          <a:bodyPr wrap="square" lIns="0" tIns="0" rIns="0" bIns="0" rtlCol="0" anchor="t"/>
          <a:lstStyle/>
          <a:p>
            <a:pPr indent="0" marL="0">
              <a:buNone/>
            </a:pPr>
            <a:r>
              <a:rPr lang="en-US" sz="1500" b="1" dirty="0">
                <a:solidFill>
                  <a:srgbClr val="6B4100"/>
                </a:solidFill>
                <a:latin typeface="Calibri" pitchFamily="34" charset="0"/>
                <a:ea typeface="Calibri" pitchFamily="34" charset="-122"/>
                <a:cs typeface="Calibri" pitchFamily="34" charset="-120"/>
              </a:rPr>
              <a:t>G = { eᵢ ⊕ fᵢ }</a:t>
            </a:r>
            <a:endParaRPr lang="en-US" sz="1500" dirty="0"/>
          </a:p>
        </p:txBody>
      </p:sp>
      <p:sp>
        <p:nvSpPr>
          <p:cNvPr id="19" name="Text 15"/>
          <p:cNvSpPr txBox="1"/>
          <p:nvPr/>
        </p:nvSpPr>
        <p:spPr>
          <a:xfrm>
            <a:off x="640080" y="4297680"/>
            <a:ext cx="5852160" cy="347472"/>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010 ⊕ 100 = 110,   001 ⊕ 010 = 011</a:t>
            </a:r>
            <a:endParaRPr lang="en-US" sz="1400" dirty="0"/>
          </a:p>
        </p:txBody>
      </p:sp>
      <p:sp>
        <p:nvSpPr>
          <p:cNvPr id="20" name="Text 16"/>
          <p:cNvSpPr txBox="1"/>
          <p:nvPr/>
        </p:nvSpPr>
        <p:spPr>
          <a:xfrm>
            <a:off x="502920" y="4846320"/>
            <a:ext cx="612648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Vectors are element bits [e₀ e₁ e₂] (LSB first); element 0…7.</a:t>
            </a:r>
            <a:endParaRPr lang="en-US" sz="1200" dirty="0"/>
          </a:p>
        </p:txBody>
      </p:sp>
      <p:sp>
        <p:nvSpPr>
          <p:cNvPr id="21" name="mcell"/>
          <p:cNvSpPr txBox="1"/>
          <p:nvPr/>
        </p:nvSpPr>
        <p:spPr>
          <a:xfrm>
            <a:off x="7589520" y="4206240"/>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2" name="mcell"/>
          <p:cNvSpPr txBox="1"/>
          <p:nvPr/>
        </p:nvSpPr>
        <p:spPr>
          <a:xfrm>
            <a:off x="7973568" y="4206240"/>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3" name="mcell"/>
          <p:cNvSpPr txBox="1"/>
          <p:nvPr/>
        </p:nvSpPr>
        <p:spPr>
          <a:xfrm>
            <a:off x="7589520" y="4590288"/>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4" name="mcell"/>
          <p:cNvSpPr txBox="1"/>
          <p:nvPr/>
        </p:nvSpPr>
        <p:spPr>
          <a:xfrm>
            <a:off x="7973568" y="4590288"/>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5" name="mcell"/>
          <p:cNvSpPr txBox="1"/>
          <p:nvPr/>
        </p:nvSpPr>
        <p:spPr>
          <a:xfrm>
            <a:off x="7589520" y="4974336"/>
            <a:ext cx="384048" cy="384048"/>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6" name="mcell"/>
          <p:cNvSpPr txBox="1"/>
          <p:nvPr/>
        </p:nvSpPr>
        <p:spPr>
          <a:xfrm>
            <a:off x="7973568" y="4974336"/>
            <a:ext cx="384048" cy="384048"/>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7" name="mbr"/>
          <p:cNvSpPr/>
          <p:nvPr/>
        </p:nvSpPr>
        <p:spPr>
          <a:xfrm>
            <a:off x="7562088" y="4178808"/>
            <a:ext cx="0" cy="1207008"/>
          </a:xfrm>
          <a:prstGeom prst="line">
            <a:avLst/>
          </a:prstGeom>
          <a:noFill/>
          <a:ln w="15875">
            <a:solidFill>
              <a:srgbClr val="1E2A32"/>
            </a:solidFill>
            <a:prstDash val="solid"/>
          </a:ln>
        </p:spPr>
      </p:sp>
      <p:sp>
        <p:nvSpPr>
          <p:cNvPr id="28" name="mbr"/>
          <p:cNvSpPr/>
          <p:nvPr/>
        </p:nvSpPr>
        <p:spPr>
          <a:xfrm>
            <a:off x="7562088" y="4178808"/>
            <a:ext cx="73152" cy="0"/>
          </a:xfrm>
          <a:prstGeom prst="line">
            <a:avLst/>
          </a:prstGeom>
          <a:noFill/>
          <a:ln w="15875">
            <a:solidFill>
              <a:srgbClr val="1E2A32"/>
            </a:solidFill>
            <a:prstDash val="solid"/>
          </a:ln>
        </p:spPr>
      </p:sp>
      <p:sp>
        <p:nvSpPr>
          <p:cNvPr id="29" name="mbr"/>
          <p:cNvSpPr/>
          <p:nvPr/>
        </p:nvSpPr>
        <p:spPr>
          <a:xfrm>
            <a:off x="7562088" y="5385816"/>
            <a:ext cx="73152" cy="0"/>
          </a:xfrm>
          <a:prstGeom prst="line">
            <a:avLst/>
          </a:prstGeom>
          <a:noFill/>
          <a:ln w="15875">
            <a:solidFill>
              <a:srgbClr val="1E2A32"/>
            </a:solidFill>
            <a:prstDash val="solid"/>
          </a:ln>
        </p:spPr>
      </p:sp>
      <p:sp>
        <p:nvSpPr>
          <p:cNvPr id="30" name="mbr"/>
          <p:cNvSpPr/>
          <p:nvPr/>
        </p:nvSpPr>
        <p:spPr>
          <a:xfrm>
            <a:off x="8385048" y="4178808"/>
            <a:ext cx="0" cy="1207008"/>
          </a:xfrm>
          <a:prstGeom prst="line">
            <a:avLst/>
          </a:prstGeom>
          <a:noFill/>
          <a:ln w="15875">
            <a:solidFill>
              <a:srgbClr val="1E2A32"/>
            </a:solidFill>
            <a:prstDash val="solid"/>
          </a:ln>
        </p:spPr>
      </p:sp>
      <p:sp>
        <p:nvSpPr>
          <p:cNvPr id="31" name="mbr"/>
          <p:cNvSpPr/>
          <p:nvPr/>
        </p:nvSpPr>
        <p:spPr>
          <a:xfrm>
            <a:off x="8311896" y="4178808"/>
            <a:ext cx="73152" cy="0"/>
          </a:xfrm>
          <a:prstGeom prst="line">
            <a:avLst/>
          </a:prstGeom>
          <a:noFill/>
          <a:ln w="15875">
            <a:solidFill>
              <a:srgbClr val="1E2A32"/>
            </a:solidFill>
            <a:prstDash val="solid"/>
          </a:ln>
        </p:spPr>
      </p:sp>
      <p:sp>
        <p:nvSpPr>
          <p:cNvPr id="32" name="mbr"/>
          <p:cNvSpPr/>
          <p:nvPr/>
        </p:nvSpPr>
        <p:spPr>
          <a:xfrm>
            <a:off x="8311896" y="5385816"/>
            <a:ext cx="73152" cy="0"/>
          </a:xfrm>
          <a:prstGeom prst="line">
            <a:avLst/>
          </a:prstGeom>
          <a:noFill/>
          <a:ln w="15875">
            <a:solidFill>
              <a:srgbClr val="1E2A32"/>
            </a:solidFill>
            <a:prstDash val="solid"/>
          </a:ln>
        </p:spPr>
      </p:sp>
      <p:sp>
        <p:nvSpPr>
          <p:cNvPr id="33" name="mlab"/>
          <p:cNvSpPr txBox="1"/>
          <p:nvPr/>
        </p:nvSpPr>
        <p:spPr>
          <a:xfrm>
            <a:off x="7543800" y="396849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g₁</a:t>
            </a:r>
            <a:endParaRPr lang="en-US" sz="1300" dirty="0"/>
          </a:p>
        </p:txBody>
      </p:sp>
      <p:sp>
        <p:nvSpPr>
          <p:cNvPr id="34" name="mlab"/>
          <p:cNvSpPr txBox="1"/>
          <p:nvPr/>
        </p:nvSpPr>
        <p:spPr>
          <a:xfrm>
            <a:off x="7927848" y="3968496"/>
            <a:ext cx="475488"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g₂</a:t>
            </a:r>
            <a:endParaRPr lang="en-US" sz="1300" dirty="0"/>
          </a:p>
        </p:txBody>
      </p:sp>
      <p:sp>
        <p:nvSpPr>
          <p:cNvPr id="35" name="mlab"/>
          <p:cNvSpPr txBox="1"/>
          <p:nvPr/>
        </p:nvSpPr>
        <p:spPr>
          <a:xfrm>
            <a:off x="7187184" y="4206240"/>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e₀</a:t>
            </a:r>
            <a:endParaRPr lang="en-US" sz="1300" dirty="0"/>
          </a:p>
        </p:txBody>
      </p:sp>
      <p:sp>
        <p:nvSpPr>
          <p:cNvPr id="36" name="mlab"/>
          <p:cNvSpPr txBox="1"/>
          <p:nvPr/>
        </p:nvSpPr>
        <p:spPr>
          <a:xfrm>
            <a:off x="7187184" y="4590288"/>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e₁</a:t>
            </a:r>
            <a:endParaRPr lang="en-US" sz="1300" dirty="0"/>
          </a:p>
        </p:txBody>
      </p:sp>
      <p:sp>
        <p:nvSpPr>
          <p:cNvPr id="37" name="mlab"/>
          <p:cNvSpPr txBox="1"/>
          <p:nvPr/>
        </p:nvSpPr>
        <p:spPr>
          <a:xfrm>
            <a:off x="7187184" y="4974336"/>
            <a:ext cx="347472" cy="384048"/>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e₂</a:t>
            </a:r>
            <a:endParaRPr lang="en-US" sz="1300" dirty="0"/>
          </a:p>
        </p:txBody>
      </p:sp>
      <p:sp>
        <p:nvSpPr>
          <p:cNvPr id="38" name="mname"/>
          <p:cNvSpPr txBox="1"/>
          <p:nvPr/>
        </p:nvSpPr>
        <p:spPr>
          <a:xfrm>
            <a:off x="7315200" y="5413248"/>
            <a:ext cx="1316736"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G</a:t>
            </a:r>
            <a:endParaRPr lang="en-US" sz="1300" dirty="0"/>
          </a:p>
        </p:txBody>
      </p:sp>
      <p:sp>
        <p:nvSpPr>
          <p:cNvPr id="39" name="callout"/>
          <p:cNvSpPr/>
          <p:nvPr/>
        </p:nvSpPr>
        <p:spPr>
          <a:xfrm>
            <a:off x="8723376" y="4160520"/>
            <a:ext cx="2980944" cy="1097280"/>
          </a:xfrm>
          <a:prstGeom prst="roundRect">
            <a:avLst>
              <a:gd name="adj" fmla="val 6667"/>
            </a:avLst>
          </a:prstGeom>
          <a:solidFill>
            <a:srgbClr val="DDEFF1"/>
          </a:solidFill>
          <a:ln/>
        </p:spPr>
      </p:sp>
      <p:sp>
        <p:nvSpPr>
          <p:cNvPr id="40" name="callout-text"/>
          <p:cNvSpPr txBox="1"/>
          <p:nvPr/>
        </p:nvSpPr>
        <p:spPr>
          <a:xfrm>
            <a:off x="8860536" y="4215384"/>
            <a:ext cx="2706624" cy="98755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span(V ∪ I ∪ G) = elements in shuffle round 1</a:t>
            </a:r>
            <a:endParaRPr lang="en-US" sz="1400" dirty="0"/>
          </a:p>
        </p:txBody>
      </p:sp>
      <p:sp>
        <p:nvSpPr>
          <p:cNvPr id="41" name="tag"/>
          <p:cNvSpPr txBox="1"/>
          <p:nvPr/>
        </p:nvSpPr>
        <p:spPr>
          <a:xfrm>
            <a:off x="502920" y="5303520"/>
            <a:ext cx="128016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Figure 4 example</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INTRA-WARP DATA EXCHANGE (FIGURE 4)</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Warp shuffles, step 2: cosets of span(G) are the rounds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and Figure 4, p. 140</a:t>
            </a:r>
            <a:endParaRPr lang="en-US" sz="1000" dirty="0"/>
          </a:p>
        </p:txBody>
      </p:sp>
      <p:pic>
        <p:nvPicPr>
          <p:cNvPr id="6" name="fig-fig4_left" descr="Figure 4 left: shuffle rounds s(1), s(2)">    </p:cNvPr>
          <p:cNvPicPr>
            <a:picLocks noChangeAspect="1"/>
          </p:cNvPicPr>
          <p:nvPr/>
        </p:nvPicPr>
        <p:blipFill>
          <a:blip r:embed="rId1"/>
          <a:stretch>
            <a:fillRect/>
          </a:stretch>
        </p:blipFill>
        <p:spPr>
          <a:xfrm>
            <a:off x="564176" y="1280160"/>
            <a:ext cx="4083728" cy="2103120"/>
          </a:xfrm>
          <a:prstGeom prst="rect">
            <a:avLst/>
          </a:prstGeom>
        </p:spPr>
      </p:pic>
      <p:sp>
        <p:nvSpPr>
          <p:cNvPr id="7" name="caption"/>
          <p:cNvSpPr txBox="1"/>
          <p:nvPr/>
        </p:nvSpPr>
        <p:spPr>
          <a:xfrm>
            <a:off x="564176" y="3429000"/>
            <a:ext cx="420624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4</a:t>
            </a:r>
            <a:r>
              <a:rPr lang="en-US" sz="1100" dirty="0">
                <a:solidFill>
                  <a:srgbClr val="5B6770"/>
                </a:solidFill>
                <a:latin typeface="Calibri" pitchFamily="34" charset="0"/>
                <a:ea typeface="Calibri" pitchFamily="34" charset="-122"/>
                <a:cs typeface="Calibri" pitchFamily="34" charset="-120"/>
              </a:rPr>
              <a:t> (left): s(1), s(2) = shuffle rounds.</a:t>
            </a:r>
            <a:endParaRPr lang="en-US" sz="1100" dirty="0"/>
          </a:p>
        </p:txBody>
      </p:sp>
      <p:sp>
        <p:nvSpPr>
          <p:cNvPr id="8" name="Text 4"/>
          <p:cNvSpPr txBox="1"/>
          <p:nvPr/>
        </p:nvSpPr>
        <p:spPr>
          <a:xfrm>
            <a:off x="502920" y="3886200"/>
            <a:ext cx="4480560" cy="1371600"/>
          </a:xfrm>
          <a:prstGeom prst="rect">
            <a:avLst/>
          </a:prstGeom>
          <a:noFill/>
          <a:ln/>
        </p:spPr>
        <p:txBody>
          <a:bodyPr wrap="square" lIns="0" tIns="0" rIns="0" bIns="0" rtlCol="0" anchor="t"/>
          <a:lstStyle/>
          <a:p>
            <a:pPr indent="0" marL="0">
              <a:buNone/>
            </a:pPr>
            <a:r>
              <a:rPr lang="en-US" sz="1400" b="1" dirty="0">
                <a:solidFill>
                  <a:srgbClr val="1E2A32"/>
                </a:solidFill>
                <a:latin typeface="Calibri" pitchFamily="34" charset="0"/>
                <a:ea typeface="Calibri" pitchFamily="34" charset="-122"/>
                <a:cs typeface="Calibri" pitchFamily="34" charset="-120"/>
              </a:rPr>
              <a:t>span(G) = {000, 110, 011, 101} = {0, 3, 6, 5}</a:t>
            </a:r>
            <a:endParaRPr lang="en-US" sz="1400" dirty="0"/>
          </a:p>
          <a:p>
            <a:pPr indent="0" marL="0">
              <a:buNone/>
            </a:pPr>
            <a:r>
              <a:rPr lang="en-US" sz="1400" dirty="0">
                <a:solidFill>
                  <a:srgbClr val="1E2A32"/>
                </a:solidFill>
                <a:latin typeface="Calibri" pitchFamily="34" charset="0"/>
                <a:ea typeface="Calibri" pitchFamily="34" charset="-122"/>
                <a:cs typeface="Calibri" pitchFamily="34" charset="-120"/>
              </a:rPr>
              <a:t>R(0) = 000,  R(1) = 010 (text) or 100 (figure)</a:t>
            </a:r>
            <a:endParaRPr lang="en-US" sz="1400" dirty="0"/>
          </a:p>
          <a:p>
            <a:pPr indent="0" marL="0">
              <a:buNone/>
            </a:pPr>
            <a:r>
              <a:rPr lang="en-US" sz="1400" dirty="0">
                <a:solidFill>
                  <a:srgbClr val="5B6770"/>
                </a:solidFill>
                <a:latin typeface="Calibri" pitchFamily="34" charset="0"/>
                <a:ea typeface="Calibri" pitchFamily="34" charset="-122"/>
                <a:cs typeface="Calibri" pitchFamily="34" charset="-120"/>
              </a:rPr>
              <a:t>→ same coset, since 010 ⊕ 100 = 110 ∈ span(G)</a:t>
            </a:r>
            <a:endParaRPr lang="en-US" sz="1400" dirty="0"/>
          </a:p>
          <a:p>
            <a:pPr indent="0" marL="0">
              <a:buNone/>
            </a:pPr>
            <a:r>
              <a:rPr lang="en-US" sz="1400" b="1" dirty="0">
                <a:solidFill>
                  <a:srgbClr val="1E2A32"/>
                </a:solidFill>
                <a:latin typeface="Calibri" pitchFamily="34" charset="0"/>
                <a:ea typeface="Calibri" pitchFamily="34" charset="-122"/>
                <a:cs typeface="Calibri" pitchFamily="34" charset="-120"/>
              </a:rPr>
              <a:t>2^|R| = 2 rounds; each round = one coset</a:t>
            </a:r>
            <a:endParaRPr lang="en-US" sz="1400" dirty="0"/>
          </a:p>
        </p:txBody>
      </p:sp>
      <p:sp>
        <p:nvSpPr>
          <p:cNvPr id="9" name="Text 5"/>
          <p:cNvSpPr txBox="1"/>
          <p:nvPr/>
        </p:nvSpPr>
        <p:spPr>
          <a:xfrm>
            <a:off x="5257800" y="1280160"/>
            <a:ext cx="310896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Round 1: {0, 3, 6, 5}</a:t>
            </a:r>
            <a:endParaRPr lang="en-US" sz="1500" dirty="0"/>
          </a:p>
        </p:txBody>
      </p:sp>
      <p:graphicFrame>
        <p:nvGraphicFramePr>
          <p:cNvPr id="47" name="table"/>
          <p:cNvGraphicFramePr>
            <a:graphicFrameLocks noGrp="1"/>
          </p:cNvGraphicFramePr>
          <p:nvPr>
            <p:extLst>
              <p:ext uri="{D42A27DB-BD31-4B8C-83A1-F6EECF244321}">
                <p14:modId xmlns:p14="http://schemas.microsoft.com/office/powerpoint/2010/main" val="1579011935"/>
              </p:ext>
            </p:extLst>
          </p:nvPr>
        </p:nvGraphicFramePr>
        <p:xfrm>
          <a:off x="5257800" y="1645920"/>
          <a:ext cx="3017520" cy="914400"/>
        </p:xfrm>
        <a:graphic>
          <a:graphicData uri="http://schemas.openxmlformats.org/drawingml/2006/table">
            <a:tbl>
              <a:tblPr/>
              <a:tblGrid>
                <a:gridCol w="731520"/>
                <a:gridCol w="1143000"/>
                <a:gridCol w="1143000"/>
              </a:tblGrid>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elem</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from (A)</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to (B)</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t0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5B6770"/>
                          </a:solidFill>
                          <a:latin typeface="Calibri" pitchFamily="34" charset="0"/>
                          <a:ea typeface="Calibri" pitchFamily="34" charset="-122"/>
                          <a:cs typeface="Calibri" pitchFamily="34" charset="-120"/>
                        </a:rPr>
                        <a:t>t0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t1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t3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t3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t2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t2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t1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bl>
          </a:graphicData>
        </a:graphic>
      </p:graphicFrame>
      <p:sp>
        <p:nvSpPr>
          <p:cNvPr id="11" name="Text 6"/>
          <p:cNvSpPr txBox="1"/>
          <p:nvPr/>
        </p:nvSpPr>
        <p:spPr>
          <a:xfrm>
            <a:off x="8549640" y="1280160"/>
            <a:ext cx="310896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Round 2: {2, 1, 4, 7}</a:t>
            </a:r>
            <a:endParaRPr lang="en-US" sz="1500" dirty="0"/>
          </a:p>
        </p:txBody>
      </p:sp>
      <p:graphicFrame>
        <p:nvGraphicFramePr>
          <p:cNvPr id="93" name="table"/>
          <p:cNvGraphicFramePr>
            <a:graphicFrameLocks noGrp="1"/>
          </p:cNvGraphicFramePr>
          <p:nvPr>
            <p:extLst>
              <p:ext uri="{D42A27DB-BD31-4B8C-83A1-F6EECF244321}">
                <p14:modId xmlns:p14="http://schemas.microsoft.com/office/powerpoint/2010/main" val="1579011935"/>
              </p:ext>
            </p:extLst>
          </p:nvPr>
        </p:nvGraphicFramePr>
        <p:xfrm>
          <a:off x="8549640" y="1645920"/>
          <a:ext cx="3017520" cy="914400"/>
        </p:xfrm>
        <a:graphic>
          <a:graphicData uri="http://schemas.openxmlformats.org/drawingml/2006/table">
            <a:tbl>
              <a:tblPr/>
              <a:tblGrid>
                <a:gridCol w="731520"/>
                <a:gridCol w="1143000"/>
                <a:gridCol w="1143000"/>
              </a:tblGrid>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elem</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from (A)</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to (B)</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t1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t2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t0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t1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t2 r0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t0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DDEFF1"/>
                    </a:solidFill>
                  </a:tcPr>
                </a:tc>
              </a:tr>
              <a:tr h="365760">
                <a:tc>
                  <a:txBody>
                    <a:bodyPr/>
                    <a:lstStyle/>
                    <a:p>
                      <a:pPr algn="ctr" indent="0" marL="0">
                        <a:buNone/>
                      </a:pPr>
                      <a:r>
                        <a:rPr lang="en-US" sz="1400" b="1" dirty="0">
                          <a:solidFill>
                            <a:srgbClr val="1E2A32"/>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1E2A32"/>
                          </a:solidFill>
                          <a:latin typeface="Calibri" pitchFamily="34" charset="0"/>
                          <a:ea typeface="Calibri" pitchFamily="34" charset="-122"/>
                          <a:cs typeface="Calibri" pitchFamily="34" charset="-120"/>
                        </a:rPr>
                        <a:t>t3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400" dirty="0">
                          <a:solidFill>
                            <a:srgbClr val="5B6770"/>
                          </a:solidFill>
                          <a:latin typeface="Calibri" pitchFamily="34" charset="0"/>
                          <a:ea typeface="Calibri" pitchFamily="34" charset="-122"/>
                          <a:cs typeface="Calibri" pitchFamily="34" charset="-120"/>
                        </a:rPr>
                        <a:t>t3 r1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13" name="callout"/>
          <p:cNvSpPr/>
          <p:nvPr/>
        </p:nvSpPr>
        <p:spPr>
          <a:xfrm>
            <a:off x="5257800" y="3749040"/>
            <a:ext cx="6446520" cy="1005840"/>
          </a:xfrm>
          <a:prstGeom prst="roundRect">
            <a:avLst>
              <a:gd name="adj" fmla="val 7273"/>
            </a:avLst>
          </a:prstGeom>
          <a:solidFill>
            <a:srgbClr val="E3F2E4"/>
          </a:solidFill>
          <a:ln/>
        </p:spPr>
      </p:sp>
      <p:sp>
        <p:nvSpPr>
          <p:cNvPr id="14" name="callout-text"/>
          <p:cNvSpPr txBox="1"/>
          <p:nvPr/>
        </p:nvSpPr>
        <p:spPr>
          <a:xfrm>
            <a:off x="5394960" y="3803904"/>
            <a:ext cx="6172200" cy="896112"/>
          </a:xfrm>
          <a:prstGeom prst="rect">
            <a:avLst/>
          </a:prstGeom>
          <a:noFill/>
          <a:ln/>
        </p:spPr>
        <p:txBody>
          <a:bodyPr wrap="square" lIns="0" tIns="0" rIns="0" bIns="0" rtlCol="0" anchor="ctr"/>
          <a:lstStyle/>
          <a:p>
            <a:pPr algn="l" indent="0" marL="0">
              <a:buNone/>
            </a:pPr>
            <a:r>
              <a:rPr lang="en-US" sz="1500" dirty="0">
                <a:solidFill>
                  <a:srgbClr val="2E7D32"/>
                </a:solidFill>
                <a:latin typeface="Calibri" pitchFamily="34" charset="0"/>
                <a:ea typeface="Calibri" pitchFamily="34" charset="-122"/>
                <a:cs typeface="Calibri" pitchFamily="34" charset="-120"/>
              </a:rPr>
              <a:t>Each round: </a:t>
            </a:r>
            <a:r>
              <a:rPr lang="en-US" sz="1500" b="1" dirty="0">
                <a:solidFill>
                  <a:srgbClr val="2E7D32"/>
                </a:solidFill>
                <a:latin typeface="Calibri" pitchFamily="34" charset="0"/>
                <a:ea typeface="Calibri" pitchFamily="34" charset="-122"/>
                <a:cs typeface="Calibri" pitchFamily="34" charset="-120"/>
              </a:rPr>
              <a:t>every thread sends one value and receives one</a:t>
            </a:r>
            <a:r>
              <a:rPr lang="en-US" sz="1500" dirty="0">
                <a:solidFill>
                  <a:srgbClr val="2E7D32"/>
                </a:solidFill>
                <a:latin typeface="Calibri" pitchFamily="34" charset="0"/>
                <a:ea typeface="Calibri" pitchFamily="34" charset="-122"/>
                <a:cs typeface="Calibri" pitchFamily="34" charset="-120"/>
              </a:rPr>
              <a:t> (sources distinct, destinations distinct) → one warp shuffle per round, no shared memory.</a:t>
            </a:r>
            <a:endParaRPr lang="en-US" sz="1500" dirty="0"/>
          </a:p>
        </p:txBody>
      </p:sp>
      <p:sp>
        <p:nvSpPr>
          <p:cNvPr id="15" name="Text 9"/>
          <p:cNvSpPr txBox="1"/>
          <p:nvPr/>
        </p:nvSpPr>
        <p:spPr>
          <a:xfrm>
            <a:off x="5257800" y="4892040"/>
            <a:ext cx="640080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Grey = value already in the right thread (only the register changes).</a:t>
            </a:r>
            <a:endParaRPr lang="en-US" sz="1200" dirty="0"/>
          </a:p>
        </p:txBody>
      </p:sp>
      <p:sp>
        <p:nvSpPr>
          <p:cNvPr id="16" name="tag"/>
          <p:cNvSpPr txBox="1"/>
          <p:nvPr/>
        </p:nvSpPr>
        <p:spPr>
          <a:xfrm>
            <a:off x="502920" y="5760720"/>
            <a:ext cx="128016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Figure 4 example</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OPTIMAL SWIZZLING</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Bank conflicts in the linear-layout language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“Optimal Swizzling” and Figure 5 (1)–(2), pp. 140–141</a:t>
            </a:r>
            <a:endParaRPr lang="en-US" sz="1000" dirty="0"/>
          </a:p>
        </p:txBody>
      </p:sp>
      <p:pic>
        <p:nvPicPr>
          <p:cNvPr id="6" name="fig-fig5_p12" descr="Figure 5 panels 1 and 2">    </p:cNvPr>
          <p:cNvPicPr>
            <a:picLocks noChangeAspect="1"/>
          </p:cNvPicPr>
          <p:nvPr/>
        </p:nvPicPr>
        <p:blipFill>
          <a:blip r:embed="rId1"/>
          <a:stretch>
            <a:fillRect/>
          </a:stretch>
        </p:blipFill>
        <p:spPr>
          <a:xfrm>
            <a:off x="507838" y="1234440"/>
            <a:ext cx="3007684" cy="3931920"/>
          </a:xfrm>
          <a:prstGeom prst="rect">
            <a:avLst/>
          </a:prstGeom>
        </p:spPr>
      </p:pic>
      <p:sp>
        <p:nvSpPr>
          <p:cNvPr id="7" name="caption"/>
          <p:cNvSpPr txBox="1"/>
          <p:nvPr/>
        </p:nvSpPr>
        <p:spPr>
          <a:xfrm>
            <a:off x="507838" y="5212080"/>
            <a:ext cx="310896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5</a:t>
            </a:r>
            <a:r>
              <a:rPr lang="en-US" sz="1100" dirty="0">
                <a:solidFill>
                  <a:srgbClr val="5B6770"/>
                </a:solidFill>
                <a:latin typeface="Calibri" pitchFamily="34" charset="0"/>
                <a:ea typeface="Calibri" pitchFamily="34" charset="-122"/>
                <a:cs typeface="Calibri" pitchFamily="34" charset="-120"/>
              </a:rPr>
              <a:t> (1) no conflicts, (2) 2-way conflicts.</a:t>
            </a:r>
            <a:endParaRPr lang="en-US" sz="1100" dirty="0"/>
          </a:p>
        </p:txBody>
      </p:sp>
      <p:sp>
        <p:nvSpPr>
          <p:cNvPr id="8" name="callout"/>
          <p:cNvSpPr/>
          <p:nvPr/>
        </p:nvSpPr>
        <p:spPr>
          <a:xfrm>
            <a:off x="3840480" y="1234440"/>
            <a:ext cx="7863840" cy="1051560"/>
          </a:xfrm>
          <a:prstGeom prst="roundRect">
            <a:avLst>
              <a:gd name="adj" fmla="val 6957"/>
            </a:avLst>
          </a:prstGeom>
          <a:solidFill>
            <a:srgbClr val="DDEFF1"/>
          </a:solidFill>
          <a:ln/>
        </p:spPr>
      </p:sp>
      <p:sp>
        <p:nvSpPr>
          <p:cNvPr id="9" name="callout-text"/>
          <p:cNvSpPr txBox="1"/>
          <p:nvPr/>
        </p:nvSpPr>
        <p:spPr>
          <a:xfrm>
            <a:off x="3977640" y="1289304"/>
            <a:ext cx="7589520" cy="941832"/>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M : Vec × Bank × Seg → tensor.</a:t>
            </a:r>
            <a:r>
              <a:rPr lang="en-US" sz="1500" dirty="0">
                <a:solidFill>
                  <a:srgbClr val="0A4F58"/>
                </a:solidFill>
                <a:latin typeface="Calibri" pitchFamily="34" charset="0"/>
                <a:ea typeface="Calibri" pitchFamily="34" charset="-122"/>
                <a:cs typeface="Calibri" pitchFamily="34" charset="-120"/>
              </a:rPr>
              <a:t>  Same bank, different segment ⇔ logical difference ∈ span(M_Seg).</a:t>
            </a:r>
            <a:endParaRPr lang="en-US" sz="1500" dirty="0"/>
          </a:p>
          <a:p>
            <a:pPr algn="l" indent="0" marL="0">
              <a:buNone/>
            </a:pPr>
            <a:r>
              <a:rPr lang="en-US" sz="1500" dirty="0">
                <a:solidFill>
                  <a:srgbClr val="0A4F58"/>
                </a:solidFill>
                <a:latin typeface="Calibri" pitchFamily="34" charset="0"/>
                <a:ea typeface="Calibri" pitchFamily="34" charset="-122"/>
                <a:cs typeface="Calibri" pitchFamily="34" charset="-120"/>
              </a:rPr>
              <a:t>No bank conflicts ⇔ </a:t>
            </a:r>
            <a:endParaRPr lang="en-US" sz="1500" dirty="0"/>
          </a:p>
          <a:p>
            <a:pPr algn="l" indent="0" marL="0">
              <a:buNone/>
            </a:pPr>
            <a:r>
              <a:rPr lang="en-US" sz="1500" b="1" dirty="0">
                <a:solidFill>
                  <a:srgbClr val="0A4F58"/>
                </a:solidFill>
                <a:latin typeface="Calibri" pitchFamily="34" charset="0"/>
                <a:ea typeface="Calibri" pitchFamily="34" charset="-122"/>
                <a:cs typeface="Calibri" pitchFamily="34" charset="-120"/>
              </a:rPr>
              <a:t>P ∩ span(M_Seg) = {0}</a:t>
            </a:r>
            <a:r>
              <a:rPr lang="en-US" sz="1500" dirty="0">
                <a:solidFill>
                  <a:srgbClr val="0A4F58"/>
                </a:solidFill>
                <a:latin typeface="Calibri" pitchFamily="34" charset="0"/>
                <a:ea typeface="Calibri" pitchFamily="34" charset="-122"/>
                <a:cs typeface="Calibri" pitchFamily="34" charset="-120"/>
              </a:rPr>
              <a:t>, where P spans what one transaction accesses.</a:t>
            </a:r>
            <a:endParaRPr lang="en-US" sz="1500" dirty="0"/>
          </a:p>
        </p:txBody>
      </p:sp>
      <p:sp>
        <p:nvSpPr>
          <p:cNvPr id="10" name="panel"/>
          <p:cNvSpPr/>
          <p:nvPr/>
        </p:nvSpPr>
        <p:spPr>
          <a:xfrm>
            <a:off x="3840480" y="2514600"/>
            <a:ext cx="3794760" cy="3154680"/>
          </a:xfrm>
          <a:prstGeom prst="roundRect">
            <a:avLst>
              <a:gd name="adj" fmla="val 2319"/>
            </a:avLst>
          </a:prstGeom>
          <a:solidFill>
            <a:srgbClr val="E3F2E4"/>
          </a:solidFill>
          <a:ln/>
        </p:spPr>
      </p:sp>
      <p:sp>
        <p:nvSpPr>
          <p:cNvPr id="11" name="Text 7"/>
          <p:cNvSpPr txBox="1"/>
          <p:nvPr/>
        </p:nvSpPr>
        <p:spPr>
          <a:xfrm>
            <a:off x="3977640" y="2578608"/>
            <a:ext cx="3566160" cy="274320"/>
          </a:xfrm>
          <a:prstGeom prst="rect">
            <a:avLst/>
          </a:prstGeom>
          <a:noFill/>
          <a:ln/>
        </p:spPr>
        <p:txBody>
          <a:bodyPr wrap="square" lIns="0" tIns="0" rIns="0" bIns="0" rtlCol="0" anchor="t"/>
          <a:lstStyle/>
          <a:p>
            <a:pPr indent="0" marL="0">
              <a:buNone/>
            </a:pPr>
            <a:r>
              <a:rPr lang="en-US" sz="1500" b="1" dirty="0">
                <a:solidFill>
                  <a:srgbClr val="2E7D32"/>
                </a:solidFill>
                <a:latin typeface="Calibri" pitchFamily="34" charset="0"/>
                <a:ea typeface="Calibri" pitchFamily="34" charset="-122"/>
                <a:cs typeface="Calibri" pitchFamily="34" charset="-120"/>
              </a:rPr>
              <a:t>(1) segment bit = r</a:t>
            </a:r>
            <a:endParaRPr lang="en-US" sz="1500" dirty="0"/>
          </a:p>
        </p:txBody>
      </p:sp>
      <p:sp>
        <p:nvSpPr>
          <p:cNvPr id="12" name="mcell"/>
          <p:cNvSpPr txBox="1"/>
          <p:nvPr/>
        </p:nvSpPr>
        <p:spPr>
          <a:xfrm>
            <a:off x="4434840" y="324612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3" name="mcell"/>
          <p:cNvSpPr txBox="1"/>
          <p:nvPr/>
        </p:nvSpPr>
        <p:spPr>
          <a:xfrm>
            <a:off x="4764024"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 name="mcell"/>
          <p:cNvSpPr txBox="1"/>
          <p:nvPr/>
        </p:nvSpPr>
        <p:spPr>
          <a:xfrm>
            <a:off x="5093208"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 name="mcell"/>
          <p:cNvSpPr txBox="1"/>
          <p:nvPr/>
        </p:nvSpPr>
        <p:spPr>
          <a:xfrm>
            <a:off x="4434840" y="357530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 name="mcell"/>
          <p:cNvSpPr txBox="1"/>
          <p:nvPr/>
        </p:nvSpPr>
        <p:spPr>
          <a:xfrm>
            <a:off x="4764024" y="3575304"/>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7" name="mcell"/>
          <p:cNvSpPr txBox="1"/>
          <p:nvPr/>
        </p:nvSpPr>
        <p:spPr>
          <a:xfrm>
            <a:off x="5093208" y="357530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8" name="mbr"/>
          <p:cNvSpPr/>
          <p:nvPr/>
        </p:nvSpPr>
        <p:spPr>
          <a:xfrm>
            <a:off x="4407408" y="3218688"/>
            <a:ext cx="0" cy="713232"/>
          </a:xfrm>
          <a:prstGeom prst="line">
            <a:avLst/>
          </a:prstGeom>
          <a:noFill/>
          <a:ln w="15875">
            <a:solidFill>
              <a:srgbClr val="1E2A32"/>
            </a:solidFill>
            <a:prstDash val="solid"/>
          </a:ln>
        </p:spPr>
      </p:sp>
      <p:sp>
        <p:nvSpPr>
          <p:cNvPr id="19" name="mbr"/>
          <p:cNvSpPr/>
          <p:nvPr/>
        </p:nvSpPr>
        <p:spPr>
          <a:xfrm>
            <a:off x="4407408" y="3218688"/>
            <a:ext cx="73152" cy="0"/>
          </a:xfrm>
          <a:prstGeom prst="line">
            <a:avLst/>
          </a:prstGeom>
          <a:noFill/>
          <a:ln w="15875">
            <a:solidFill>
              <a:srgbClr val="1E2A32"/>
            </a:solidFill>
            <a:prstDash val="solid"/>
          </a:ln>
        </p:spPr>
      </p:sp>
      <p:sp>
        <p:nvSpPr>
          <p:cNvPr id="20" name="mbr"/>
          <p:cNvSpPr/>
          <p:nvPr/>
        </p:nvSpPr>
        <p:spPr>
          <a:xfrm>
            <a:off x="4407408" y="3931920"/>
            <a:ext cx="73152" cy="0"/>
          </a:xfrm>
          <a:prstGeom prst="line">
            <a:avLst/>
          </a:prstGeom>
          <a:noFill/>
          <a:ln w="15875">
            <a:solidFill>
              <a:srgbClr val="1E2A32"/>
            </a:solidFill>
            <a:prstDash val="solid"/>
          </a:ln>
        </p:spPr>
      </p:sp>
      <p:sp>
        <p:nvSpPr>
          <p:cNvPr id="21" name="mbr"/>
          <p:cNvSpPr/>
          <p:nvPr/>
        </p:nvSpPr>
        <p:spPr>
          <a:xfrm>
            <a:off x="5449824" y="3218688"/>
            <a:ext cx="0" cy="713232"/>
          </a:xfrm>
          <a:prstGeom prst="line">
            <a:avLst/>
          </a:prstGeom>
          <a:noFill/>
          <a:ln w="15875">
            <a:solidFill>
              <a:srgbClr val="1E2A32"/>
            </a:solidFill>
            <a:prstDash val="solid"/>
          </a:ln>
        </p:spPr>
      </p:sp>
      <p:sp>
        <p:nvSpPr>
          <p:cNvPr id="22" name="mbr"/>
          <p:cNvSpPr/>
          <p:nvPr/>
        </p:nvSpPr>
        <p:spPr>
          <a:xfrm>
            <a:off x="5376672" y="3218688"/>
            <a:ext cx="73152" cy="0"/>
          </a:xfrm>
          <a:prstGeom prst="line">
            <a:avLst/>
          </a:prstGeom>
          <a:noFill/>
          <a:ln w="15875">
            <a:solidFill>
              <a:srgbClr val="1E2A32"/>
            </a:solidFill>
            <a:prstDash val="solid"/>
          </a:ln>
        </p:spPr>
      </p:sp>
      <p:sp>
        <p:nvSpPr>
          <p:cNvPr id="23" name="mbr"/>
          <p:cNvSpPr/>
          <p:nvPr/>
        </p:nvSpPr>
        <p:spPr>
          <a:xfrm>
            <a:off x="5376672" y="3931920"/>
            <a:ext cx="73152" cy="0"/>
          </a:xfrm>
          <a:prstGeom prst="line">
            <a:avLst/>
          </a:prstGeom>
          <a:noFill/>
          <a:ln w="15875">
            <a:solidFill>
              <a:srgbClr val="1E2A32"/>
            </a:solidFill>
            <a:prstDash val="solid"/>
          </a:ln>
        </p:spPr>
      </p:sp>
      <p:sp>
        <p:nvSpPr>
          <p:cNvPr id="24" name="mlab"/>
          <p:cNvSpPr txBox="1"/>
          <p:nvPr/>
        </p:nvSpPr>
        <p:spPr>
          <a:xfrm>
            <a:off x="4389120"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c₀</a:t>
            </a:r>
            <a:endParaRPr lang="en-US" sz="1100" dirty="0"/>
          </a:p>
        </p:txBody>
      </p:sp>
      <p:sp>
        <p:nvSpPr>
          <p:cNvPr id="25" name="mlab"/>
          <p:cNvSpPr txBox="1"/>
          <p:nvPr/>
        </p:nvSpPr>
        <p:spPr>
          <a:xfrm>
            <a:off x="4718304"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c₁</a:t>
            </a:r>
            <a:endParaRPr lang="en-US" sz="1100" dirty="0"/>
          </a:p>
        </p:txBody>
      </p:sp>
      <p:sp>
        <p:nvSpPr>
          <p:cNvPr id="26" name="mlab"/>
          <p:cNvSpPr txBox="1"/>
          <p:nvPr/>
        </p:nvSpPr>
        <p:spPr>
          <a:xfrm>
            <a:off x="5047488"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a:t>
            </a:r>
            <a:endParaRPr lang="en-US" sz="1100" dirty="0"/>
          </a:p>
        </p:txBody>
      </p:sp>
      <p:sp>
        <p:nvSpPr>
          <p:cNvPr id="27" name="mlab"/>
          <p:cNvSpPr txBox="1"/>
          <p:nvPr/>
        </p:nvSpPr>
        <p:spPr>
          <a:xfrm>
            <a:off x="4032504" y="3246120"/>
            <a:ext cx="347472" cy="329184"/>
          </a:xfrm>
          <a:prstGeom prst="rect">
            <a:avLst/>
          </a:prstGeom>
          <a:noFill/>
          <a:ln/>
        </p:spPr>
        <p:txBody>
          <a:bodyPr wrap="square" lIns="0" tIns="0" rIns="0" bIns="0" rtlCol="0" anchor="ctr"/>
          <a:lstStyle/>
          <a:p>
            <a:pPr algn="r" indent="0" marL="0">
              <a:buNone/>
            </a:pPr>
            <a:endParaRPr lang="en-US" sz="1100" dirty="0"/>
          </a:p>
        </p:txBody>
      </p:sp>
      <p:sp>
        <p:nvSpPr>
          <p:cNvPr id="28" name="mlab"/>
          <p:cNvSpPr txBox="1"/>
          <p:nvPr/>
        </p:nvSpPr>
        <p:spPr>
          <a:xfrm>
            <a:off x="4032504" y="3575304"/>
            <a:ext cx="347472" cy="329184"/>
          </a:xfrm>
          <a:prstGeom prst="rect">
            <a:avLst/>
          </a:prstGeom>
          <a:noFill/>
          <a:ln/>
        </p:spPr>
        <p:txBody>
          <a:bodyPr wrap="square" lIns="0" tIns="0" rIns="0" bIns="0" rtlCol="0" anchor="ctr"/>
          <a:lstStyle/>
          <a:p>
            <a:pPr algn="r" indent="0" marL="0">
              <a:buNone/>
            </a:pPr>
            <a:endParaRPr lang="en-US" sz="1100" dirty="0"/>
          </a:p>
        </p:txBody>
      </p:sp>
      <p:sp>
        <p:nvSpPr>
          <p:cNvPr id="29" name="mname"/>
          <p:cNvSpPr txBox="1"/>
          <p:nvPr/>
        </p:nvSpPr>
        <p:spPr>
          <a:xfrm>
            <a:off x="4160520" y="3959352"/>
            <a:ext cx="153619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A_Bank</a:t>
            </a:r>
            <a:endParaRPr lang="en-US" sz="1300" dirty="0"/>
          </a:p>
        </p:txBody>
      </p:sp>
      <p:sp>
        <p:nvSpPr>
          <p:cNvPr id="30" name="mcell"/>
          <p:cNvSpPr txBox="1"/>
          <p:nvPr/>
        </p:nvSpPr>
        <p:spPr>
          <a:xfrm>
            <a:off x="6263640"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1" name="mcell"/>
          <p:cNvSpPr txBox="1"/>
          <p:nvPr/>
        </p:nvSpPr>
        <p:spPr>
          <a:xfrm>
            <a:off x="6592824"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32" name="mcell"/>
          <p:cNvSpPr txBox="1"/>
          <p:nvPr/>
        </p:nvSpPr>
        <p:spPr>
          <a:xfrm>
            <a:off x="6922008" y="324612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33" name="mbr"/>
          <p:cNvSpPr/>
          <p:nvPr/>
        </p:nvSpPr>
        <p:spPr>
          <a:xfrm>
            <a:off x="6236208" y="3218688"/>
            <a:ext cx="0" cy="384048"/>
          </a:xfrm>
          <a:prstGeom prst="line">
            <a:avLst/>
          </a:prstGeom>
          <a:noFill/>
          <a:ln w="15875">
            <a:solidFill>
              <a:srgbClr val="1E2A32"/>
            </a:solidFill>
            <a:prstDash val="solid"/>
          </a:ln>
        </p:spPr>
      </p:sp>
      <p:sp>
        <p:nvSpPr>
          <p:cNvPr id="34" name="mbr"/>
          <p:cNvSpPr/>
          <p:nvPr/>
        </p:nvSpPr>
        <p:spPr>
          <a:xfrm>
            <a:off x="6236208" y="3218688"/>
            <a:ext cx="73152" cy="0"/>
          </a:xfrm>
          <a:prstGeom prst="line">
            <a:avLst/>
          </a:prstGeom>
          <a:noFill/>
          <a:ln w="15875">
            <a:solidFill>
              <a:srgbClr val="1E2A32"/>
            </a:solidFill>
            <a:prstDash val="solid"/>
          </a:ln>
        </p:spPr>
      </p:sp>
      <p:sp>
        <p:nvSpPr>
          <p:cNvPr id="35" name="mbr"/>
          <p:cNvSpPr/>
          <p:nvPr/>
        </p:nvSpPr>
        <p:spPr>
          <a:xfrm>
            <a:off x="6236208" y="3602736"/>
            <a:ext cx="73152" cy="0"/>
          </a:xfrm>
          <a:prstGeom prst="line">
            <a:avLst/>
          </a:prstGeom>
          <a:noFill/>
          <a:ln w="15875">
            <a:solidFill>
              <a:srgbClr val="1E2A32"/>
            </a:solidFill>
            <a:prstDash val="solid"/>
          </a:ln>
        </p:spPr>
      </p:sp>
      <p:sp>
        <p:nvSpPr>
          <p:cNvPr id="36" name="mbr"/>
          <p:cNvSpPr/>
          <p:nvPr/>
        </p:nvSpPr>
        <p:spPr>
          <a:xfrm>
            <a:off x="7278624" y="3218688"/>
            <a:ext cx="0" cy="384048"/>
          </a:xfrm>
          <a:prstGeom prst="line">
            <a:avLst/>
          </a:prstGeom>
          <a:noFill/>
          <a:ln w="15875">
            <a:solidFill>
              <a:srgbClr val="1E2A32"/>
            </a:solidFill>
            <a:prstDash val="solid"/>
          </a:ln>
        </p:spPr>
      </p:sp>
      <p:sp>
        <p:nvSpPr>
          <p:cNvPr id="37" name="mbr"/>
          <p:cNvSpPr/>
          <p:nvPr/>
        </p:nvSpPr>
        <p:spPr>
          <a:xfrm>
            <a:off x="7205472" y="3218688"/>
            <a:ext cx="73152" cy="0"/>
          </a:xfrm>
          <a:prstGeom prst="line">
            <a:avLst/>
          </a:prstGeom>
          <a:noFill/>
          <a:ln w="15875">
            <a:solidFill>
              <a:srgbClr val="1E2A32"/>
            </a:solidFill>
            <a:prstDash val="solid"/>
          </a:ln>
        </p:spPr>
      </p:sp>
      <p:sp>
        <p:nvSpPr>
          <p:cNvPr id="38" name="mbr"/>
          <p:cNvSpPr/>
          <p:nvPr/>
        </p:nvSpPr>
        <p:spPr>
          <a:xfrm>
            <a:off x="7205472" y="3602736"/>
            <a:ext cx="73152" cy="0"/>
          </a:xfrm>
          <a:prstGeom prst="line">
            <a:avLst/>
          </a:prstGeom>
          <a:noFill/>
          <a:ln w="15875">
            <a:solidFill>
              <a:srgbClr val="1E2A32"/>
            </a:solidFill>
            <a:prstDash val="solid"/>
          </a:ln>
        </p:spPr>
      </p:sp>
      <p:sp>
        <p:nvSpPr>
          <p:cNvPr id="39" name="mlab"/>
          <p:cNvSpPr txBox="1"/>
          <p:nvPr/>
        </p:nvSpPr>
        <p:spPr>
          <a:xfrm>
            <a:off x="6217920"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c₀</a:t>
            </a:r>
            <a:endParaRPr lang="en-US" sz="1100" dirty="0"/>
          </a:p>
        </p:txBody>
      </p:sp>
      <p:sp>
        <p:nvSpPr>
          <p:cNvPr id="40" name="mlab"/>
          <p:cNvSpPr txBox="1"/>
          <p:nvPr/>
        </p:nvSpPr>
        <p:spPr>
          <a:xfrm>
            <a:off x="6547104"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c₁</a:t>
            </a:r>
            <a:endParaRPr lang="en-US" sz="1100" dirty="0"/>
          </a:p>
        </p:txBody>
      </p:sp>
      <p:sp>
        <p:nvSpPr>
          <p:cNvPr id="41" name="mlab"/>
          <p:cNvSpPr txBox="1"/>
          <p:nvPr/>
        </p:nvSpPr>
        <p:spPr>
          <a:xfrm>
            <a:off x="6876288"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a:t>
            </a:r>
            <a:endParaRPr lang="en-US" sz="1100" dirty="0"/>
          </a:p>
        </p:txBody>
      </p:sp>
      <p:sp>
        <p:nvSpPr>
          <p:cNvPr id="42" name="mname"/>
          <p:cNvSpPr txBox="1"/>
          <p:nvPr/>
        </p:nvSpPr>
        <p:spPr>
          <a:xfrm>
            <a:off x="5989320" y="3630168"/>
            <a:ext cx="153619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M_Seg</a:t>
            </a:r>
            <a:endParaRPr lang="en-US" sz="1300" dirty="0"/>
          </a:p>
        </p:txBody>
      </p:sp>
      <p:sp>
        <p:nvSpPr>
          <p:cNvPr id="43" name="Text 39"/>
          <p:cNvSpPr txBox="1"/>
          <p:nvPr/>
        </p:nvSpPr>
        <p:spPr>
          <a:xfrm>
            <a:off x="3977640" y="4343400"/>
            <a:ext cx="3566160" cy="11887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span(A_Bank) = {000, 100, 010, 110}</a:t>
            </a:r>
            <a:endParaRPr lang="en-US" sz="1300" dirty="0"/>
          </a:p>
          <a:p>
            <a:pPr indent="0" marL="0">
              <a:buNone/>
            </a:pPr>
            <a:r>
              <a:rPr lang="en-US" sz="1300" dirty="0">
                <a:solidFill>
                  <a:srgbClr val="1E2A32"/>
                </a:solidFill>
                <a:latin typeface="Calibri" pitchFamily="34" charset="0"/>
                <a:ea typeface="Calibri" pitchFamily="34" charset="-122"/>
                <a:cs typeface="Calibri" pitchFamily="34" charset="-120"/>
              </a:rPr>
              <a:t>span(M_Seg) = {000, 001}</a:t>
            </a:r>
            <a:endParaRPr lang="en-US" sz="1300" dirty="0"/>
          </a:p>
          <a:p>
            <a:pPr indent="0" marL="0">
              <a:buNone/>
            </a:pPr>
            <a:r>
              <a:rPr lang="en-US" sz="1300" b="1" dirty="0">
                <a:solidFill>
                  <a:srgbClr val="1E2A32"/>
                </a:solidFill>
                <a:latin typeface="Calibri" pitchFamily="34" charset="0"/>
                <a:ea typeface="Calibri" pitchFamily="34" charset="-122"/>
                <a:cs typeface="Calibri" pitchFamily="34" charset="-120"/>
              </a:rPr>
              <a:t>∩ = {000}  →  conflict-free ✓</a:t>
            </a:r>
            <a:endParaRPr lang="en-US" sz="1300" dirty="0"/>
          </a:p>
        </p:txBody>
      </p:sp>
      <p:sp>
        <p:nvSpPr>
          <p:cNvPr id="44" name="panel"/>
          <p:cNvSpPr/>
          <p:nvPr/>
        </p:nvSpPr>
        <p:spPr>
          <a:xfrm>
            <a:off x="7863840" y="2514600"/>
            <a:ext cx="3794760" cy="3154680"/>
          </a:xfrm>
          <a:prstGeom prst="roundRect">
            <a:avLst>
              <a:gd name="adj" fmla="val 2319"/>
            </a:avLst>
          </a:prstGeom>
          <a:solidFill>
            <a:srgbClr val="FBE3E1"/>
          </a:solidFill>
          <a:ln/>
        </p:spPr>
      </p:sp>
      <p:sp>
        <p:nvSpPr>
          <p:cNvPr id="45" name="Text 41"/>
          <p:cNvSpPr txBox="1"/>
          <p:nvPr/>
        </p:nvSpPr>
        <p:spPr>
          <a:xfrm>
            <a:off x="8001000" y="2578608"/>
            <a:ext cx="3566160" cy="274320"/>
          </a:xfrm>
          <a:prstGeom prst="rect">
            <a:avLst/>
          </a:prstGeom>
          <a:noFill/>
          <a:ln/>
        </p:spPr>
        <p:txBody>
          <a:bodyPr wrap="square" lIns="0" tIns="0" rIns="0" bIns="0" rtlCol="0" anchor="t"/>
          <a:lstStyle/>
          <a:p>
            <a:pPr indent="0" marL="0">
              <a:buNone/>
            </a:pPr>
            <a:r>
              <a:rPr lang="en-US" sz="1500" b="1" dirty="0">
                <a:solidFill>
                  <a:srgbClr val="B3261E"/>
                </a:solidFill>
                <a:latin typeface="Calibri" pitchFamily="34" charset="0"/>
                <a:ea typeface="Calibri" pitchFamily="34" charset="-122"/>
                <a:cs typeface="Calibri" pitchFamily="34" charset="-120"/>
              </a:rPr>
              <a:t>(2) segment bit = c₁</a:t>
            </a:r>
            <a:endParaRPr lang="en-US" sz="1500" dirty="0"/>
          </a:p>
        </p:txBody>
      </p:sp>
      <p:sp>
        <p:nvSpPr>
          <p:cNvPr id="46" name="mcell"/>
          <p:cNvSpPr txBox="1"/>
          <p:nvPr/>
        </p:nvSpPr>
        <p:spPr>
          <a:xfrm>
            <a:off x="8458200" y="324612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7" name="mcell"/>
          <p:cNvSpPr txBox="1"/>
          <p:nvPr/>
        </p:nvSpPr>
        <p:spPr>
          <a:xfrm>
            <a:off x="8787384"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8" name="mcell"/>
          <p:cNvSpPr txBox="1"/>
          <p:nvPr/>
        </p:nvSpPr>
        <p:spPr>
          <a:xfrm>
            <a:off x="9116568"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9" name="mcell"/>
          <p:cNvSpPr txBox="1"/>
          <p:nvPr/>
        </p:nvSpPr>
        <p:spPr>
          <a:xfrm>
            <a:off x="8458200" y="357530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0" name="mcell"/>
          <p:cNvSpPr txBox="1"/>
          <p:nvPr/>
        </p:nvSpPr>
        <p:spPr>
          <a:xfrm>
            <a:off x="8787384" y="3575304"/>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1" name="mcell"/>
          <p:cNvSpPr txBox="1"/>
          <p:nvPr/>
        </p:nvSpPr>
        <p:spPr>
          <a:xfrm>
            <a:off x="9116568" y="3575304"/>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2" name="mbr"/>
          <p:cNvSpPr/>
          <p:nvPr/>
        </p:nvSpPr>
        <p:spPr>
          <a:xfrm>
            <a:off x="8430768" y="3218688"/>
            <a:ext cx="0" cy="713232"/>
          </a:xfrm>
          <a:prstGeom prst="line">
            <a:avLst/>
          </a:prstGeom>
          <a:noFill/>
          <a:ln w="15875">
            <a:solidFill>
              <a:srgbClr val="1E2A32"/>
            </a:solidFill>
            <a:prstDash val="solid"/>
          </a:ln>
        </p:spPr>
      </p:sp>
      <p:sp>
        <p:nvSpPr>
          <p:cNvPr id="53" name="mbr"/>
          <p:cNvSpPr/>
          <p:nvPr/>
        </p:nvSpPr>
        <p:spPr>
          <a:xfrm>
            <a:off x="8430768" y="3218688"/>
            <a:ext cx="73152" cy="0"/>
          </a:xfrm>
          <a:prstGeom prst="line">
            <a:avLst/>
          </a:prstGeom>
          <a:noFill/>
          <a:ln w="15875">
            <a:solidFill>
              <a:srgbClr val="1E2A32"/>
            </a:solidFill>
            <a:prstDash val="solid"/>
          </a:ln>
        </p:spPr>
      </p:sp>
      <p:sp>
        <p:nvSpPr>
          <p:cNvPr id="54" name="mbr"/>
          <p:cNvSpPr/>
          <p:nvPr/>
        </p:nvSpPr>
        <p:spPr>
          <a:xfrm>
            <a:off x="8430768" y="3931920"/>
            <a:ext cx="73152" cy="0"/>
          </a:xfrm>
          <a:prstGeom prst="line">
            <a:avLst/>
          </a:prstGeom>
          <a:noFill/>
          <a:ln w="15875">
            <a:solidFill>
              <a:srgbClr val="1E2A32"/>
            </a:solidFill>
            <a:prstDash val="solid"/>
          </a:ln>
        </p:spPr>
      </p:sp>
      <p:sp>
        <p:nvSpPr>
          <p:cNvPr id="55" name="mbr"/>
          <p:cNvSpPr/>
          <p:nvPr/>
        </p:nvSpPr>
        <p:spPr>
          <a:xfrm>
            <a:off x="9473184" y="3218688"/>
            <a:ext cx="0" cy="713232"/>
          </a:xfrm>
          <a:prstGeom prst="line">
            <a:avLst/>
          </a:prstGeom>
          <a:noFill/>
          <a:ln w="15875">
            <a:solidFill>
              <a:srgbClr val="1E2A32"/>
            </a:solidFill>
            <a:prstDash val="solid"/>
          </a:ln>
        </p:spPr>
      </p:sp>
      <p:sp>
        <p:nvSpPr>
          <p:cNvPr id="56" name="mbr"/>
          <p:cNvSpPr/>
          <p:nvPr/>
        </p:nvSpPr>
        <p:spPr>
          <a:xfrm>
            <a:off x="9400032" y="3218688"/>
            <a:ext cx="73152" cy="0"/>
          </a:xfrm>
          <a:prstGeom prst="line">
            <a:avLst/>
          </a:prstGeom>
          <a:noFill/>
          <a:ln w="15875">
            <a:solidFill>
              <a:srgbClr val="1E2A32"/>
            </a:solidFill>
            <a:prstDash val="solid"/>
          </a:ln>
        </p:spPr>
      </p:sp>
      <p:sp>
        <p:nvSpPr>
          <p:cNvPr id="57" name="mbr"/>
          <p:cNvSpPr/>
          <p:nvPr/>
        </p:nvSpPr>
        <p:spPr>
          <a:xfrm>
            <a:off x="9400032" y="3931920"/>
            <a:ext cx="73152" cy="0"/>
          </a:xfrm>
          <a:prstGeom prst="line">
            <a:avLst/>
          </a:prstGeom>
          <a:noFill/>
          <a:ln w="15875">
            <a:solidFill>
              <a:srgbClr val="1E2A32"/>
            </a:solidFill>
            <a:prstDash val="solid"/>
          </a:ln>
        </p:spPr>
      </p:sp>
      <p:sp>
        <p:nvSpPr>
          <p:cNvPr id="58" name="mlab"/>
          <p:cNvSpPr txBox="1"/>
          <p:nvPr/>
        </p:nvSpPr>
        <p:spPr>
          <a:xfrm>
            <a:off x="8412480"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c₀</a:t>
            </a:r>
            <a:endParaRPr lang="en-US" sz="1100" dirty="0"/>
          </a:p>
        </p:txBody>
      </p:sp>
      <p:sp>
        <p:nvSpPr>
          <p:cNvPr id="59" name="mlab"/>
          <p:cNvSpPr txBox="1"/>
          <p:nvPr/>
        </p:nvSpPr>
        <p:spPr>
          <a:xfrm>
            <a:off x="8741664"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c₁</a:t>
            </a:r>
            <a:endParaRPr lang="en-US" sz="1100" dirty="0"/>
          </a:p>
        </p:txBody>
      </p:sp>
      <p:sp>
        <p:nvSpPr>
          <p:cNvPr id="60" name="mlab"/>
          <p:cNvSpPr txBox="1"/>
          <p:nvPr/>
        </p:nvSpPr>
        <p:spPr>
          <a:xfrm>
            <a:off x="9070848"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a:t>
            </a:r>
            <a:endParaRPr lang="en-US" sz="1100" dirty="0"/>
          </a:p>
        </p:txBody>
      </p:sp>
      <p:sp>
        <p:nvSpPr>
          <p:cNvPr id="61" name="mlab"/>
          <p:cNvSpPr txBox="1"/>
          <p:nvPr/>
        </p:nvSpPr>
        <p:spPr>
          <a:xfrm>
            <a:off x="8055864" y="3246120"/>
            <a:ext cx="347472" cy="329184"/>
          </a:xfrm>
          <a:prstGeom prst="rect">
            <a:avLst/>
          </a:prstGeom>
          <a:noFill/>
          <a:ln/>
        </p:spPr>
        <p:txBody>
          <a:bodyPr wrap="square" lIns="0" tIns="0" rIns="0" bIns="0" rtlCol="0" anchor="ctr"/>
          <a:lstStyle/>
          <a:p>
            <a:pPr algn="r" indent="0" marL="0">
              <a:buNone/>
            </a:pPr>
            <a:endParaRPr lang="en-US" sz="1100" dirty="0"/>
          </a:p>
        </p:txBody>
      </p:sp>
      <p:sp>
        <p:nvSpPr>
          <p:cNvPr id="62" name="mlab"/>
          <p:cNvSpPr txBox="1"/>
          <p:nvPr/>
        </p:nvSpPr>
        <p:spPr>
          <a:xfrm>
            <a:off x="8055864" y="3575304"/>
            <a:ext cx="347472" cy="329184"/>
          </a:xfrm>
          <a:prstGeom prst="rect">
            <a:avLst/>
          </a:prstGeom>
          <a:noFill/>
          <a:ln/>
        </p:spPr>
        <p:txBody>
          <a:bodyPr wrap="square" lIns="0" tIns="0" rIns="0" bIns="0" rtlCol="0" anchor="ctr"/>
          <a:lstStyle/>
          <a:p>
            <a:pPr algn="r" indent="0" marL="0">
              <a:buNone/>
            </a:pPr>
            <a:endParaRPr lang="en-US" sz="1100" dirty="0"/>
          </a:p>
        </p:txBody>
      </p:sp>
      <p:sp>
        <p:nvSpPr>
          <p:cNvPr id="63" name="mname"/>
          <p:cNvSpPr txBox="1"/>
          <p:nvPr/>
        </p:nvSpPr>
        <p:spPr>
          <a:xfrm>
            <a:off x="8183880" y="3959352"/>
            <a:ext cx="153619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A_Bank</a:t>
            </a:r>
            <a:endParaRPr lang="en-US" sz="1300" dirty="0"/>
          </a:p>
        </p:txBody>
      </p:sp>
      <p:sp>
        <p:nvSpPr>
          <p:cNvPr id="64" name="mcell"/>
          <p:cNvSpPr txBox="1"/>
          <p:nvPr/>
        </p:nvSpPr>
        <p:spPr>
          <a:xfrm>
            <a:off x="10287000"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5" name="mcell"/>
          <p:cNvSpPr txBox="1"/>
          <p:nvPr/>
        </p:nvSpPr>
        <p:spPr>
          <a:xfrm>
            <a:off x="10616184" y="3246120"/>
            <a:ext cx="329184" cy="329184"/>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66" name="mcell"/>
          <p:cNvSpPr txBox="1"/>
          <p:nvPr/>
        </p:nvSpPr>
        <p:spPr>
          <a:xfrm>
            <a:off x="10945368" y="3246120"/>
            <a:ext cx="329184" cy="329184"/>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7" name="mbr"/>
          <p:cNvSpPr/>
          <p:nvPr/>
        </p:nvSpPr>
        <p:spPr>
          <a:xfrm>
            <a:off x="10259568" y="3218688"/>
            <a:ext cx="0" cy="384048"/>
          </a:xfrm>
          <a:prstGeom prst="line">
            <a:avLst/>
          </a:prstGeom>
          <a:noFill/>
          <a:ln w="15875">
            <a:solidFill>
              <a:srgbClr val="1E2A32"/>
            </a:solidFill>
            <a:prstDash val="solid"/>
          </a:ln>
        </p:spPr>
      </p:sp>
      <p:sp>
        <p:nvSpPr>
          <p:cNvPr id="68" name="mbr"/>
          <p:cNvSpPr/>
          <p:nvPr/>
        </p:nvSpPr>
        <p:spPr>
          <a:xfrm>
            <a:off x="10259568" y="3218688"/>
            <a:ext cx="73152" cy="0"/>
          </a:xfrm>
          <a:prstGeom prst="line">
            <a:avLst/>
          </a:prstGeom>
          <a:noFill/>
          <a:ln w="15875">
            <a:solidFill>
              <a:srgbClr val="1E2A32"/>
            </a:solidFill>
            <a:prstDash val="solid"/>
          </a:ln>
        </p:spPr>
      </p:sp>
      <p:sp>
        <p:nvSpPr>
          <p:cNvPr id="69" name="mbr"/>
          <p:cNvSpPr/>
          <p:nvPr/>
        </p:nvSpPr>
        <p:spPr>
          <a:xfrm>
            <a:off x="10259568" y="3602736"/>
            <a:ext cx="73152" cy="0"/>
          </a:xfrm>
          <a:prstGeom prst="line">
            <a:avLst/>
          </a:prstGeom>
          <a:noFill/>
          <a:ln w="15875">
            <a:solidFill>
              <a:srgbClr val="1E2A32"/>
            </a:solidFill>
            <a:prstDash val="solid"/>
          </a:ln>
        </p:spPr>
      </p:sp>
      <p:sp>
        <p:nvSpPr>
          <p:cNvPr id="70" name="mbr"/>
          <p:cNvSpPr/>
          <p:nvPr/>
        </p:nvSpPr>
        <p:spPr>
          <a:xfrm>
            <a:off x="11301984" y="3218688"/>
            <a:ext cx="0" cy="384048"/>
          </a:xfrm>
          <a:prstGeom prst="line">
            <a:avLst/>
          </a:prstGeom>
          <a:noFill/>
          <a:ln w="15875">
            <a:solidFill>
              <a:srgbClr val="1E2A32"/>
            </a:solidFill>
            <a:prstDash val="solid"/>
          </a:ln>
        </p:spPr>
      </p:sp>
      <p:sp>
        <p:nvSpPr>
          <p:cNvPr id="71" name="mbr"/>
          <p:cNvSpPr/>
          <p:nvPr/>
        </p:nvSpPr>
        <p:spPr>
          <a:xfrm>
            <a:off x="11228832" y="3218688"/>
            <a:ext cx="73152" cy="0"/>
          </a:xfrm>
          <a:prstGeom prst="line">
            <a:avLst/>
          </a:prstGeom>
          <a:noFill/>
          <a:ln w="15875">
            <a:solidFill>
              <a:srgbClr val="1E2A32"/>
            </a:solidFill>
            <a:prstDash val="solid"/>
          </a:ln>
        </p:spPr>
      </p:sp>
      <p:sp>
        <p:nvSpPr>
          <p:cNvPr id="72" name="mbr"/>
          <p:cNvSpPr/>
          <p:nvPr/>
        </p:nvSpPr>
        <p:spPr>
          <a:xfrm>
            <a:off x="11228832" y="3602736"/>
            <a:ext cx="73152" cy="0"/>
          </a:xfrm>
          <a:prstGeom prst="line">
            <a:avLst/>
          </a:prstGeom>
          <a:noFill/>
          <a:ln w="15875">
            <a:solidFill>
              <a:srgbClr val="1E2A32"/>
            </a:solidFill>
            <a:prstDash val="solid"/>
          </a:ln>
        </p:spPr>
      </p:sp>
      <p:sp>
        <p:nvSpPr>
          <p:cNvPr id="73" name="mlab"/>
          <p:cNvSpPr txBox="1"/>
          <p:nvPr/>
        </p:nvSpPr>
        <p:spPr>
          <a:xfrm>
            <a:off x="10241280"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c₀</a:t>
            </a:r>
            <a:endParaRPr lang="en-US" sz="1100" dirty="0"/>
          </a:p>
        </p:txBody>
      </p:sp>
      <p:sp>
        <p:nvSpPr>
          <p:cNvPr id="74" name="mlab"/>
          <p:cNvSpPr txBox="1"/>
          <p:nvPr/>
        </p:nvSpPr>
        <p:spPr>
          <a:xfrm>
            <a:off x="10570464"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c₁</a:t>
            </a:r>
            <a:endParaRPr lang="en-US" sz="1100" dirty="0"/>
          </a:p>
        </p:txBody>
      </p:sp>
      <p:sp>
        <p:nvSpPr>
          <p:cNvPr id="75" name="mlab"/>
          <p:cNvSpPr txBox="1"/>
          <p:nvPr/>
        </p:nvSpPr>
        <p:spPr>
          <a:xfrm>
            <a:off x="10899648" y="3008376"/>
            <a:ext cx="420624"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a:t>
            </a:r>
            <a:endParaRPr lang="en-US" sz="1100" dirty="0"/>
          </a:p>
        </p:txBody>
      </p:sp>
      <p:sp>
        <p:nvSpPr>
          <p:cNvPr id="76" name="mname"/>
          <p:cNvSpPr txBox="1"/>
          <p:nvPr/>
        </p:nvSpPr>
        <p:spPr>
          <a:xfrm>
            <a:off x="10012680" y="3630168"/>
            <a:ext cx="1536192"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M_Seg</a:t>
            </a:r>
            <a:endParaRPr lang="en-US" sz="1300" dirty="0"/>
          </a:p>
        </p:txBody>
      </p:sp>
      <p:sp>
        <p:nvSpPr>
          <p:cNvPr id="77" name="Text 73"/>
          <p:cNvSpPr txBox="1"/>
          <p:nvPr/>
        </p:nvSpPr>
        <p:spPr>
          <a:xfrm>
            <a:off x="8001000" y="4343400"/>
            <a:ext cx="3566160" cy="11887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span(A_Bank) = {000, 100, 010, 110}</a:t>
            </a:r>
            <a:endParaRPr lang="en-US" sz="1300" dirty="0"/>
          </a:p>
          <a:p>
            <a:pPr indent="0" marL="0">
              <a:buNone/>
            </a:pPr>
            <a:r>
              <a:rPr lang="en-US" sz="1300" dirty="0">
                <a:solidFill>
                  <a:srgbClr val="1E2A32"/>
                </a:solidFill>
                <a:latin typeface="Calibri" pitchFamily="34" charset="0"/>
                <a:ea typeface="Calibri" pitchFamily="34" charset="-122"/>
                <a:cs typeface="Calibri" pitchFamily="34" charset="-120"/>
              </a:rPr>
              <a:t>span(M_Seg) = {000, 010}</a:t>
            </a:r>
            <a:endParaRPr lang="en-US" sz="1300" dirty="0"/>
          </a:p>
          <a:p>
            <a:pPr indent="0" marL="0">
              <a:buNone/>
            </a:pPr>
            <a:r>
              <a:rPr lang="en-US" sz="1300" b="1" dirty="0">
                <a:solidFill>
                  <a:srgbClr val="1E2A32"/>
                </a:solidFill>
                <a:latin typeface="Calibri" pitchFamily="34" charset="0"/>
                <a:ea typeface="Calibri" pitchFamily="34" charset="-122"/>
                <a:cs typeface="Calibri" pitchFamily="34" charset="-120"/>
              </a:rPr>
              <a:t>∩ = {000, 010}  →  2-way conflict ✗</a:t>
            </a:r>
            <a:endParaRPr lang="en-US" sz="1300" dirty="0"/>
          </a:p>
        </p:txBody>
      </p:sp>
      <p:sp>
        <p:nvSpPr>
          <p:cNvPr id="78" name="Text 74"/>
          <p:cNvSpPr txBox="1"/>
          <p:nvPr/>
        </p:nvSpPr>
        <p:spPr>
          <a:xfrm>
            <a:off x="3840480" y="5760720"/>
            <a:ext cx="786384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Vectors written as bits (c₀ c₁ r); A_Bank, M_Seg drawn as rows here for compactness.</a:t>
            </a:r>
            <a:endParaRPr lang="en-US" sz="12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WORKED CHECK</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Apply the test: why j′ = j ⊕ i removes column conflicts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Condition P ∩ span(M_Seg) = {0} from §5.4, p. 140; layouts from the §4.3 bank example</a:t>
            </a:r>
            <a:endParaRPr lang="en-US" sz="1000" dirty="0"/>
          </a:p>
        </p:txBody>
      </p:sp>
      <p:sp>
        <p:nvSpPr>
          <p:cNvPr id="6" name="mcell"/>
          <p:cNvSpPr txBox="1"/>
          <p:nvPr/>
        </p:nvSpPr>
        <p:spPr>
          <a:xfrm>
            <a:off x="1097280" y="1783080"/>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7" name="mcell"/>
          <p:cNvSpPr txBox="1"/>
          <p:nvPr/>
        </p:nvSpPr>
        <p:spPr>
          <a:xfrm>
            <a:off x="1408176" y="178308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8" name="mcell"/>
          <p:cNvSpPr txBox="1"/>
          <p:nvPr/>
        </p:nvSpPr>
        <p:spPr>
          <a:xfrm>
            <a:off x="1719072" y="1783080"/>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9" name="mcell"/>
          <p:cNvSpPr txBox="1"/>
          <p:nvPr/>
        </p:nvSpPr>
        <p:spPr>
          <a:xfrm>
            <a:off x="2029968" y="1783080"/>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0" name="mcell"/>
          <p:cNvSpPr txBox="1"/>
          <p:nvPr/>
        </p:nvSpPr>
        <p:spPr>
          <a:xfrm>
            <a:off x="1097280" y="209397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1" name="mcell"/>
          <p:cNvSpPr txBox="1"/>
          <p:nvPr/>
        </p:nvSpPr>
        <p:spPr>
          <a:xfrm>
            <a:off x="1408176" y="2093976"/>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2" name="mcell"/>
          <p:cNvSpPr txBox="1"/>
          <p:nvPr/>
        </p:nvSpPr>
        <p:spPr>
          <a:xfrm>
            <a:off x="1719072" y="2093976"/>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3" name="mcell"/>
          <p:cNvSpPr txBox="1"/>
          <p:nvPr/>
        </p:nvSpPr>
        <p:spPr>
          <a:xfrm>
            <a:off x="2029968" y="2093976"/>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4" name="mcell"/>
          <p:cNvSpPr txBox="1"/>
          <p:nvPr/>
        </p:nvSpPr>
        <p:spPr>
          <a:xfrm>
            <a:off x="1097280" y="24048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 name="mcell"/>
          <p:cNvSpPr txBox="1"/>
          <p:nvPr/>
        </p:nvSpPr>
        <p:spPr>
          <a:xfrm>
            <a:off x="1408176" y="240487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 name="mcell"/>
          <p:cNvSpPr txBox="1"/>
          <p:nvPr/>
        </p:nvSpPr>
        <p:spPr>
          <a:xfrm>
            <a:off x="1719072" y="2404872"/>
            <a:ext cx="310896" cy="310896"/>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7" name="mcell"/>
          <p:cNvSpPr txBox="1"/>
          <p:nvPr/>
        </p:nvSpPr>
        <p:spPr>
          <a:xfrm>
            <a:off x="2029968" y="2404872"/>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18" name="mcell"/>
          <p:cNvSpPr txBox="1"/>
          <p:nvPr/>
        </p:nvSpPr>
        <p:spPr>
          <a:xfrm>
            <a:off x="1097280" y="271576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9" name="mcell"/>
          <p:cNvSpPr txBox="1"/>
          <p:nvPr/>
        </p:nvSpPr>
        <p:spPr>
          <a:xfrm>
            <a:off x="1408176" y="271576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0" name="mcell"/>
          <p:cNvSpPr txBox="1"/>
          <p:nvPr/>
        </p:nvSpPr>
        <p:spPr>
          <a:xfrm>
            <a:off x="1719072" y="2715768"/>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21" name="mcell"/>
          <p:cNvSpPr txBox="1"/>
          <p:nvPr/>
        </p:nvSpPr>
        <p:spPr>
          <a:xfrm>
            <a:off x="2029968" y="2715768"/>
            <a:ext cx="310896" cy="310896"/>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22" name="msep"/>
          <p:cNvSpPr/>
          <p:nvPr/>
        </p:nvSpPr>
        <p:spPr>
          <a:xfrm>
            <a:off x="1719072" y="1801368"/>
            <a:ext cx="0" cy="1207008"/>
          </a:xfrm>
          <a:prstGeom prst="line">
            <a:avLst/>
          </a:prstGeom>
          <a:noFill/>
          <a:ln w="9525">
            <a:solidFill>
              <a:srgbClr val="5B6770"/>
            </a:solidFill>
            <a:prstDash val="dash"/>
          </a:ln>
        </p:spPr>
      </p:sp>
      <p:sp>
        <p:nvSpPr>
          <p:cNvPr id="23" name="mbr"/>
          <p:cNvSpPr/>
          <p:nvPr/>
        </p:nvSpPr>
        <p:spPr>
          <a:xfrm>
            <a:off x="1069848" y="1755648"/>
            <a:ext cx="0" cy="1298448"/>
          </a:xfrm>
          <a:prstGeom prst="line">
            <a:avLst/>
          </a:prstGeom>
          <a:noFill/>
          <a:ln w="15875">
            <a:solidFill>
              <a:srgbClr val="1E2A32"/>
            </a:solidFill>
            <a:prstDash val="solid"/>
          </a:ln>
        </p:spPr>
      </p:sp>
      <p:sp>
        <p:nvSpPr>
          <p:cNvPr id="24" name="mbr"/>
          <p:cNvSpPr/>
          <p:nvPr/>
        </p:nvSpPr>
        <p:spPr>
          <a:xfrm>
            <a:off x="1069848" y="1755648"/>
            <a:ext cx="73152" cy="0"/>
          </a:xfrm>
          <a:prstGeom prst="line">
            <a:avLst/>
          </a:prstGeom>
          <a:noFill/>
          <a:ln w="15875">
            <a:solidFill>
              <a:srgbClr val="1E2A32"/>
            </a:solidFill>
            <a:prstDash val="solid"/>
          </a:ln>
        </p:spPr>
      </p:sp>
      <p:sp>
        <p:nvSpPr>
          <p:cNvPr id="25" name="mbr"/>
          <p:cNvSpPr/>
          <p:nvPr/>
        </p:nvSpPr>
        <p:spPr>
          <a:xfrm>
            <a:off x="1069848" y="3054096"/>
            <a:ext cx="73152" cy="0"/>
          </a:xfrm>
          <a:prstGeom prst="line">
            <a:avLst/>
          </a:prstGeom>
          <a:noFill/>
          <a:ln w="15875">
            <a:solidFill>
              <a:srgbClr val="1E2A32"/>
            </a:solidFill>
            <a:prstDash val="solid"/>
          </a:ln>
        </p:spPr>
      </p:sp>
      <p:sp>
        <p:nvSpPr>
          <p:cNvPr id="26" name="mbr"/>
          <p:cNvSpPr/>
          <p:nvPr/>
        </p:nvSpPr>
        <p:spPr>
          <a:xfrm>
            <a:off x="2368296" y="1755648"/>
            <a:ext cx="0" cy="1298448"/>
          </a:xfrm>
          <a:prstGeom prst="line">
            <a:avLst/>
          </a:prstGeom>
          <a:noFill/>
          <a:ln w="15875">
            <a:solidFill>
              <a:srgbClr val="1E2A32"/>
            </a:solidFill>
            <a:prstDash val="solid"/>
          </a:ln>
        </p:spPr>
      </p:sp>
      <p:sp>
        <p:nvSpPr>
          <p:cNvPr id="27" name="mbr"/>
          <p:cNvSpPr/>
          <p:nvPr/>
        </p:nvSpPr>
        <p:spPr>
          <a:xfrm>
            <a:off x="2295144" y="1755648"/>
            <a:ext cx="73152" cy="0"/>
          </a:xfrm>
          <a:prstGeom prst="line">
            <a:avLst/>
          </a:prstGeom>
          <a:noFill/>
          <a:ln w="15875">
            <a:solidFill>
              <a:srgbClr val="1E2A32"/>
            </a:solidFill>
            <a:prstDash val="solid"/>
          </a:ln>
        </p:spPr>
      </p:sp>
      <p:sp>
        <p:nvSpPr>
          <p:cNvPr id="28" name="mbr"/>
          <p:cNvSpPr/>
          <p:nvPr/>
        </p:nvSpPr>
        <p:spPr>
          <a:xfrm>
            <a:off x="2295144" y="3054096"/>
            <a:ext cx="73152" cy="0"/>
          </a:xfrm>
          <a:prstGeom prst="line">
            <a:avLst/>
          </a:prstGeom>
          <a:noFill/>
          <a:ln w="15875">
            <a:solidFill>
              <a:srgbClr val="1E2A32"/>
            </a:solidFill>
            <a:prstDash val="solid"/>
          </a:ln>
        </p:spPr>
      </p:sp>
      <p:sp>
        <p:nvSpPr>
          <p:cNvPr id="29" name="mlab"/>
          <p:cNvSpPr txBox="1"/>
          <p:nvPr/>
        </p:nvSpPr>
        <p:spPr>
          <a:xfrm>
            <a:off x="1051560" y="154533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o₀</a:t>
            </a:r>
            <a:endParaRPr lang="en-US" sz="1100" dirty="0"/>
          </a:p>
        </p:txBody>
      </p:sp>
      <p:sp>
        <p:nvSpPr>
          <p:cNvPr id="30" name="mlab"/>
          <p:cNvSpPr txBox="1"/>
          <p:nvPr/>
        </p:nvSpPr>
        <p:spPr>
          <a:xfrm>
            <a:off x="1362456" y="154533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o₁</a:t>
            </a:r>
            <a:endParaRPr lang="en-US" sz="1100" dirty="0"/>
          </a:p>
        </p:txBody>
      </p:sp>
      <p:sp>
        <p:nvSpPr>
          <p:cNvPr id="31" name="mlab"/>
          <p:cNvSpPr txBox="1"/>
          <p:nvPr/>
        </p:nvSpPr>
        <p:spPr>
          <a:xfrm>
            <a:off x="1673352" y="154533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o₂</a:t>
            </a:r>
            <a:endParaRPr lang="en-US" sz="1100" dirty="0"/>
          </a:p>
        </p:txBody>
      </p:sp>
      <p:sp>
        <p:nvSpPr>
          <p:cNvPr id="32" name="mlab"/>
          <p:cNvSpPr txBox="1"/>
          <p:nvPr/>
        </p:nvSpPr>
        <p:spPr>
          <a:xfrm>
            <a:off x="1984248" y="154533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o₃</a:t>
            </a:r>
            <a:endParaRPr lang="en-US" sz="1100" dirty="0"/>
          </a:p>
        </p:txBody>
      </p:sp>
      <p:sp>
        <p:nvSpPr>
          <p:cNvPr id="33" name="mgrp"/>
          <p:cNvSpPr txBox="1"/>
          <p:nvPr/>
        </p:nvSpPr>
        <p:spPr>
          <a:xfrm>
            <a:off x="1097280" y="1307592"/>
            <a:ext cx="621792"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Bank</a:t>
            </a:r>
            <a:endParaRPr lang="en-US" sz="1100" dirty="0"/>
          </a:p>
        </p:txBody>
      </p:sp>
      <p:sp>
        <p:nvSpPr>
          <p:cNvPr id="34" name="mgrp"/>
          <p:cNvSpPr txBox="1"/>
          <p:nvPr/>
        </p:nvSpPr>
        <p:spPr>
          <a:xfrm>
            <a:off x="1719072" y="1307592"/>
            <a:ext cx="621792"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Seg</a:t>
            </a:r>
            <a:endParaRPr lang="en-US" sz="1100" dirty="0"/>
          </a:p>
        </p:txBody>
      </p:sp>
      <p:sp>
        <p:nvSpPr>
          <p:cNvPr id="35" name="mlab"/>
          <p:cNvSpPr txBox="1"/>
          <p:nvPr/>
        </p:nvSpPr>
        <p:spPr>
          <a:xfrm>
            <a:off x="694944" y="1783080"/>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j₀</a:t>
            </a:r>
            <a:endParaRPr lang="en-US" sz="1100" dirty="0"/>
          </a:p>
        </p:txBody>
      </p:sp>
      <p:sp>
        <p:nvSpPr>
          <p:cNvPr id="36" name="mlab"/>
          <p:cNvSpPr txBox="1"/>
          <p:nvPr/>
        </p:nvSpPr>
        <p:spPr>
          <a:xfrm>
            <a:off x="694944" y="2093976"/>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j₁</a:t>
            </a:r>
            <a:endParaRPr lang="en-US" sz="1100" dirty="0"/>
          </a:p>
        </p:txBody>
      </p:sp>
      <p:sp>
        <p:nvSpPr>
          <p:cNvPr id="37" name="mlab"/>
          <p:cNvSpPr txBox="1"/>
          <p:nvPr/>
        </p:nvSpPr>
        <p:spPr>
          <a:xfrm>
            <a:off x="694944" y="2404872"/>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i₀</a:t>
            </a:r>
            <a:endParaRPr lang="en-US" sz="1100" dirty="0"/>
          </a:p>
        </p:txBody>
      </p:sp>
      <p:sp>
        <p:nvSpPr>
          <p:cNvPr id="38" name="mlab"/>
          <p:cNvSpPr txBox="1"/>
          <p:nvPr/>
        </p:nvSpPr>
        <p:spPr>
          <a:xfrm>
            <a:off x="694944" y="2715768"/>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i₁</a:t>
            </a:r>
            <a:endParaRPr lang="en-US" sz="1100" dirty="0"/>
          </a:p>
        </p:txBody>
      </p:sp>
      <p:sp>
        <p:nvSpPr>
          <p:cNvPr id="39" name="mname"/>
          <p:cNvSpPr txBox="1"/>
          <p:nvPr/>
        </p:nvSpPr>
        <p:spPr>
          <a:xfrm>
            <a:off x="822960" y="3081528"/>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unswizzled M = I</a:t>
            </a:r>
            <a:endParaRPr lang="en-US" sz="1300" dirty="0"/>
          </a:p>
        </p:txBody>
      </p:sp>
      <p:sp>
        <p:nvSpPr>
          <p:cNvPr id="40" name="mcell"/>
          <p:cNvSpPr txBox="1"/>
          <p:nvPr/>
        </p:nvSpPr>
        <p:spPr>
          <a:xfrm>
            <a:off x="1097280" y="4023360"/>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1" name="mcell"/>
          <p:cNvSpPr txBox="1"/>
          <p:nvPr/>
        </p:nvSpPr>
        <p:spPr>
          <a:xfrm>
            <a:off x="1408176" y="4023360"/>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2" name="mcell"/>
          <p:cNvSpPr txBox="1"/>
          <p:nvPr/>
        </p:nvSpPr>
        <p:spPr>
          <a:xfrm>
            <a:off x="1719072" y="4023360"/>
            <a:ext cx="310896" cy="310896"/>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3" name="mcell"/>
          <p:cNvSpPr txBox="1"/>
          <p:nvPr/>
        </p:nvSpPr>
        <p:spPr>
          <a:xfrm>
            <a:off x="2029968" y="4023360"/>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44" name="mcell"/>
          <p:cNvSpPr txBox="1"/>
          <p:nvPr/>
        </p:nvSpPr>
        <p:spPr>
          <a:xfrm>
            <a:off x="1097280" y="4334256"/>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5" name="mcell"/>
          <p:cNvSpPr txBox="1"/>
          <p:nvPr/>
        </p:nvSpPr>
        <p:spPr>
          <a:xfrm>
            <a:off x="1408176" y="4334256"/>
            <a:ext cx="310896" cy="310896"/>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6" name="mcell"/>
          <p:cNvSpPr txBox="1"/>
          <p:nvPr/>
        </p:nvSpPr>
        <p:spPr>
          <a:xfrm>
            <a:off x="1719072" y="4334256"/>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47" name="mcell"/>
          <p:cNvSpPr txBox="1"/>
          <p:nvPr/>
        </p:nvSpPr>
        <p:spPr>
          <a:xfrm>
            <a:off x="2029968" y="4334256"/>
            <a:ext cx="310896" cy="310896"/>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8" name="mcell"/>
          <p:cNvSpPr txBox="1"/>
          <p:nvPr/>
        </p:nvSpPr>
        <p:spPr>
          <a:xfrm>
            <a:off x="1097280" y="464515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9" name="mcell"/>
          <p:cNvSpPr txBox="1"/>
          <p:nvPr/>
        </p:nvSpPr>
        <p:spPr>
          <a:xfrm>
            <a:off x="1408176" y="4645152"/>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0" name="mcell"/>
          <p:cNvSpPr txBox="1"/>
          <p:nvPr/>
        </p:nvSpPr>
        <p:spPr>
          <a:xfrm>
            <a:off x="1719072" y="4645152"/>
            <a:ext cx="310896" cy="310896"/>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1" name="mcell"/>
          <p:cNvSpPr txBox="1"/>
          <p:nvPr/>
        </p:nvSpPr>
        <p:spPr>
          <a:xfrm>
            <a:off x="2029968" y="4645152"/>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52" name="mcell"/>
          <p:cNvSpPr txBox="1"/>
          <p:nvPr/>
        </p:nvSpPr>
        <p:spPr>
          <a:xfrm>
            <a:off x="1097280" y="495604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3" name="mcell"/>
          <p:cNvSpPr txBox="1"/>
          <p:nvPr/>
        </p:nvSpPr>
        <p:spPr>
          <a:xfrm>
            <a:off x="1408176" y="4956048"/>
            <a:ext cx="310896" cy="310896"/>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4" name="mcell"/>
          <p:cNvSpPr txBox="1"/>
          <p:nvPr/>
        </p:nvSpPr>
        <p:spPr>
          <a:xfrm>
            <a:off x="1719072" y="4956048"/>
            <a:ext cx="310896" cy="310896"/>
          </a:xfrm>
          <a:prstGeom prst="rect">
            <a:avLst/>
          </a:prstGeom>
          <a:solidFill>
            <a:srgbClr val="FFF0CC"/>
          </a:solidFill>
          <a:ln/>
        </p:spPr>
        <p:txBody>
          <a:bodyPr wrap="square" lIns="0" tIns="0" rIns="0" bIns="0" rtlCol="0" anchor="ctr"/>
          <a:lstStyle/>
          <a:p>
            <a:pPr algn="ctr" indent="0" marL="0">
              <a:buNone/>
            </a:pPr>
            <a:r>
              <a:rPr lang="en-US" sz="1400" dirty="0">
                <a:solidFill>
                  <a:srgbClr val="1E2A32"/>
                </a:solidFill>
                <a:latin typeface="Calibri" pitchFamily="34" charset="0"/>
                <a:ea typeface="Calibri" pitchFamily="34" charset="-122"/>
                <a:cs typeface="Calibri" pitchFamily="34" charset="-120"/>
              </a:rPr>
              <a:t>0</a:t>
            </a:r>
            <a:endParaRPr lang="en-US" sz="1400" dirty="0"/>
          </a:p>
        </p:txBody>
      </p:sp>
      <p:sp>
        <p:nvSpPr>
          <p:cNvPr id="55" name="mcell"/>
          <p:cNvSpPr txBox="1"/>
          <p:nvPr/>
        </p:nvSpPr>
        <p:spPr>
          <a:xfrm>
            <a:off x="2029968" y="4956048"/>
            <a:ext cx="310896" cy="310896"/>
          </a:xfrm>
          <a:prstGeom prst="rect">
            <a:avLst/>
          </a:prstGeom>
          <a:solidFill>
            <a:srgbClr val="FFF0CC"/>
          </a:solid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6" name="msep"/>
          <p:cNvSpPr/>
          <p:nvPr/>
        </p:nvSpPr>
        <p:spPr>
          <a:xfrm>
            <a:off x="1719072" y="4041648"/>
            <a:ext cx="0" cy="1207008"/>
          </a:xfrm>
          <a:prstGeom prst="line">
            <a:avLst/>
          </a:prstGeom>
          <a:noFill/>
          <a:ln w="9525">
            <a:solidFill>
              <a:srgbClr val="5B6770"/>
            </a:solidFill>
            <a:prstDash val="dash"/>
          </a:ln>
        </p:spPr>
      </p:sp>
      <p:sp>
        <p:nvSpPr>
          <p:cNvPr id="57" name="mbr"/>
          <p:cNvSpPr/>
          <p:nvPr/>
        </p:nvSpPr>
        <p:spPr>
          <a:xfrm>
            <a:off x="1069848" y="3995928"/>
            <a:ext cx="0" cy="1298448"/>
          </a:xfrm>
          <a:prstGeom prst="line">
            <a:avLst/>
          </a:prstGeom>
          <a:noFill/>
          <a:ln w="15875">
            <a:solidFill>
              <a:srgbClr val="1E2A32"/>
            </a:solidFill>
            <a:prstDash val="solid"/>
          </a:ln>
        </p:spPr>
      </p:sp>
      <p:sp>
        <p:nvSpPr>
          <p:cNvPr id="58" name="mbr"/>
          <p:cNvSpPr/>
          <p:nvPr/>
        </p:nvSpPr>
        <p:spPr>
          <a:xfrm>
            <a:off x="1069848" y="3995928"/>
            <a:ext cx="73152" cy="0"/>
          </a:xfrm>
          <a:prstGeom prst="line">
            <a:avLst/>
          </a:prstGeom>
          <a:noFill/>
          <a:ln w="15875">
            <a:solidFill>
              <a:srgbClr val="1E2A32"/>
            </a:solidFill>
            <a:prstDash val="solid"/>
          </a:ln>
        </p:spPr>
      </p:sp>
      <p:sp>
        <p:nvSpPr>
          <p:cNvPr id="59" name="mbr"/>
          <p:cNvSpPr/>
          <p:nvPr/>
        </p:nvSpPr>
        <p:spPr>
          <a:xfrm>
            <a:off x="1069848" y="5294376"/>
            <a:ext cx="73152" cy="0"/>
          </a:xfrm>
          <a:prstGeom prst="line">
            <a:avLst/>
          </a:prstGeom>
          <a:noFill/>
          <a:ln w="15875">
            <a:solidFill>
              <a:srgbClr val="1E2A32"/>
            </a:solidFill>
            <a:prstDash val="solid"/>
          </a:ln>
        </p:spPr>
      </p:sp>
      <p:sp>
        <p:nvSpPr>
          <p:cNvPr id="60" name="mbr"/>
          <p:cNvSpPr/>
          <p:nvPr/>
        </p:nvSpPr>
        <p:spPr>
          <a:xfrm>
            <a:off x="2368296" y="3995928"/>
            <a:ext cx="0" cy="1298448"/>
          </a:xfrm>
          <a:prstGeom prst="line">
            <a:avLst/>
          </a:prstGeom>
          <a:noFill/>
          <a:ln w="15875">
            <a:solidFill>
              <a:srgbClr val="1E2A32"/>
            </a:solidFill>
            <a:prstDash val="solid"/>
          </a:ln>
        </p:spPr>
      </p:sp>
      <p:sp>
        <p:nvSpPr>
          <p:cNvPr id="61" name="mbr"/>
          <p:cNvSpPr/>
          <p:nvPr/>
        </p:nvSpPr>
        <p:spPr>
          <a:xfrm>
            <a:off x="2295144" y="3995928"/>
            <a:ext cx="73152" cy="0"/>
          </a:xfrm>
          <a:prstGeom prst="line">
            <a:avLst/>
          </a:prstGeom>
          <a:noFill/>
          <a:ln w="15875">
            <a:solidFill>
              <a:srgbClr val="1E2A32"/>
            </a:solidFill>
            <a:prstDash val="solid"/>
          </a:ln>
        </p:spPr>
      </p:sp>
      <p:sp>
        <p:nvSpPr>
          <p:cNvPr id="62" name="mbr"/>
          <p:cNvSpPr/>
          <p:nvPr/>
        </p:nvSpPr>
        <p:spPr>
          <a:xfrm>
            <a:off x="2295144" y="5294376"/>
            <a:ext cx="73152" cy="0"/>
          </a:xfrm>
          <a:prstGeom prst="line">
            <a:avLst/>
          </a:prstGeom>
          <a:noFill/>
          <a:ln w="15875">
            <a:solidFill>
              <a:srgbClr val="1E2A32"/>
            </a:solidFill>
            <a:prstDash val="solid"/>
          </a:ln>
        </p:spPr>
      </p:sp>
      <p:sp>
        <p:nvSpPr>
          <p:cNvPr id="63" name="mlab"/>
          <p:cNvSpPr txBox="1"/>
          <p:nvPr/>
        </p:nvSpPr>
        <p:spPr>
          <a:xfrm>
            <a:off x="1051560" y="378561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o₀</a:t>
            </a:r>
            <a:endParaRPr lang="en-US" sz="1100" dirty="0"/>
          </a:p>
        </p:txBody>
      </p:sp>
      <p:sp>
        <p:nvSpPr>
          <p:cNvPr id="64" name="mlab"/>
          <p:cNvSpPr txBox="1"/>
          <p:nvPr/>
        </p:nvSpPr>
        <p:spPr>
          <a:xfrm>
            <a:off x="1362456" y="378561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o₁</a:t>
            </a:r>
            <a:endParaRPr lang="en-US" sz="1100" dirty="0"/>
          </a:p>
        </p:txBody>
      </p:sp>
      <p:sp>
        <p:nvSpPr>
          <p:cNvPr id="65" name="mlab"/>
          <p:cNvSpPr txBox="1"/>
          <p:nvPr/>
        </p:nvSpPr>
        <p:spPr>
          <a:xfrm>
            <a:off x="1673352" y="378561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o₂</a:t>
            </a:r>
            <a:endParaRPr lang="en-US" sz="1100" dirty="0"/>
          </a:p>
        </p:txBody>
      </p:sp>
      <p:sp>
        <p:nvSpPr>
          <p:cNvPr id="66" name="mlab"/>
          <p:cNvSpPr txBox="1"/>
          <p:nvPr/>
        </p:nvSpPr>
        <p:spPr>
          <a:xfrm>
            <a:off x="1984248" y="3785616"/>
            <a:ext cx="402336"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o₃</a:t>
            </a:r>
            <a:endParaRPr lang="en-US" sz="1100" dirty="0"/>
          </a:p>
        </p:txBody>
      </p:sp>
      <p:sp>
        <p:nvSpPr>
          <p:cNvPr id="67" name="mgrp"/>
          <p:cNvSpPr txBox="1"/>
          <p:nvPr/>
        </p:nvSpPr>
        <p:spPr>
          <a:xfrm>
            <a:off x="1097280" y="3547872"/>
            <a:ext cx="621792"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Bank</a:t>
            </a:r>
            <a:endParaRPr lang="en-US" sz="1100" dirty="0"/>
          </a:p>
        </p:txBody>
      </p:sp>
      <p:sp>
        <p:nvSpPr>
          <p:cNvPr id="68" name="mgrp"/>
          <p:cNvSpPr txBox="1"/>
          <p:nvPr/>
        </p:nvSpPr>
        <p:spPr>
          <a:xfrm>
            <a:off x="1719072" y="3547872"/>
            <a:ext cx="621792"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Seg</a:t>
            </a:r>
            <a:endParaRPr lang="en-US" sz="1100" dirty="0"/>
          </a:p>
        </p:txBody>
      </p:sp>
      <p:sp>
        <p:nvSpPr>
          <p:cNvPr id="69" name="mlab"/>
          <p:cNvSpPr txBox="1"/>
          <p:nvPr/>
        </p:nvSpPr>
        <p:spPr>
          <a:xfrm>
            <a:off x="694944" y="4023360"/>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j₀</a:t>
            </a:r>
            <a:endParaRPr lang="en-US" sz="1100" dirty="0"/>
          </a:p>
        </p:txBody>
      </p:sp>
      <p:sp>
        <p:nvSpPr>
          <p:cNvPr id="70" name="mlab"/>
          <p:cNvSpPr txBox="1"/>
          <p:nvPr/>
        </p:nvSpPr>
        <p:spPr>
          <a:xfrm>
            <a:off x="694944" y="4334256"/>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j₁</a:t>
            </a:r>
            <a:endParaRPr lang="en-US" sz="1100" dirty="0"/>
          </a:p>
        </p:txBody>
      </p:sp>
      <p:sp>
        <p:nvSpPr>
          <p:cNvPr id="71" name="mlab"/>
          <p:cNvSpPr txBox="1"/>
          <p:nvPr/>
        </p:nvSpPr>
        <p:spPr>
          <a:xfrm>
            <a:off x="694944" y="4645152"/>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i₀</a:t>
            </a:r>
            <a:endParaRPr lang="en-US" sz="1100" dirty="0"/>
          </a:p>
        </p:txBody>
      </p:sp>
      <p:sp>
        <p:nvSpPr>
          <p:cNvPr id="72" name="mlab"/>
          <p:cNvSpPr txBox="1"/>
          <p:nvPr/>
        </p:nvSpPr>
        <p:spPr>
          <a:xfrm>
            <a:off x="694944" y="4956048"/>
            <a:ext cx="347472" cy="310896"/>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i₁</a:t>
            </a:r>
            <a:endParaRPr lang="en-US" sz="1100" dirty="0"/>
          </a:p>
        </p:txBody>
      </p:sp>
      <p:sp>
        <p:nvSpPr>
          <p:cNvPr id="73" name="mname"/>
          <p:cNvSpPr txBox="1"/>
          <p:nvPr/>
        </p:nvSpPr>
        <p:spPr>
          <a:xfrm>
            <a:off x="822960" y="5321808"/>
            <a:ext cx="1792224"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swizzled M = [I I; 0 I]</a:t>
            </a:r>
            <a:endParaRPr lang="en-US" sz="1300" dirty="0"/>
          </a:p>
        </p:txBody>
      </p:sp>
      <p:graphicFrame>
        <p:nvGraphicFramePr>
          <p:cNvPr id="49" name="table"/>
          <p:cNvGraphicFramePr>
            <a:graphicFrameLocks noGrp="1"/>
          </p:cNvGraphicFramePr>
          <p:nvPr>
            <p:extLst>
              <p:ext uri="{D42A27DB-BD31-4B8C-83A1-F6EECF244321}">
                <p14:modId xmlns:p14="http://schemas.microsoft.com/office/powerpoint/2010/main" val="1579011935"/>
              </p:ext>
            </p:extLst>
          </p:nvPr>
        </p:nvGraphicFramePr>
        <p:xfrm>
          <a:off x="3291840" y="1828800"/>
          <a:ext cx="8412480" cy="914400"/>
        </p:xfrm>
        <a:graphic>
          <a:graphicData uri="http://schemas.openxmlformats.org/drawingml/2006/table">
            <a:tbl>
              <a:tblPr/>
              <a:tblGrid>
                <a:gridCol w="1554480"/>
                <a:gridCol w="2011680"/>
                <a:gridCol w="2011680"/>
                <a:gridCol w="1828800"/>
                <a:gridCol w="1005840"/>
              </a:tblGrid>
              <a:tr h="566928">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span(M_Seg)</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P ∩ span(M_Seg)</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200" b="1" dirty="0">
                          <a:solidFill>
                            <a:srgbClr val="1E2A32"/>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56692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column 0, unswizzled</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0010, 0001, 0011}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0010, 0001, 0011}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0010, 0001, 0011}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BE3E1"/>
                    </a:solidFill>
                  </a:tcPr>
                </a:tc>
                <a:tc>
                  <a:txBody>
                    <a:bodyPr/>
                    <a:lstStyle/>
                    <a:p>
                      <a:pPr algn="ctr" indent="0" marL="0">
                        <a:buNone/>
                      </a:pPr>
                      <a:r>
                        <a:rPr lang="en-US" sz="1200" b="1" dirty="0">
                          <a:solidFill>
                            <a:srgbClr val="B3261E"/>
                          </a:solidFill>
                          <a:latin typeface="Calibri" pitchFamily="34" charset="0"/>
                          <a:ea typeface="Calibri" pitchFamily="34" charset="-122"/>
                          <a:cs typeface="Calibri" pitchFamily="34" charset="-120"/>
                        </a:rPr>
                        <a:t>4-way ✗</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56692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column 0, swizzled</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0010, 0001, 0011}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1010, 0101, 1111}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E3F2E4"/>
                    </a:solidFill>
                  </a:tcPr>
                </a:tc>
                <a:tc>
                  <a:txBody>
                    <a:bodyPr/>
                    <a:lstStyle/>
                    <a:p>
                      <a:pPr algn="ctr" indent="0" marL="0">
                        <a:buNone/>
                      </a:pPr>
                      <a:r>
                        <a:rPr lang="en-US" sz="1200" b="1" dirty="0">
                          <a:solidFill>
                            <a:srgbClr val="2E7D32"/>
                          </a:solidFill>
                          <a:latin typeface="Calibri" pitchFamily="34" charset="0"/>
                          <a:ea typeface="Calibri" pitchFamily="34" charset="-122"/>
                          <a:cs typeface="Calibri" pitchFamily="34" charset="-120"/>
                        </a:rPr>
                        <a:t>free ✓</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566928">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row, swizzled</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1000, 0100, 1100}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 1010, 0101, 1111}</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200" dirty="0">
                          <a:solidFill>
                            <a:srgbClr val="1E2A3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E3F2E4"/>
                    </a:solidFill>
                  </a:tcPr>
                </a:tc>
                <a:tc>
                  <a:txBody>
                    <a:bodyPr/>
                    <a:lstStyle/>
                    <a:p>
                      <a:pPr algn="ctr" indent="0" marL="0">
                        <a:buNone/>
                      </a:pPr>
                      <a:r>
                        <a:rPr lang="en-US" sz="1200" b="1" dirty="0">
                          <a:solidFill>
                            <a:srgbClr val="2E7D32"/>
                          </a:solidFill>
                          <a:latin typeface="Calibri" pitchFamily="34" charset="0"/>
                          <a:ea typeface="Calibri" pitchFamily="34" charset="-122"/>
                          <a:cs typeface="Calibri" pitchFamily="34" charset="-120"/>
                        </a:rPr>
                        <a:t>free ✓</a:t>
                      </a:r>
                      <a:endParaRPr lang="en-US" sz="12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75" name="Text 71"/>
          <p:cNvSpPr txBox="1"/>
          <p:nvPr/>
        </p:nvSpPr>
        <p:spPr>
          <a:xfrm>
            <a:off x="3291840" y="4251960"/>
            <a:ext cx="8412480" cy="320040"/>
          </a:xfrm>
          <a:prstGeom prst="rect">
            <a:avLst/>
          </a:prstGeom>
          <a:noFill/>
          <a:ln/>
        </p:spPr>
        <p:txBody>
          <a:bodyPr wrap="square" lIns="0" tIns="0" rIns="0" bIns="0" rtlCol="0" anchor="t"/>
          <a:lstStyle/>
          <a:p>
            <a:pPr indent="0" marL="0">
              <a:buNone/>
            </a:pPr>
            <a:r>
              <a:rPr lang="en-US" sz="1300" i="1" dirty="0">
                <a:solidFill>
                  <a:srgbClr val="5B6770"/>
                </a:solidFill>
                <a:latin typeface="Calibri" pitchFamily="34" charset="0"/>
                <a:ea typeface="Calibri" pitchFamily="34" charset="-122"/>
                <a:cs typeface="Calibri" pitchFamily="34" charset="-120"/>
              </a:rPr>
              <a:t>Bits written (j₀ j₁ i₀ i₁). Four threads read one column (differ in i) or one row (differ in j).</a:t>
            </a:r>
            <a:endParaRPr lang="en-US" sz="1300" dirty="0"/>
          </a:p>
        </p:txBody>
      </p:sp>
      <p:sp>
        <p:nvSpPr>
          <p:cNvPr id="76" name="callout"/>
          <p:cNvSpPr/>
          <p:nvPr/>
        </p:nvSpPr>
        <p:spPr>
          <a:xfrm>
            <a:off x="3291840" y="4709160"/>
            <a:ext cx="8412480" cy="822960"/>
          </a:xfrm>
          <a:prstGeom prst="roundRect">
            <a:avLst>
              <a:gd name="adj" fmla="val 8889"/>
            </a:avLst>
          </a:prstGeom>
          <a:solidFill>
            <a:srgbClr val="DDEFF1"/>
          </a:solidFill>
          <a:ln/>
        </p:spPr>
      </p:sp>
      <p:sp>
        <p:nvSpPr>
          <p:cNvPr id="77" name="callout-text"/>
          <p:cNvSpPr txBox="1"/>
          <p:nvPr/>
        </p:nvSpPr>
        <p:spPr>
          <a:xfrm>
            <a:off x="3429000" y="4764024"/>
            <a:ext cx="8138160" cy="713232"/>
          </a:xfrm>
          <a:prstGeom prst="rect">
            <a:avLst/>
          </a:prstGeom>
          <a:noFill/>
          <a:ln/>
        </p:spPr>
        <p:txBody>
          <a:bodyPr wrap="square" lIns="0" tIns="0" rIns="0" bIns="0" rtlCol="0" anchor="ctr"/>
          <a:lstStyle/>
          <a:p>
            <a:pPr algn="l" indent="0" marL="0">
              <a:buNone/>
            </a:pPr>
            <a:r>
              <a:rPr lang="en-US" sz="1500" dirty="0">
                <a:solidFill>
                  <a:srgbClr val="0A4F58"/>
                </a:solidFill>
                <a:latin typeface="Calibri" pitchFamily="34" charset="0"/>
                <a:ea typeface="Calibri" pitchFamily="34" charset="-122"/>
                <a:cs typeface="Calibri" pitchFamily="34" charset="-120"/>
              </a:rPr>
              <a:t>Same conclusion as the bank picture in §4.3 — derived from </a:t>
            </a:r>
            <a:r>
              <a:rPr lang="en-US" sz="1500" b="1" dirty="0">
                <a:solidFill>
                  <a:srgbClr val="0A4F58"/>
                </a:solidFill>
                <a:latin typeface="Calibri" pitchFamily="34" charset="0"/>
                <a:ea typeface="Calibri" pitchFamily="34" charset="-122"/>
                <a:cs typeface="Calibri" pitchFamily="34" charset="-120"/>
              </a:rPr>
              <a:t>subspace intersections</a:t>
            </a:r>
            <a:r>
              <a:rPr lang="en-US" sz="1500" dirty="0">
                <a:solidFill>
                  <a:srgbClr val="0A4F58"/>
                </a:solidFill>
                <a:latin typeface="Calibri" pitchFamily="34" charset="0"/>
                <a:ea typeface="Calibri" pitchFamily="34" charset="-122"/>
                <a:cs typeface="Calibri" pitchFamily="34" charset="-120"/>
              </a:rPr>
              <a:t>, so the compiler can </a:t>
            </a:r>
            <a:r>
              <a:rPr lang="en-US" sz="1500" b="1" dirty="0">
                <a:solidFill>
                  <a:srgbClr val="0A4F58"/>
                </a:solidFill>
                <a:latin typeface="Calibri" pitchFamily="34" charset="0"/>
                <a:ea typeface="Calibri" pitchFamily="34" charset="-122"/>
                <a:cs typeface="Calibri" pitchFamily="34" charset="-120"/>
              </a:rPr>
              <a:t>construct</a:t>
            </a:r>
            <a:r>
              <a:rPr lang="en-US" sz="1500" dirty="0">
                <a:solidFill>
                  <a:srgbClr val="0A4F58"/>
                </a:solidFill>
                <a:latin typeface="Calibri" pitchFamily="34" charset="0"/>
                <a:ea typeface="Calibri" pitchFamily="34" charset="-122"/>
                <a:cs typeface="Calibri" pitchFamily="34" charset="-120"/>
              </a:rPr>
              <a:t> a layout instead of guessing offsets.</a:t>
            </a:r>
            <a:endParaRPr lang="en-US" sz="1500" dirty="0"/>
          </a:p>
        </p:txBody>
      </p:sp>
      <p:sp>
        <p:nvSpPr>
          <p:cNvPr id="78"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OPTIMAL SWIZZLING (FIGURE 5 (3))</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Optimal swizzle, part 1: what must not collide (P)</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“Optimal Swizzling” and Figure 5 (3), pp. 140–141</a:t>
            </a:r>
            <a:endParaRPr lang="en-US" sz="1000" dirty="0"/>
          </a:p>
        </p:txBody>
      </p:sp>
      <p:pic>
        <p:nvPicPr>
          <p:cNvPr id="6" name="fig-fig5_p3" descr="Figure 5 panel 3">    </p:cNvPr>
          <p:cNvPicPr>
            <a:picLocks noChangeAspect="1"/>
          </p:cNvPicPr>
          <p:nvPr/>
        </p:nvPicPr>
        <p:blipFill>
          <a:blip r:embed="rId1"/>
          <a:stretch>
            <a:fillRect/>
          </a:stretch>
        </p:blipFill>
        <p:spPr>
          <a:xfrm>
            <a:off x="6080760" y="1264297"/>
            <a:ext cx="5623560" cy="2546326"/>
          </a:xfrm>
          <a:prstGeom prst="rect">
            <a:avLst/>
          </a:prstGeom>
        </p:spPr>
      </p:pic>
      <p:sp>
        <p:nvSpPr>
          <p:cNvPr id="7" name="caption"/>
          <p:cNvSpPr txBox="1"/>
          <p:nvPr/>
        </p:nvSpPr>
        <p:spPr>
          <a:xfrm>
            <a:off x="6080760" y="3856343"/>
            <a:ext cx="548640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5 (3).</a:t>
            </a:r>
            <a:r>
              <a:rPr lang="en-US" sz="1100" dirty="0">
                <a:solidFill>
                  <a:srgbClr val="5B6770"/>
                </a:solidFill>
                <a:latin typeface="Calibri" pitchFamily="34" charset="0"/>
                <a:ea typeface="Calibri" pitchFamily="34" charset="-122"/>
                <a:cs typeface="Calibri" pitchFamily="34" charset="-120"/>
              </a:rPr>
              <a:t> Compute layout M to avoid conflicts.</a:t>
            </a:r>
            <a:endParaRPr lang="en-US" sz="1100" dirty="0"/>
          </a:p>
        </p:txBody>
      </p:sp>
      <p:sp>
        <p:nvSpPr>
          <p:cNvPr id="8" name="mcol"/>
          <p:cNvSpPr/>
          <p:nvPr/>
        </p:nvSpPr>
        <p:spPr>
          <a:xfrm>
            <a:off x="1097280" y="1783080"/>
            <a:ext cx="347472" cy="1389888"/>
          </a:xfrm>
          <a:prstGeom prst="rect">
            <a:avLst/>
          </a:prstGeom>
          <a:solidFill>
            <a:srgbClr val="FFF0CC"/>
          </a:solidFill>
          <a:ln/>
        </p:spPr>
      </p:sp>
      <p:sp>
        <p:nvSpPr>
          <p:cNvPr id="9" name="mcol"/>
          <p:cNvSpPr/>
          <p:nvPr/>
        </p:nvSpPr>
        <p:spPr>
          <a:xfrm>
            <a:off x="1792224" y="1783080"/>
            <a:ext cx="347472" cy="1389888"/>
          </a:xfrm>
          <a:prstGeom prst="rect">
            <a:avLst/>
          </a:prstGeom>
          <a:solidFill>
            <a:srgbClr val="FFF0CC"/>
          </a:solidFill>
          <a:ln/>
        </p:spPr>
      </p:sp>
      <p:sp>
        <p:nvSpPr>
          <p:cNvPr id="10" name="mcell"/>
          <p:cNvSpPr txBox="1"/>
          <p:nvPr/>
        </p:nvSpPr>
        <p:spPr>
          <a:xfrm>
            <a:off x="1097280" y="1783080"/>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1" name="mcell"/>
          <p:cNvSpPr txBox="1"/>
          <p:nvPr/>
        </p:nvSpPr>
        <p:spPr>
          <a:xfrm>
            <a:off x="1444752" y="1783080"/>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2" name="mcell"/>
          <p:cNvSpPr txBox="1"/>
          <p:nvPr/>
        </p:nvSpPr>
        <p:spPr>
          <a:xfrm>
            <a:off x="1792224" y="1783080"/>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3" name="mcell"/>
          <p:cNvSpPr txBox="1"/>
          <p:nvPr/>
        </p:nvSpPr>
        <p:spPr>
          <a:xfrm>
            <a:off x="2139696" y="1783080"/>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4" name="mcell"/>
          <p:cNvSpPr txBox="1"/>
          <p:nvPr/>
        </p:nvSpPr>
        <p:spPr>
          <a:xfrm>
            <a:off x="1097280" y="2130552"/>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5" name="mcell"/>
          <p:cNvSpPr txBox="1"/>
          <p:nvPr/>
        </p:nvSpPr>
        <p:spPr>
          <a:xfrm>
            <a:off x="1444752" y="2130552"/>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6" name="mcell"/>
          <p:cNvSpPr txBox="1"/>
          <p:nvPr/>
        </p:nvSpPr>
        <p:spPr>
          <a:xfrm>
            <a:off x="1792224" y="2130552"/>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7" name="mcell"/>
          <p:cNvSpPr txBox="1"/>
          <p:nvPr/>
        </p:nvSpPr>
        <p:spPr>
          <a:xfrm>
            <a:off x="2139696" y="2130552"/>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18" name="mcell"/>
          <p:cNvSpPr txBox="1"/>
          <p:nvPr/>
        </p:nvSpPr>
        <p:spPr>
          <a:xfrm>
            <a:off x="1097280" y="2478024"/>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19" name="mcell"/>
          <p:cNvSpPr txBox="1"/>
          <p:nvPr/>
        </p:nvSpPr>
        <p:spPr>
          <a:xfrm>
            <a:off x="1444752" y="2478024"/>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0" name="mcell"/>
          <p:cNvSpPr txBox="1"/>
          <p:nvPr/>
        </p:nvSpPr>
        <p:spPr>
          <a:xfrm>
            <a:off x="1792224" y="2478024"/>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1" name="mcell"/>
          <p:cNvSpPr txBox="1"/>
          <p:nvPr/>
        </p:nvSpPr>
        <p:spPr>
          <a:xfrm>
            <a:off x="2139696" y="2478024"/>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2" name="mcell"/>
          <p:cNvSpPr txBox="1"/>
          <p:nvPr/>
        </p:nvSpPr>
        <p:spPr>
          <a:xfrm>
            <a:off x="1097280" y="2825496"/>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3" name="mcell"/>
          <p:cNvSpPr txBox="1"/>
          <p:nvPr/>
        </p:nvSpPr>
        <p:spPr>
          <a:xfrm>
            <a:off x="1444752" y="2825496"/>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4" name="mcell"/>
          <p:cNvSpPr txBox="1"/>
          <p:nvPr/>
        </p:nvSpPr>
        <p:spPr>
          <a:xfrm>
            <a:off x="1792224" y="2825496"/>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25" name="mcell"/>
          <p:cNvSpPr txBox="1"/>
          <p:nvPr/>
        </p:nvSpPr>
        <p:spPr>
          <a:xfrm>
            <a:off x="2139696" y="2825496"/>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26" name="msep"/>
          <p:cNvSpPr/>
          <p:nvPr/>
        </p:nvSpPr>
        <p:spPr>
          <a:xfrm>
            <a:off x="1792224" y="1801368"/>
            <a:ext cx="0" cy="1353312"/>
          </a:xfrm>
          <a:prstGeom prst="line">
            <a:avLst/>
          </a:prstGeom>
          <a:noFill/>
          <a:ln w="9525">
            <a:solidFill>
              <a:srgbClr val="5B6770"/>
            </a:solidFill>
            <a:prstDash val="dash"/>
          </a:ln>
        </p:spPr>
      </p:sp>
      <p:sp>
        <p:nvSpPr>
          <p:cNvPr id="27" name="mbr"/>
          <p:cNvSpPr/>
          <p:nvPr/>
        </p:nvSpPr>
        <p:spPr>
          <a:xfrm>
            <a:off x="1069848" y="1755648"/>
            <a:ext cx="0" cy="1444752"/>
          </a:xfrm>
          <a:prstGeom prst="line">
            <a:avLst/>
          </a:prstGeom>
          <a:noFill/>
          <a:ln w="15875">
            <a:solidFill>
              <a:srgbClr val="1E2A32"/>
            </a:solidFill>
            <a:prstDash val="solid"/>
          </a:ln>
        </p:spPr>
      </p:sp>
      <p:sp>
        <p:nvSpPr>
          <p:cNvPr id="28" name="mbr"/>
          <p:cNvSpPr/>
          <p:nvPr/>
        </p:nvSpPr>
        <p:spPr>
          <a:xfrm>
            <a:off x="1069848" y="1755648"/>
            <a:ext cx="73152" cy="0"/>
          </a:xfrm>
          <a:prstGeom prst="line">
            <a:avLst/>
          </a:prstGeom>
          <a:noFill/>
          <a:ln w="15875">
            <a:solidFill>
              <a:srgbClr val="1E2A32"/>
            </a:solidFill>
            <a:prstDash val="solid"/>
          </a:ln>
        </p:spPr>
      </p:sp>
      <p:sp>
        <p:nvSpPr>
          <p:cNvPr id="29" name="mbr"/>
          <p:cNvSpPr/>
          <p:nvPr/>
        </p:nvSpPr>
        <p:spPr>
          <a:xfrm>
            <a:off x="1069848" y="3200400"/>
            <a:ext cx="73152" cy="0"/>
          </a:xfrm>
          <a:prstGeom prst="line">
            <a:avLst/>
          </a:prstGeom>
          <a:noFill/>
          <a:ln w="15875">
            <a:solidFill>
              <a:srgbClr val="1E2A32"/>
            </a:solidFill>
            <a:prstDash val="solid"/>
          </a:ln>
        </p:spPr>
      </p:sp>
      <p:sp>
        <p:nvSpPr>
          <p:cNvPr id="30" name="mbr"/>
          <p:cNvSpPr/>
          <p:nvPr/>
        </p:nvSpPr>
        <p:spPr>
          <a:xfrm>
            <a:off x="2514600" y="1755648"/>
            <a:ext cx="0" cy="1444752"/>
          </a:xfrm>
          <a:prstGeom prst="line">
            <a:avLst/>
          </a:prstGeom>
          <a:noFill/>
          <a:ln w="15875">
            <a:solidFill>
              <a:srgbClr val="1E2A32"/>
            </a:solidFill>
            <a:prstDash val="solid"/>
          </a:ln>
        </p:spPr>
      </p:sp>
      <p:sp>
        <p:nvSpPr>
          <p:cNvPr id="31" name="mbr"/>
          <p:cNvSpPr/>
          <p:nvPr/>
        </p:nvSpPr>
        <p:spPr>
          <a:xfrm>
            <a:off x="2441448" y="1755648"/>
            <a:ext cx="73152" cy="0"/>
          </a:xfrm>
          <a:prstGeom prst="line">
            <a:avLst/>
          </a:prstGeom>
          <a:noFill/>
          <a:ln w="15875">
            <a:solidFill>
              <a:srgbClr val="1E2A32"/>
            </a:solidFill>
            <a:prstDash val="solid"/>
          </a:ln>
        </p:spPr>
      </p:sp>
      <p:sp>
        <p:nvSpPr>
          <p:cNvPr id="32" name="mbr"/>
          <p:cNvSpPr/>
          <p:nvPr/>
        </p:nvSpPr>
        <p:spPr>
          <a:xfrm>
            <a:off x="2441448" y="3200400"/>
            <a:ext cx="73152" cy="0"/>
          </a:xfrm>
          <a:prstGeom prst="line">
            <a:avLst/>
          </a:prstGeom>
          <a:noFill/>
          <a:ln w="15875">
            <a:solidFill>
              <a:srgbClr val="1E2A32"/>
            </a:solidFill>
            <a:prstDash val="solid"/>
          </a:ln>
        </p:spPr>
      </p:sp>
      <p:sp>
        <p:nvSpPr>
          <p:cNvPr id="33" name="mlab"/>
          <p:cNvSpPr txBox="1"/>
          <p:nvPr/>
        </p:nvSpPr>
        <p:spPr>
          <a:xfrm>
            <a:off x="1051560"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reg₀</a:t>
            </a:r>
            <a:endParaRPr lang="en-US" sz="1100" dirty="0"/>
          </a:p>
        </p:txBody>
      </p:sp>
      <p:sp>
        <p:nvSpPr>
          <p:cNvPr id="34" name="mlab"/>
          <p:cNvSpPr txBox="1"/>
          <p:nvPr/>
        </p:nvSpPr>
        <p:spPr>
          <a:xfrm>
            <a:off x="1399032"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reg₁</a:t>
            </a:r>
            <a:endParaRPr lang="en-US" sz="1100" dirty="0"/>
          </a:p>
        </p:txBody>
      </p:sp>
      <p:sp>
        <p:nvSpPr>
          <p:cNvPr id="35" name="mlab"/>
          <p:cNvSpPr txBox="1"/>
          <p:nvPr/>
        </p:nvSpPr>
        <p:spPr>
          <a:xfrm>
            <a:off x="1746504"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thr₀</a:t>
            </a:r>
            <a:endParaRPr lang="en-US" sz="1100" dirty="0"/>
          </a:p>
        </p:txBody>
      </p:sp>
      <p:sp>
        <p:nvSpPr>
          <p:cNvPr id="36" name="mlab"/>
          <p:cNvSpPr txBox="1"/>
          <p:nvPr/>
        </p:nvSpPr>
        <p:spPr>
          <a:xfrm>
            <a:off x="2093976"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thr₁</a:t>
            </a:r>
            <a:endParaRPr lang="en-US" sz="1100" dirty="0"/>
          </a:p>
        </p:txBody>
      </p:sp>
      <p:sp>
        <p:nvSpPr>
          <p:cNvPr id="37" name="mgrp"/>
          <p:cNvSpPr txBox="1"/>
          <p:nvPr/>
        </p:nvSpPr>
        <p:spPr>
          <a:xfrm>
            <a:off x="1097280" y="1307592"/>
            <a:ext cx="694944"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Reg</a:t>
            </a:r>
            <a:endParaRPr lang="en-US" sz="1100" dirty="0"/>
          </a:p>
        </p:txBody>
      </p:sp>
      <p:sp>
        <p:nvSpPr>
          <p:cNvPr id="38" name="mgrp"/>
          <p:cNvSpPr txBox="1"/>
          <p:nvPr/>
        </p:nvSpPr>
        <p:spPr>
          <a:xfrm>
            <a:off x="1792224" y="1307592"/>
            <a:ext cx="694944"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Thr</a:t>
            </a:r>
            <a:endParaRPr lang="en-US" sz="1100" dirty="0"/>
          </a:p>
        </p:txBody>
      </p:sp>
      <p:sp>
        <p:nvSpPr>
          <p:cNvPr id="39" name="mlab"/>
          <p:cNvSpPr txBox="1"/>
          <p:nvPr/>
        </p:nvSpPr>
        <p:spPr>
          <a:xfrm>
            <a:off x="694944" y="1783080"/>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c₀</a:t>
            </a:r>
            <a:endParaRPr lang="en-US" sz="1100" dirty="0"/>
          </a:p>
        </p:txBody>
      </p:sp>
      <p:sp>
        <p:nvSpPr>
          <p:cNvPr id="40" name="mlab"/>
          <p:cNvSpPr txBox="1"/>
          <p:nvPr/>
        </p:nvSpPr>
        <p:spPr>
          <a:xfrm>
            <a:off x="694944" y="2130552"/>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c₁</a:t>
            </a:r>
            <a:endParaRPr lang="en-US" sz="1100" dirty="0"/>
          </a:p>
        </p:txBody>
      </p:sp>
      <p:sp>
        <p:nvSpPr>
          <p:cNvPr id="41" name="mlab"/>
          <p:cNvSpPr txBox="1"/>
          <p:nvPr/>
        </p:nvSpPr>
        <p:spPr>
          <a:xfrm>
            <a:off x="694944" y="2478024"/>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r₀</a:t>
            </a:r>
            <a:endParaRPr lang="en-US" sz="1100" dirty="0"/>
          </a:p>
        </p:txBody>
      </p:sp>
      <p:sp>
        <p:nvSpPr>
          <p:cNvPr id="42" name="mlab"/>
          <p:cNvSpPr txBox="1"/>
          <p:nvPr/>
        </p:nvSpPr>
        <p:spPr>
          <a:xfrm>
            <a:off x="694944" y="2825496"/>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r₁</a:t>
            </a:r>
            <a:endParaRPr lang="en-US" sz="1100" dirty="0"/>
          </a:p>
        </p:txBody>
      </p:sp>
      <p:sp>
        <p:nvSpPr>
          <p:cNvPr id="43" name="mname"/>
          <p:cNvSpPr txBox="1"/>
          <p:nvPr/>
        </p:nvSpPr>
        <p:spPr>
          <a:xfrm>
            <a:off x="822960" y="3227832"/>
            <a:ext cx="193852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A (writer)</a:t>
            </a:r>
            <a:endParaRPr lang="en-US" sz="1300" dirty="0"/>
          </a:p>
        </p:txBody>
      </p:sp>
      <p:sp>
        <p:nvSpPr>
          <p:cNvPr id="44" name="mcol"/>
          <p:cNvSpPr/>
          <p:nvPr/>
        </p:nvSpPr>
        <p:spPr>
          <a:xfrm>
            <a:off x="3611880" y="1783080"/>
            <a:ext cx="347472" cy="1389888"/>
          </a:xfrm>
          <a:prstGeom prst="rect">
            <a:avLst/>
          </a:prstGeom>
          <a:solidFill>
            <a:srgbClr val="FFF0CC"/>
          </a:solidFill>
          <a:ln/>
        </p:spPr>
      </p:sp>
      <p:sp>
        <p:nvSpPr>
          <p:cNvPr id="45" name="mcol"/>
          <p:cNvSpPr/>
          <p:nvPr/>
        </p:nvSpPr>
        <p:spPr>
          <a:xfrm>
            <a:off x="4306824" y="1783080"/>
            <a:ext cx="347472" cy="1389888"/>
          </a:xfrm>
          <a:prstGeom prst="rect">
            <a:avLst/>
          </a:prstGeom>
          <a:solidFill>
            <a:srgbClr val="FFF0CC"/>
          </a:solidFill>
          <a:ln/>
        </p:spPr>
      </p:sp>
      <p:sp>
        <p:nvSpPr>
          <p:cNvPr id="46" name="mcell"/>
          <p:cNvSpPr txBox="1"/>
          <p:nvPr/>
        </p:nvSpPr>
        <p:spPr>
          <a:xfrm>
            <a:off x="3611880" y="1783080"/>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7" name="mcell"/>
          <p:cNvSpPr txBox="1"/>
          <p:nvPr/>
        </p:nvSpPr>
        <p:spPr>
          <a:xfrm>
            <a:off x="3959352" y="1783080"/>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48" name="mcell"/>
          <p:cNvSpPr txBox="1"/>
          <p:nvPr/>
        </p:nvSpPr>
        <p:spPr>
          <a:xfrm>
            <a:off x="4306824" y="1783080"/>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49" name="mcell"/>
          <p:cNvSpPr txBox="1"/>
          <p:nvPr/>
        </p:nvSpPr>
        <p:spPr>
          <a:xfrm>
            <a:off x="4654296" y="1783080"/>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0" name="mcell"/>
          <p:cNvSpPr txBox="1"/>
          <p:nvPr/>
        </p:nvSpPr>
        <p:spPr>
          <a:xfrm>
            <a:off x="3611880" y="2130552"/>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1" name="mcell"/>
          <p:cNvSpPr txBox="1"/>
          <p:nvPr/>
        </p:nvSpPr>
        <p:spPr>
          <a:xfrm>
            <a:off x="3959352" y="2130552"/>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2" name="mcell"/>
          <p:cNvSpPr txBox="1"/>
          <p:nvPr/>
        </p:nvSpPr>
        <p:spPr>
          <a:xfrm>
            <a:off x="4306824" y="2130552"/>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3" name="mcell"/>
          <p:cNvSpPr txBox="1"/>
          <p:nvPr/>
        </p:nvSpPr>
        <p:spPr>
          <a:xfrm>
            <a:off x="4654296" y="2130552"/>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4" name="mcell"/>
          <p:cNvSpPr txBox="1"/>
          <p:nvPr/>
        </p:nvSpPr>
        <p:spPr>
          <a:xfrm>
            <a:off x="3611880" y="2478024"/>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55" name="mcell"/>
          <p:cNvSpPr txBox="1"/>
          <p:nvPr/>
        </p:nvSpPr>
        <p:spPr>
          <a:xfrm>
            <a:off x="3959352" y="2478024"/>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6" name="mcell"/>
          <p:cNvSpPr txBox="1"/>
          <p:nvPr/>
        </p:nvSpPr>
        <p:spPr>
          <a:xfrm>
            <a:off x="4306824" y="2478024"/>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7" name="mcell"/>
          <p:cNvSpPr txBox="1"/>
          <p:nvPr/>
        </p:nvSpPr>
        <p:spPr>
          <a:xfrm>
            <a:off x="4654296" y="2478024"/>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8" name="mcell"/>
          <p:cNvSpPr txBox="1"/>
          <p:nvPr/>
        </p:nvSpPr>
        <p:spPr>
          <a:xfrm>
            <a:off x="3611880" y="2825496"/>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59" name="mcell"/>
          <p:cNvSpPr txBox="1"/>
          <p:nvPr/>
        </p:nvSpPr>
        <p:spPr>
          <a:xfrm>
            <a:off x="3959352" y="2825496"/>
            <a:ext cx="347472" cy="347472"/>
          </a:xfrm>
          <a:prstGeom prst="rect">
            <a:avLst/>
          </a:prstGeom>
          <a:noFill/>
          <a:ln/>
        </p:spPr>
        <p:txBody>
          <a:bodyPr wrap="square" lIns="0" tIns="0" rIns="0" bIns="0" rtlCol="0" anchor="ctr"/>
          <a:lstStyle/>
          <a:p>
            <a:pPr algn="ctr" indent="0" marL="0">
              <a:buNone/>
            </a:pPr>
            <a:r>
              <a:rPr lang="en-US" sz="1400" b="1" dirty="0">
                <a:solidFill>
                  <a:srgbClr val="1E2A32"/>
                </a:solidFill>
                <a:latin typeface="Calibri" pitchFamily="34" charset="0"/>
                <a:ea typeface="Calibri" pitchFamily="34" charset="-122"/>
                <a:cs typeface="Calibri" pitchFamily="34" charset="-120"/>
              </a:rPr>
              <a:t>1</a:t>
            </a:r>
            <a:endParaRPr lang="en-US" sz="1400" dirty="0"/>
          </a:p>
        </p:txBody>
      </p:sp>
      <p:sp>
        <p:nvSpPr>
          <p:cNvPr id="60" name="mcell"/>
          <p:cNvSpPr txBox="1"/>
          <p:nvPr/>
        </p:nvSpPr>
        <p:spPr>
          <a:xfrm>
            <a:off x="4306824" y="2825496"/>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1" name="mcell"/>
          <p:cNvSpPr txBox="1"/>
          <p:nvPr/>
        </p:nvSpPr>
        <p:spPr>
          <a:xfrm>
            <a:off x="4654296" y="2825496"/>
            <a:ext cx="347472" cy="347472"/>
          </a:xfrm>
          <a:prstGeom prst="rect">
            <a:avLst/>
          </a:prstGeom>
          <a:noFill/>
          <a:ln/>
        </p:spPr>
        <p:txBody>
          <a:bodyPr wrap="square" lIns="0" tIns="0" rIns="0" bIns="0" rtlCol="0" anchor="ctr"/>
          <a:lstStyle/>
          <a:p>
            <a:pPr algn="ctr" indent="0" marL="0">
              <a:buNone/>
            </a:pPr>
            <a:r>
              <a:rPr lang="en-US" sz="1400" dirty="0">
                <a:solidFill>
                  <a:srgbClr val="B9C1C7"/>
                </a:solidFill>
                <a:latin typeface="Calibri" pitchFamily="34" charset="0"/>
                <a:ea typeface="Calibri" pitchFamily="34" charset="-122"/>
                <a:cs typeface="Calibri" pitchFamily="34" charset="-120"/>
              </a:rPr>
              <a:t>0</a:t>
            </a:r>
            <a:endParaRPr lang="en-US" sz="1400" dirty="0"/>
          </a:p>
        </p:txBody>
      </p:sp>
      <p:sp>
        <p:nvSpPr>
          <p:cNvPr id="62" name="msep"/>
          <p:cNvSpPr/>
          <p:nvPr/>
        </p:nvSpPr>
        <p:spPr>
          <a:xfrm>
            <a:off x="4306824" y="1801368"/>
            <a:ext cx="0" cy="1353312"/>
          </a:xfrm>
          <a:prstGeom prst="line">
            <a:avLst/>
          </a:prstGeom>
          <a:noFill/>
          <a:ln w="9525">
            <a:solidFill>
              <a:srgbClr val="5B6770"/>
            </a:solidFill>
            <a:prstDash val="dash"/>
          </a:ln>
        </p:spPr>
      </p:sp>
      <p:sp>
        <p:nvSpPr>
          <p:cNvPr id="63" name="mbr"/>
          <p:cNvSpPr/>
          <p:nvPr/>
        </p:nvSpPr>
        <p:spPr>
          <a:xfrm>
            <a:off x="3584448" y="1755648"/>
            <a:ext cx="0" cy="1444752"/>
          </a:xfrm>
          <a:prstGeom prst="line">
            <a:avLst/>
          </a:prstGeom>
          <a:noFill/>
          <a:ln w="15875">
            <a:solidFill>
              <a:srgbClr val="1E2A32"/>
            </a:solidFill>
            <a:prstDash val="solid"/>
          </a:ln>
        </p:spPr>
      </p:sp>
      <p:sp>
        <p:nvSpPr>
          <p:cNvPr id="64" name="mbr"/>
          <p:cNvSpPr/>
          <p:nvPr/>
        </p:nvSpPr>
        <p:spPr>
          <a:xfrm>
            <a:off x="3584448" y="1755648"/>
            <a:ext cx="73152" cy="0"/>
          </a:xfrm>
          <a:prstGeom prst="line">
            <a:avLst/>
          </a:prstGeom>
          <a:noFill/>
          <a:ln w="15875">
            <a:solidFill>
              <a:srgbClr val="1E2A32"/>
            </a:solidFill>
            <a:prstDash val="solid"/>
          </a:ln>
        </p:spPr>
      </p:sp>
      <p:sp>
        <p:nvSpPr>
          <p:cNvPr id="65" name="mbr"/>
          <p:cNvSpPr/>
          <p:nvPr/>
        </p:nvSpPr>
        <p:spPr>
          <a:xfrm>
            <a:off x="3584448" y="3200400"/>
            <a:ext cx="73152" cy="0"/>
          </a:xfrm>
          <a:prstGeom prst="line">
            <a:avLst/>
          </a:prstGeom>
          <a:noFill/>
          <a:ln w="15875">
            <a:solidFill>
              <a:srgbClr val="1E2A32"/>
            </a:solidFill>
            <a:prstDash val="solid"/>
          </a:ln>
        </p:spPr>
      </p:sp>
      <p:sp>
        <p:nvSpPr>
          <p:cNvPr id="66" name="mbr"/>
          <p:cNvSpPr/>
          <p:nvPr/>
        </p:nvSpPr>
        <p:spPr>
          <a:xfrm>
            <a:off x="5029200" y="1755648"/>
            <a:ext cx="0" cy="1444752"/>
          </a:xfrm>
          <a:prstGeom prst="line">
            <a:avLst/>
          </a:prstGeom>
          <a:noFill/>
          <a:ln w="15875">
            <a:solidFill>
              <a:srgbClr val="1E2A32"/>
            </a:solidFill>
            <a:prstDash val="solid"/>
          </a:ln>
        </p:spPr>
      </p:sp>
      <p:sp>
        <p:nvSpPr>
          <p:cNvPr id="67" name="mbr"/>
          <p:cNvSpPr/>
          <p:nvPr/>
        </p:nvSpPr>
        <p:spPr>
          <a:xfrm>
            <a:off x="4956048" y="1755648"/>
            <a:ext cx="73152" cy="0"/>
          </a:xfrm>
          <a:prstGeom prst="line">
            <a:avLst/>
          </a:prstGeom>
          <a:noFill/>
          <a:ln w="15875">
            <a:solidFill>
              <a:srgbClr val="1E2A32"/>
            </a:solidFill>
            <a:prstDash val="solid"/>
          </a:ln>
        </p:spPr>
      </p:sp>
      <p:sp>
        <p:nvSpPr>
          <p:cNvPr id="68" name="mbr"/>
          <p:cNvSpPr/>
          <p:nvPr/>
        </p:nvSpPr>
        <p:spPr>
          <a:xfrm>
            <a:off x="4956048" y="3200400"/>
            <a:ext cx="73152" cy="0"/>
          </a:xfrm>
          <a:prstGeom prst="line">
            <a:avLst/>
          </a:prstGeom>
          <a:noFill/>
          <a:ln w="15875">
            <a:solidFill>
              <a:srgbClr val="1E2A32"/>
            </a:solidFill>
            <a:prstDash val="solid"/>
          </a:ln>
        </p:spPr>
      </p:sp>
      <p:sp>
        <p:nvSpPr>
          <p:cNvPr id="69" name="mlab"/>
          <p:cNvSpPr txBox="1"/>
          <p:nvPr/>
        </p:nvSpPr>
        <p:spPr>
          <a:xfrm>
            <a:off x="3566160"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reg₀</a:t>
            </a:r>
            <a:endParaRPr lang="en-US" sz="1100" dirty="0"/>
          </a:p>
        </p:txBody>
      </p:sp>
      <p:sp>
        <p:nvSpPr>
          <p:cNvPr id="70" name="mlab"/>
          <p:cNvSpPr txBox="1"/>
          <p:nvPr/>
        </p:nvSpPr>
        <p:spPr>
          <a:xfrm>
            <a:off x="3913632"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reg₁</a:t>
            </a:r>
            <a:endParaRPr lang="en-US" sz="1100" dirty="0"/>
          </a:p>
        </p:txBody>
      </p:sp>
      <p:sp>
        <p:nvSpPr>
          <p:cNvPr id="71" name="mlab"/>
          <p:cNvSpPr txBox="1"/>
          <p:nvPr/>
        </p:nvSpPr>
        <p:spPr>
          <a:xfrm>
            <a:off x="4261104"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thr₀</a:t>
            </a:r>
            <a:endParaRPr lang="en-US" sz="1100" dirty="0"/>
          </a:p>
        </p:txBody>
      </p:sp>
      <p:sp>
        <p:nvSpPr>
          <p:cNvPr id="72" name="mlab"/>
          <p:cNvSpPr txBox="1"/>
          <p:nvPr/>
        </p:nvSpPr>
        <p:spPr>
          <a:xfrm>
            <a:off x="4608576" y="1545336"/>
            <a:ext cx="438912" cy="219456"/>
          </a:xfrm>
          <a:prstGeom prst="rect">
            <a:avLst/>
          </a:prstGeom>
          <a:noFill/>
          <a:ln/>
        </p:spPr>
        <p:txBody>
          <a:bodyPr wrap="square" lIns="0" tIns="0" rIns="0" bIns="0" rtlCol="0" anchor="b"/>
          <a:lstStyle/>
          <a:p>
            <a:pPr algn="ctr" indent="0" marL="0">
              <a:buNone/>
            </a:pPr>
            <a:r>
              <a:rPr lang="en-US" sz="1100" dirty="0">
                <a:solidFill>
                  <a:srgbClr val="5B6770"/>
                </a:solidFill>
                <a:latin typeface="Calibri" pitchFamily="34" charset="0"/>
                <a:ea typeface="Calibri" pitchFamily="34" charset="-122"/>
                <a:cs typeface="Calibri" pitchFamily="34" charset="-120"/>
              </a:rPr>
              <a:t>thr₁</a:t>
            </a:r>
            <a:endParaRPr lang="en-US" sz="1100" dirty="0"/>
          </a:p>
        </p:txBody>
      </p:sp>
      <p:sp>
        <p:nvSpPr>
          <p:cNvPr id="73" name="mgrp"/>
          <p:cNvSpPr txBox="1"/>
          <p:nvPr/>
        </p:nvSpPr>
        <p:spPr>
          <a:xfrm>
            <a:off x="3611880" y="1307592"/>
            <a:ext cx="694944"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Reg</a:t>
            </a:r>
            <a:endParaRPr lang="en-US" sz="1100" dirty="0"/>
          </a:p>
        </p:txBody>
      </p:sp>
      <p:sp>
        <p:nvSpPr>
          <p:cNvPr id="74" name="mgrp"/>
          <p:cNvSpPr txBox="1"/>
          <p:nvPr/>
        </p:nvSpPr>
        <p:spPr>
          <a:xfrm>
            <a:off x="4306824" y="1307592"/>
            <a:ext cx="694944" cy="219456"/>
          </a:xfrm>
          <a:prstGeom prst="rect">
            <a:avLst/>
          </a:prstGeom>
          <a:noFill/>
          <a:ln/>
        </p:spPr>
        <p:txBody>
          <a:bodyPr wrap="square" lIns="0" tIns="0" rIns="0" bIns="0" rtlCol="0" anchor="b"/>
          <a:lstStyle/>
          <a:p>
            <a:pPr algn="ctr" indent="0" marL="0">
              <a:buNone/>
            </a:pPr>
            <a:r>
              <a:rPr lang="en-US" sz="1100" b="1" dirty="0">
                <a:solidFill>
                  <a:srgbClr val="0A4F58"/>
                </a:solidFill>
                <a:latin typeface="Calibri" pitchFamily="34" charset="0"/>
                <a:ea typeface="Calibri" pitchFamily="34" charset="-122"/>
                <a:cs typeface="Calibri" pitchFamily="34" charset="-120"/>
              </a:rPr>
              <a:t>Thr</a:t>
            </a:r>
            <a:endParaRPr lang="en-US" sz="1100" dirty="0"/>
          </a:p>
        </p:txBody>
      </p:sp>
      <p:sp>
        <p:nvSpPr>
          <p:cNvPr id="75" name="mlab"/>
          <p:cNvSpPr txBox="1"/>
          <p:nvPr/>
        </p:nvSpPr>
        <p:spPr>
          <a:xfrm>
            <a:off x="3209544" y="1783080"/>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c₀</a:t>
            </a:r>
            <a:endParaRPr lang="en-US" sz="1100" dirty="0"/>
          </a:p>
        </p:txBody>
      </p:sp>
      <p:sp>
        <p:nvSpPr>
          <p:cNvPr id="76" name="mlab"/>
          <p:cNvSpPr txBox="1"/>
          <p:nvPr/>
        </p:nvSpPr>
        <p:spPr>
          <a:xfrm>
            <a:off x="3209544" y="2130552"/>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c₁</a:t>
            </a:r>
            <a:endParaRPr lang="en-US" sz="1100" dirty="0"/>
          </a:p>
        </p:txBody>
      </p:sp>
      <p:sp>
        <p:nvSpPr>
          <p:cNvPr id="77" name="mlab"/>
          <p:cNvSpPr txBox="1"/>
          <p:nvPr/>
        </p:nvSpPr>
        <p:spPr>
          <a:xfrm>
            <a:off x="3209544" y="2478024"/>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r₀</a:t>
            </a:r>
            <a:endParaRPr lang="en-US" sz="1100" dirty="0"/>
          </a:p>
        </p:txBody>
      </p:sp>
      <p:sp>
        <p:nvSpPr>
          <p:cNvPr id="78" name="mlab"/>
          <p:cNvSpPr txBox="1"/>
          <p:nvPr/>
        </p:nvSpPr>
        <p:spPr>
          <a:xfrm>
            <a:off x="3209544" y="2825496"/>
            <a:ext cx="347472" cy="347472"/>
          </a:xfrm>
          <a:prstGeom prst="rect">
            <a:avLst/>
          </a:prstGeom>
          <a:noFill/>
          <a:ln/>
        </p:spPr>
        <p:txBody>
          <a:bodyPr wrap="square" lIns="0" tIns="0" rIns="0" bIns="0" rtlCol="0" anchor="ctr"/>
          <a:lstStyle/>
          <a:p>
            <a:pPr algn="r" indent="0" marL="0">
              <a:buNone/>
            </a:pPr>
            <a:r>
              <a:rPr lang="en-US" sz="1100" dirty="0">
                <a:solidFill>
                  <a:srgbClr val="5B6770"/>
                </a:solidFill>
                <a:latin typeface="Calibri" pitchFamily="34" charset="0"/>
                <a:ea typeface="Calibri" pitchFamily="34" charset="-122"/>
                <a:cs typeface="Calibri" pitchFamily="34" charset="-120"/>
              </a:rPr>
              <a:t>r₁</a:t>
            </a:r>
            <a:endParaRPr lang="en-US" sz="1100" dirty="0"/>
          </a:p>
        </p:txBody>
      </p:sp>
      <p:sp>
        <p:nvSpPr>
          <p:cNvPr id="79" name="mname"/>
          <p:cNvSpPr txBox="1"/>
          <p:nvPr/>
        </p:nvSpPr>
        <p:spPr>
          <a:xfrm>
            <a:off x="3337560" y="3227832"/>
            <a:ext cx="193852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B (reader)</a:t>
            </a:r>
            <a:endParaRPr lang="en-US" sz="1300" dirty="0"/>
          </a:p>
        </p:txBody>
      </p:sp>
      <p:sp>
        <p:nvSpPr>
          <p:cNvPr id="80" name="Text 76"/>
          <p:cNvSpPr txBox="1"/>
          <p:nvPr/>
        </p:nvSpPr>
        <p:spPr>
          <a:xfrm>
            <a:off x="502920" y="3749040"/>
            <a:ext cx="539496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V = A_Reg ∩ B_Reg = {r₀}</a:t>
            </a:r>
            <a:endParaRPr lang="en-US" sz="1400" dirty="0"/>
          </a:p>
        </p:txBody>
      </p:sp>
      <p:sp>
        <p:nvSpPr>
          <p:cNvPr id="81" name="Text 77"/>
          <p:cNvSpPr txBox="1"/>
          <p:nvPr/>
        </p:nvSpPr>
        <p:spPr>
          <a:xfrm>
            <a:off x="685800" y="4005072"/>
            <a:ext cx="5212080" cy="2743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both register bit 0 → element +4: vectors (e, e+4), v = 1</a:t>
            </a:r>
            <a:endParaRPr lang="en-US" sz="1300" dirty="0"/>
          </a:p>
        </p:txBody>
      </p:sp>
      <p:sp>
        <p:nvSpPr>
          <p:cNvPr id="82" name="Text 78"/>
          <p:cNvSpPr txBox="1"/>
          <p:nvPr/>
        </p:nvSpPr>
        <p:spPr>
          <a:xfrm>
            <a:off x="502920" y="4297680"/>
            <a:ext cx="539496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d = 4,  b = 1,  s = d − v − b = 2</a:t>
            </a:r>
            <a:endParaRPr lang="en-US" sz="1400" dirty="0"/>
          </a:p>
        </p:txBody>
      </p:sp>
      <p:sp>
        <p:nvSpPr>
          <p:cNvPr id="83" name="Text 79"/>
          <p:cNvSpPr txBox="1"/>
          <p:nvPr/>
        </p:nvSpPr>
        <p:spPr>
          <a:xfrm>
            <a:off x="685800" y="4553712"/>
            <a:ext cx="5212080" cy="2743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4 banks per segment = two 2-element vectors per transaction</a:t>
            </a:r>
            <a:endParaRPr lang="en-US" sz="1300" dirty="0"/>
          </a:p>
        </p:txBody>
      </p:sp>
      <p:sp>
        <p:nvSpPr>
          <p:cNvPr id="84" name="Text 80"/>
          <p:cNvSpPr txBox="1"/>
          <p:nvPr/>
        </p:nvSpPr>
        <p:spPr>
          <a:xfrm>
            <a:off x="502920" y="4846320"/>
            <a:ext cx="5394960" cy="274320"/>
          </a:xfrm>
          <a:prstGeom prst="rect">
            <a:avLst/>
          </a:prstGeom>
          <a:noFill/>
          <a:ln/>
        </p:spPr>
        <p:txBody>
          <a:bodyPr wrap="square" lIns="0" tIns="0" rIns="0" bIns="0" rtlCol="0" anchor="t"/>
          <a:lstStyle/>
          <a:p>
            <a:pPr indent="0" marL="0">
              <a:buNone/>
            </a:pPr>
            <a:r>
              <a:rPr lang="en-US" sz="1400" b="1" dirty="0">
                <a:solidFill>
                  <a:srgbClr val="0E6E7A"/>
                </a:solidFill>
                <a:latin typeface="Calibri" pitchFamily="34" charset="0"/>
                <a:ea typeface="Calibri" pitchFamily="34" charset="-122"/>
                <a:cs typeface="Calibri" pitchFamily="34" charset="-120"/>
              </a:rPr>
              <a:t>A_Bank = {c₁},  B_Bank = {c₀}</a:t>
            </a:r>
            <a:endParaRPr lang="en-US" sz="1400" dirty="0"/>
          </a:p>
        </p:txBody>
      </p:sp>
      <p:sp>
        <p:nvSpPr>
          <p:cNvPr id="85" name="Text 81"/>
          <p:cNvSpPr txBox="1"/>
          <p:nvPr/>
        </p:nvSpPr>
        <p:spPr>
          <a:xfrm>
            <a:off x="685800" y="5102352"/>
            <a:ext cx="5212080" cy="2743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thread bit shared within one transaction (A: +2, B: +1)</a:t>
            </a:r>
            <a:endParaRPr lang="en-US" sz="1300" dirty="0"/>
          </a:p>
        </p:txBody>
      </p:sp>
      <p:sp>
        <p:nvSpPr>
          <p:cNvPr id="86" name="Text 82"/>
          <p:cNvSpPr txBox="1"/>
          <p:nvPr/>
        </p:nvSpPr>
        <p:spPr>
          <a:xfrm>
            <a:off x="502920" y="5394960"/>
            <a:ext cx="5394960" cy="274320"/>
          </a:xfrm>
          <a:prstGeom prst="rect">
            <a:avLst/>
          </a:prstGeom>
          <a:noFill/>
          <a:ln/>
        </p:spPr>
        <p:txBody>
          <a:bodyPr wrap="square" lIns="0" tIns="0" rIns="0" bIns="0" rtlCol="0" anchor="t"/>
          <a:lstStyle/>
          <a:p>
            <a:pPr indent="0" marL="0">
              <a:buNone/>
            </a:pPr>
            <a:r>
              <a:rPr lang="en-US" sz="1400" b="1" dirty="0">
                <a:solidFill>
                  <a:srgbClr val="6B4100"/>
                </a:solidFill>
                <a:latin typeface="Calibri" pitchFamily="34" charset="0"/>
                <a:ea typeface="Calibri" pitchFamily="34" charset="-122"/>
                <a:cs typeface="Calibri" pitchFamily="34" charset="-120"/>
              </a:rPr>
              <a:t>P = span(V ∪ A_Bank) ∪ span(V ∪ B_Bank)</a:t>
            </a:r>
            <a:endParaRPr lang="en-US" sz="1400" dirty="0"/>
          </a:p>
        </p:txBody>
      </p:sp>
      <p:sp>
        <p:nvSpPr>
          <p:cNvPr id="87" name="Text 83"/>
          <p:cNvSpPr txBox="1"/>
          <p:nvPr/>
        </p:nvSpPr>
        <p:spPr>
          <a:xfrm>
            <a:off x="685800" y="5650992"/>
            <a:ext cx="5212080" cy="2743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 {0, 4, 2, 6} ∪ {0, 1, 4, 5} = {0, 1, 2, 4, 5, 6}</a:t>
            </a:r>
            <a:endParaRPr lang="en-US" sz="1300" dirty="0"/>
          </a:p>
        </p:txBody>
      </p:sp>
      <p:sp>
        <p:nvSpPr>
          <p:cNvPr id="88" name="callout"/>
          <p:cNvSpPr/>
          <p:nvPr/>
        </p:nvSpPr>
        <p:spPr>
          <a:xfrm>
            <a:off x="6080760" y="4343400"/>
            <a:ext cx="5623560" cy="822960"/>
          </a:xfrm>
          <a:prstGeom prst="roundRect">
            <a:avLst>
              <a:gd name="adj" fmla="val 8889"/>
            </a:avLst>
          </a:prstGeom>
          <a:solidFill>
            <a:srgbClr val="FFF0CC"/>
          </a:solidFill>
          <a:ln/>
        </p:spPr>
      </p:sp>
      <p:sp>
        <p:nvSpPr>
          <p:cNvPr id="89" name="callout-text"/>
          <p:cNvSpPr txBox="1"/>
          <p:nvPr/>
        </p:nvSpPr>
        <p:spPr>
          <a:xfrm>
            <a:off x="6217920" y="4398264"/>
            <a:ext cx="5349240" cy="713232"/>
          </a:xfrm>
          <a:prstGeom prst="rect">
            <a:avLst/>
          </a:prstGeom>
          <a:noFill/>
          <a:ln/>
        </p:spPr>
        <p:txBody>
          <a:bodyPr wrap="square" lIns="0" tIns="0" rIns="0" bIns="0" rtlCol="0" anchor="ctr"/>
          <a:lstStyle/>
          <a:p>
            <a:pPr algn="l" indent="0" marL="0">
              <a:buNone/>
            </a:pPr>
            <a:r>
              <a:rPr lang="en-US" sz="1500" dirty="0">
                <a:solidFill>
                  <a:srgbClr val="6B4100"/>
                </a:solidFill>
                <a:latin typeface="Calibri" pitchFamily="34" charset="0"/>
                <a:ea typeface="Calibri" pitchFamily="34" charset="-122"/>
                <a:cs typeface="Calibri" pitchFamily="34" charset="-120"/>
              </a:rPr>
              <a:t>Elements in one transaction differ by a vector in </a:t>
            </a:r>
            <a:r>
              <a:rPr lang="en-US" sz="1500" b="1" dirty="0">
                <a:solidFill>
                  <a:srgbClr val="6B4100"/>
                </a:solidFill>
                <a:latin typeface="Calibri" pitchFamily="34" charset="0"/>
                <a:ea typeface="Calibri" pitchFamily="34" charset="-122"/>
                <a:cs typeface="Calibri" pitchFamily="34" charset="-120"/>
              </a:rPr>
              <a:t>P</a:t>
            </a:r>
            <a:r>
              <a:rPr lang="en-US" sz="1500" dirty="0">
                <a:solidFill>
                  <a:srgbClr val="6B4100"/>
                </a:solidFill>
                <a:latin typeface="Calibri" pitchFamily="34" charset="0"/>
                <a:ea typeface="Calibri" pitchFamily="34" charset="-122"/>
                <a:cs typeface="Calibri" pitchFamily="34" charset="-120"/>
              </a:rPr>
              <a:t> → segment directions must </a:t>
            </a:r>
            <a:r>
              <a:rPr lang="en-US" sz="1500" b="1" dirty="0">
                <a:solidFill>
                  <a:srgbClr val="6B4100"/>
                </a:solidFill>
                <a:latin typeface="Calibri" pitchFamily="34" charset="0"/>
                <a:ea typeface="Calibri" pitchFamily="34" charset="-122"/>
                <a:cs typeface="Calibri" pitchFamily="34" charset="-120"/>
              </a:rPr>
              <a:t>avoid P</a:t>
            </a:r>
            <a:r>
              <a:rPr lang="en-US" sz="1500" dirty="0">
                <a:solidFill>
                  <a:srgbClr val="6B4100"/>
                </a:solidFill>
                <a:latin typeface="Calibri" pitchFamily="34" charset="0"/>
                <a:ea typeface="Calibri" pitchFamily="34" charset="-122"/>
                <a:cs typeface="Calibri" pitchFamily="34" charset="-120"/>
              </a:rPr>
              <a:t>.</a:t>
            </a:r>
            <a:endParaRPr lang="en-US" sz="1500" dirty="0"/>
          </a:p>
        </p:txBody>
      </p:sp>
      <p:sp>
        <p:nvSpPr>
          <p:cNvPr id="90" name="Text 86"/>
          <p:cNvSpPr txBox="1"/>
          <p:nvPr/>
        </p:nvSpPr>
        <p:spPr>
          <a:xfrm>
            <a:off x="6080760" y="5303520"/>
            <a:ext cx="5623560" cy="45720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Elements e = 4r + c; bits (c₀ c₁ r₀ r₁). A owns 2×2 blocks (regs 0,4,1,5); B owns columns.</a:t>
            </a:r>
            <a:endParaRPr lang="en-US" sz="1200" dirty="0"/>
          </a:p>
        </p:txBody>
      </p:sp>
      <p:sp>
        <p:nvSpPr>
          <p:cNvPr id="91" name="tag"/>
          <p:cNvSpPr txBox="1"/>
          <p:nvPr/>
        </p:nvSpPr>
        <p:spPr>
          <a:xfrm>
            <a:off x="6080760" y="5833872"/>
            <a:ext cx="128016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Figure 5 example</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OPTIMAL SWIZZLING (FIGURE 5 (3))</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Optimal swizzle, part 2: build H, complete with C, assemble M</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“Optimal Swizzling” and Figure 5 (3), p. 141</a:t>
            </a:r>
            <a:endParaRPr lang="en-US" sz="1000" dirty="0"/>
          </a:p>
        </p:txBody>
      </p:sp>
      <p:sp>
        <p:nvSpPr>
          <p:cNvPr id="6" name="Text 3"/>
          <p:cNvSpPr txBox="1"/>
          <p:nvPr/>
        </p:nvSpPr>
        <p:spPr>
          <a:xfrm>
            <a:off x="502920" y="1280160"/>
            <a:ext cx="1920240" cy="502920"/>
          </a:xfrm>
          <a:prstGeom prst="rect">
            <a:avLst/>
          </a:prstGeom>
          <a:noFill/>
          <a:ln/>
        </p:spPr>
        <p:txBody>
          <a:bodyPr wrap="square" lIns="0" tIns="0" rIns="0" bIns="0" rtlCol="0" anchor="t"/>
          <a:lstStyle/>
          <a:p>
            <a:pPr algn="ctr" indent="0" marL="0">
              <a:buNone/>
            </a:pPr>
            <a:r>
              <a:rPr lang="en-US" sz="1300" b="1" dirty="0">
                <a:solidFill>
                  <a:srgbClr val="0E6E7A"/>
                </a:solidFill>
                <a:latin typeface="Calibri" pitchFamily="34" charset="0"/>
                <a:ea typeface="Calibri" pitchFamily="34" charset="-122"/>
                <a:cs typeface="Calibri" pitchFamily="34" charset="-120"/>
              </a:rPr>
              <a:t>E = A_Bank \ B_Bank</a:t>
            </a:r>
            <a:endParaRPr lang="en-US" sz="1300" dirty="0"/>
          </a:p>
        </p:txBody>
      </p:sp>
      <p:sp>
        <p:nvSpPr>
          <p:cNvPr id="7" name="mcell"/>
          <p:cNvSpPr txBox="1"/>
          <p:nvPr/>
        </p:nvSpPr>
        <p:spPr>
          <a:xfrm>
            <a:off x="1280160" y="1874520"/>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8" name="mcell"/>
          <p:cNvSpPr txBox="1"/>
          <p:nvPr/>
        </p:nvSpPr>
        <p:spPr>
          <a:xfrm>
            <a:off x="1280160" y="2221992"/>
            <a:ext cx="347472" cy="347472"/>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9" name="mcell"/>
          <p:cNvSpPr txBox="1"/>
          <p:nvPr/>
        </p:nvSpPr>
        <p:spPr>
          <a:xfrm>
            <a:off x="1280160" y="2569464"/>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0" name="mcell"/>
          <p:cNvSpPr txBox="1"/>
          <p:nvPr/>
        </p:nvSpPr>
        <p:spPr>
          <a:xfrm>
            <a:off x="1280160" y="2916936"/>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11" name="mbr"/>
          <p:cNvSpPr/>
          <p:nvPr/>
        </p:nvSpPr>
        <p:spPr>
          <a:xfrm>
            <a:off x="1252728" y="1847088"/>
            <a:ext cx="0" cy="1444752"/>
          </a:xfrm>
          <a:prstGeom prst="line">
            <a:avLst/>
          </a:prstGeom>
          <a:noFill/>
          <a:ln w="15875">
            <a:solidFill>
              <a:srgbClr val="1E2A32"/>
            </a:solidFill>
            <a:prstDash val="solid"/>
          </a:ln>
        </p:spPr>
      </p:sp>
      <p:sp>
        <p:nvSpPr>
          <p:cNvPr id="12" name="mbr"/>
          <p:cNvSpPr/>
          <p:nvPr/>
        </p:nvSpPr>
        <p:spPr>
          <a:xfrm>
            <a:off x="1252728" y="1847088"/>
            <a:ext cx="73152" cy="0"/>
          </a:xfrm>
          <a:prstGeom prst="line">
            <a:avLst/>
          </a:prstGeom>
          <a:noFill/>
          <a:ln w="15875">
            <a:solidFill>
              <a:srgbClr val="1E2A32"/>
            </a:solidFill>
            <a:prstDash val="solid"/>
          </a:ln>
        </p:spPr>
      </p:sp>
      <p:sp>
        <p:nvSpPr>
          <p:cNvPr id="13" name="mbr"/>
          <p:cNvSpPr/>
          <p:nvPr/>
        </p:nvSpPr>
        <p:spPr>
          <a:xfrm>
            <a:off x="1252728" y="3291840"/>
            <a:ext cx="73152" cy="0"/>
          </a:xfrm>
          <a:prstGeom prst="line">
            <a:avLst/>
          </a:prstGeom>
          <a:noFill/>
          <a:ln w="15875">
            <a:solidFill>
              <a:srgbClr val="1E2A32"/>
            </a:solidFill>
            <a:prstDash val="solid"/>
          </a:ln>
        </p:spPr>
      </p:sp>
      <p:sp>
        <p:nvSpPr>
          <p:cNvPr id="14" name="mbr"/>
          <p:cNvSpPr/>
          <p:nvPr/>
        </p:nvSpPr>
        <p:spPr>
          <a:xfrm>
            <a:off x="1655064" y="1847088"/>
            <a:ext cx="0" cy="1444752"/>
          </a:xfrm>
          <a:prstGeom prst="line">
            <a:avLst/>
          </a:prstGeom>
          <a:noFill/>
          <a:ln w="15875">
            <a:solidFill>
              <a:srgbClr val="1E2A32"/>
            </a:solidFill>
            <a:prstDash val="solid"/>
          </a:ln>
        </p:spPr>
      </p:sp>
      <p:sp>
        <p:nvSpPr>
          <p:cNvPr id="15" name="mbr"/>
          <p:cNvSpPr/>
          <p:nvPr/>
        </p:nvSpPr>
        <p:spPr>
          <a:xfrm>
            <a:off x="1581912" y="1847088"/>
            <a:ext cx="73152" cy="0"/>
          </a:xfrm>
          <a:prstGeom prst="line">
            <a:avLst/>
          </a:prstGeom>
          <a:noFill/>
          <a:ln w="15875">
            <a:solidFill>
              <a:srgbClr val="1E2A32"/>
            </a:solidFill>
            <a:prstDash val="solid"/>
          </a:ln>
        </p:spPr>
      </p:sp>
      <p:sp>
        <p:nvSpPr>
          <p:cNvPr id="16" name="mbr"/>
          <p:cNvSpPr/>
          <p:nvPr/>
        </p:nvSpPr>
        <p:spPr>
          <a:xfrm>
            <a:off x="1581912" y="3291840"/>
            <a:ext cx="73152" cy="0"/>
          </a:xfrm>
          <a:prstGeom prst="line">
            <a:avLst/>
          </a:prstGeom>
          <a:noFill/>
          <a:ln w="15875">
            <a:solidFill>
              <a:srgbClr val="1E2A32"/>
            </a:solidFill>
            <a:prstDash val="solid"/>
          </a:ln>
        </p:spPr>
      </p:sp>
      <p:sp>
        <p:nvSpPr>
          <p:cNvPr id="17" name="mlab"/>
          <p:cNvSpPr txBox="1"/>
          <p:nvPr/>
        </p:nvSpPr>
        <p:spPr>
          <a:xfrm>
            <a:off x="877824" y="1874520"/>
            <a:ext cx="347472" cy="347472"/>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c₀</a:t>
            </a:r>
            <a:endParaRPr lang="en-US" sz="1200" dirty="0"/>
          </a:p>
        </p:txBody>
      </p:sp>
      <p:sp>
        <p:nvSpPr>
          <p:cNvPr id="18" name="mlab"/>
          <p:cNvSpPr txBox="1"/>
          <p:nvPr/>
        </p:nvSpPr>
        <p:spPr>
          <a:xfrm>
            <a:off x="877824" y="2221992"/>
            <a:ext cx="347472" cy="347472"/>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c₁</a:t>
            </a:r>
            <a:endParaRPr lang="en-US" sz="1200" dirty="0"/>
          </a:p>
        </p:txBody>
      </p:sp>
      <p:sp>
        <p:nvSpPr>
          <p:cNvPr id="19" name="mlab"/>
          <p:cNvSpPr txBox="1"/>
          <p:nvPr/>
        </p:nvSpPr>
        <p:spPr>
          <a:xfrm>
            <a:off x="877824" y="2569464"/>
            <a:ext cx="347472" cy="347472"/>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r₀</a:t>
            </a:r>
            <a:endParaRPr lang="en-US" sz="1200" dirty="0"/>
          </a:p>
        </p:txBody>
      </p:sp>
      <p:sp>
        <p:nvSpPr>
          <p:cNvPr id="20" name="mlab"/>
          <p:cNvSpPr txBox="1"/>
          <p:nvPr/>
        </p:nvSpPr>
        <p:spPr>
          <a:xfrm>
            <a:off x="877824" y="2916936"/>
            <a:ext cx="347472" cy="347472"/>
          </a:xfrm>
          <a:prstGeom prst="rect">
            <a:avLst/>
          </a:prstGeom>
          <a:noFill/>
          <a:ln/>
        </p:spPr>
        <p:txBody>
          <a:bodyPr wrap="square" lIns="0" tIns="0" rIns="0" bIns="0" rtlCol="0" anchor="ctr"/>
          <a:lstStyle/>
          <a:p>
            <a:pPr algn="r" indent="0" marL="0">
              <a:buNone/>
            </a:pPr>
            <a:r>
              <a:rPr lang="en-US" sz="1200" dirty="0">
                <a:solidFill>
                  <a:srgbClr val="5B6770"/>
                </a:solidFill>
                <a:latin typeface="Calibri" pitchFamily="34" charset="0"/>
                <a:ea typeface="Calibri" pitchFamily="34" charset="-122"/>
                <a:cs typeface="Calibri" pitchFamily="34" charset="-120"/>
              </a:rPr>
              <a:t>r₁</a:t>
            </a:r>
            <a:endParaRPr lang="en-US" sz="1200" dirty="0"/>
          </a:p>
        </p:txBody>
      </p:sp>
      <p:sp>
        <p:nvSpPr>
          <p:cNvPr id="21" name="Text 18"/>
          <p:cNvSpPr txBox="1"/>
          <p:nvPr/>
        </p:nvSpPr>
        <p:spPr>
          <a:xfrm>
            <a:off x="502920" y="3337560"/>
            <a:ext cx="1920240" cy="502920"/>
          </a:xfrm>
          <a:prstGeom prst="rect">
            <a:avLst/>
          </a:prstGeom>
          <a:noFill/>
          <a:ln/>
        </p:spPr>
        <p:txBody>
          <a:bodyPr wrap="square" lIns="0" tIns="0" rIns="0" bIns="0" rtlCol="0" anchor="t"/>
          <a:lstStyle/>
          <a:p>
            <a:pPr algn="ctr" indent="0" marL="0">
              <a:buNone/>
            </a:pPr>
            <a:r>
              <a:rPr lang="en-US" sz="1200" dirty="0">
                <a:solidFill>
                  <a:srgbClr val="1E2A32"/>
                </a:solidFill>
                <a:latin typeface="Calibri" pitchFamily="34" charset="0"/>
                <a:ea typeface="Calibri" pitchFamily="34" charset="-122"/>
                <a:cs typeface="Calibri" pitchFamily="34" charset="-120"/>
              </a:rPr>
              <a:t>c₁ (element 2)</a:t>
            </a:r>
            <a:endParaRPr lang="en-US" sz="1200" dirty="0"/>
          </a:p>
        </p:txBody>
      </p:sp>
      <p:sp>
        <p:nvSpPr>
          <p:cNvPr id="22" name="Text 19"/>
          <p:cNvSpPr txBox="1"/>
          <p:nvPr/>
        </p:nvSpPr>
        <p:spPr>
          <a:xfrm>
            <a:off x="2468880" y="1280160"/>
            <a:ext cx="1920240" cy="502920"/>
          </a:xfrm>
          <a:prstGeom prst="rect">
            <a:avLst/>
          </a:prstGeom>
          <a:noFill/>
          <a:ln/>
        </p:spPr>
        <p:txBody>
          <a:bodyPr wrap="square" lIns="0" tIns="0" rIns="0" bIns="0" rtlCol="0" anchor="t"/>
          <a:lstStyle/>
          <a:p>
            <a:pPr algn="ctr" indent="0" marL="0">
              <a:buNone/>
            </a:pPr>
            <a:r>
              <a:rPr lang="en-US" sz="1300" b="1" dirty="0">
                <a:solidFill>
                  <a:srgbClr val="0E6E7A"/>
                </a:solidFill>
                <a:latin typeface="Calibri" pitchFamily="34" charset="0"/>
                <a:ea typeface="Calibri" pitchFamily="34" charset="-122"/>
                <a:cs typeface="Calibri" pitchFamily="34" charset="-120"/>
              </a:rPr>
              <a:t>F = B_Bank \ A_Bank</a:t>
            </a:r>
            <a:endParaRPr lang="en-US" sz="1300" dirty="0"/>
          </a:p>
        </p:txBody>
      </p:sp>
      <p:sp>
        <p:nvSpPr>
          <p:cNvPr id="23" name="mcell"/>
          <p:cNvSpPr txBox="1"/>
          <p:nvPr/>
        </p:nvSpPr>
        <p:spPr>
          <a:xfrm>
            <a:off x="3246120" y="1874520"/>
            <a:ext cx="347472" cy="347472"/>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24" name="mcell"/>
          <p:cNvSpPr txBox="1"/>
          <p:nvPr/>
        </p:nvSpPr>
        <p:spPr>
          <a:xfrm>
            <a:off x="3246120" y="2221992"/>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5" name="mcell"/>
          <p:cNvSpPr txBox="1"/>
          <p:nvPr/>
        </p:nvSpPr>
        <p:spPr>
          <a:xfrm>
            <a:off x="3246120" y="2569464"/>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6" name="mcell"/>
          <p:cNvSpPr txBox="1"/>
          <p:nvPr/>
        </p:nvSpPr>
        <p:spPr>
          <a:xfrm>
            <a:off x="3246120" y="2916936"/>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27" name="mbr"/>
          <p:cNvSpPr/>
          <p:nvPr/>
        </p:nvSpPr>
        <p:spPr>
          <a:xfrm>
            <a:off x="3218688" y="1847088"/>
            <a:ext cx="0" cy="1444752"/>
          </a:xfrm>
          <a:prstGeom prst="line">
            <a:avLst/>
          </a:prstGeom>
          <a:noFill/>
          <a:ln w="15875">
            <a:solidFill>
              <a:srgbClr val="1E2A32"/>
            </a:solidFill>
            <a:prstDash val="solid"/>
          </a:ln>
        </p:spPr>
      </p:sp>
      <p:sp>
        <p:nvSpPr>
          <p:cNvPr id="28" name="mbr"/>
          <p:cNvSpPr/>
          <p:nvPr/>
        </p:nvSpPr>
        <p:spPr>
          <a:xfrm>
            <a:off x="3218688" y="1847088"/>
            <a:ext cx="73152" cy="0"/>
          </a:xfrm>
          <a:prstGeom prst="line">
            <a:avLst/>
          </a:prstGeom>
          <a:noFill/>
          <a:ln w="15875">
            <a:solidFill>
              <a:srgbClr val="1E2A32"/>
            </a:solidFill>
            <a:prstDash val="solid"/>
          </a:ln>
        </p:spPr>
      </p:sp>
      <p:sp>
        <p:nvSpPr>
          <p:cNvPr id="29" name="mbr"/>
          <p:cNvSpPr/>
          <p:nvPr/>
        </p:nvSpPr>
        <p:spPr>
          <a:xfrm>
            <a:off x="3218688" y="3291840"/>
            <a:ext cx="73152" cy="0"/>
          </a:xfrm>
          <a:prstGeom prst="line">
            <a:avLst/>
          </a:prstGeom>
          <a:noFill/>
          <a:ln w="15875">
            <a:solidFill>
              <a:srgbClr val="1E2A32"/>
            </a:solidFill>
            <a:prstDash val="solid"/>
          </a:ln>
        </p:spPr>
      </p:sp>
      <p:sp>
        <p:nvSpPr>
          <p:cNvPr id="30" name="mbr"/>
          <p:cNvSpPr/>
          <p:nvPr/>
        </p:nvSpPr>
        <p:spPr>
          <a:xfrm>
            <a:off x="3621024" y="1847088"/>
            <a:ext cx="0" cy="1444752"/>
          </a:xfrm>
          <a:prstGeom prst="line">
            <a:avLst/>
          </a:prstGeom>
          <a:noFill/>
          <a:ln w="15875">
            <a:solidFill>
              <a:srgbClr val="1E2A32"/>
            </a:solidFill>
            <a:prstDash val="solid"/>
          </a:ln>
        </p:spPr>
      </p:sp>
      <p:sp>
        <p:nvSpPr>
          <p:cNvPr id="31" name="mbr"/>
          <p:cNvSpPr/>
          <p:nvPr/>
        </p:nvSpPr>
        <p:spPr>
          <a:xfrm>
            <a:off x="3547872" y="1847088"/>
            <a:ext cx="73152" cy="0"/>
          </a:xfrm>
          <a:prstGeom prst="line">
            <a:avLst/>
          </a:prstGeom>
          <a:noFill/>
          <a:ln w="15875">
            <a:solidFill>
              <a:srgbClr val="1E2A32"/>
            </a:solidFill>
            <a:prstDash val="solid"/>
          </a:ln>
        </p:spPr>
      </p:sp>
      <p:sp>
        <p:nvSpPr>
          <p:cNvPr id="32" name="mbr"/>
          <p:cNvSpPr/>
          <p:nvPr/>
        </p:nvSpPr>
        <p:spPr>
          <a:xfrm>
            <a:off x="3547872" y="3291840"/>
            <a:ext cx="73152" cy="0"/>
          </a:xfrm>
          <a:prstGeom prst="line">
            <a:avLst/>
          </a:prstGeom>
          <a:noFill/>
          <a:ln w="15875">
            <a:solidFill>
              <a:srgbClr val="1E2A32"/>
            </a:solidFill>
            <a:prstDash val="solid"/>
          </a:ln>
        </p:spPr>
      </p:sp>
      <p:sp>
        <p:nvSpPr>
          <p:cNvPr id="33" name="Text 30"/>
          <p:cNvSpPr txBox="1"/>
          <p:nvPr/>
        </p:nvSpPr>
        <p:spPr>
          <a:xfrm>
            <a:off x="2468880" y="3337560"/>
            <a:ext cx="1920240" cy="502920"/>
          </a:xfrm>
          <a:prstGeom prst="rect">
            <a:avLst/>
          </a:prstGeom>
          <a:noFill/>
          <a:ln/>
        </p:spPr>
        <p:txBody>
          <a:bodyPr wrap="square" lIns="0" tIns="0" rIns="0" bIns="0" rtlCol="0" anchor="t"/>
          <a:lstStyle/>
          <a:p>
            <a:pPr algn="ctr" indent="0" marL="0">
              <a:buNone/>
            </a:pPr>
            <a:r>
              <a:rPr lang="en-US" sz="1200" dirty="0">
                <a:solidFill>
                  <a:srgbClr val="1E2A32"/>
                </a:solidFill>
                <a:latin typeface="Calibri" pitchFamily="34" charset="0"/>
                <a:ea typeface="Calibri" pitchFamily="34" charset="-122"/>
                <a:cs typeface="Calibri" pitchFamily="34" charset="-120"/>
              </a:rPr>
              <a:t>c₀ (element 1)</a:t>
            </a:r>
            <a:endParaRPr lang="en-US" sz="1200" dirty="0"/>
          </a:p>
        </p:txBody>
      </p:sp>
      <p:sp>
        <p:nvSpPr>
          <p:cNvPr id="34" name="Text 31"/>
          <p:cNvSpPr txBox="1"/>
          <p:nvPr/>
        </p:nvSpPr>
        <p:spPr>
          <a:xfrm>
            <a:off x="4434840" y="1280160"/>
            <a:ext cx="1920240" cy="502920"/>
          </a:xfrm>
          <a:prstGeom prst="rect">
            <a:avLst/>
          </a:prstGeom>
          <a:noFill/>
          <a:ln/>
        </p:spPr>
        <p:txBody>
          <a:bodyPr wrap="square" lIns="0" tIns="0" rIns="0" bIns="0" rtlCol="0" anchor="t"/>
          <a:lstStyle/>
          <a:p>
            <a:pPr algn="ctr" indent="0" marL="0">
              <a:buNone/>
            </a:pPr>
            <a:r>
              <a:rPr lang="en-US" sz="1300" b="1" dirty="0">
                <a:solidFill>
                  <a:srgbClr val="6B4100"/>
                </a:solidFill>
                <a:latin typeface="Calibri" pitchFamily="34" charset="0"/>
                <a:ea typeface="Calibri" pitchFamily="34" charset="-122"/>
                <a:cs typeface="Calibri" pitchFamily="34" charset="-120"/>
              </a:rPr>
              <a:t>H = {e ⊕ f}</a:t>
            </a:r>
            <a:endParaRPr lang="en-US" sz="1300" dirty="0"/>
          </a:p>
        </p:txBody>
      </p:sp>
      <p:sp>
        <p:nvSpPr>
          <p:cNvPr id="35" name="mcell"/>
          <p:cNvSpPr txBox="1"/>
          <p:nvPr/>
        </p:nvSpPr>
        <p:spPr>
          <a:xfrm>
            <a:off x="5212080" y="1874520"/>
            <a:ext cx="347472" cy="347472"/>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6" name="mcell"/>
          <p:cNvSpPr txBox="1"/>
          <p:nvPr/>
        </p:nvSpPr>
        <p:spPr>
          <a:xfrm>
            <a:off x="5212080" y="2221992"/>
            <a:ext cx="347472" cy="347472"/>
          </a:xfrm>
          <a:prstGeom prst="rect">
            <a:avLst/>
          </a:prstGeom>
          <a:solidFill>
            <a:srgbClr val="FFF0CC"/>
          </a:solid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37" name="mcell"/>
          <p:cNvSpPr txBox="1"/>
          <p:nvPr/>
        </p:nvSpPr>
        <p:spPr>
          <a:xfrm>
            <a:off x="5212080" y="2569464"/>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8" name="mcell"/>
          <p:cNvSpPr txBox="1"/>
          <p:nvPr/>
        </p:nvSpPr>
        <p:spPr>
          <a:xfrm>
            <a:off x="5212080" y="2916936"/>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39" name="mbr"/>
          <p:cNvSpPr/>
          <p:nvPr/>
        </p:nvSpPr>
        <p:spPr>
          <a:xfrm>
            <a:off x="5184648" y="1847088"/>
            <a:ext cx="0" cy="1444752"/>
          </a:xfrm>
          <a:prstGeom prst="line">
            <a:avLst/>
          </a:prstGeom>
          <a:noFill/>
          <a:ln w="15875">
            <a:solidFill>
              <a:srgbClr val="1E2A32"/>
            </a:solidFill>
            <a:prstDash val="solid"/>
          </a:ln>
        </p:spPr>
      </p:sp>
      <p:sp>
        <p:nvSpPr>
          <p:cNvPr id="40" name="mbr"/>
          <p:cNvSpPr/>
          <p:nvPr/>
        </p:nvSpPr>
        <p:spPr>
          <a:xfrm>
            <a:off x="5184648" y="1847088"/>
            <a:ext cx="73152" cy="0"/>
          </a:xfrm>
          <a:prstGeom prst="line">
            <a:avLst/>
          </a:prstGeom>
          <a:noFill/>
          <a:ln w="15875">
            <a:solidFill>
              <a:srgbClr val="1E2A32"/>
            </a:solidFill>
            <a:prstDash val="solid"/>
          </a:ln>
        </p:spPr>
      </p:sp>
      <p:sp>
        <p:nvSpPr>
          <p:cNvPr id="41" name="mbr"/>
          <p:cNvSpPr/>
          <p:nvPr/>
        </p:nvSpPr>
        <p:spPr>
          <a:xfrm>
            <a:off x="5184648" y="3291840"/>
            <a:ext cx="73152" cy="0"/>
          </a:xfrm>
          <a:prstGeom prst="line">
            <a:avLst/>
          </a:prstGeom>
          <a:noFill/>
          <a:ln w="15875">
            <a:solidFill>
              <a:srgbClr val="1E2A32"/>
            </a:solidFill>
            <a:prstDash val="solid"/>
          </a:ln>
        </p:spPr>
      </p:sp>
      <p:sp>
        <p:nvSpPr>
          <p:cNvPr id="42" name="mbr"/>
          <p:cNvSpPr/>
          <p:nvPr/>
        </p:nvSpPr>
        <p:spPr>
          <a:xfrm>
            <a:off x="5586984" y="1847088"/>
            <a:ext cx="0" cy="1444752"/>
          </a:xfrm>
          <a:prstGeom prst="line">
            <a:avLst/>
          </a:prstGeom>
          <a:noFill/>
          <a:ln w="15875">
            <a:solidFill>
              <a:srgbClr val="1E2A32"/>
            </a:solidFill>
            <a:prstDash val="solid"/>
          </a:ln>
        </p:spPr>
      </p:sp>
      <p:sp>
        <p:nvSpPr>
          <p:cNvPr id="43" name="mbr"/>
          <p:cNvSpPr/>
          <p:nvPr/>
        </p:nvSpPr>
        <p:spPr>
          <a:xfrm>
            <a:off x="5513832" y="1847088"/>
            <a:ext cx="73152" cy="0"/>
          </a:xfrm>
          <a:prstGeom prst="line">
            <a:avLst/>
          </a:prstGeom>
          <a:noFill/>
          <a:ln w="15875">
            <a:solidFill>
              <a:srgbClr val="1E2A32"/>
            </a:solidFill>
            <a:prstDash val="solid"/>
          </a:ln>
        </p:spPr>
      </p:sp>
      <p:sp>
        <p:nvSpPr>
          <p:cNvPr id="44" name="mbr"/>
          <p:cNvSpPr/>
          <p:nvPr/>
        </p:nvSpPr>
        <p:spPr>
          <a:xfrm>
            <a:off x="5513832" y="3291840"/>
            <a:ext cx="73152" cy="0"/>
          </a:xfrm>
          <a:prstGeom prst="line">
            <a:avLst/>
          </a:prstGeom>
          <a:noFill/>
          <a:ln w="15875">
            <a:solidFill>
              <a:srgbClr val="1E2A32"/>
            </a:solidFill>
            <a:prstDash val="solid"/>
          </a:ln>
        </p:spPr>
      </p:sp>
      <p:sp>
        <p:nvSpPr>
          <p:cNvPr id="45" name="Text 42"/>
          <p:cNvSpPr txBox="1"/>
          <p:nvPr/>
        </p:nvSpPr>
        <p:spPr>
          <a:xfrm>
            <a:off x="4434840" y="3337560"/>
            <a:ext cx="1920240" cy="502920"/>
          </a:xfrm>
          <a:prstGeom prst="rect">
            <a:avLst/>
          </a:prstGeom>
          <a:noFill/>
          <a:ln/>
        </p:spPr>
        <p:txBody>
          <a:bodyPr wrap="square" lIns="0" tIns="0" rIns="0" bIns="0" rtlCol="0" anchor="t"/>
          <a:lstStyle/>
          <a:p>
            <a:pPr algn="ctr" indent="0" marL="0">
              <a:buNone/>
            </a:pPr>
            <a:r>
              <a:rPr lang="en-US" sz="1200" dirty="0">
                <a:solidFill>
                  <a:srgbClr val="1E2A32"/>
                </a:solidFill>
                <a:latin typeface="Calibri" pitchFamily="34" charset="0"/>
                <a:ea typeface="Calibri" pitchFamily="34" charset="-122"/>
                <a:cs typeface="Calibri" pitchFamily="34" charset="-120"/>
              </a:rPr>
              <a:t>c₀⊕c₁ = 3 ∉ P ✓</a:t>
            </a:r>
            <a:endParaRPr lang="en-US" sz="1200" dirty="0"/>
          </a:p>
        </p:txBody>
      </p:sp>
      <p:sp>
        <p:nvSpPr>
          <p:cNvPr id="46" name="Text 43"/>
          <p:cNvSpPr txBox="1"/>
          <p:nvPr/>
        </p:nvSpPr>
        <p:spPr>
          <a:xfrm>
            <a:off x="6400800" y="1280160"/>
            <a:ext cx="1920240" cy="502920"/>
          </a:xfrm>
          <a:prstGeom prst="rect">
            <a:avLst/>
          </a:prstGeom>
          <a:noFill/>
          <a:ln/>
        </p:spPr>
        <p:txBody>
          <a:bodyPr wrap="square" lIns="0" tIns="0" rIns="0" bIns="0" rtlCol="0" anchor="t"/>
          <a:lstStyle/>
          <a:p>
            <a:pPr algn="ctr" indent="0" marL="0">
              <a:buNone/>
            </a:pPr>
            <a:r>
              <a:rPr lang="en-US" sz="1300" b="1" dirty="0">
                <a:solidFill>
                  <a:srgbClr val="0E6E7A"/>
                </a:solidFill>
                <a:latin typeface="Calibri" pitchFamily="34" charset="0"/>
                <a:ea typeface="Calibri" pitchFamily="34" charset="-122"/>
                <a:cs typeface="Calibri" pitchFamily="34" charset="-120"/>
              </a:rPr>
              <a:t>C (complement of P)</a:t>
            </a:r>
            <a:endParaRPr lang="en-US" sz="1300" dirty="0"/>
          </a:p>
        </p:txBody>
      </p:sp>
      <p:sp>
        <p:nvSpPr>
          <p:cNvPr id="47" name="mcell"/>
          <p:cNvSpPr txBox="1"/>
          <p:nvPr/>
        </p:nvSpPr>
        <p:spPr>
          <a:xfrm>
            <a:off x="7178040" y="1874520"/>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8" name="mcell"/>
          <p:cNvSpPr txBox="1"/>
          <p:nvPr/>
        </p:nvSpPr>
        <p:spPr>
          <a:xfrm>
            <a:off x="7178040" y="2221992"/>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49" name="mcell"/>
          <p:cNvSpPr txBox="1"/>
          <p:nvPr/>
        </p:nvSpPr>
        <p:spPr>
          <a:xfrm>
            <a:off x="7178040" y="2569464"/>
            <a:ext cx="347472" cy="347472"/>
          </a:xfrm>
          <a:prstGeom prst="rect">
            <a:avLst/>
          </a:prstGeom>
          <a:noFill/>
          <a:ln/>
        </p:spPr>
        <p:txBody>
          <a:bodyPr wrap="square" lIns="0" tIns="0" rIns="0" bIns="0" rtlCol="0" anchor="ctr"/>
          <a:lstStyle/>
          <a:p>
            <a:pPr algn="ctr" indent="0" marL="0">
              <a:buNone/>
            </a:pPr>
            <a:r>
              <a:rPr lang="en-US" sz="1500" dirty="0">
                <a:solidFill>
                  <a:srgbClr val="B9C1C7"/>
                </a:solidFill>
                <a:latin typeface="Calibri" pitchFamily="34" charset="0"/>
                <a:ea typeface="Calibri" pitchFamily="34" charset="-122"/>
                <a:cs typeface="Calibri" pitchFamily="34" charset="-120"/>
              </a:rPr>
              <a:t>0</a:t>
            </a:r>
            <a:endParaRPr lang="en-US" sz="1500" dirty="0"/>
          </a:p>
        </p:txBody>
      </p:sp>
      <p:sp>
        <p:nvSpPr>
          <p:cNvPr id="50" name="mcell"/>
          <p:cNvSpPr txBox="1"/>
          <p:nvPr/>
        </p:nvSpPr>
        <p:spPr>
          <a:xfrm>
            <a:off x="7178040" y="2916936"/>
            <a:ext cx="347472" cy="347472"/>
          </a:xfrm>
          <a:prstGeom prst="rect">
            <a:avLst/>
          </a:prstGeom>
          <a:noFill/>
          <a:ln/>
        </p:spPr>
        <p:txBody>
          <a:bodyPr wrap="square" lIns="0" tIns="0" rIns="0" bIns="0" rtlCol="0" anchor="ctr"/>
          <a:lstStyle/>
          <a:p>
            <a:pPr algn="ctr" indent="0" marL="0">
              <a:buNone/>
            </a:pPr>
            <a:r>
              <a:rPr lang="en-US" sz="1500" b="1" dirty="0">
                <a:solidFill>
                  <a:srgbClr val="1E2A32"/>
                </a:solidFill>
                <a:latin typeface="Calibri" pitchFamily="34" charset="0"/>
                <a:ea typeface="Calibri" pitchFamily="34" charset="-122"/>
                <a:cs typeface="Calibri" pitchFamily="34" charset="-120"/>
              </a:rPr>
              <a:t>1</a:t>
            </a:r>
            <a:endParaRPr lang="en-US" sz="1500" dirty="0"/>
          </a:p>
        </p:txBody>
      </p:sp>
      <p:sp>
        <p:nvSpPr>
          <p:cNvPr id="51" name="mbr"/>
          <p:cNvSpPr/>
          <p:nvPr/>
        </p:nvSpPr>
        <p:spPr>
          <a:xfrm>
            <a:off x="7150608" y="1847088"/>
            <a:ext cx="0" cy="1444752"/>
          </a:xfrm>
          <a:prstGeom prst="line">
            <a:avLst/>
          </a:prstGeom>
          <a:noFill/>
          <a:ln w="15875">
            <a:solidFill>
              <a:srgbClr val="1E2A32"/>
            </a:solidFill>
            <a:prstDash val="solid"/>
          </a:ln>
        </p:spPr>
      </p:sp>
      <p:sp>
        <p:nvSpPr>
          <p:cNvPr id="52" name="mbr"/>
          <p:cNvSpPr/>
          <p:nvPr/>
        </p:nvSpPr>
        <p:spPr>
          <a:xfrm>
            <a:off x="7150608" y="1847088"/>
            <a:ext cx="73152" cy="0"/>
          </a:xfrm>
          <a:prstGeom prst="line">
            <a:avLst/>
          </a:prstGeom>
          <a:noFill/>
          <a:ln w="15875">
            <a:solidFill>
              <a:srgbClr val="1E2A32"/>
            </a:solidFill>
            <a:prstDash val="solid"/>
          </a:ln>
        </p:spPr>
      </p:sp>
      <p:sp>
        <p:nvSpPr>
          <p:cNvPr id="53" name="mbr"/>
          <p:cNvSpPr/>
          <p:nvPr/>
        </p:nvSpPr>
        <p:spPr>
          <a:xfrm>
            <a:off x="7150608" y="3291840"/>
            <a:ext cx="73152" cy="0"/>
          </a:xfrm>
          <a:prstGeom prst="line">
            <a:avLst/>
          </a:prstGeom>
          <a:noFill/>
          <a:ln w="15875">
            <a:solidFill>
              <a:srgbClr val="1E2A32"/>
            </a:solidFill>
            <a:prstDash val="solid"/>
          </a:ln>
        </p:spPr>
      </p:sp>
      <p:sp>
        <p:nvSpPr>
          <p:cNvPr id="54" name="mbr"/>
          <p:cNvSpPr/>
          <p:nvPr/>
        </p:nvSpPr>
        <p:spPr>
          <a:xfrm>
            <a:off x="7552944" y="1847088"/>
            <a:ext cx="0" cy="1444752"/>
          </a:xfrm>
          <a:prstGeom prst="line">
            <a:avLst/>
          </a:prstGeom>
          <a:noFill/>
          <a:ln w="15875">
            <a:solidFill>
              <a:srgbClr val="1E2A32"/>
            </a:solidFill>
            <a:prstDash val="solid"/>
          </a:ln>
        </p:spPr>
      </p:sp>
      <p:sp>
        <p:nvSpPr>
          <p:cNvPr id="55" name="mbr"/>
          <p:cNvSpPr/>
          <p:nvPr/>
        </p:nvSpPr>
        <p:spPr>
          <a:xfrm>
            <a:off x="7479792" y="1847088"/>
            <a:ext cx="73152" cy="0"/>
          </a:xfrm>
          <a:prstGeom prst="line">
            <a:avLst/>
          </a:prstGeom>
          <a:noFill/>
          <a:ln w="15875">
            <a:solidFill>
              <a:srgbClr val="1E2A32"/>
            </a:solidFill>
            <a:prstDash val="solid"/>
          </a:ln>
        </p:spPr>
      </p:sp>
      <p:sp>
        <p:nvSpPr>
          <p:cNvPr id="56" name="mbr"/>
          <p:cNvSpPr/>
          <p:nvPr/>
        </p:nvSpPr>
        <p:spPr>
          <a:xfrm>
            <a:off x="7479792" y="3291840"/>
            <a:ext cx="73152" cy="0"/>
          </a:xfrm>
          <a:prstGeom prst="line">
            <a:avLst/>
          </a:prstGeom>
          <a:noFill/>
          <a:ln w="15875">
            <a:solidFill>
              <a:srgbClr val="1E2A32"/>
            </a:solidFill>
            <a:prstDash val="solid"/>
          </a:ln>
        </p:spPr>
      </p:sp>
      <p:sp>
        <p:nvSpPr>
          <p:cNvPr id="57" name="Text 54"/>
          <p:cNvSpPr txBox="1"/>
          <p:nvPr/>
        </p:nvSpPr>
        <p:spPr>
          <a:xfrm>
            <a:off x="6400800" y="3337560"/>
            <a:ext cx="1920240" cy="502920"/>
          </a:xfrm>
          <a:prstGeom prst="rect">
            <a:avLst/>
          </a:prstGeom>
          <a:noFill/>
          <a:ln/>
        </p:spPr>
        <p:txBody>
          <a:bodyPr wrap="square" lIns="0" tIns="0" rIns="0" bIns="0" rtlCol="0" anchor="t"/>
          <a:lstStyle/>
          <a:p>
            <a:pPr algn="ctr" indent="0" marL="0">
              <a:buNone/>
            </a:pPr>
            <a:r>
              <a:rPr lang="en-US" sz="1200" dirty="0">
                <a:solidFill>
                  <a:srgbClr val="1E2A32"/>
                </a:solidFill>
                <a:latin typeface="Calibri" pitchFamily="34" charset="0"/>
                <a:ea typeface="Calibri" pitchFamily="34" charset="-122"/>
                <a:cs typeface="Calibri" pitchFamily="34" charset="-120"/>
              </a:rPr>
              <a:t>r₁ = 8; span{3,8} ∩ P = {0} ✓</a:t>
            </a:r>
            <a:endParaRPr lang="en-US" sz="1200" dirty="0"/>
          </a:p>
        </p:txBody>
      </p:sp>
      <p:sp>
        <p:nvSpPr>
          <p:cNvPr id="58" name="Text 55"/>
          <p:cNvSpPr txBox="1"/>
          <p:nvPr/>
        </p:nvSpPr>
        <p:spPr>
          <a:xfrm>
            <a:off x="502920" y="4069080"/>
            <a:ext cx="7863840" cy="59436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|H| + |C| = 2 ≥ s = 2 → </a:t>
            </a:r>
            <a:r>
              <a:rPr lang="en-US" sz="1500" b="1" dirty="0">
                <a:solidFill>
                  <a:srgbClr val="1E2A32"/>
                </a:solidFill>
                <a:latin typeface="Calibri" pitchFamily="34" charset="0"/>
                <a:ea typeface="Calibri" pitchFamily="34" charset="-122"/>
                <a:cs typeface="Calibri" pitchFamily="34" charset="-120"/>
              </a:rPr>
              <a:t>M_Seg = {r₁, c₀⊕c₁}</a:t>
            </a:r>
            <a:r>
              <a:rPr lang="en-US" sz="1500" dirty="0">
                <a:solidFill>
                  <a:srgbClr val="1E2A32"/>
                </a:solidFill>
                <a:latin typeface="Calibri" pitchFamily="34" charset="0"/>
                <a:ea typeface="Calibri" pitchFamily="34" charset="-122"/>
                <a:cs typeface="Calibri" pitchFamily="34" charset="-120"/>
              </a:rPr>
              <a:t>;  Bank completes the basis → </a:t>
            </a:r>
            <a:r>
              <a:rPr lang="en-US" sz="1500" b="1" dirty="0">
                <a:solidFill>
                  <a:srgbClr val="1E2A32"/>
                </a:solidFill>
                <a:latin typeface="Calibri" pitchFamily="34" charset="0"/>
                <a:ea typeface="Calibri" pitchFamily="34" charset="-122"/>
                <a:cs typeface="Calibri" pitchFamily="34" charset="-120"/>
              </a:rPr>
              <a:t>c₁</a:t>
            </a:r>
            <a:r>
              <a:rPr lang="en-US" sz="1500" dirty="0">
                <a:solidFill>
                  <a:srgbClr val="1E2A32"/>
                </a:solidFill>
                <a:latin typeface="Calibri" pitchFamily="34" charset="0"/>
                <a:ea typeface="Calibri" pitchFamily="34" charset="-122"/>
                <a:cs typeface="Calibri" pitchFamily="34" charset="-120"/>
              </a:rPr>
              <a:t>;  Vec = </a:t>
            </a:r>
            <a:r>
              <a:rPr lang="en-US" sz="1500" b="1" dirty="0">
                <a:solidFill>
                  <a:srgbClr val="1E2A32"/>
                </a:solidFill>
                <a:latin typeface="Calibri" pitchFamily="34" charset="0"/>
                <a:ea typeface="Calibri" pitchFamily="34" charset="-122"/>
                <a:cs typeface="Calibri" pitchFamily="34" charset="-120"/>
              </a:rPr>
              <a:t>r₀</a:t>
            </a:r>
            <a:endParaRPr lang="en-US" sz="1500" dirty="0"/>
          </a:p>
        </p:txBody>
      </p:sp>
      <p:sp>
        <p:nvSpPr>
          <p:cNvPr id="59" name="mcell"/>
          <p:cNvSpPr txBox="1"/>
          <p:nvPr/>
        </p:nvSpPr>
        <p:spPr>
          <a:xfrm>
            <a:off x="9281160" y="1783080"/>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0" name="mcell"/>
          <p:cNvSpPr txBox="1"/>
          <p:nvPr/>
        </p:nvSpPr>
        <p:spPr>
          <a:xfrm>
            <a:off x="9720072" y="1783080"/>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1" name="mcell"/>
          <p:cNvSpPr txBox="1"/>
          <p:nvPr/>
        </p:nvSpPr>
        <p:spPr>
          <a:xfrm>
            <a:off x="10158984" y="1783080"/>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2" name="mcell"/>
          <p:cNvSpPr txBox="1"/>
          <p:nvPr/>
        </p:nvSpPr>
        <p:spPr>
          <a:xfrm>
            <a:off x="10597896" y="1783080"/>
            <a:ext cx="438912" cy="438912"/>
          </a:xfrm>
          <a:prstGeom prst="rect">
            <a:avLst/>
          </a:prstGeom>
          <a:solidFill>
            <a:srgbClr val="FFF0CC"/>
          </a:solid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63" name="mcell"/>
          <p:cNvSpPr txBox="1"/>
          <p:nvPr/>
        </p:nvSpPr>
        <p:spPr>
          <a:xfrm>
            <a:off x="9281160" y="2221992"/>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4" name="mcell"/>
          <p:cNvSpPr txBox="1"/>
          <p:nvPr/>
        </p:nvSpPr>
        <p:spPr>
          <a:xfrm>
            <a:off x="9720072" y="2221992"/>
            <a:ext cx="438912" cy="438912"/>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65" name="mcell"/>
          <p:cNvSpPr txBox="1"/>
          <p:nvPr/>
        </p:nvSpPr>
        <p:spPr>
          <a:xfrm>
            <a:off x="10158984" y="2221992"/>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6" name="mcell"/>
          <p:cNvSpPr txBox="1"/>
          <p:nvPr/>
        </p:nvSpPr>
        <p:spPr>
          <a:xfrm>
            <a:off x="10597896" y="2221992"/>
            <a:ext cx="438912" cy="438912"/>
          </a:xfrm>
          <a:prstGeom prst="rect">
            <a:avLst/>
          </a:prstGeom>
          <a:solidFill>
            <a:srgbClr val="FFF0CC"/>
          </a:solid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67" name="mcell"/>
          <p:cNvSpPr txBox="1"/>
          <p:nvPr/>
        </p:nvSpPr>
        <p:spPr>
          <a:xfrm>
            <a:off x="9281160" y="2660904"/>
            <a:ext cx="438912" cy="438912"/>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68" name="mcell"/>
          <p:cNvSpPr txBox="1"/>
          <p:nvPr/>
        </p:nvSpPr>
        <p:spPr>
          <a:xfrm>
            <a:off x="9720072" y="2660904"/>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69" name="mcell"/>
          <p:cNvSpPr txBox="1"/>
          <p:nvPr/>
        </p:nvSpPr>
        <p:spPr>
          <a:xfrm>
            <a:off x="10158984" y="2660904"/>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70" name="mcell"/>
          <p:cNvSpPr txBox="1"/>
          <p:nvPr/>
        </p:nvSpPr>
        <p:spPr>
          <a:xfrm>
            <a:off x="10597896" y="2660904"/>
            <a:ext cx="438912" cy="438912"/>
          </a:xfrm>
          <a:prstGeom prst="rect">
            <a:avLst/>
          </a:prstGeom>
          <a:solidFill>
            <a:srgbClr val="FFF0CC"/>
          </a:solidFill>
          <a:ln/>
        </p:spPr>
        <p:txBody>
          <a:bodyPr wrap="square" lIns="0" tIns="0" rIns="0" bIns="0" rtlCol="0" anchor="ctr"/>
          <a:lstStyle/>
          <a:p>
            <a:pPr algn="ctr" indent="0" marL="0">
              <a:buNone/>
            </a:pPr>
            <a:r>
              <a:rPr lang="en-US" sz="1800" dirty="0">
                <a:solidFill>
                  <a:srgbClr val="1E2A32"/>
                </a:solidFill>
                <a:latin typeface="Calibri" pitchFamily="34" charset="0"/>
                <a:ea typeface="Calibri" pitchFamily="34" charset="-122"/>
                <a:cs typeface="Calibri" pitchFamily="34" charset="-120"/>
              </a:rPr>
              <a:t>0</a:t>
            </a:r>
            <a:endParaRPr lang="en-US" sz="1800" dirty="0"/>
          </a:p>
        </p:txBody>
      </p:sp>
      <p:sp>
        <p:nvSpPr>
          <p:cNvPr id="71" name="mcell"/>
          <p:cNvSpPr txBox="1"/>
          <p:nvPr/>
        </p:nvSpPr>
        <p:spPr>
          <a:xfrm>
            <a:off x="9281160" y="3099816"/>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72" name="mcell"/>
          <p:cNvSpPr txBox="1"/>
          <p:nvPr/>
        </p:nvSpPr>
        <p:spPr>
          <a:xfrm>
            <a:off x="9720072" y="3099816"/>
            <a:ext cx="438912" cy="438912"/>
          </a:xfrm>
          <a:prstGeom prst="rect">
            <a:avLst/>
          </a:prstGeom>
          <a:noFill/>
          <a:ln/>
        </p:spPr>
        <p:txBody>
          <a:bodyPr wrap="square" lIns="0" tIns="0" rIns="0" bIns="0" rtlCol="0" anchor="ctr"/>
          <a:lstStyle/>
          <a:p>
            <a:pPr algn="ctr" indent="0" marL="0">
              <a:buNone/>
            </a:pPr>
            <a:r>
              <a:rPr lang="en-US" sz="1800" dirty="0">
                <a:solidFill>
                  <a:srgbClr val="B9C1C7"/>
                </a:solidFill>
                <a:latin typeface="Calibri" pitchFamily="34" charset="0"/>
                <a:ea typeface="Calibri" pitchFamily="34" charset="-122"/>
                <a:cs typeface="Calibri" pitchFamily="34" charset="-120"/>
              </a:rPr>
              <a:t>0</a:t>
            </a:r>
            <a:endParaRPr lang="en-US" sz="1800" dirty="0"/>
          </a:p>
        </p:txBody>
      </p:sp>
      <p:sp>
        <p:nvSpPr>
          <p:cNvPr id="73" name="mcell"/>
          <p:cNvSpPr txBox="1"/>
          <p:nvPr/>
        </p:nvSpPr>
        <p:spPr>
          <a:xfrm>
            <a:off x="10158984" y="3099816"/>
            <a:ext cx="438912" cy="438912"/>
          </a:xfrm>
          <a:prstGeom prst="rect">
            <a:avLst/>
          </a:prstGeom>
          <a:noFill/>
          <a:ln/>
        </p:spPr>
        <p:txBody>
          <a:bodyPr wrap="square" lIns="0" tIns="0" rIns="0" bIns="0" rtlCol="0" anchor="ctr"/>
          <a:lstStyle/>
          <a:p>
            <a:pPr algn="ctr" indent="0" marL="0">
              <a:buNone/>
            </a:pPr>
            <a:r>
              <a:rPr lang="en-US" sz="1800" b="1" dirty="0">
                <a:solidFill>
                  <a:srgbClr val="1E2A32"/>
                </a:solidFill>
                <a:latin typeface="Calibri" pitchFamily="34" charset="0"/>
                <a:ea typeface="Calibri" pitchFamily="34" charset="-122"/>
                <a:cs typeface="Calibri" pitchFamily="34" charset="-120"/>
              </a:rPr>
              <a:t>1</a:t>
            </a:r>
            <a:endParaRPr lang="en-US" sz="1800" dirty="0"/>
          </a:p>
        </p:txBody>
      </p:sp>
      <p:sp>
        <p:nvSpPr>
          <p:cNvPr id="74" name="mcell"/>
          <p:cNvSpPr txBox="1"/>
          <p:nvPr/>
        </p:nvSpPr>
        <p:spPr>
          <a:xfrm>
            <a:off x="10597896" y="3099816"/>
            <a:ext cx="438912" cy="438912"/>
          </a:xfrm>
          <a:prstGeom prst="rect">
            <a:avLst/>
          </a:prstGeom>
          <a:solidFill>
            <a:srgbClr val="FFF0CC"/>
          </a:solidFill>
          <a:ln/>
        </p:spPr>
        <p:txBody>
          <a:bodyPr wrap="square" lIns="0" tIns="0" rIns="0" bIns="0" rtlCol="0" anchor="ctr"/>
          <a:lstStyle/>
          <a:p>
            <a:pPr algn="ctr" indent="0" marL="0">
              <a:buNone/>
            </a:pPr>
            <a:r>
              <a:rPr lang="en-US" sz="1800" dirty="0">
                <a:solidFill>
                  <a:srgbClr val="1E2A32"/>
                </a:solidFill>
                <a:latin typeface="Calibri" pitchFamily="34" charset="0"/>
                <a:ea typeface="Calibri" pitchFamily="34" charset="-122"/>
                <a:cs typeface="Calibri" pitchFamily="34" charset="-120"/>
              </a:rPr>
              <a:t>0</a:t>
            </a:r>
            <a:endParaRPr lang="en-US" sz="1800" dirty="0"/>
          </a:p>
        </p:txBody>
      </p:sp>
      <p:sp>
        <p:nvSpPr>
          <p:cNvPr id="75" name="msep"/>
          <p:cNvSpPr/>
          <p:nvPr/>
        </p:nvSpPr>
        <p:spPr>
          <a:xfrm>
            <a:off x="9720072" y="1801368"/>
            <a:ext cx="0" cy="1719072"/>
          </a:xfrm>
          <a:prstGeom prst="line">
            <a:avLst/>
          </a:prstGeom>
          <a:noFill/>
          <a:ln w="9525">
            <a:solidFill>
              <a:srgbClr val="5B6770"/>
            </a:solidFill>
            <a:prstDash val="dash"/>
          </a:ln>
        </p:spPr>
      </p:sp>
      <p:sp>
        <p:nvSpPr>
          <p:cNvPr id="76" name="msep"/>
          <p:cNvSpPr/>
          <p:nvPr/>
        </p:nvSpPr>
        <p:spPr>
          <a:xfrm>
            <a:off x="10158984" y="1801368"/>
            <a:ext cx="0" cy="1719072"/>
          </a:xfrm>
          <a:prstGeom prst="line">
            <a:avLst/>
          </a:prstGeom>
          <a:noFill/>
          <a:ln w="9525">
            <a:solidFill>
              <a:srgbClr val="5B6770"/>
            </a:solidFill>
            <a:prstDash val="dash"/>
          </a:ln>
        </p:spPr>
      </p:sp>
      <p:sp>
        <p:nvSpPr>
          <p:cNvPr id="77" name="mbr"/>
          <p:cNvSpPr/>
          <p:nvPr/>
        </p:nvSpPr>
        <p:spPr>
          <a:xfrm>
            <a:off x="9253728" y="1755648"/>
            <a:ext cx="0" cy="1810512"/>
          </a:xfrm>
          <a:prstGeom prst="line">
            <a:avLst/>
          </a:prstGeom>
          <a:noFill/>
          <a:ln w="15875">
            <a:solidFill>
              <a:srgbClr val="1E2A32"/>
            </a:solidFill>
            <a:prstDash val="solid"/>
          </a:ln>
        </p:spPr>
      </p:sp>
      <p:sp>
        <p:nvSpPr>
          <p:cNvPr id="78" name="mbr"/>
          <p:cNvSpPr/>
          <p:nvPr/>
        </p:nvSpPr>
        <p:spPr>
          <a:xfrm>
            <a:off x="9253728" y="1755648"/>
            <a:ext cx="73152" cy="0"/>
          </a:xfrm>
          <a:prstGeom prst="line">
            <a:avLst/>
          </a:prstGeom>
          <a:noFill/>
          <a:ln w="15875">
            <a:solidFill>
              <a:srgbClr val="1E2A32"/>
            </a:solidFill>
            <a:prstDash val="solid"/>
          </a:ln>
        </p:spPr>
      </p:sp>
      <p:sp>
        <p:nvSpPr>
          <p:cNvPr id="79" name="mbr"/>
          <p:cNvSpPr/>
          <p:nvPr/>
        </p:nvSpPr>
        <p:spPr>
          <a:xfrm>
            <a:off x="9253728" y="3566160"/>
            <a:ext cx="73152" cy="0"/>
          </a:xfrm>
          <a:prstGeom prst="line">
            <a:avLst/>
          </a:prstGeom>
          <a:noFill/>
          <a:ln w="15875">
            <a:solidFill>
              <a:srgbClr val="1E2A32"/>
            </a:solidFill>
            <a:prstDash val="solid"/>
          </a:ln>
        </p:spPr>
      </p:sp>
      <p:sp>
        <p:nvSpPr>
          <p:cNvPr id="80" name="mbr"/>
          <p:cNvSpPr/>
          <p:nvPr/>
        </p:nvSpPr>
        <p:spPr>
          <a:xfrm>
            <a:off x="11064240" y="1755648"/>
            <a:ext cx="0" cy="1810512"/>
          </a:xfrm>
          <a:prstGeom prst="line">
            <a:avLst/>
          </a:prstGeom>
          <a:noFill/>
          <a:ln w="15875">
            <a:solidFill>
              <a:srgbClr val="1E2A32"/>
            </a:solidFill>
            <a:prstDash val="solid"/>
          </a:ln>
        </p:spPr>
      </p:sp>
      <p:sp>
        <p:nvSpPr>
          <p:cNvPr id="81" name="mbr"/>
          <p:cNvSpPr/>
          <p:nvPr/>
        </p:nvSpPr>
        <p:spPr>
          <a:xfrm>
            <a:off x="10991088" y="1755648"/>
            <a:ext cx="73152" cy="0"/>
          </a:xfrm>
          <a:prstGeom prst="line">
            <a:avLst/>
          </a:prstGeom>
          <a:noFill/>
          <a:ln w="15875">
            <a:solidFill>
              <a:srgbClr val="1E2A32"/>
            </a:solidFill>
            <a:prstDash val="solid"/>
          </a:ln>
        </p:spPr>
      </p:sp>
      <p:sp>
        <p:nvSpPr>
          <p:cNvPr id="82" name="mbr"/>
          <p:cNvSpPr/>
          <p:nvPr/>
        </p:nvSpPr>
        <p:spPr>
          <a:xfrm>
            <a:off x="10991088" y="3566160"/>
            <a:ext cx="73152" cy="0"/>
          </a:xfrm>
          <a:prstGeom prst="line">
            <a:avLst/>
          </a:prstGeom>
          <a:noFill/>
          <a:ln w="15875">
            <a:solidFill>
              <a:srgbClr val="1E2A32"/>
            </a:solidFill>
            <a:prstDash val="solid"/>
          </a:ln>
        </p:spPr>
      </p:sp>
      <p:sp>
        <p:nvSpPr>
          <p:cNvPr id="83" name="mlab"/>
          <p:cNvSpPr txBox="1"/>
          <p:nvPr/>
        </p:nvSpPr>
        <p:spPr>
          <a:xfrm>
            <a:off x="9235440" y="15453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o₀</a:t>
            </a:r>
            <a:endParaRPr lang="en-US" sz="1400" dirty="0"/>
          </a:p>
        </p:txBody>
      </p:sp>
      <p:sp>
        <p:nvSpPr>
          <p:cNvPr id="84" name="mlab"/>
          <p:cNvSpPr txBox="1"/>
          <p:nvPr/>
        </p:nvSpPr>
        <p:spPr>
          <a:xfrm>
            <a:off x="9674352" y="15453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o₁</a:t>
            </a:r>
            <a:endParaRPr lang="en-US" sz="1400" dirty="0"/>
          </a:p>
        </p:txBody>
      </p:sp>
      <p:sp>
        <p:nvSpPr>
          <p:cNvPr id="85" name="mlab"/>
          <p:cNvSpPr txBox="1"/>
          <p:nvPr/>
        </p:nvSpPr>
        <p:spPr>
          <a:xfrm>
            <a:off x="10113264" y="15453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o₂</a:t>
            </a:r>
            <a:endParaRPr lang="en-US" sz="1400" dirty="0"/>
          </a:p>
        </p:txBody>
      </p:sp>
      <p:sp>
        <p:nvSpPr>
          <p:cNvPr id="86" name="mlab"/>
          <p:cNvSpPr txBox="1"/>
          <p:nvPr/>
        </p:nvSpPr>
        <p:spPr>
          <a:xfrm>
            <a:off x="10552176" y="1545336"/>
            <a:ext cx="530352"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o₃</a:t>
            </a:r>
            <a:endParaRPr lang="en-US" sz="1400" dirty="0"/>
          </a:p>
        </p:txBody>
      </p:sp>
      <p:sp>
        <p:nvSpPr>
          <p:cNvPr id="87" name="mgrp"/>
          <p:cNvSpPr txBox="1"/>
          <p:nvPr/>
        </p:nvSpPr>
        <p:spPr>
          <a:xfrm>
            <a:off x="9281160" y="1307592"/>
            <a:ext cx="438912"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Vec</a:t>
            </a:r>
            <a:endParaRPr lang="en-US" sz="1400" dirty="0"/>
          </a:p>
        </p:txBody>
      </p:sp>
      <p:sp>
        <p:nvSpPr>
          <p:cNvPr id="88" name="mgrp"/>
          <p:cNvSpPr txBox="1"/>
          <p:nvPr/>
        </p:nvSpPr>
        <p:spPr>
          <a:xfrm>
            <a:off x="9720072" y="1307592"/>
            <a:ext cx="438912"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Bank</a:t>
            </a:r>
            <a:endParaRPr lang="en-US" sz="1400" dirty="0"/>
          </a:p>
        </p:txBody>
      </p:sp>
      <p:sp>
        <p:nvSpPr>
          <p:cNvPr id="89" name="mgrp"/>
          <p:cNvSpPr txBox="1"/>
          <p:nvPr/>
        </p:nvSpPr>
        <p:spPr>
          <a:xfrm>
            <a:off x="10158984" y="1307592"/>
            <a:ext cx="877824" cy="219456"/>
          </a:xfrm>
          <a:prstGeom prst="rect">
            <a:avLst/>
          </a:prstGeom>
          <a:noFill/>
          <a:ln/>
        </p:spPr>
        <p:txBody>
          <a:bodyPr wrap="square" lIns="0" tIns="0" rIns="0" bIns="0" rtlCol="0" anchor="b"/>
          <a:lstStyle/>
          <a:p>
            <a:pPr algn="ctr" indent="0" marL="0">
              <a:buNone/>
            </a:pPr>
            <a:r>
              <a:rPr lang="en-US" sz="1400" b="1" dirty="0">
                <a:solidFill>
                  <a:srgbClr val="0A4F58"/>
                </a:solidFill>
                <a:latin typeface="Calibri" pitchFamily="34" charset="0"/>
                <a:ea typeface="Calibri" pitchFamily="34" charset="-122"/>
                <a:cs typeface="Calibri" pitchFamily="34" charset="-120"/>
              </a:rPr>
              <a:t>Seg</a:t>
            </a:r>
            <a:endParaRPr lang="en-US" sz="1400" dirty="0"/>
          </a:p>
        </p:txBody>
      </p:sp>
      <p:sp>
        <p:nvSpPr>
          <p:cNvPr id="90" name="mlab"/>
          <p:cNvSpPr txBox="1"/>
          <p:nvPr/>
        </p:nvSpPr>
        <p:spPr>
          <a:xfrm>
            <a:off x="8878824" y="1783080"/>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c₀</a:t>
            </a:r>
            <a:endParaRPr lang="en-US" sz="1400" dirty="0"/>
          </a:p>
        </p:txBody>
      </p:sp>
      <p:sp>
        <p:nvSpPr>
          <p:cNvPr id="91" name="mlab"/>
          <p:cNvSpPr txBox="1"/>
          <p:nvPr/>
        </p:nvSpPr>
        <p:spPr>
          <a:xfrm>
            <a:off x="8878824" y="2221992"/>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c₁</a:t>
            </a:r>
            <a:endParaRPr lang="en-US" sz="1400" dirty="0"/>
          </a:p>
        </p:txBody>
      </p:sp>
      <p:sp>
        <p:nvSpPr>
          <p:cNvPr id="92" name="mlab"/>
          <p:cNvSpPr txBox="1"/>
          <p:nvPr/>
        </p:nvSpPr>
        <p:spPr>
          <a:xfrm>
            <a:off x="8878824" y="2660904"/>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r₀</a:t>
            </a:r>
            <a:endParaRPr lang="en-US" sz="1400" dirty="0"/>
          </a:p>
        </p:txBody>
      </p:sp>
      <p:sp>
        <p:nvSpPr>
          <p:cNvPr id="93" name="mlab"/>
          <p:cNvSpPr txBox="1"/>
          <p:nvPr/>
        </p:nvSpPr>
        <p:spPr>
          <a:xfrm>
            <a:off x="8878824" y="3099816"/>
            <a:ext cx="347472"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r₁</a:t>
            </a:r>
            <a:endParaRPr lang="en-US" sz="1400" dirty="0"/>
          </a:p>
        </p:txBody>
      </p:sp>
      <p:sp>
        <p:nvSpPr>
          <p:cNvPr id="94" name="mname"/>
          <p:cNvSpPr txBox="1"/>
          <p:nvPr/>
        </p:nvSpPr>
        <p:spPr>
          <a:xfrm>
            <a:off x="9006840" y="3593592"/>
            <a:ext cx="2304288"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M (matches Fig. 5)</a:t>
            </a:r>
            <a:endParaRPr lang="en-US" sz="1300" dirty="0"/>
          </a:p>
        </p:txBody>
      </p:sp>
      <p:sp>
        <p:nvSpPr>
          <p:cNvPr id="95" name="callout"/>
          <p:cNvSpPr/>
          <p:nvPr/>
        </p:nvSpPr>
        <p:spPr>
          <a:xfrm>
            <a:off x="502920" y="4800600"/>
            <a:ext cx="7863840" cy="914400"/>
          </a:xfrm>
          <a:prstGeom prst="roundRect">
            <a:avLst>
              <a:gd name="adj" fmla="val 8000"/>
            </a:avLst>
          </a:prstGeom>
          <a:solidFill>
            <a:srgbClr val="FFF0CC"/>
          </a:solidFill>
          <a:ln/>
        </p:spPr>
      </p:sp>
      <p:sp>
        <p:nvSpPr>
          <p:cNvPr id="96" name="callout-text"/>
          <p:cNvSpPr txBox="1"/>
          <p:nvPr/>
        </p:nvSpPr>
        <p:spPr>
          <a:xfrm>
            <a:off x="640080" y="4855464"/>
            <a:ext cx="7589520" cy="804672"/>
          </a:xfrm>
          <a:prstGeom prst="rect">
            <a:avLst/>
          </a:prstGeom>
          <a:noFill/>
          <a:ln/>
        </p:spPr>
        <p:txBody>
          <a:bodyPr wrap="square" lIns="0" tIns="0" rIns="0" bIns="0" rtlCol="0" anchor="ctr"/>
          <a:lstStyle/>
          <a:p>
            <a:pPr algn="l" indent="0" marL="0">
              <a:buNone/>
            </a:pPr>
            <a:r>
              <a:rPr lang="en-US" sz="1300" dirty="0">
                <a:solidFill>
                  <a:srgbClr val="6B4100"/>
                </a:solidFill>
                <a:latin typeface="Calibri" pitchFamily="34" charset="0"/>
                <a:ea typeface="Calibri" pitchFamily="34" charset="-122"/>
                <a:cs typeface="Calibri" pitchFamily="34" charset="-120"/>
              </a:rPr>
              <a:t>Printed figure: F and E⊕F boxes show [0,1,0,0]. The text’s definitions give F = [1,0,0,0], E⊕F = [1,1,0,0] — exactly M’s second Seg column. We follow the text; M is unchanged.</a:t>
            </a:r>
            <a:endParaRPr lang="en-US" sz="1300" dirty="0"/>
          </a:p>
        </p:txBody>
      </p:sp>
      <p:sp>
        <p:nvSpPr>
          <p:cNvPr id="97" name="Text 94"/>
          <p:cNvSpPr txBox="1"/>
          <p:nvPr/>
        </p:nvSpPr>
        <p:spPr>
          <a:xfrm>
            <a:off x="8595360" y="4343400"/>
            <a:ext cx="3108960" cy="8229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If |H| + |C| &lt; s, conflicts are unavoidable: fill the rest from A_Bank.</a:t>
            </a:r>
            <a:endParaRPr lang="en-US" sz="1300" dirty="0"/>
          </a:p>
        </p:txBody>
      </p:sp>
      <p:sp>
        <p:nvSpPr>
          <p:cNvPr id="98" name="tag"/>
          <p:cNvSpPr txBox="1"/>
          <p:nvPr/>
        </p:nvSpPr>
        <p:spPr>
          <a:xfrm>
            <a:off x="502920" y="5833872"/>
            <a:ext cx="128016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Figure 5 example</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§5.4 · OPTIMAL SWIZZLING (FIGURE 5 (3))</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Optimal swizzle, part 3: check M — vectorized and conflict-free</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§5.4, Figure 5 (3) and text, p. 141</a:t>
            </a:r>
            <a:endParaRPr lang="en-US" sz="1000" dirty="0"/>
          </a:p>
        </p:txBody>
      </p:sp>
      <p:sp>
        <p:nvSpPr>
          <p:cNvPr id="6" name="gcell"/>
          <p:cNvSpPr txBox="1"/>
          <p:nvPr/>
        </p:nvSpPr>
        <p:spPr>
          <a:xfrm>
            <a:off x="1234440" y="1828800"/>
            <a:ext cx="566928" cy="438912"/>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0</a:t>
            </a:r>
            <a:endParaRPr lang="en-US" sz="1500" dirty="0"/>
          </a:p>
        </p:txBody>
      </p:sp>
      <p:sp>
        <p:nvSpPr>
          <p:cNvPr id="7" name="gcell"/>
          <p:cNvSpPr txBox="1"/>
          <p:nvPr/>
        </p:nvSpPr>
        <p:spPr>
          <a:xfrm>
            <a:off x="1801368" y="1828800"/>
            <a:ext cx="566928" cy="438912"/>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4</a:t>
            </a:r>
            <a:endParaRPr lang="en-US" sz="1500" dirty="0"/>
          </a:p>
        </p:txBody>
      </p:sp>
      <p:sp>
        <p:nvSpPr>
          <p:cNvPr id="8" name="gcell"/>
          <p:cNvSpPr txBox="1"/>
          <p:nvPr/>
        </p:nvSpPr>
        <p:spPr>
          <a:xfrm>
            <a:off x="2368296" y="1828800"/>
            <a:ext cx="566928" cy="438912"/>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2</a:t>
            </a:r>
            <a:endParaRPr lang="en-US" sz="1500" dirty="0"/>
          </a:p>
        </p:txBody>
      </p:sp>
      <p:sp>
        <p:nvSpPr>
          <p:cNvPr id="9" name="gcell"/>
          <p:cNvSpPr txBox="1"/>
          <p:nvPr/>
        </p:nvSpPr>
        <p:spPr>
          <a:xfrm>
            <a:off x="2935224" y="1828800"/>
            <a:ext cx="566928" cy="438912"/>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6</a:t>
            </a:r>
            <a:endParaRPr lang="en-US" sz="1500" dirty="0"/>
          </a:p>
        </p:txBody>
      </p:sp>
      <p:sp>
        <p:nvSpPr>
          <p:cNvPr id="10" name="gcell"/>
          <p:cNvSpPr txBox="1"/>
          <p:nvPr/>
        </p:nvSpPr>
        <p:spPr>
          <a:xfrm>
            <a:off x="1234440" y="2267712"/>
            <a:ext cx="566928" cy="438912"/>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8</a:t>
            </a:r>
            <a:endParaRPr lang="en-US" sz="1500" dirty="0"/>
          </a:p>
        </p:txBody>
      </p:sp>
      <p:sp>
        <p:nvSpPr>
          <p:cNvPr id="11" name="gcell"/>
          <p:cNvSpPr txBox="1"/>
          <p:nvPr/>
        </p:nvSpPr>
        <p:spPr>
          <a:xfrm>
            <a:off x="1801368" y="2267712"/>
            <a:ext cx="566928" cy="438912"/>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12</a:t>
            </a:r>
            <a:endParaRPr lang="en-US" sz="1500" dirty="0"/>
          </a:p>
        </p:txBody>
      </p:sp>
      <p:sp>
        <p:nvSpPr>
          <p:cNvPr id="12" name="gcell"/>
          <p:cNvSpPr txBox="1"/>
          <p:nvPr/>
        </p:nvSpPr>
        <p:spPr>
          <a:xfrm>
            <a:off x="2368296" y="2267712"/>
            <a:ext cx="566928" cy="438912"/>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10</a:t>
            </a:r>
            <a:endParaRPr lang="en-US" sz="1500" dirty="0"/>
          </a:p>
        </p:txBody>
      </p:sp>
      <p:sp>
        <p:nvSpPr>
          <p:cNvPr id="13" name="gcell"/>
          <p:cNvSpPr txBox="1"/>
          <p:nvPr/>
        </p:nvSpPr>
        <p:spPr>
          <a:xfrm>
            <a:off x="2935224" y="2267712"/>
            <a:ext cx="566928" cy="438912"/>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14</a:t>
            </a:r>
            <a:endParaRPr lang="en-US" sz="1500" dirty="0"/>
          </a:p>
        </p:txBody>
      </p:sp>
      <p:sp>
        <p:nvSpPr>
          <p:cNvPr id="14" name="gcell"/>
          <p:cNvSpPr txBox="1"/>
          <p:nvPr/>
        </p:nvSpPr>
        <p:spPr>
          <a:xfrm>
            <a:off x="1234440" y="2706624"/>
            <a:ext cx="566928" cy="438912"/>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3</a:t>
            </a:r>
            <a:endParaRPr lang="en-US" sz="1500" dirty="0"/>
          </a:p>
        </p:txBody>
      </p:sp>
      <p:sp>
        <p:nvSpPr>
          <p:cNvPr id="15" name="gcell"/>
          <p:cNvSpPr txBox="1"/>
          <p:nvPr/>
        </p:nvSpPr>
        <p:spPr>
          <a:xfrm>
            <a:off x="1801368" y="2706624"/>
            <a:ext cx="566928" cy="438912"/>
          </a:xfrm>
          <a:prstGeom prst="rect">
            <a:avLst/>
          </a:prstGeom>
          <a:solidFill>
            <a:srgbClr val="E3F2E4"/>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7</a:t>
            </a:r>
            <a:endParaRPr lang="en-US" sz="1500" dirty="0"/>
          </a:p>
        </p:txBody>
      </p:sp>
      <p:sp>
        <p:nvSpPr>
          <p:cNvPr id="16" name="gcell"/>
          <p:cNvSpPr txBox="1"/>
          <p:nvPr/>
        </p:nvSpPr>
        <p:spPr>
          <a:xfrm>
            <a:off x="2368296" y="2706624"/>
            <a:ext cx="566928" cy="438912"/>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a:t>
            </a:r>
            <a:endParaRPr lang="en-US" sz="1500" dirty="0"/>
          </a:p>
        </p:txBody>
      </p:sp>
      <p:sp>
        <p:nvSpPr>
          <p:cNvPr id="17" name="gcell"/>
          <p:cNvSpPr txBox="1"/>
          <p:nvPr/>
        </p:nvSpPr>
        <p:spPr>
          <a:xfrm>
            <a:off x="2935224" y="2706624"/>
            <a:ext cx="566928" cy="438912"/>
          </a:xfrm>
          <a:prstGeom prst="rect">
            <a:avLst/>
          </a:prstGeom>
          <a:solidFill>
            <a:srgbClr val="DDEFF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5</a:t>
            </a:r>
            <a:endParaRPr lang="en-US" sz="1500" dirty="0"/>
          </a:p>
        </p:txBody>
      </p:sp>
      <p:sp>
        <p:nvSpPr>
          <p:cNvPr id="18" name="gcell"/>
          <p:cNvSpPr txBox="1"/>
          <p:nvPr/>
        </p:nvSpPr>
        <p:spPr>
          <a:xfrm>
            <a:off x="1234440" y="3145536"/>
            <a:ext cx="566928" cy="438912"/>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11</a:t>
            </a:r>
            <a:endParaRPr lang="en-US" sz="1500" dirty="0"/>
          </a:p>
        </p:txBody>
      </p:sp>
      <p:sp>
        <p:nvSpPr>
          <p:cNvPr id="19" name="gcell"/>
          <p:cNvSpPr txBox="1"/>
          <p:nvPr/>
        </p:nvSpPr>
        <p:spPr>
          <a:xfrm>
            <a:off x="1801368" y="3145536"/>
            <a:ext cx="566928" cy="438912"/>
          </a:xfrm>
          <a:prstGeom prst="rect">
            <a:avLst/>
          </a:prstGeom>
          <a:solidFill>
            <a:srgbClr val="FFF0CC"/>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15</a:t>
            </a:r>
            <a:endParaRPr lang="en-US" sz="1500" dirty="0"/>
          </a:p>
        </p:txBody>
      </p:sp>
      <p:sp>
        <p:nvSpPr>
          <p:cNvPr id="20" name="gcell"/>
          <p:cNvSpPr txBox="1"/>
          <p:nvPr/>
        </p:nvSpPr>
        <p:spPr>
          <a:xfrm>
            <a:off x="2368296" y="3145536"/>
            <a:ext cx="566928" cy="438912"/>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9</a:t>
            </a:r>
            <a:endParaRPr lang="en-US" sz="1500" dirty="0"/>
          </a:p>
        </p:txBody>
      </p:sp>
      <p:sp>
        <p:nvSpPr>
          <p:cNvPr id="21" name="gcell"/>
          <p:cNvSpPr txBox="1"/>
          <p:nvPr/>
        </p:nvSpPr>
        <p:spPr>
          <a:xfrm>
            <a:off x="2935224" y="3145536"/>
            <a:ext cx="566928" cy="438912"/>
          </a:xfrm>
          <a:prstGeom prst="rect">
            <a:avLst/>
          </a:prstGeom>
          <a:solidFill>
            <a:srgbClr val="FBE3E1"/>
          </a:solidFill>
          <a:ln w="9525">
            <a:solidFill>
              <a:srgbClr val="D3DADF"/>
            </a:solidFill>
          </a:ln>
        </p:spPr>
        <p:txBody>
          <a:bodyPr wrap="square" lIns="0" tIns="0" rIns="0" bIns="0" rtlCol="0" anchor="ctr"/>
          <a:lstStyle/>
          <a:p>
            <a:pPr algn="ctr" indent="0" marL="0">
              <a:buNone/>
            </a:pPr>
            <a:r>
              <a:rPr lang="en-US" sz="1500" dirty="0">
                <a:solidFill>
                  <a:srgbClr val="1E2A32"/>
                </a:solidFill>
                <a:latin typeface="Calibri" pitchFamily="34" charset="0"/>
                <a:ea typeface="Calibri" pitchFamily="34" charset="-122"/>
                <a:cs typeface="Calibri" pitchFamily="34" charset="-120"/>
              </a:rPr>
              <a:t>13</a:t>
            </a:r>
            <a:endParaRPr lang="en-US" sz="1500" dirty="0"/>
          </a:p>
        </p:txBody>
      </p:sp>
      <p:sp>
        <p:nvSpPr>
          <p:cNvPr id="22" name="glab"/>
          <p:cNvSpPr txBox="1"/>
          <p:nvPr/>
        </p:nvSpPr>
        <p:spPr>
          <a:xfrm>
            <a:off x="1188720" y="1591056"/>
            <a:ext cx="658368"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b₀</a:t>
            </a:r>
            <a:endParaRPr lang="en-US" sz="1400" dirty="0"/>
          </a:p>
        </p:txBody>
      </p:sp>
      <p:sp>
        <p:nvSpPr>
          <p:cNvPr id="23" name="glab"/>
          <p:cNvSpPr txBox="1"/>
          <p:nvPr/>
        </p:nvSpPr>
        <p:spPr>
          <a:xfrm>
            <a:off x="1755648" y="1591056"/>
            <a:ext cx="658368"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b₁</a:t>
            </a:r>
            <a:endParaRPr lang="en-US" sz="1400" dirty="0"/>
          </a:p>
        </p:txBody>
      </p:sp>
      <p:sp>
        <p:nvSpPr>
          <p:cNvPr id="24" name="glab"/>
          <p:cNvSpPr txBox="1"/>
          <p:nvPr/>
        </p:nvSpPr>
        <p:spPr>
          <a:xfrm>
            <a:off x="2322576" y="1591056"/>
            <a:ext cx="658368"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b₂</a:t>
            </a:r>
            <a:endParaRPr lang="en-US" sz="1400" dirty="0"/>
          </a:p>
        </p:txBody>
      </p:sp>
      <p:sp>
        <p:nvSpPr>
          <p:cNvPr id="25" name="glab"/>
          <p:cNvSpPr txBox="1"/>
          <p:nvPr/>
        </p:nvSpPr>
        <p:spPr>
          <a:xfrm>
            <a:off x="2889504" y="1591056"/>
            <a:ext cx="658368" cy="219456"/>
          </a:xfrm>
          <a:prstGeom prst="rect">
            <a:avLst/>
          </a:prstGeom>
          <a:noFill/>
          <a:ln/>
        </p:spPr>
        <p:txBody>
          <a:bodyPr wrap="square" lIns="0" tIns="0" rIns="0" bIns="0" rtlCol="0" anchor="b"/>
          <a:lstStyle/>
          <a:p>
            <a:pPr algn="ctr" indent="0" marL="0">
              <a:buNone/>
            </a:pPr>
            <a:r>
              <a:rPr lang="en-US" sz="1400" dirty="0">
                <a:solidFill>
                  <a:srgbClr val="5B6770"/>
                </a:solidFill>
                <a:latin typeface="Calibri" pitchFamily="34" charset="0"/>
                <a:ea typeface="Calibri" pitchFamily="34" charset="-122"/>
                <a:cs typeface="Calibri" pitchFamily="34" charset="-120"/>
              </a:rPr>
              <a:t>b₃</a:t>
            </a:r>
            <a:endParaRPr lang="en-US" sz="1400" dirty="0"/>
          </a:p>
        </p:txBody>
      </p:sp>
      <p:sp>
        <p:nvSpPr>
          <p:cNvPr id="26" name="glab"/>
          <p:cNvSpPr txBox="1"/>
          <p:nvPr/>
        </p:nvSpPr>
        <p:spPr>
          <a:xfrm>
            <a:off x="777240" y="1828800"/>
            <a:ext cx="411480"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s₀</a:t>
            </a:r>
            <a:endParaRPr lang="en-US" sz="1400" dirty="0"/>
          </a:p>
        </p:txBody>
      </p:sp>
      <p:sp>
        <p:nvSpPr>
          <p:cNvPr id="27" name="glab"/>
          <p:cNvSpPr txBox="1"/>
          <p:nvPr/>
        </p:nvSpPr>
        <p:spPr>
          <a:xfrm>
            <a:off x="777240" y="2267712"/>
            <a:ext cx="411480"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s₁</a:t>
            </a:r>
            <a:endParaRPr lang="en-US" sz="1400" dirty="0"/>
          </a:p>
        </p:txBody>
      </p:sp>
      <p:sp>
        <p:nvSpPr>
          <p:cNvPr id="28" name="glab"/>
          <p:cNvSpPr txBox="1"/>
          <p:nvPr/>
        </p:nvSpPr>
        <p:spPr>
          <a:xfrm>
            <a:off x="777240" y="2706624"/>
            <a:ext cx="411480"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s₂</a:t>
            </a:r>
            <a:endParaRPr lang="en-US" sz="1400" dirty="0"/>
          </a:p>
        </p:txBody>
      </p:sp>
      <p:sp>
        <p:nvSpPr>
          <p:cNvPr id="29" name="glab"/>
          <p:cNvSpPr txBox="1"/>
          <p:nvPr/>
        </p:nvSpPr>
        <p:spPr>
          <a:xfrm>
            <a:off x="777240" y="3145536"/>
            <a:ext cx="411480" cy="438912"/>
          </a:xfrm>
          <a:prstGeom prst="rect">
            <a:avLst/>
          </a:prstGeom>
          <a:noFill/>
          <a:ln/>
        </p:spPr>
        <p:txBody>
          <a:bodyPr wrap="square" lIns="0" tIns="0" rIns="0" bIns="0" rtlCol="0" anchor="ctr"/>
          <a:lstStyle/>
          <a:p>
            <a:pPr algn="r" indent="0" marL="0">
              <a:buNone/>
            </a:pPr>
            <a:r>
              <a:rPr lang="en-US" sz="1400" dirty="0">
                <a:solidFill>
                  <a:srgbClr val="5B6770"/>
                </a:solidFill>
                <a:latin typeface="Calibri" pitchFamily="34" charset="0"/>
                <a:ea typeface="Calibri" pitchFamily="34" charset="-122"/>
                <a:cs typeface="Calibri" pitchFamily="34" charset="-120"/>
              </a:rPr>
              <a:t>s₃</a:t>
            </a:r>
            <a:endParaRPr lang="en-US" sz="1400" dirty="0"/>
          </a:p>
        </p:txBody>
      </p:sp>
      <p:sp>
        <p:nvSpPr>
          <p:cNvPr id="30" name="gtitle"/>
          <p:cNvSpPr txBox="1"/>
          <p:nvPr/>
        </p:nvSpPr>
        <p:spPr>
          <a:xfrm>
            <a:off x="1051560" y="1316736"/>
            <a:ext cx="2633472" cy="256032"/>
          </a:xfrm>
          <a:prstGeom prst="rect">
            <a:avLst/>
          </a:prstGeom>
          <a:noFill/>
          <a:ln/>
        </p:spPr>
        <p:txBody>
          <a:bodyPr wrap="square" lIns="0" tIns="0" rIns="0" bIns="0" rtlCol="0" anchor="b"/>
          <a:lstStyle/>
          <a:p>
            <a:pPr algn="ctr" indent="0" marL="0">
              <a:buNone/>
            </a:pPr>
            <a:r>
              <a:rPr lang="en-US" sz="1200" b="1" dirty="0">
                <a:solidFill>
                  <a:srgbClr val="1E2A32"/>
                </a:solidFill>
                <a:latin typeface="Calibri" pitchFamily="34" charset="0"/>
                <a:ea typeface="Calibri" pitchFamily="34" charset="-122"/>
                <a:cs typeface="Calibri" pitchFamily="34" charset="-120"/>
              </a:rPr>
              <a:t>Offsets from M (Seg × Bank)</a:t>
            </a:r>
            <a:endParaRPr lang="en-US" sz="1200" dirty="0"/>
          </a:p>
        </p:txBody>
      </p:sp>
      <p:sp>
        <p:nvSpPr>
          <p:cNvPr id="31" name="Text 28"/>
          <p:cNvSpPr txBox="1"/>
          <p:nvPr/>
        </p:nvSpPr>
        <p:spPr>
          <a:xfrm>
            <a:off x="502920" y="3703320"/>
            <a:ext cx="3611880" cy="8229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 Figure 5’s final grid ✓   Pairs (e, e+4) are adjacent → 2-wide vectors on both sides.</a:t>
            </a:r>
            <a:endParaRPr lang="en-US" sz="1300" dirty="0"/>
          </a:p>
        </p:txBody>
      </p:sp>
      <p:graphicFrame>
        <p:nvGraphicFramePr>
          <p:cNvPr id="52" name="table"/>
          <p:cNvGraphicFramePr>
            <a:graphicFrameLocks noGrp="1"/>
          </p:cNvGraphicFramePr>
          <p:nvPr>
            <p:extLst>
              <p:ext uri="{D42A27DB-BD31-4B8C-83A1-F6EECF244321}">
                <p14:modId xmlns:p14="http://schemas.microsoft.com/office/powerpoint/2010/main" val="1579011935"/>
              </p:ext>
            </p:extLst>
          </p:nvPr>
        </p:nvGraphicFramePr>
        <p:xfrm>
          <a:off x="4434840" y="1417320"/>
          <a:ext cx="7269480" cy="914400"/>
        </p:xfrm>
        <a:graphic>
          <a:graphicData uri="http://schemas.openxmlformats.org/drawingml/2006/table">
            <a:tbl>
              <a:tblPr/>
              <a:tblGrid>
                <a:gridCol w="411480"/>
                <a:gridCol w="3931920"/>
                <a:gridCol w="2377440"/>
                <a:gridCol w="548640"/>
              </a:tblGrid>
              <a:tr h="329184">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Reads with B (thread: elements)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banks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t0: 0,4   t1: 1,5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b0 b1 b2 b3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t2: 2,6   t3: 3,7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b2 b3 b0 b1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t0: 8,12   t1: 9,13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b0 b1 b2 b3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t2: 10,14   t3: 11,15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b2 b3 b0 b1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graphicFrame>
        <p:nvGraphicFramePr>
          <p:cNvPr id="103" name="table"/>
          <p:cNvGraphicFramePr>
            <a:graphicFrameLocks noGrp="1"/>
          </p:cNvGraphicFramePr>
          <p:nvPr>
            <p:extLst>
              <p:ext uri="{D42A27DB-BD31-4B8C-83A1-F6EECF244321}">
                <p14:modId xmlns:p14="http://schemas.microsoft.com/office/powerpoint/2010/main" val="1579011935"/>
              </p:ext>
            </p:extLst>
          </p:nvPr>
        </p:nvGraphicFramePr>
        <p:xfrm>
          <a:off x="4434840" y="3291840"/>
          <a:ext cx="7269480" cy="914400"/>
        </p:xfrm>
        <a:graphic>
          <a:graphicData uri="http://schemas.openxmlformats.org/drawingml/2006/table">
            <a:tbl>
              <a:tblPr/>
              <a:tblGrid>
                <a:gridCol w="411480"/>
                <a:gridCol w="3931920"/>
                <a:gridCol w="2377440"/>
                <a:gridCol w="548640"/>
              </a:tblGrid>
              <a:tr h="329184">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Writes with A (thread: elements)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banks</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t0: 0,4   t1: 2,6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b0 b1 b2 b3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t2: 8,12   t3: 10,14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b0 b1 b2 b3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t0: 1,5   t1: 3,7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b2 b3 b0 b1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t2: 9,13   t3: 11,15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b2 b3 b0 b1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34" name="callout"/>
          <p:cNvSpPr/>
          <p:nvPr/>
        </p:nvSpPr>
        <p:spPr>
          <a:xfrm>
            <a:off x="4434840" y="5074920"/>
            <a:ext cx="7269480" cy="777240"/>
          </a:xfrm>
          <a:prstGeom prst="roundRect">
            <a:avLst>
              <a:gd name="adj" fmla="val 9412"/>
            </a:avLst>
          </a:prstGeom>
          <a:solidFill>
            <a:srgbClr val="E3F2E4"/>
          </a:solidFill>
          <a:ln/>
        </p:spPr>
      </p:sp>
      <p:sp>
        <p:nvSpPr>
          <p:cNvPr id="35" name="callout-text"/>
          <p:cNvSpPr txBox="1"/>
          <p:nvPr/>
        </p:nvSpPr>
        <p:spPr>
          <a:xfrm>
            <a:off x="4572000" y="5129784"/>
            <a:ext cx="6995160" cy="667512"/>
          </a:xfrm>
          <a:prstGeom prst="rect">
            <a:avLst/>
          </a:prstGeom>
          <a:noFill/>
          <a:ln/>
        </p:spPr>
        <p:txBody>
          <a:bodyPr wrap="square" lIns="0" tIns="0" rIns="0" bIns="0" rtlCol="0" anchor="ctr"/>
          <a:lstStyle/>
          <a:p>
            <a:pPr algn="l" indent="0" marL="0">
              <a:buNone/>
            </a:pPr>
            <a:r>
              <a:rPr lang="en-US" sz="1400" dirty="0">
                <a:solidFill>
                  <a:srgbClr val="2E7D32"/>
                </a:solidFill>
                <a:latin typeface="Calibri" pitchFamily="34" charset="0"/>
                <a:ea typeface="Calibri" pitchFamily="34" charset="-122"/>
                <a:cs typeface="Calibri" pitchFamily="34" charset="-120"/>
              </a:rPr>
              <a:t>Paper: “t₀ reads 0 (b₀) and 4 (b₁), t₁ reads 1 (b₂) and 5 (b₃); then t₂ reads 2 (b₂), 6 (b₃) and t₃ reads 3 (b₀), 7 (b₁).” ✓  Every transaction touches </a:t>
            </a:r>
            <a:r>
              <a:rPr lang="en-US" sz="1400" b="1" dirty="0">
                <a:solidFill>
                  <a:srgbClr val="2E7D32"/>
                </a:solidFill>
                <a:latin typeface="Calibri" pitchFamily="34" charset="0"/>
                <a:ea typeface="Calibri" pitchFamily="34" charset="-122"/>
                <a:cs typeface="Calibri" pitchFamily="34" charset="-120"/>
              </a:rPr>
              <a:t>4 distinct banks</a:t>
            </a:r>
            <a:r>
              <a:rPr lang="en-US" sz="1400" dirty="0">
                <a:solidFill>
                  <a:srgbClr val="2E7D32"/>
                </a:solidFill>
                <a:latin typeface="Calibri" pitchFamily="34" charset="0"/>
                <a:ea typeface="Calibri" pitchFamily="34" charset="-122"/>
                <a:cs typeface="Calibri" pitchFamily="34" charset="-120"/>
              </a:rPr>
              <a:t>.</a:t>
            </a:r>
            <a:endParaRPr lang="en-US" sz="1400" dirty="0"/>
          </a:p>
        </p:txBody>
      </p:sp>
      <p:sp>
        <p:nvSpPr>
          <p:cNvPr id="36" name="tag"/>
          <p:cNvSpPr txBox="1"/>
          <p:nvPr/>
        </p:nvSpPr>
        <p:spPr>
          <a:xfrm>
            <a:off x="502920" y="5833872"/>
            <a:ext cx="1280160" cy="256032"/>
          </a:xfrm>
          <a:prstGeom prst="roundRect">
            <a:avLst>
              <a:gd name="adj" fmla="val 50000"/>
            </a:avLst>
          </a:prstGeom>
          <a:solidFill>
            <a:srgbClr val="DDEFF1"/>
          </a:solidFill>
          <a:ln/>
        </p:spPr>
        <p:txBody>
          <a:bodyPr wrap="square" lIns="0" tIns="0" rIns="0" bIns="0" rtlCol="0" anchor="ctr"/>
          <a:lstStyle/>
          <a:p>
            <a:pPr algn="ctr" indent="0" marL="0">
              <a:buNone/>
            </a:pPr>
            <a:r>
              <a:rPr lang="en-US" sz="1100" b="1" dirty="0">
                <a:solidFill>
                  <a:srgbClr val="0A4F58"/>
                </a:solidFill>
                <a:latin typeface="Calibri" pitchFamily="34" charset="0"/>
                <a:ea typeface="Calibri" pitchFamily="34" charset="-122"/>
                <a:cs typeface="Calibri" pitchFamily="34" charset="-120"/>
              </a:rPr>
              <a:t>Figure 5 example</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§5.5 · OPTIMIZED CODEGEN FOR GATHER</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Gather with shuffles: is the axis inside one warp?</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§5.5, p. 141; GatherOpToLLVM.cpp isWarpLocal (upstream)</a:t>
            </a:r>
            <a:endParaRPr lang="en-US" sz="1000" dirty="0"/>
          </a:p>
        </p:txBody>
      </p:sp>
      <p:sp>
        <p:nvSpPr>
          <p:cNvPr id="6" name="Text 3"/>
          <p:cNvSpPr txBox="1"/>
          <p:nvPr/>
        </p:nvSpPr>
        <p:spPr>
          <a:xfrm>
            <a:off x="502920" y="1234440"/>
            <a:ext cx="11201400" cy="548640"/>
          </a:xfrm>
          <a:prstGeom prst="rect">
            <a:avLst/>
          </a:prstGeom>
          <a:noFill/>
          <a:ln/>
        </p:spPr>
        <p:txBody>
          <a:bodyPr wrap="square" lIns="0" tIns="0" rIns="0" bIns="0" rtlCol="0" anchor="t"/>
          <a:lstStyle/>
          <a:p>
            <a:pPr indent="0" marL="0">
              <a:buNone/>
            </a:pPr>
            <a:r>
              <a:rPr lang="en-US" sz="1600" dirty="0">
                <a:solidFill>
                  <a:srgbClr val="1E2A32"/>
                </a:solidFill>
                <a:latin typeface="Calibri" pitchFamily="34" charset="0"/>
                <a:ea typeface="Calibri" pitchFamily="34" charset="-122"/>
                <a:cs typeface="Calibri" pitchFamily="34" charset="-120"/>
              </a:rPr>
              <a:t>out[i, j] = src[i, index[i, j]].   Shuffle path allowed iff </a:t>
            </a:r>
            <a:r>
              <a:rPr lang="en-US" sz="1600" b="1" dirty="0">
                <a:solidFill>
                  <a:srgbClr val="1E2A32"/>
                </a:solidFill>
                <a:latin typeface="Calibri" pitchFamily="34" charset="0"/>
                <a:ea typeface="Calibri" pitchFamily="34" charset="-122"/>
                <a:cs typeface="Calibri" pitchFamily="34" charset="-120"/>
              </a:rPr>
              <a:t>L^axis_Wrp = 0</a:t>
            </a:r>
            <a:r>
              <a:rPr lang="en-US" sz="1600" dirty="0">
                <a:solidFill>
                  <a:srgbClr val="1E2A32"/>
                </a:solidFill>
                <a:latin typeface="Calibri" pitchFamily="34" charset="0"/>
                <a:ea typeface="Calibri" pitchFamily="34" charset="-122"/>
                <a:cs typeface="Calibri" pitchFamily="34" charset="-120"/>
              </a:rPr>
              <a:t> (axis rows of the warp columns are all zero).</a:t>
            </a:r>
            <a:endParaRPr lang="en-US" sz="1600" dirty="0"/>
          </a:p>
        </p:txBody>
      </p:sp>
      <p:sp>
        <p:nvSpPr>
          <p:cNvPr id="7" name="mcell"/>
          <p:cNvSpPr txBox="1"/>
          <p:nvPr/>
        </p:nvSpPr>
        <p:spPr>
          <a:xfrm>
            <a:off x="1417320" y="2514600"/>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 name="mcell"/>
          <p:cNvSpPr txBox="1"/>
          <p:nvPr/>
        </p:nvSpPr>
        <p:spPr>
          <a:xfrm>
            <a:off x="1819656" y="25146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9" name="mcell"/>
          <p:cNvSpPr txBox="1"/>
          <p:nvPr/>
        </p:nvSpPr>
        <p:spPr>
          <a:xfrm>
            <a:off x="2221992" y="25146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0" name="mcell"/>
          <p:cNvSpPr txBox="1"/>
          <p:nvPr/>
        </p:nvSpPr>
        <p:spPr>
          <a:xfrm>
            <a:off x="2624328" y="25146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1" name="mcell"/>
          <p:cNvSpPr txBox="1"/>
          <p:nvPr/>
        </p:nvSpPr>
        <p:spPr>
          <a:xfrm>
            <a:off x="3026664" y="2514600"/>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12" name="mcell"/>
          <p:cNvSpPr txBox="1"/>
          <p:nvPr/>
        </p:nvSpPr>
        <p:spPr>
          <a:xfrm>
            <a:off x="1417320" y="29169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3" name="mcell"/>
          <p:cNvSpPr txBox="1"/>
          <p:nvPr/>
        </p:nvSpPr>
        <p:spPr>
          <a:xfrm>
            <a:off x="1819656" y="2916936"/>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14" name="mcell"/>
          <p:cNvSpPr txBox="1"/>
          <p:nvPr/>
        </p:nvSpPr>
        <p:spPr>
          <a:xfrm>
            <a:off x="2221992" y="29169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5" name="mcell"/>
          <p:cNvSpPr txBox="1"/>
          <p:nvPr/>
        </p:nvSpPr>
        <p:spPr>
          <a:xfrm>
            <a:off x="2624328" y="29169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6" name="mcell"/>
          <p:cNvSpPr txBox="1"/>
          <p:nvPr/>
        </p:nvSpPr>
        <p:spPr>
          <a:xfrm>
            <a:off x="3026664" y="2916936"/>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17" name="mcell"/>
          <p:cNvSpPr txBox="1"/>
          <p:nvPr/>
        </p:nvSpPr>
        <p:spPr>
          <a:xfrm>
            <a:off x="1417320"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8" name="mcell"/>
          <p:cNvSpPr txBox="1"/>
          <p:nvPr/>
        </p:nvSpPr>
        <p:spPr>
          <a:xfrm>
            <a:off x="1819656"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19" name="mcell"/>
          <p:cNvSpPr txBox="1"/>
          <p:nvPr/>
        </p:nvSpPr>
        <p:spPr>
          <a:xfrm>
            <a:off x="2221992" y="3319272"/>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0" name="mcell"/>
          <p:cNvSpPr txBox="1"/>
          <p:nvPr/>
        </p:nvSpPr>
        <p:spPr>
          <a:xfrm>
            <a:off x="2624328"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1" name="mcell"/>
          <p:cNvSpPr txBox="1"/>
          <p:nvPr/>
        </p:nvSpPr>
        <p:spPr>
          <a:xfrm>
            <a:off x="3026664" y="3319272"/>
            <a:ext cx="402336" cy="402336"/>
          </a:xfrm>
          <a:prstGeom prst="rect">
            <a:avLst/>
          </a:prstGeom>
          <a:solidFill>
            <a:srgbClr val="E3F2E4"/>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22" name="mcell"/>
          <p:cNvSpPr txBox="1"/>
          <p:nvPr/>
        </p:nvSpPr>
        <p:spPr>
          <a:xfrm>
            <a:off x="1417320"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3" name="mcell"/>
          <p:cNvSpPr txBox="1"/>
          <p:nvPr/>
        </p:nvSpPr>
        <p:spPr>
          <a:xfrm>
            <a:off x="1819656"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4" name="mcell"/>
          <p:cNvSpPr txBox="1"/>
          <p:nvPr/>
        </p:nvSpPr>
        <p:spPr>
          <a:xfrm>
            <a:off x="2221992"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5" name="mcell"/>
          <p:cNvSpPr txBox="1"/>
          <p:nvPr/>
        </p:nvSpPr>
        <p:spPr>
          <a:xfrm>
            <a:off x="2624328" y="3721608"/>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26" name="mcell"/>
          <p:cNvSpPr txBox="1"/>
          <p:nvPr/>
        </p:nvSpPr>
        <p:spPr>
          <a:xfrm>
            <a:off x="3026664"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7" name="mcell"/>
          <p:cNvSpPr txBox="1"/>
          <p:nvPr/>
        </p:nvSpPr>
        <p:spPr>
          <a:xfrm>
            <a:off x="1417320"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8" name="mcell"/>
          <p:cNvSpPr txBox="1"/>
          <p:nvPr/>
        </p:nvSpPr>
        <p:spPr>
          <a:xfrm>
            <a:off x="1819656"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29" name="mcell"/>
          <p:cNvSpPr txBox="1"/>
          <p:nvPr/>
        </p:nvSpPr>
        <p:spPr>
          <a:xfrm>
            <a:off x="2221992"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30" name="mcell"/>
          <p:cNvSpPr txBox="1"/>
          <p:nvPr/>
        </p:nvSpPr>
        <p:spPr>
          <a:xfrm>
            <a:off x="2624328"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31" name="mcell"/>
          <p:cNvSpPr txBox="1"/>
          <p:nvPr/>
        </p:nvSpPr>
        <p:spPr>
          <a:xfrm>
            <a:off x="3026664" y="4123944"/>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32" name="msep"/>
          <p:cNvSpPr/>
          <p:nvPr/>
        </p:nvSpPr>
        <p:spPr>
          <a:xfrm>
            <a:off x="1819656" y="2532888"/>
            <a:ext cx="0" cy="1975104"/>
          </a:xfrm>
          <a:prstGeom prst="line">
            <a:avLst/>
          </a:prstGeom>
          <a:noFill/>
          <a:ln w="9525">
            <a:solidFill>
              <a:srgbClr val="5B6770"/>
            </a:solidFill>
            <a:prstDash val="dash"/>
          </a:ln>
        </p:spPr>
      </p:sp>
      <p:sp>
        <p:nvSpPr>
          <p:cNvPr id="33" name="msep"/>
          <p:cNvSpPr/>
          <p:nvPr/>
        </p:nvSpPr>
        <p:spPr>
          <a:xfrm>
            <a:off x="3026664" y="2532888"/>
            <a:ext cx="0" cy="1975104"/>
          </a:xfrm>
          <a:prstGeom prst="line">
            <a:avLst/>
          </a:prstGeom>
          <a:noFill/>
          <a:ln w="9525">
            <a:solidFill>
              <a:srgbClr val="5B6770"/>
            </a:solidFill>
            <a:prstDash val="dash"/>
          </a:ln>
        </p:spPr>
      </p:sp>
      <p:sp>
        <p:nvSpPr>
          <p:cNvPr id="34" name="msep"/>
          <p:cNvSpPr/>
          <p:nvPr/>
        </p:nvSpPr>
        <p:spPr>
          <a:xfrm>
            <a:off x="1435608" y="3721608"/>
            <a:ext cx="1975104" cy="0"/>
          </a:xfrm>
          <a:prstGeom prst="line">
            <a:avLst/>
          </a:prstGeom>
          <a:noFill/>
          <a:ln w="9525">
            <a:solidFill>
              <a:srgbClr val="5B6770"/>
            </a:solidFill>
            <a:prstDash val="dash"/>
          </a:ln>
        </p:spPr>
      </p:sp>
      <p:sp>
        <p:nvSpPr>
          <p:cNvPr id="35" name="mbr"/>
          <p:cNvSpPr/>
          <p:nvPr/>
        </p:nvSpPr>
        <p:spPr>
          <a:xfrm>
            <a:off x="1389888" y="2487168"/>
            <a:ext cx="0" cy="2066544"/>
          </a:xfrm>
          <a:prstGeom prst="line">
            <a:avLst/>
          </a:prstGeom>
          <a:noFill/>
          <a:ln w="15875">
            <a:solidFill>
              <a:srgbClr val="1E2A32"/>
            </a:solidFill>
            <a:prstDash val="solid"/>
          </a:ln>
        </p:spPr>
      </p:sp>
      <p:sp>
        <p:nvSpPr>
          <p:cNvPr id="36" name="mbr"/>
          <p:cNvSpPr/>
          <p:nvPr/>
        </p:nvSpPr>
        <p:spPr>
          <a:xfrm>
            <a:off x="1389888" y="2487168"/>
            <a:ext cx="73152" cy="0"/>
          </a:xfrm>
          <a:prstGeom prst="line">
            <a:avLst/>
          </a:prstGeom>
          <a:noFill/>
          <a:ln w="15875">
            <a:solidFill>
              <a:srgbClr val="1E2A32"/>
            </a:solidFill>
            <a:prstDash val="solid"/>
          </a:ln>
        </p:spPr>
      </p:sp>
      <p:sp>
        <p:nvSpPr>
          <p:cNvPr id="37" name="mbr"/>
          <p:cNvSpPr/>
          <p:nvPr/>
        </p:nvSpPr>
        <p:spPr>
          <a:xfrm>
            <a:off x="1389888" y="4553712"/>
            <a:ext cx="73152" cy="0"/>
          </a:xfrm>
          <a:prstGeom prst="line">
            <a:avLst/>
          </a:prstGeom>
          <a:noFill/>
          <a:ln w="15875">
            <a:solidFill>
              <a:srgbClr val="1E2A32"/>
            </a:solidFill>
            <a:prstDash val="solid"/>
          </a:ln>
        </p:spPr>
      </p:sp>
      <p:sp>
        <p:nvSpPr>
          <p:cNvPr id="38" name="mbr"/>
          <p:cNvSpPr/>
          <p:nvPr/>
        </p:nvSpPr>
        <p:spPr>
          <a:xfrm>
            <a:off x="3456432" y="2487168"/>
            <a:ext cx="0" cy="2066544"/>
          </a:xfrm>
          <a:prstGeom prst="line">
            <a:avLst/>
          </a:prstGeom>
          <a:noFill/>
          <a:ln w="15875">
            <a:solidFill>
              <a:srgbClr val="1E2A32"/>
            </a:solidFill>
            <a:prstDash val="solid"/>
          </a:ln>
        </p:spPr>
      </p:sp>
      <p:sp>
        <p:nvSpPr>
          <p:cNvPr id="39" name="mbr"/>
          <p:cNvSpPr/>
          <p:nvPr/>
        </p:nvSpPr>
        <p:spPr>
          <a:xfrm>
            <a:off x="3383280" y="2487168"/>
            <a:ext cx="73152" cy="0"/>
          </a:xfrm>
          <a:prstGeom prst="line">
            <a:avLst/>
          </a:prstGeom>
          <a:noFill/>
          <a:ln w="15875">
            <a:solidFill>
              <a:srgbClr val="1E2A32"/>
            </a:solidFill>
            <a:prstDash val="solid"/>
          </a:ln>
        </p:spPr>
      </p:sp>
      <p:sp>
        <p:nvSpPr>
          <p:cNvPr id="40" name="mbr"/>
          <p:cNvSpPr/>
          <p:nvPr/>
        </p:nvSpPr>
        <p:spPr>
          <a:xfrm>
            <a:off x="3383280" y="4553712"/>
            <a:ext cx="73152" cy="0"/>
          </a:xfrm>
          <a:prstGeom prst="line">
            <a:avLst/>
          </a:prstGeom>
          <a:noFill/>
          <a:ln w="15875">
            <a:solidFill>
              <a:srgbClr val="1E2A32"/>
            </a:solidFill>
            <a:prstDash val="solid"/>
          </a:ln>
        </p:spPr>
      </p:sp>
      <p:sp>
        <p:nvSpPr>
          <p:cNvPr id="41" name="mlab"/>
          <p:cNvSpPr txBox="1"/>
          <p:nvPr/>
        </p:nvSpPr>
        <p:spPr>
          <a:xfrm>
            <a:off x="1371600"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42" name="mlab"/>
          <p:cNvSpPr txBox="1"/>
          <p:nvPr/>
        </p:nvSpPr>
        <p:spPr>
          <a:xfrm>
            <a:off x="1773936"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43" name="mlab"/>
          <p:cNvSpPr txBox="1"/>
          <p:nvPr/>
        </p:nvSpPr>
        <p:spPr>
          <a:xfrm>
            <a:off x="2176272"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44" name="mlab"/>
          <p:cNvSpPr txBox="1"/>
          <p:nvPr/>
        </p:nvSpPr>
        <p:spPr>
          <a:xfrm>
            <a:off x="2578608"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t₂</a:t>
            </a:r>
            <a:endParaRPr lang="en-US" sz="1300" dirty="0"/>
          </a:p>
        </p:txBody>
      </p:sp>
      <p:sp>
        <p:nvSpPr>
          <p:cNvPr id="45" name="mlab"/>
          <p:cNvSpPr txBox="1"/>
          <p:nvPr/>
        </p:nvSpPr>
        <p:spPr>
          <a:xfrm>
            <a:off x="2980944"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w</a:t>
            </a:r>
            <a:endParaRPr lang="en-US" sz="1300" dirty="0"/>
          </a:p>
        </p:txBody>
      </p:sp>
      <p:sp>
        <p:nvSpPr>
          <p:cNvPr id="46" name="mgrp"/>
          <p:cNvSpPr txBox="1"/>
          <p:nvPr/>
        </p:nvSpPr>
        <p:spPr>
          <a:xfrm>
            <a:off x="1417320" y="2039112"/>
            <a:ext cx="402336"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Reg</a:t>
            </a:r>
            <a:endParaRPr lang="en-US" sz="1300" dirty="0"/>
          </a:p>
        </p:txBody>
      </p:sp>
      <p:sp>
        <p:nvSpPr>
          <p:cNvPr id="47" name="mgrp"/>
          <p:cNvSpPr txBox="1"/>
          <p:nvPr/>
        </p:nvSpPr>
        <p:spPr>
          <a:xfrm>
            <a:off x="1819656" y="2039112"/>
            <a:ext cx="1207008"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Lane</a:t>
            </a:r>
            <a:endParaRPr lang="en-US" sz="1300" dirty="0"/>
          </a:p>
        </p:txBody>
      </p:sp>
      <p:sp>
        <p:nvSpPr>
          <p:cNvPr id="48" name="mgrp"/>
          <p:cNvSpPr txBox="1"/>
          <p:nvPr/>
        </p:nvSpPr>
        <p:spPr>
          <a:xfrm>
            <a:off x="3026664" y="2039112"/>
            <a:ext cx="402336"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Wrp</a:t>
            </a:r>
            <a:endParaRPr lang="en-US" sz="1300" dirty="0"/>
          </a:p>
        </p:txBody>
      </p:sp>
      <p:sp>
        <p:nvSpPr>
          <p:cNvPr id="49" name="mlab"/>
          <p:cNvSpPr txBox="1"/>
          <p:nvPr/>
        </p:nvSpPr>
        <p:spPr>
          <a:xfrm>
            <a:off x="1014984" y="2514600"/>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j₀</a:t>
            </a:r>
            <a:endParaRPr lang="en-US" sz="1300" dirty="0"/>
          </a:p>
        </p:txBody>
      </p:sp>
      <p:sp>
        <p:nvSpPr>
          <p:cNvPr id="50" name="mlab"/>
          <p:cNvSpPr txBox="1"/>
          <p:nvPr/>
        </p:nvSpPr>
        <p:spPr>
          <a:xfrm>
            <a:off x="1014984" y="2916936"/>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j₁</a:t>
            </a:r>
            <a:endParaRPr lang="en-US" sz="1300" dirty="0"/>
          </a:p>
        </p:txBody>
      </p:sp>
      <p:sp>
        <p:nvSpPr>
          <p:cNvPr id="51" name="mlab"/>
          <p:cNvSpPr txBox="1"/>
          <p:nvPr/>
        </p:nvSpPr>
        <p:spPr>
          <a:xfrm>
            <a:off x="1014984" y="3319272"/>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j₂</a:t>
            </a:r>
            <a:endParaRPr lang="en-US" sz="1300" dirty="0"/>
          </a:p>
        </p:txBody>
      </p:sp>
      <p:sp>
        <p:nvSpPr>
          <p:cNvPr id="52" name="mlab"/>
          <p:cNvSpPr txBox="1"/>
          <p:nvPr/>
        </p:nvSpPr>
        <p:spPr>
          <a:xfrm>
            <a:off x="1014984" y="3721608"/>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i₀</a:t>
            </a:r>
            <a:endParaRPr lang="en-US" sz="1300" dirty="0"/>
          </a:p>
        </p:txBody>
      </p:sp>
      <p:sp>
        <p:nvSpPr>
          <p:cNvPr id="53" name="mlab"/>
          <p:cNvSpPr txBox="1"/>
          <p:nvPr/>
        </p:nvSpPr>
        <p:spPr>
          <a:xfrm>
            <a:off x="1014984" y="4123944"/>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i₁</a:t>
            </a:r>
            <a:endParaRPr lang="en-US" sz="1300" dirty="0"/>
          </a:p>
        </p:txBody>
      </p:sp>
      <p:sp>
        <p:nvSpPr>
          <p:cNvPr id="54" name="mgrp"/>
          <p:cNvSpPr txBox="1"/>
          <p:nvPr/>
        </p:nvSpPr>
        <p:spPr>
          <a:xfrm>
            <a:off x="685800" y="2514600"/>
            <a:ext cx="310896" cy="1207008"/>
          </a:xfrm>
          <a:prstGeom prst="rect">
            <a:avLst/>
          </a:prstGeom>
          <a:noFill/>
          <a:ln/>
        </p:spPr>
        <p:txBody>
          <a:bodyPr wrap="square" lIns="0" tIns="0" rIns="0" bIns="0" rtlCol="0" anchor="ctr"/>
          <a:lstStyle/>
          <a:p>
            <a:pPr algn="r" indent="0" marL="0">
              <a:buNone/>
            </a:pPr>
            <a:r>
              <a:rPr lang="en-US" sz="1300" b="1" dirty="0">
                <a:solidFill>
                  <a:srgbClr val="0A4F58"/>
                </a:solidFill>
                <a:latin typeface="Calibri" pitchFamily="34" charset="0"/>
                <a:ea typeface="Calibri" pitchFamily="34" charset="-122"/>
                <a:cs typeface="Calibri" pitchFamily="34" charset="-120"/>
              </a:rPr>
              <a:t>axis</a:t>
            </a:r>
            <a:endParaRPr lang="en-US" sz="1300" dirty="0"/>
          </a:p>
        </p:txBody>
      </p:sp>
      <p:sp>
        <p:nvSpPr>
          <p:cNvPr id="55" name="mname"/>
          <p:cNvSpPr txBox="1"/>
          <p:nvPr/>
        </p:nvSpPr>
        <p:spPr>
          <a:xfrm>
            <a:off x="1143000" y="4581144"/>
            <a:ext cx="25603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(src and index)</a:t>
            </a:r>
            <a:endParaRPr lang="en-US" sz="1300" dirty="0"/>
          </a:p>
        </p:txBody>
      </p:sp>
      <p:sp>
        <p:nvSpPr>
          <p:cNvPr id="56" name="callout"/>
          <p:cNvSpPr/>
          <p:nvPr/>
        </p:nvSpPr>
        <p:spPr>
          <a:xfrm>
            <a:off x="502920" y="5038344"/>
            <a:ext cx="4937760" cy="777240"/>
          </a:xfrm>
          <a:prstGeom prst="roundRect">
            <a:avLst>
              <a:gd name="adj" fmla="val 9412"/>
            </a:avLst>
          </a:prstGeom>
          <a:solidFill>
            <a:srgbClr val="E3F2E4"/>
          </a:solidFill>
          <a:ln/>
        </p:spPr>
      </p:sp>
      <p:sp>
        <p:nvSpPr>
          <p:cNvPr id="57" name="callout-text"/>
          <p:cNvSpPr txBox="1"/>
          <p:nvPr/>
        </p:nvSpPr>
        <p:spPr>
          <a:xfrm>
            <a:off x="640080" y="5093208"/>
            <a:ext cx="4663440" cy="667512"/>
          </a:xfrm>
          <a:prstGeom prst="rect">
            <a:avLst/>
          </a:prstGeom>
          <a:noFill/>
          <a:ln/>
        </p:spPr>
        <p:txBody>
          <a:bodyPr wrap="square" lIns="0" tIns="0" rIns="0" bIns="0" rtlCol="0" anchor="ctr"/>
          <a:lstStyle/>
          <a:p>
            <a:pPr algn="l" indent="0" marL="0">
              <a:buNone/>
            </a:pPr>
            <a:r>
              <a:rPr lang="en-US" sz="1400" dirty="0">
                <a:solidFill>
                  <a:srgbClr val="2E7D32"/>
                </a:solidFill>
                <a:latin typeface="Calibri" pitchFamily="34" charset="0"/>
                <a:ea typeface="Calibri" pitchFamily="34" charset="-122"/>
                <a:cs typeface="Calibri" pitchFamily="34" charset="-120"/>
              </a:rPr>
              <a:t>L^axis_Wrp = [0,0,0]ᵀ → each gathered row lives in </a:t>
            </a:r>
            <a:r>
              <a:rPr lang="en-US" sz="1400" b="1" dirty="0">
                <a:solidFill>
                  <a:srgbClr val="2E7D32"/>
                </a:solidFill>
                <a:latin typeface="Calibri" pitchFamily="34" charset="0"/>
                <a:ea typeface="Calibri" pitchFamily="34" charset="-122"/>
                <a:cs typeface="Calibri" pitchFamily="34" charset="-120"/>
              </a:rPr>
              <a:t>one warp</a:t>
            </a:r>
            <a:r>
              <a:rPr lang="en-US" sz="1400" dirty="0">
                <a:solidFill>
                  <a:srgbClr val="2E7D32"/>
                </a:solidFill>
                <a:latin typeface="Calibri" pitchFamily="34" charset="0"/>
                <a:ea typeface="Calibri" pitchFamily="34" charset="-122"/>
                <a:cs typeface="Calibri" pitchFamily="34" charset="-120"/>
              </a:rPr>
              <a:t> → warp shuffles ✓</a:t>
            </a:r>
            <a:endParaRPr lang="en-US" sz="1400" dirty="0"/>
          </a:p>
        </p:txBody>
      </p:sp>
      <p:sp>
        <p:nvSpPr>
          <p:cNvPr id="58" name="mcell"/>
          <p:cNvSpPr txBox="1"/>
          <p:nvPr/>
        </p:nvSpPr>
        <p:spPr>
          <a:xfrm>
            <a:off x="7269480" y="2514600"/>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59" name="mcell"/>
          <p:cNvSpPr txBox="1"/>
          <p:nvPr/>
        </p:nvSpPr>
        <p:spPr>
          <a:xfrm>
            <a:off x="7671816" y="25146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0" name="mcell"/>
          <p:cNvSpPr txBox="1"/>
          <p:nvPr/>
        </p:nvSpPr>
        <p:spPr>
          <a:xfrm>
            <a:off x="8074152" y="25146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1" name="mcell"/>
          <p:cNvSpPr txBox="1"/>
          <p:nvPr/>
        </p:nvSpPr>
        <p:spPr>
          <a:xfrm>
            <a:off x="8476488" y="2514600"/>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2" name="mcell"/>
          <p:cNvSpPr txBox="1"/>
          <p:nvPr/>
        </p:nvSpPr>
        <p:spPr>
          <a:xfrm>
            <a:off x="8878824" y="2514600"/>
            <a:ext cx="402336" cy="402336"/>
          </a:xfrm>
          <a:prstGeom prst="rect">
            <a:avLst/>
          </a:prstGeom>
          <a:solidFill>
            <a:srgbClr val="FBE3E1"/>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63" name="mcell"/>
          <p:cNvSpPr txBox="1"/>
          <p:nvPr/>
        </p:nvSpPr>
        <p:spPr>
          <a:xfrm>
            <a:off x="7269480" y="29169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4" name="mcell"/>
          <p:cNvSpPr txBox="1"/>
          <p:nvPr/>
        </p:nvSpPr>
        <p:spPr>
          <a:xfrm>
            <a:off x="7671816" y="2916936"/>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65" name="mcell"/>
          <p:cNvSpPr txBox="1"/>
          <p:nvPr/>
        </p:nvSpPr>
        <p:spPr>
          <a:xfrm>
            <a:off x="8074152" y="29169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6" name="mcell"/>
          <p:cNvSpPr txBox="1"/>
          <p:nvPr/>
        </p:nvSpPr>
        <p:spPr>
          <a:xfrm>
            <a:off x="8476488" y="2916936"/>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7" name="mcell"/>
          <p:cNvSpPr txBox="1"/>
          <p:nvPr/>
        </p:nvSpPr>
        <p:spPr>
          <a:xfrm>
            <a:off x="8878824" y="2916936"/>
            <a:ext cx="402336" cy="402336"/>
          </a:xfrm>
          <a:prstGeom prst="rect">
            <a:avLst/>
          </a:prstGeom>
          <a:solidFill>
            <a:srgbClr val="FBE3E1"/>
          </a:solidFill>
          <a:ln/>
        </p:spPr>
        <p:txBody>
          <a:bodyPr wrap="square" lIns="0" tIns="0" rIns="0" bIns="0" rtlCol="0" anchor="ctr"/>
          <a:lstStyle/>
          <a:p>
            <a:pPr algn="ctr" indent="0" marL="0">
              <a:buNone/>
            </a:pPr>
            <a:r>
              <a:rPr lang="en-US" sz="1600" dirty="0">
                <a:solidFill>
                  <a:srgbClr val="1E2A32"/>
                </a:solidFill>
                <a:latin typeface="Calibri" pitchFamily="34" charset="0"/>
                <a:ea typeface="Calibri" pitchFamily="34" charset="-122"/>
                <a:cs typeface="Calibri" pitchFamily="34" charset="-120"/>
              </a:rPr>
              <a:t>0</a:t>
            </a:r>
            <a:endParaRPr lang="en-US" sz="1600" dirty="0"/>
          </a:p>
        </p:txBody>
      </p:sp>
      <p:sp>
        <p:nvSpPr>
          <p:cNvPr id="68" name="mcell"/>
          <p:cNvSpPr txBox="1"/>
          <p:nvPr/>
        </p:nvSpPr>
        <p:spPr>
          <a:xfrm>
            <a:off x="7269480"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69" name="mcell"/>
          <p:cNvSpPr txBox="1"/>
          <p:nvPr/>
        </p:nvSpPr>
        <p:spPr>
          <a:xfrm>
            <a:off x="7671816"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0" name="mcell"/>
          <p:cNvSpPr txBox="1"/>
          <p:nvPr/>
        </p:nvSpPr>
        <p:spPr>
          <a:xfrm>
            <a:off x="8074152"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1" name="mcell"/>
          <p:cNvSpPr txBox="1"/>
          <p:nvPr/>
        </p:nvSpPr>
        <p:spPr>
          <a:xfrm>
            <a:off x="8476488" y="3319272"/>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2" name="mcell"/>
          <p:cNvSpPr txBox="1"/>
          <p:nvPr/>
        </p:nvSpPr>
        <p:spPr>
          <a:xfrm>
            <a:off x="8878824" y="3319272"/>
            <a:ext cx="402336" cy="402336"/>
          </a:xfrm>
          <a:prstGeom prst="rect">
            <a:avLst/>
          </a:prstGeom>
          <a:solidFill>
            <a:srgbClr val="FBE3E1"/>
          </a:solid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73" name="mcell"/>
          <p:cNvSpPr txBox="1"/>
          <p:nvPr/>
        </p:nvSpPr>
        <p:spPr>
          <a:xfrm>
            <a:off x="7269480"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4" name="mcell"/>
          <p:cNvSpPr txBox="1"/>
          <p:nvPr/>
        </p:nvSpPr>
        <p:spPr>
          <a:xfrm>
            <a:off x="7671816"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5" name="mcell"/>
          <p:cNvSpPr txBox="1"/>
          <p:nvPr/>
        </p:nvSpPr>
        <p:spPr>
          <a:xfrm>
            <a:off x="8074152" y="3721608"/>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76" name="mcell"/>
          <p:cNvSpPr txBox="1"/>
          <p:nvPr/>
        </p:nvSpPr>
        <p:spPr>
          <a:xfrm>
            <a:off x="8476488"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7" name="mcell"/>
          <p:cNvSpPr txBox="1"/>
          <p:nvPr/>
        </p:nvSpPr>
        <p:spPr>
          <a:xfrm>
            <a:off x="8878824" y="3721608"/>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8" name="mcell"/>
          <p:cNvSpPr txBox="1"/>
          <p:nvPr/>
        </p:nvSpPr>
        <p:spPr>
          <a:xfrm>
            <a:off x="7269480"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79" name="mcell"/>
          <p:cNvSpPr txBox="1"/>
          <p:nvPr/>
        </p:nvSpPr>
        <p:spPr>
          <a:xfrm>
            <a:off x="7671816"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0" name="mcell"/>
          <p:cNvSpPr txBox="1"/>
          <p:nvPr/>
        </p:nvSpPr>
        <p:spPr>
          <a:xfrm>
            <a:off x="8074152"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1" name="mcell"/>
          <p:cNvSpPr txBox="1"/>
          <p:nvPr/>
        </p:nvSpPr>
        <p:spPr>
          <a:xfrm>
            <a:off x="8476488" y="4123944"/>
            <a:ext cx="402336" cy="402336"/>
          </a:xfrm>
          <a:prstGeom prst="rect">
            <a:avLst/>
          </a:prstGeom>
          <a:noFill/>
          <a:ln/>
        </p:spPr>
        <p:txBody>
          <a:bodyPr wrap="square" lIns="0" tIns="0" rIns="0" bIns="0" rtlCol="0" anchor="ctr"/>
          <a:lstStyle/>
          <a:p>
            <a:pPr algn="ctr" indent="0" marL="0">
              <a:buNone/>
            </a:pPr>
            <a:r>
              <a:rPr lang="en-US" sz="1600" b="1" dirty="0">
                <a:solidFill>
                  <a:srgbClr val="1E2A32"/>
                </a:solidFill>
                <a:latin typeface="Calibri" pitchFamily="34" charset="0"/>
                <a:ea typeface="Calibri" pitchFamily="34" charset="-122"/>
                <a:cs typeface="Calibri" pitchFamily="34" charset="-120"/>
              </a:rPr>
              <a:t>1</a:t>
            </a:r>
            <a:endParaRPr lang="en-US" sz="1600" dirty="0"/>
          </a:p>
        </p:txBody>
      </p:sp>
      <p:sp>
        <p:nvSpPr>
          <p:cNvPr id="82" name="mcell"/>
          <p:cNvSpPr txBox="1"/>
          <p:nvPr/>
        </p:nvSpPr>
        <p:spPr>
          <a:xfrm>
            <a:off x="8878824" y="4123944"/>
            <a:ext cx="402336" cy="402336"/>
          </a:xfrm>
          <a:prstGeom prst="rect">
            <a:avLst/>
          </a:prstGeom>
          <a:noFill/>
          <a:ln/>
        </p:spPr>
        <p:txBody>
          <a:bodyPr wrap="square" lIns="0" tIns="0" rIns="0" bIns="0" rtlCol="0" anchor="ctr"/>
          <a:lstStyle/>
          <a:p>
            <a:pPr algn="ctr" indent="0" marL="0">
              <a:buNone/>
            </a:pPr>
            <a:r>
              <a:rPr lang="en-US" sz="1600" dirty="0">
                <a:solidFill>
                  <a:srgbClr val="B9C1C7"/>
                </a:solidFill>
                <a:latin typeface="Calibri" pitchFamily="34" charset="0"/>
                <a:ea typeface="Calibri" pitchFamily="34" charset="-122"/>
                <a:cs typeface="Calibri" pitchFamily="34" charset="-120"/>
              </a:rPr>
              <a:t>0</a:t>
            </a:r>
            <a:endParaRPr lang="en-US" sz="1600" dirty="0"/>
          </a:p>
        </p:txBody>
      </p:sp>
      <p:sp>
        <p:nvSpPr>
          <p:cNvPr id="83" name="msep"/>
          <p:cNvSpPr/>
          <p:nvPr/>
        </p:nvSpPr>
        <p:spPr>
          <a:xfrm>
            <a:off x="7671816" y="2532888"/>
            <a:ext cx="0" cy="1975104"/>
          </a:xfrm>
          <a:prstGeom prst="line">
            <a:avLst/>
          </a:prstGeom>
          <a:noFill/>
          <a:ln w="9525">
            <a:solidFill>
              <a:srgbClr val="5B6770"/>
            </a:solidFill>
            <a:prstDash val="dash"/>
          </a:ln>
        </p:spPr>
      </p:sp>
      <p:sp>
        <p:nvSpPr>
          <p:cNvPr id="84" name="msep"/>
          <p:cNvSpPr/>
          <p:nvPr/>
        </p:nvSpPr>
        <p:spPr>
          <a:xfrm>
            <a:off x="8878824" y="2532888"/>
            <a:ext cx="0" cy="1975104"/>
          </a:xfrm>
          <a:prstGeom prst="line">
            <a:avLst/>
          </a:prstGeom>
          <a:noFill/>
          <a:ln w="9525">
            <a:solidFill>
              <a:srgbClr val="5B6770"/>
            </a:solidFill>
            <a:prstDash val="dash"/>
          </a:ln>
        </p:spPr>
      </p:sp>
      <p:sp>
        <p:nvSpPr>
          <p:cNvPr id="85" name="msep"/>
          <p:cNvSpPr/>
          <p:nvPr/>
        </p:nvSpPr>
        <p:spPr>
          <a:xfrm>
            <a:off x="7287768" y="3721608"/>
            <a:ext cx="1975104" cy="0"/>
          </a:xfrm>
          <a:prstGeom prst="line">
            <a:avLst/>
          </a:prstGeom>
          <a:noFill/>
          <a:ln w="9525">
            <a:solidFill>
              <a:srgbClr val="5B6770"/>
            </a:solidFill>
            <a:prstDash val="dash"/>
          </a:ln>
        </p:spPr>
      </p:sp>
      <p:sp>
        <p:nvSpPr>
          <p:cNvPr id="86" name="mbr"/>
          <p:cNvSpPr/>
          <p:nvPr/>
        </p:nvSpPr>
        <p:spPr>
          <a:xfrm>
            <a:off x="7242048" y="2487168"/>
            <a:ext cx="0" cy="2066544"/>
          </a:xfrm>
          <a:prstGeom prst="line">
            <a:avLst/>
          </a:prstGeom>
          <a:noFill/>
          <a:ln w="15875">
            <a:solidFill>
              <a:srgbClr val="1E2A32"/>
            </a:solidFill>
            <a:prstDash val="solid"/>
          </a:ln>
        </p:spPr>
      </p:sp>
      <p:sp>
        <p:nvSpPr>
          <p:cNvPr id="87" name="mbr"/>
          <p:cNvSpPr/>
          <p:nvPr/>
        </p:nvSpPr>
        <p:spPr>
          <a:xfrm>
            <a:off x="7242048" y="2487168"/>
            <a:ext cx="73152" cy="0"/>
          </a:xfrm>
          <a:prstGeom prst="line">
            <a:avLst/>
          </a:prstGeom>
          <a:noFill/>
          <a:ln w="15875">
            <a:solidFill>
              <a:srgbClr val="1E2A32"/>
            </a:solidFill>
            <a:prstDash val="solid"/>
          </a:ln>
        </p:spPr>
      </p:sp>
      <p:sp>
        <p:nvSpPr>
          <p:cNvPr id="88" name="mbr"/>
          <p:cNvSpPr/>
          <p:nvPr/>
        </p:nvSpPr>
        <p:spPr>
          <a:xfrm>
            <a:off x="7242048" y="4553712"/>
            <a:ext cx="73152" cy="0"/>
          </a:xfrm>
          <a:prstGeom prst="line">
            <a:avLst/>
          </a:prstGeom>
          <a:noFill/>
          <a:ln w="15875">
            <a:solidFill>
              <a:srgbClr val="1E2A32"/>
            </a:solidFill>
            <a:prstDash val="solid"/>
          </a:ln>
        </p:spPr>
      </p:sp>
      <p:sp>
        <p:nvSpPr>
          <p:cNvPr id="89" name="mbr"/>
          <p:cNvSpPr/>
          <p:nvPr/>
        </p:nvSpPr>
        <p:spPr>
          <a:xfrm>
            <a:off x="9308592" y="2487168"/>
            <a:ext cx="0" cy="2066544"/>
          </a:xfrm>
          <a:prstGeom prst="line">
            <a:avLst/>
          </a:prstGeom>
          <a:noFill/>
          <a:ln w="15875">
            <a:solidFill>
              <a:srgbClr val="1E2A32"/>
            </a:solidFill>
            <a:prstDash val="solid"/>
          </a:ln>
        </p:spPr>
      </p:sp>
      <p:sp>
        <p:nvSpPr>
          <p:cNvPr id="90" name="mbr"/>
          <p:cNvSpPr/>
          <p:nvPr/>
        </p:nvSpPr>
        <p:spPr>
          <a:xfrm>
            <a:off x="9235440" y="2487168"/>
            <a:ext cx="73152" cy="0"/>
          </a:xfrm>
          <a:prstGeom prst="line">
            <a:avLst/>
          </a:prstGeom>
          <a:noFill/>
          <a:ln w="15875">
            <a:solidFill>
              <a:srgbClr val="1E2A32"/>
            </a:solidFill>
            <a:prstDash val="solid"/>
          </a:ln>
        </p:spPr>
      </p:sp>
      <p:sp>
        <p:nvSpPr>
          <p:cNvPr id="91" name="mbr"/>
          <p:cNvSpPr/>
          <p:nvPr/>
        </p:nvSpPr>
        <p:spPr>
          <a:xfrm>
            <a:off x="9235440" y="4553712"/>
            <a:ext cx="73152" cy="0"/>
          </a:xfrm>
          <a:prstGeom prst="line">
            <a:avLst/>
          </a:prstGeom>
          <a:noFill/>
          <a:ln w="15875">
            <a:solidFill>
              <a:srgbClr val="1E2A32"/>
            </a:solidFill>
            <a:prstDash val="solid"/>
          </a:ln>
        </p:spPr>
      </p:sp>
      <p:sp>
        <p:nvSpPr>
          <p:cNvPr id="92" name="mlab"/>
          <p:cNvSpPr txBox="1"/>
          <p:nvPr/>
        </p:nvSpPr>
        <p:spPr>
          <a:xfrm>
            <a:off x="7223760"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r₀</a:t>
            </a:r>
            <a:endParaRPr lang="en-US" sz="1300" dirty="0"/>
          </a:p>
        </p:txBody>
      </p:sp>
      <p:sp>
        <p:nvSpPr>
          <p:cNvPr id="93" name="mlab"/>
          <p:cNvSpPr txBox="1"/>
          <p:nvPr/>
        </p:nvSpPr>
        <p:spPr>
          <a:xfrm>
            <a:off x="7626096"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t₀</a:t>
            </a:r>
            <a:endParaRPr lang="en-US" sz="1300" dirty="0"/>
          </a:p>
        </p:txBody>
      </p:sp>
      <p:sp>
        <p:nvSpPr>
          <p:cNvPr id="94" name="mlab"/>
          <p:cNvSpPr txBox="1"/>
          <p:nvPr/>
        </p:nvSpPr>
        <p:spPr>
          <a:xfrm>
            <a:off x="8028432"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t₁</a:t>
            </a:r>
            <a:endParaRPr lang="en-US" sz="1300" dirty="0"/>
          </a:p>
        </p:txBody>
      </p:sp>
      <p:sp>
        <p:nvSpPr>
          <p:cNvPr id="95" name="mlab"/>
          <p:cNvSpPr txBox="1"/>
          <p:nvPr/>
        </p:nvSpPr>
        <p:spPr>
          <a:xfrm>
            <a:off x="8430768"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t₂</a:t>
            </a:r>
            <a:endParaRPr lang="en-US" sz="1300" dirty="0"/>
          </a:p>
        </p:txBody>
      </p:sp>
      <p:sp>
        <p:nvSpPr>
          <p:cNvPr id="96" name="mlab"/>
          <p:cNvSpPr txBox="1"/>
          <p:nvPr/>
        </p:nvSpPr>
        <p:spPr>
          <a:xfrm>
            <a:off x="8833104" y="2276856"/>
            <a:ext cx="493776" cy="219456"/>
          </a:xfrm>
          <a:prstGeom prst="rect">
            <a:avLst/>
          </a:prstGeom>
          <a:noFill/>
          <a:ln/>
        </p:spPr>
        <p:txBody>
          <a:bodyPr wrap="square" lIns="0" tIns="0" rIns="0" bIns="0" rtlCol="0" anchor="b"/>
          <a:lstStyle/>
          <a:p>
            <a:pPr algn="ctr" indent="0" marL="0">
              <a:buNone/>
            </a:pPr>
            <a:r>
              <a:rPr lang="en-US" sz="1300" dirty="0">
                <a:solidFill>
                  <a:srgbClr val="5B6770"/>
                </a:solidFill>
                <a:latin typeface="Calibri" pitchFamily="34" charset="0"/>
                <a:ea typeface="Calibri" pitchFamily="34" charset="-122"/>
                <a:cs typeface="Calibri" pitchFamily="34" charset="-120"/>
              </a:rPr>
              <a:t>w</a:t>
            </a:r>
            <a:endParaRPr lang="en-US" sz="1300" dirty="0"/>
          </a:p>
        </p:txBody>
      </p:sp>
      <p:sp>
        <p:nvSpPr>
          <p:cNvPr id="97" name="mgrp"/>
          <p:cNvSpPr txBox="1"/>
          <p:nvPr/>
        </p:nvSpPr>
        <p:spPr>
          <a:xfrm>
            <a:off x="7269480" y="2039112"/>
            <a:ext cx="402336"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Reg</a:t>
            </a:r>
            <a:endParaRPr lang="en-US" sz="1300" dirty="0"/>
          </a:p>
        </p:txBody>
      </p:sp>
      <p:sp>
        <p:nvSpPr>
          <p:cNvPr id="98" name="mgrp"/>
          <p:cNvSpPr txBox="1"/>
          <p:nvPr/>
        </p:nvSpPr>
        <p:spPr>
          <a:xfrm>
            <a:off x="7671816" y="2039112"/>
            <a:ext cx="1207008"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Lane</a:t>
            </a:r>
            <a:endParaRPr lang="en-US" sz="1300" dirty="0"/>
          </a:p>
        </p:txBody>
      </p:sp>
      <p:sp>
        <p:nvSpPr>
          <p:cNvPr id="99" name="mgrp"/>
          <p:cNvSpPr txBox="1"/>
          <p:nvPr/>
        </p:nvSpPr>
        <p:spPr>
          <a:xfrm>
            <a:off x="8878824" y="2039112"/>
            <a:ext cx="402336" cy="219456"/>
          </a:xfrm>
          <a:prstGeom prst="rect">
            <a:avLst/>
          </a:prstGeom>
          <a:noFill/>
          <a:ln/>
        </p:spPr>
        <p:txBody>
          <a:bodyPr wrap="square" lIns="0" tIns="0" rIns="0" bIns="0" rtlCol="0" anchor="b"/>
          <a:lstStyle/>
          <a:p>
            <a:pPr algn="ctr" indent="0" marL="0">
              <a:buNone/>
            </a:pPr>
            <a:r>
              <a:rPr lang="en-US" sz="1300" b="1" dirty="0">
                <a:solidFill>
                  <a:srgbClr val="0A4F58"/>
                </a:solidFill>
                <a:latin typeface="Calibri" pitchFamily="34" charset="0"/>
                <a:ea typeface="Calibri" pitchFamily="34" charset="-122"/>
                <a:cs typeface="Calibri" pitchFamily="34" charset="-120"/>
              </a:rPr>
              <a:t>Wrp</a:t>
            </a:r>
            <a:endParaRPr lang="en-US" sz="1300" dirty="0"/>
          </a:p>
        </p:txBody>
      </p:sp>
      <p:sp>
        <p:nvSpPr>
          <p:cNvPr id="100" name="mlab"/>
          <p:cNvSpPr txBox="1"/>
          <p:nvPr/>
        </p:nvSpPr>
        <p:spPr>
          <a:xfrm>
            <a:off x="6867144" y="2514600"/>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j₀</a:t>
            </a:r>
            <a:endParaRPr lang="en-US" sz="1300" dirty="0"/>
          </a:p>
        </p:txBody>
      </p:sp>
      <p:sp>
        <p:nvSpPr>
          <p:cNvPr id="101" name="mlab"/>
          <p:cNvSpPr txBox="1"/>
          <p:nvPr/>
        </p:nvSpPr>
        <p:spPr>
          <a:xfrm>
            <a:off x="6867144" y="2916936"/>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j₁</a:t>
            </a:r>
            <a:endParaRPr lang="en-US" sz="1300" dirty="0"/>
          </a:p>
        </p:txBody>
      </p:sp>
      <p:sp>
        <p:nvSpPr>
          <p:cNvPr id="102" name="mlab"/>
          <p:cNvSpPr txBox="1"/>
          <p:nvPr/>
        </p:nvSpPr>
        <p:spPr>
          <a:xfrm>
            <a:off x="6867144" y="3319272"/>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j₂</a:t>
            </a:r>
            <a:endParaRPr lang="en-US" sz="1300" dirty="0"/>
          </a:p>
        </p:txBody>
      </p:sp>
      <p:sp>
        <p:nvSpPr>
          <p:cNvPr id="103" name="mlab"/>
          <p:cNvSpPr txBox="1"/>
          <p:nvPr/>
        </p:nvSpPr>
        <p:spPr>
          <a:xfrm>
            <a:off x="6867144" y="3721608"/>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i₀</a:t>
            </a:r>
            <a:endParaRPr lang="en-US" sz="1300" dirty="0"/>
          </a:p>
        </p:txBody>
      </p:sp>
      <p:sp>
        <p:nvSpPr>
          <p:cNvPr id="104" name="mlab"/>
          <p:cNvSpPr txBox="1"/>
          <p:nvPr/>
        </p:nvSpPr>
        <p:spPr>
          <a:xfrm>
            <a:off x="6867144" y="4123944"/>
            <a:ext cx="347472" cy="402336"/>
          </a:xfrm>
          <a:prstGeom prst="rect">
            <a:avLst/>
          </a:prstGeom>
          <a:noFill/>
          <a:ln/>
        </p:spPr>
        <p:txBody>
          <a:bodyPr wrap="square" lIns="0" tIns="0" rIns="0" bIns="0" rtlCol="0" anchor="ctr"/>
          <a:lstStyle/>
          <a:p>
            <a:pPr algn="r" indent="0" marL="0">
              <a:buNone/>
            </a:pPr>
            <a:r>
              <a:rPr lang="en-US" sz="1300" dirty="0">
                <a:solidFill>
                  <a:srgbClr val="5B6770"/>
                </a:solidFill>
                <a:latin typeface="Calibri" pitchFamily="34" charset="0"/>
                <a:ea typeface="Calibri" pitchFamily="34" charset="-122"/>
                <a:cs typeface="Calibri" pitchFamily="34" charset="-120"/>
              </a:rPr>
              <a:t>i₁</a:t>
            </a:r>
            <a:endParaRPr lang="en-US" sz="1300" dirty="0"/>
          </a:p>
        </p:txBody>
      </p:sp>
      <p:sp>
        <p:nvSpPr>
          <p:cNvPr id="105" name="mgrp"/>
          <p:cNvSpPr txBox="1"/>
          <p:nvPr/>
        </p:nvSpPr>
        <p:spPr>
          <a:xfrm>
            <a:off x="6537960" y="2514600"/>
            <a:ext cx="310896" cy="1207008"/>
          </a:xfrm>
          <a:prstGeom prst="rect">
            <a:avLst/>
          </a:prstGeom>
          <a:noFill/>
          <a:ln/>
        </p:spPr>
        <p:txBody>
          <a:bodyPr wrap="square" lIns="0" tIns="0" rIns="0" bIns="0" rtlCol="0" anchor="ctr"/>
          <a:lstStyle/>
          <a:p>
            <a:pPr algn="r" indent="0" marL="0">
              <a:buNone/>
            </a:pPr>
            <a:r>
              <a:rPr lang="en-US" sz="1300" b="1" dirty="0">
                <a:solidFill>
                  <a:srgbClr val="0A4F58"/>
                </a:solidFill>
                <a:latin typeface="Calibri" pitchFamily="34" charset="0"/>
                <a:ea typeface="Calibri" pitchFamily="34" charset="-122"/>
                <a:cs typeface="Calibri" pitchFamily="34" charset="-120"/>
              </a:rPr>
              <a:t>axis</a:t>
            </a:r>
            <a:endParaRPr lang="en-US" sz="1300" dirty="0"/>
          </a:p>
        </p:txBody>
      </p:sp>
      <p:sp>
        <p:nvSpPr>
          <p:cNvPr id="106" name="mname"/>
          <p:cNvSpPr txBox="1"/>
          <p:nvPr/>
        </p:nvSpPr>
        <p:spPr>
          <a:xfrm>
            <a:off x="6995160" y="4581144"/>
            <a:ext cx="2560320" cy="274320"/>
          </a:xfrm>
          <a:prstGeom prst="rect">
            <a:avLst/>
          </a:prstGeom>
          <a:noFill/>
          <a:ln/>
        </p:spPr>
        <p:txBody>
          <a:bodyPr wrap="square" lIns="0" tIns="0" rIns="0" bIns="0" rtlCol="0" anchor="t"/>
          <a:lstStyle/>
          <a:p>
            <a:pPr algn="ctr" indent="0" marL="0">
              <a:buNone/>
            </a:pPr>
            <a:r>
              <a:rPr lang="en-US" sz="1300" b="1" dirty="0">
                <a:solidFill>
                  <a:srgbClr val="1E2A32"/>
                </a:solidFill>
                <a:latin typeface="Calibri" pitchFamily="34" charset="0"/>
                <a:ea typeface="Calibri" pitchFamily="34" charset="-122"/>
                <a:cs typeface="Calibri" pitchFamily="34" charset="-120"/>
              </a:rPr>
              <a:t>L′ (warp bit → j₂)</a:t>
            </a:r>
            <a:endParaRPr lang="en-US" sz="1300" dirty="0"/>
          </a:p>
        </p:txBody>
      </p:sp>
      <p:sp>
        <p:nvSpPr>
          <p:cNvPr id="107" name="callout"/>
          <p:cNvSpPr/>
          <p:nvPr/>
        </p:nvSpPr>
        <p:spPr>
          <a:xfrm>
            <a:off x="6355080" y="5038344"/>
            <a:ext cx="5349240" cy="777240"/>
          </a:xfrm>
          <a:prstGeom prst="roundRect">
            <a:avLst>
              <a:gd name="adj" fmla="val 9412"/>
            </a:avLst>
          </a:prstGeom>
          <a:solidFill>
            <a:srgbClr val="FBE3E1"/>
          </a:solidFill>
          <a:ln/>
        </p:spPr>
      </p:sp>
      <p:sp>
        <p:nvSpPr>
          <p:cNvPr id="108" name="callout-text"/>
          <p:cNvSpPr txBox="1"/>
          <p:nvPr/>
        </p:nvSpPr>
        <p:spPr>
          <a:xfrm>
            <a:off x="6492240" y="5093208"/>
            <a:ext cx="5074920" cy="667512"/>
          </a:xfrm>
          <a:prstGeom prst="rect">
            <a:avLst/>
          </a:prstGeom>
          <a:noFill/>
          <a:ln/>
        </p:spPr>
        <p:txBody>
          <a:bodyPr wrap="square" lIns="0" tIns="0" rIns="0" bIns="0" rtlCol="0" anchor="ctr"/>
          <a:lstStyle/>
          <a:p>
            <a:pPr algn="l" indent="0" marL="0">
              <a:buNone/>
            </a:pPr>
            <a:r>
              <a:rPr lang="en-US" sz="1400" dirty="0">
                <a:solidFill>
                  <a:srgbClr val="B3261E"/>
                </a:solidFill>
                <a:latin typeface="Calibri" pitchFamily="34" charset="0"/>
                <a:ea typeface="Calibri" pitchFamily="34" charset="-122"/>
                <a:cs typeface="Calibri" pitchFamily="34" charset="-120"/>
              </a:rPr>
              <a:t>L′^axis_Wrp = [0,0,1]ᵀ ≠ 0 → a row spans two warps → </a:t>
            </a:r>
            <a:r>
              <a:rPr lang="en-US" sz="1400" b="1" dirty="0">
                <a:solidFill>
                  <a:srgbClr val="B3261E"/>
                </a:solidFill>
                <a:latin typeface="Calibri" pitchFamily="34" charset="0"/>
                <a:ea typeface="Calibri" pitchFamily="34" charset="-122"/>
                <a:cs typeface="Calibri" pitchFamily="34" charset="-120"/>
              </a:rPr>
              <a:t>shared-memory path</a:t>
            </a:r>
            <a:endParaRPr lang="en-US" sz="1400" dirty="0"/>
          </a:p>
        </p:txBody>
      </p:sp>
      <p:sp>
        <p:nvSpPr>
          <p:cNvPr id="109"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§5.5 · OPTIMIZED CODEGEN FOR GATHER</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Gather with shuffles: from index value to (lane, register)</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§5.5, p. 141; GatherOpToLLVM.cpp emitWarpLocalGather (upstream); Figure 8, p. 143</a:t>
            </a:r>
            <a:endParaRPr lang="en-US" sz="1000" dirty="0"/>
          </a:p>
        </p:txBody>
      </p:sp>
      <p:graphicFrame>
        <p:nvGraphicFramePr>
          <p:cNvPr id="54" name="table"/>
          <p:cNvGraphicFramePr>
            <a:graphicFrameLocks noGrp="1"/>
          </p:cNvGraphicFramePr>
          <p:nvPr>
            <p:extLst>
              <p:ext uri="{D42A27DB-BD31-4B8C-83A1-F6EECF244321}">
                <p14:modId xmlns:p14="http://schemas.microsoft.com/office/powerpoint/2010/main" val="1579011935"/>
              </p:ext>
            </p:extLst>
          </p:nvPr>
        </p:nvGraphicFramePr>
        <p:xfrm>
          <a:off x="502920" y="1325880"/>
          <a:ext cx="5486400" cy="914400"/>
        </p:xfrm>
        <a:graphic>
          <a:graphicData uri="http://schemas.openxmlformats.org/drawingml/2006/table">
            <a:tbl>
              <a:tblPr/>
              <a:tblGrid>
                <a:gridCol w="822960"/>
                <a:gridCol w="1737360"/>
                <a:gridCol w="914400"/>
                <a:gridCol w="2011680"/>
              </a:tblGrid>
              <a:tr h="329184">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pos j</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owner (lane, reg)</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index</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source (lane, reg)</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0,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3,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0,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0,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1,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2,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1,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2,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2,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0,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lane 2,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c>
                  <a:txBody>
                    <a:bodyPr/>
                    <a:lstStyle/>
                    <a:p>
                      <a:pPr algn="ctr" indent="0" marL="0">
                        <a:buNone/>
                      </a:pPr>
                      <a:r>
                        <a:rPr lang="en-US" sz="1300" b="1" dirty="0">
                          <a:solidFill>
                            <a:srgbClr val="1E2A32"/>
                          </a:solidFill>
                          <a:latin typeface="Calibri" pitchFamily="34" charset="0"/>
                          <a:ea typeface="Calibri" pitchFamily="34" charset="-122"/>
                          <a:cs typeface="Calibri" pitchFamily="34" charset="-120"/>
                        </a:rPr>
                        <a:t>lane 1,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FF0CC"/>
                    </a:solidFill>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3, r0</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3,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329184">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3,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ctr" indent="0" marL="0">
                        <a:buNone/>
                      </a:pPr>
                      <a:r>
                        <a:rPr lang="en-US" sz="1300" dirty="0">
                          <a:solidFill>
                            <a:srgbClr val="1E2A32"/>
                          </a:solidFill>
                          <a:latin typeface="Calibri" pitchFamily="34" charset="0"/>
                          <a:ea typeface="Calibri" pitchFamily="34" charset="-122"/>
                          <a:cs typeface="Calibri" pitchFamily="34" charset="-120"/>
                        </a:rPr>
                        <a:t>lane 1, r1</a:t>
                      </a:r>
                      <a:endParaRPr lang="en-US" sz="13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7" name="Text 3"/>
          <p:cNvSpPr txBox="1"/>
          <p:nvPr/>
        </p:nvSpPr>
        <p:spPr>
          <a:xfrm>
            <a:off x="502920" y="4389120"/>
            <a:ext cx="548640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Row i = 0 of the toy layout L; index row = [6, 1, 4, 4, 0, 2, 7, 3].</a:t>
            </a:r>
            <a:endParaRPr lang="en-US" sz="1200" dirty="0"/>
          </a:p>
        </p:txBody>
      </p:sp>
      <p:sp>
        <p:nvSpPr>
          <p:cNvPr id="8" name="panel"/>
          <p:cNvSpPr/>
          <p:nvPr/>
        </p:nvSpPr>
        <p:spPr>
          <a:xfrm>
            <a:off x="6355080" y="1325880"/>
            <a:ext cx="5349240" cy="2971800"/>
          </a:xfrm>
          <a:prstGeom prst="roundRect">
            <a:avLst>
              <a:gd name="adj" fmla="val 2462"/>
            </a:avLst>
          </a:prstGeom>
          <a:solidFill>
            <a:srgbClr val="F3F6F7"/>
          </a:solidFill>
          <a:ln/>
        </p:spPr>
      </p:sp>
      <p:sp>
        <p:nvSpPr>
          <p:cNvPr id="9" name="Text 5"/>
          <p:cNvSpPr txBox="1"/>
          <p:nvPr/>
        </p:nvSpPr>
        <p:spPr>
          <a:xfrm>
            <a:off x="6492240" y="1389888"/>
            <a:ext cx="512064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Lowering for one position (pos j = 5)</a:t>
            </a:r>
            <a:endParaRPr lang="en-US" sz="1500" dirty="0"/>
          </a:p>
        </p:txBody>
      </p:sp>
      <p:sp>
        <p:nvSpPr>
          <p:cNvPr id="10" name="bullets"/>
          <p:cNvSpPr txBox="1"/>
          <p:nvPr/>
        </p:nvSpPr>
        <p:spPr>
          <a:xfrm>
            <a:off x="6492240" y="1783080"/>
            <a:ext cx="5120640" cy="2468880"/>
          </a:xfrm>
          <a:prstGeom prst="rect">
            <a:avLst/>
          </a:prstGeom>
          <a:noFill/>
          <a:ln/>
        </p:spPr>
        <p:txBody>
          <a:bodyPr wrap="square" lIns="25400" tIns="25400" rIns="25400" bIns="25400" rtlCol="0" anchor="t"/>
          <a:lstStyle/>
          <a:p>
            <a:pPr indent="0" marL="0">
              <a:spcAft>
                <a:spcPts val="500"/>
              </a:spcAft>
              <a:buNone/>
            </a:pPr>
            <a:r>
              <a:rPr lang="en-US" sz="1500" dirty="0">
                <a:solidFill>
                  <a:srgbClr val="1E2A32"/>
                </a:solidFill>
                <a:latin typeface="Calibri" pitchFamily="34" charset="0"/>
                <a:ea typeface="Calibri" pitchFamily="34" charset="-122"/>
                <a:cs typeface="Calibri" pitchFamily="34" charset="-120"/>
              </a:rPr>
              <a:t>① read </a:t>
            </a:r>
            <a:r>
              <a:rPr lang="en-US" sz="1500" b="1" dirty="0">
                <a:solidFill>
                  <a:srgbClr val="1E2A32"/>
                </a:solidFill>
                <a:latin typeface="Calibri" pitchFamily="34" charset="0"/>
                <a:ea typeface="Calibri" pitchFamily="34" charset="-122"/>
                <a:cs typeface="Calibri" pitchFamily="34" charset="-120"/>
              </a:rPr>
              <a:t>index(pos) = 2</a:t>
            </a:r>
            <a:endParaRPr lang="en-US" sz="1500" dirty="0"/>
          </a:p>
          <a:p>
            <a:pPr indent="0" marL="0">
              <a:spcAft>
                <a:spcPts val="500"/>
              </a:spcAft>
              <a:buNone/>
            </a:pPr>
            <a:r>
              <a:rPr lang="en-US" sz="1500" dirty="0">
                <a:solidFill>
                  <a:srgbClr val="1E2A32"/>
                </a:solidFill>
                <a:latin typeface="Calibri" pitchFamily="34" charset="0"/>
                <a:ea typeface="Calibri" pitchFamily="34" charset="-122"/>
                <a:cs typeface="Calibri" pitchFamily="34" charset="-120"/>
              </a:rPr>
              <a:t>② apply L⁻¹ to (0, 2) → source </a:t>
            </a:r>
            <a:r>
              <a:rPr lang="en-US" sz="1500" b="1" dirty="0">
                <a:solidFill>
                  <a:srgbClr val="1E2A32"/>
                </a:solidFill>
                <a:latin typeface="Calibri" pitchFamily="34" charset="0"/>
                <a:ea typeface="Calibri" pitchFamily="34" charset="-122"/>
                <a:cs typeface="Calibri" pitchFamily="34" charset="-120"/>
              </a:rPr>
              <a:t>lane 1, register 0</a:t>
            </a:r>
            <a:endParaRPr lang="en-US" sz="1500" dirty="0"/>
          </a:p>
          <a:p>
            <a:pPr indent="0" marL="0">
              <a:spcAft>
                <a:spcPts val="500"/>
              </a:spcAft>
              <a:buNone/>
            </a:pPr>
            <a:r>
              <a:rPr lang="en-US" sz="1500" dirty="0">
                <a:solidFill>
                  <a:srgbClr val="1E2A32"/>
                </a:solidFill>
                <a:latin typeface="Calibri" pitchFamily="34" charset="0"/>
                <a:ea typeface="Calibri" pitchFamily="34" charset="-122"/>
                <a:cs typeface="Calibri" pitchFamily="34" charset="-120"/>
              </a:rPr>
              <a:t>③ round 0: v₀ = shfl(reg 0, from lane 1)</a:t>
            </a:r>
            <a:endParaRPr lang="en-US" sz="1500" dirty="0"/>
          </a:p>
          <a:p>
            <a:pPr indent="0" marL="0">
              <a:spcAft>
                <a:spcPts val="500"/>
              </a:spcAft>
              <a:buNone/>
            </a:pPr>
            <a:r>
              <a:rPr lang="en-US" sz="1500" dirty="0">
                <a:solidFill>
                  <a:srgbClr val="1E2A32"/>
                </a:solidFill>
                <a:latin typeface="Calibri" pitchFamily="34" charset="0"/>
                <a:ea typeface="Calibri" pitchFamily="34" charset="-122"/>
                <a:cs typeface="Calibri" pitchFamily="34" charset="-120"/>
              </a:rPr>
              <a:t>     round 1: v₁ = shfl(reg 1, from lane 1)</a:t>
            </a:r>
            <a:endParaRPr lang="en-US" sz="1500" dirty="0"/>
          </a:p>
          <a:p>
            <a:pPr indent="0" marL="0">
              <a:spcAft>
                <a:spcPts val="500"/>
              </a:spcAft>
              <a:buNone/>
            </a:pPr>
            <a:r>
              <a:rPr lang="en-US" sz="1500" dirty="0">
                <a:solidFill>
                  <a:srgbClr val="1E2A32"/>
                </a:solidFill>
                <a:latin typeface="Calibri" pitchFamily="34" charset="0"/>
                <a:ea typeface="Calibri" pitchFamily="34" charset="-122"/>
                <a:cs typeface="Calibri" pitchFamily="34" charset="-120"/>
              </a:rPr>
              <a:t>④ select v₀ (source register = 0) → store in r₁</a:t>
            </a:r>
            <a:endParaRPr lang="en-US" sz="1500" dirty="0"/>
          </a:p>
        </p:txBody>
      </p:sp>
      <p:sp>
        <p:nvSpPr>
          <p:cNvPr id="11" name="callout"/>
          <p:cNvSpPr/>
          <p:nvPr/>
        </p:nvSpPr>
        <p:spPr>
          <a:xfrm>
            <a:off x="6355080" y="4434840"/>
            <a:ext cx="5349240" cy="1051560"/>
          </a:xfrm>
          <a:prstGeom prst="roundRect">
            <a:avLst>
              <a:gd name="adj" fmla="val 6957"/>
            </a:avLst>
          </a:prstGeom>
          <a:solidFill>
            <a:srgbClr val="FFF0CC"/>
          </a:solidFill>
          <a:ln/>
        </p:spPr>
      </p:sp>
      <p:sp>
        <p:nvSpPr>
          <p:cNvPr id="12" name="callout-text"/>
          <p:cNvSpPr txBox="1"/>
          <p:nvPr/>
        </p:nvSpPr>
        <p:spPr>
          <a:xfrm>
            <a:off x="6492240" y="4489704"/>
            <a:ext cx="5074920" cy="941832"/>
          </a:xfrm>
          <a:prstGeom prst="rect">
            <a:avLst/>
          </a:prstGeom>
          <a:noFill/>
          <a:ln/>
        </p:spPr>
        <p:txBody>
          <a:bodyPr wrap="square" lIns="0" tIns="0" rIns="0" bIns="0" rtlCol="0" anchor="ctr"/>
          <a:lstStyle/>
          <a:p>
            <a:pPr algn="l" indent="0" marL="0">
              <a:buNone/>
            </a:pPr>
            <a:r>
              <a:rPr lang="en-US" sz="1300" dirty="0">
                <a:solidFill>
                  <a:srgbClr val="6B4100"/>
                </a:solidFill>
                <a:latin typeface="Calibri" pitchFamily="34" charset="0"/>
                <a:ea typeface="Calibri" pitchFamily="34" charset="-122"/>
                <a:cs typeface="Calibri" pitchFamily="34" charset="-120"/>
              </a:rPr>
              <a:t>Rounds per position = registers along the axis per thread (here 2). Paper: n = 2^|L^axis_Thr|; its round-i description and the upstream code iterate over source registers.</a:t>
            </a:r>
            <a:endParaRPr lang="en-US" sz="1300" dirty="0"/>
          </a:p>
        </p:txBody>
      </p:sp>
      <p:sp>
        <p:nvSpPr>
          <p:cNvPr id="13" name="Text 9"/>
          <p:cNvSpPr txBox="1"/>
          <p:nvPr/>
        </p:nvSpPr>
        <p:spPr>
          <a:xfrm>
            <a:off x="502920" y="4800600"/>
            <a:ext cx="5486400" cy="548640"/>
          </a:xfrm>
          <a:prstGeom prst="rect">
            <a:avLst/>
          </a:prstGeom>
          <a:noFill/>
          <a:ln/>
        </p:spPr>
        <p:txBody>
          <a:bodyPr wrap="square" lIns="0" tIns="0" rIns="0" bIns="0" rtlCol="0" anchor="t"/>
          <a:lstStyle/>
          <a:p>
            <a:pPr indent="0" marL="0">
              <a:buNone/>
            </a:pPr>
            <a:r>
              <a:rPr lang="en-US" sz="1400" dirty="0">
                <a:solidFill>
                  <a:srgbClr val="1E2A32"/>
                </a:solidFill>
                <a:latin typeface="Calibri" pitchFamily="34" charset="0"/>
                <a:ea typeface="Calibri" pitchFamily="34" charset="-122"/>
                <a:cs typeface="Calibri" pitchFamily="34" charset="-120"/>
              </a:rPr>
              <a:t>Fig. 8: up to 14.20× — but gains fall for large gather axes (e.g. [512, 32]) as rounds multiply.</a:t>
            </a:r>
            <a:endParaRPr lang="en-US" sz="1400" dirty="0"/>
          </a:p>
        </p:txBody>
      </p:sp>
      <p:sp>
        <p:nvSpPr>
          <p:cNvPr id="14" name="tag"/>
          <p:cNvSpPr txBox="1"/>
          <p:nvPr/>
        </p:nvSpPr>
        <p:spPr>
          <a:xfrm>
            <a:off x="502920" y="5833872"/>
            <a:ext cx="4206240" cy="256032"/>
          </a:xfrm>
          <a:prstGeom prst="roundRect">
            <a:avLst>
              <a:gd name="adj" fmla="val 50000"/>
            </a:avLst>
          </a:prstGeom>
          <a:solidFill>
            <a:srgbClr val="FFF0CC"/>
          </a:solidFill>
          <a:ln/>
        </p:spPr>
        <p:txBody>
          <a:bodyPr wrap="square" lIns="0" tIns="0" rIns="0" bIns="0" rtlCol="0" anchor="ctr"/>
          <a:lstStyle/>
          <a:p>
            <a:pPr algn="ctr" indent="0" marL="0">
              <a:buNone/>
            </a:pPr>
            <a:r>
              <a:rPr lang="en-US" sz="1100" b="1" dirty="0">
                <a:solidFill>
                  <a:srgbClr val="6B4100"/>
                </a:solidFill>
                <a:latin typeface="Calibri" pitchFamily="34" charset="0"/>
                <a:ea typeface="Calibri" pitchFamily="34" charset="-122"/>
                <a:cs typeface="Calibri" pitchFamily="34" charset="-120"/>
              </a:rPr>
              <a:t>Illustrative example — not the paper’s exact kernel layout</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§5 · RECAP</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Each code-generation question is one F₂ operation</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§5.1–§5.5, pp. 138–141</a:t>
            </a:r>
            <a:endParaRPr lang="en-US" sz="1000" dirty="0"/>
          </a:p>
        </p:txBody>
      </p:sp>
      <p:graphicFrame>
        <p:nvGraphicFramePr>
          <p:cNvPr id="55" name="table"/>
          <p:cNvGraphicFramePr>
            <a:graphicFrameLocks noGrp="1"/>
          </p:cNvGraphicFramePr>
          <p:nvPr>
            <p:extLst>
              <p:ext uri="{D42A27DB-BD31-4B8C-83A1-F6EECF244321}">
                <p14:modId xmlns:p14="http://schemas.microsoft.com/office/powerpoint/2010/main" val="1579011935"/>
              </p:ext>
            </p:extLst>
          </p:nvPr>
        </p:nvGraphicFramePr>
        <p:xfrm>
          <a:off x="502920" y="1325880"/>
          <a:ext cx="11201400" cy="914400"/>
        </p:xfrm>
        <a:graphic>
          <a:graphicData uri="http://schemas.openxmlformats.org/drawingml/2006/table">
            <a:tbl>
              <a:tblPr/>
              <a:tblGrid>
                <a:gridCol w="4206240"/>
                <a:gridCol w="6172200"/>
                <a:gridCol w="822960"/>
              </a:tblGrid>
              <a:tr h="429768">
                <a:tc>
                  <a:txBody>
                    <a:bodyPr/>
                    <a:lstStyle/>
                    <a:p>
                      <a:pPr algn="l" indent="0" marL="0">
                        <a:buNone/>
                      </a:pPr>
                      <a:r>
                        <a:rPr lang="en-US" sz="1400" b="1" dirty="0">
                          <a:solidFill>
                            <a:srgbClr val="1E2A32"/>
                          </a:solidFill>
                          <a:latin typeface="Calibri" pitchFamily="34" charset="0"/>
                          <a:ea typeface="Calibri" pitchFamily="34" charset="-122"/>
                          <a:cs typeface="Calibri" pitchFamily="34" charset="-120"/>
                        </a:rPr>
                        <a:t>Code-generation question</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l" indent="0" marL="0">
                        <a:buNone/>
                      </a:pPr>
                      <a:r>
                        <a:rPr lang="en-US" sz="1400" b="1" dirty="0">
                          <a:solidFill>
                            <a:srgbClr val="1E2A32"/>
                          </a:solidFill>
                          <a:latin typeface="Calibri" pitchFamily="34" charset="0"/>
                          <a:ea typeface="Calibri" pitchFamily="34" charset="-122"/>
                          <a:cs typeface="Calibri" pitchFamily="34" charset="-120"/>
                        </a:rPr>
                        <a:t>F₂ operation</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c>
                  <a:txBody>
                    <a:bodyPr/>
                    <a:lstStyle/>
                    <a:p>
                      <a:pPr algn="l" indent="0" marL="0">
                        <a:buNone/>
                      </a:pPr>
                      <a:r>
                        <a:rPr lang="en-US" sz="1400" b="1" dirty="0">
                          <a:solidFill>
                            <a:srgbClr val="1E2A32"/>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solidFill>
                      <a:srgbClr val="F3F6F7"/>
                    </a:solidFill>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How many contiguous elements per thread?</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identity prefix of L_Reg⁻¹</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Which locations hold duplicates?</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zero columns (after Product)</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Which scale goes with which value (MXFP4)?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compose with a projection (reshape/broadcast)</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Can one operand be loaded wider?</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permute K in both operands (pre-shuffle)</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Which SIMD / ldmatrix instruction fits?</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L = A⁻¹B, then L /ℓ T  (P_Reg if needed)</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Where does each value go in a conversion?</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B⁻¹A, right inverse with minimal Hamming weight</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Which values move in each shuffle round?</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V, I, G = {eᵢ ⊕ fᵢ}; cosets of span(V ∪ I ∪ G)</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Which shared layout avoids bank conflicts?</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H = {eᵢ ⊕ fᵢ}, C with span ∩ P = {0}; complete M</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§5.4</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r h="429768">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Can gather use warp shuffles?</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L^axis_Wrp = 0</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c>
                  <a:txBody>
                    <a:bodyPr/>
                    <a:lstStyle/>
                    <a:p>
                      <a:pPr algn="l" indent="0" marL="0">
                        <a:buNone/>
                      </a:pPr>
                      <a:r>
                        <a:rPr lang="en-US" sz="1400" dirty="0">
                          <a:solidFill>
                            <a:srgbClr val="1E2A32"/>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50800" marR="50800" marT="25400" marB="25400" anchor="ctr">
                    <a:lnL w="9525" cap="flat" cmpd="sng" algn="ctr">
                      <a:solidFill>
                        <a:srgbClr val="D3DADF"/>
                      </a:solidFill>
                      <a:prstDash val="solid"/>
                      <a:round/>
                      <a:headEnd type="none" w="med" len="med"/>
                      <a:tailEnd type="none" w="med" len="med"/>
                    </a:lnL>
                    <a:lnR w="9525" cap="flat" cmpd="sng" algn="ctr">
                      <a:solidFill>
                        <a:srgbClr val="D3DADF"/>
                      </a:solidFill>
                      <a:prstDash val="solid"/>
                      <a:round/>
                      <a:headEnd type="none" w="med" len="med"/>
                      <a:tailEnd type="none" w="med" len="med"/>
                    </a:lnR>
                    <a:lnT w="9525" cap="flat" cmpd="sng" algn="ctr">
                      <a:solidFill>
                        <a:srgbClr val="D3DADF"/>
                      </a:solidFill>
                      <a:prstDash val="solid"/>
                      <a:round/>
                      <a:headEnd type="none" w="med" len="med"/>
                      <a:tailEnd type="none" w="med" len="med"/>
                    </a:lnT>
                    <a:lnB w="9525" cap="flat" cmpd="sng" algn="ctr">
                      <a:solidFill>
                        <a:srgbClr val="D3DA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IMPLEMENTATION · TRITON-LANG/TRITON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Where the ideas live in current upstream Triton</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github.com/triton-lang/triton (main branch, read Oct 2026) — current upstream, not the paper’s exact evaluation revision</a:t>
            </a:r>
            <a:endParaRPr lang="en-US" sz="1000" dirty="0"/>
          </a:p>
        </p:txBody>
      </p:sp>
      <p:sp>
        <p:nvSpPr>
          <p:cNvPr id="6" name="panel"/>
          <p:cNvSpPr/>
          <p:nvPr/>
        </p:nvSpPr>
        <p:spPr>
          <a:xfrm>
            <a:off x="502920" y="1280160"/>
            <a:ext cx="11201400" cy="822960"/>
          </a:xfrm>
          <a:prstGeom prst="roundRect">
            <a:avLst>
              <a:gd name="adj" fmla="val 8889"/>
            </a:avLst>
          </a:prstGeom>
          <a:solidFill>
            <a:srgbClr val="F3F6F7"/>
          </a:solidFill>
          <a:ln w="12700">
            <a:solidFill>
              <a:srgbClr val="D3DADF"/>
            </a:solidFill>
            <a:prstDash val="solid"/>
          </a:ln>
        </p:spPr>
      </p:sp>
      <p:sp>
        <p:nvSpPr>
          <p:cNvPr id="7" name="num"/>
          <p:cNvSpPr txBox="1"/>
          <p:nvPr/>
        </p:nvSpPr>
        <p:spPr>
          <a:xfrm>
            <a:off x="640080" y="1463040"/>
            <a:ext cx="457200" cy="457200"/>
          </a:xfrm>
          <a:prstGeom prst="ellipse">
            <a:avLst/>
          </a:prstGeom>
          <a:solidFill>
            <a:srgbClr val="0E6E7A"/>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280160" y="1353312"/>
            <a:ext cx="4572000" cy="685800"/>
          </a:xfrm>
          <a:prstGeom prst="rect">
            <a:avLst/>
          </a:prstGeom>
          <a:noFill/>
          <a:ln/>
        </p:spPr>
        <p:txBody>
          <a:bodyPr wrap="square" lIns="0" tIns="0" rIns="0" bIns="0" rtlCol="0" anchor="ctr"/>
          <a:lstStyle/>
          <a:p>
            <a:pPr indent="0" marL="0">
              <a:buNone/>
            </a:pPr>
            <a:r>
              <a:rPr lang="en-US" sz="1200" b="1" dirty="0">
                <a:solidFill>
                  <a:srgbClr val="0A4F58"/>
                </a:solidFill>
                <a:latin typeface="Courier New" pitchFamily="34" charset="0"/>
                <a:ea typeface="Courier New" pitchFamily="34" charset="-122"/>
                <a:cs typeface="Courier New" pitchFamily="34" charset="-120"/>
              </a:rPr>
              <a:t>include/triton/Tools/LinearLayout.h</a:t>
            </a:r>
            <a:endParaRPr lang="en-US" sz="1200" dirty="0"/>
          </a:p>
        </p:txBody>
      </p:sp>
      <p:sp>
        <p:nvSpPr>
          <p:cNvPr id="9" name="Text 6"/>
          <p:cNvSpPr txBox="1"/>
          <p:nvPr/>
        </p:nvSpPr>
        <p:spPr>
          <a:xfrm>
            <a:off x="5897880" y="1353312"/>
            <a:ext cx="5715000" cy="685800"/>
          </a:xfrm>
          <a:prstGeom prst="rect">
            <a:avLst/>
          </a:prstGeom>
          <a:noFill/>
          <a:ln/>
        </p:spPr>
        <p:txBody>
          <a:bodyPr wrap="square" lIns="0" tIns="0" rIns="0" bIns="0" rtlCol="0" anchor="ctr"/>
          <a:lstStyle/>
          <a:p>
            <a:pPr indent="0" marL="0">
              <a:buNone/>
            </a:pPr>
            <a:r>
              <a:rPr lang="en-US" sz="1300" dirty="0">
                <a:solidFill>
                  <a:srgbClr val="1E2A32"/>
                </a:solidFill>
                <a:latin typeface="Calibri" pitchFamily="34" charset="0"/>
                <a:ea typeface="Calibri" pitchFamily="34" charset="-122"/>
                <a:cs typeface="Calibri" pitchFamily="34" charset="-120"/>
              </a:rPr>
              <a:t>Representation + long explanatory comment: bases, XOR linearity rule, examples (identity, transpose, broadcast, swizzle), why hardware → tensor.</a:t>
            </a:r>
            <a:endParaRPr lang="en-US" sz="1300" dirty="0"/>
          </a:p>
        </p:txBody>
      </p:sp>
      <p:sp>
        <p:nvSpPr>
          <p:cNvPr id="10" name="panel"/>
          <p:cNvSpPr/>
          <p:nvPr/>
        </p:nvSpPr>
        <p:spPr>
          <a:xfrm>
            <a:off x="502920" y="2212848"/>
            <a:ext cx="11201400" cy="822960"/>
          </a:xfrm>
          <a:prstGeom prst="roundRect">
            <a:avLst>
              <a:gd name="adj" fmla="val 8889"/>
            </a:avLst>
          </a:prstGeom>
          <a:solidFill>
            <a:srgbClr val="FFFFFF"/>
          </a:solidFill>
          <a:ln w="12700">
            <a:solidFill>
              <a:srgbClr val="D3DADF"/>
            </a:solidFill>
            <a:prstDash val="solid"/>
          </a:ln>
        </p:spPr>
      </p:sp>
      <p:sp>
        <p:nvSpPr>
          <p:cNvPr id="11" name="num"/>
          <p:cNvSpPr txBox="1"/>
          <p:nvPr/>
        </p:nvSpPr>
        <p:spPr>
          <a:xfrm>
            <a:off x="640080" y="2395728"/>
            <a:ext cx="457200" cy="457200"/>
          </a:xfrm>
          <a:prstGeom prst="ellipse">
            <a:avLst/>
          </a:prstGeom>
          <a:solidFill>
            <a:srgbClr val="0E6E7A"/>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280160" y="2286000"/>
            <a:ext cx="4572000" cy="685800"/>
          </a:xfrm>
          <a:prstGeom prst="rect">
            <a:avLst/>
          </a:prstGeom>
          <a:noFill/>
          <a:ln/>
        </p:spPr>
        <p:txBody>
          <a:bodyPr wrap="square" lIns="0" tIns="0" rIns="0" bIns="0" rtlCol="0" anchor="ctr"/>
          <a:lstStyle/>
          <a:p>
            <a:pPr indent="0" marL="0">
              <a:buNone/>
            </a:pPr>
            <a:r>
              <a:rPr lang="en-US" sz="1200" b="1" dirty="0">
                <a:solidFill>
                  <a:srgbClr val="0A4F58"/>
                </a:solidFill>
                <a:latin typeface="Courier New" pitchFamily="34" charset="0"/>
                <a:ea typeface="Courier New" pitchFamily="34" charset="-122"/>
                <a:cs typeface="Courier New" pitchFamily="34" charset="-120"/>
              </a:rPr>
              <a:t>lib/Tools/LinearLayout.cpp</a:t>
            </a:r>
            <a:endParaRPr lang="en-US" sz="1200" dirty="0"/>
          </a:p>
        </p:txBody>
      </p:sp>
      <p:sp>
        <p:nvSpPr>
          <p:cNvPr id="13" name="Text 10"/>
          <p:cNvSpPr txBox="1"/>
          <p:nvPr/>
        </p:nvSpPr>
        <p:spPr>
          <a:xfrm>
            <a:off x="5897880" y="2286000"/>
            <a:ext cx="5715000" cy="685800"/>
          </a:xfrm>
          <a:prstGeom prst="rect">
            <a:avLst/>
          </a:prstGeom>
          <a:noFill/>
          <a:ln/>
        </p:spPr>
        <p:txBody>
          <a:bodyPr wrap="square" lIns="0" tIns="0" rIns="0" bIns="0" rtlCol="0" anchor="ctr"/>
          <a:lstStyle/>
          <a:p>
            <a:pPr indent="0" marL="0">
              <a:buNone/>
            </a:pPr>
            <a:r>
              <a:rPr lang="en-US" sz="1300" dirty="0">
                <a:solidFill>
                  <a:srgbClr val="1E2A32"/>
                </a:solidFill>
                <a:latin typeface="Calibri" pitchFamily="34" charset="0"/>
                <a:ea typeface="Calibri" pitchFamily="34" charset="-122"/>
                <a:cs typeface="Calibri" pitchFamily="34" charset="-120"/>
              </a:rPr>
              <a:t>Operations: compose, invertAndCompose (B⁻¹∘A), pseudoinvert, divideLeft (Def 4.4), operator* (product), sublayout, removeZeroBasesAlongDim.</a:t>
            </a:r>
            <a:endParaRPr lang="en-US" sz="1300" dirty="0"/>
          </a:p>
        </p:txBody>
      </p:sp>
      <p:sp>
        <p:nvSpPr>
          <p:cNvPr id="14" name="panel"/>
          <p:cNvSpPr/>
          <p:nvPr/>
        </p:nvSpPr>
        <p:spPr>
          <a:xfrm>
            <a:off x="502920" y="3145536"/>
            <a:ext cx="11201400" cy="822960"/>
          </a:xfrm>
          <a:prstGeom prst="roundRect">
            <a:avLst>
              <a:gd name="adj" fmla="val 8889"/>
            </a:avLst>
          </a:prstGeom>
          <a:solidFill>
            <a:srgbClr val="F3F6F7"/>
          </a:solidFill>
          <a:ln w="12700">
            <a:solidFill>
              <a:srgbClr val="D3DADF"/>
            </a:solidFill>
            <a:prstDash val="solid"/>
          </a:ln>
        </p:spPr>
      </p:sp>
      <p:sp>
        <p:nvSpPr>
          <p:cNvPr id="15" name="num"/>
          <p:cNvSpPr txBox="1"/>
          <p:nvPr/>
        </p:nvSpPr>
        <p:spPr>
          <a:xfrm>
            <a:off x="640080" y="3328416"/>
            <a:ext cx="457200" cy="457200"/>
          </a:xfrm>
          <a:prstGeom prst="ellipse">
            <a:avLst/>
          </a:prstGeom>
          <a:solidFill>
            <a:srgbClr val="0E6E7A"/>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280160" y="3218688"/>
            <a:ext cx="4572000" cy="685800"/>
          </a:xfrm>
          <a:prstGeom prst="rect">
            <a:avLst/>
          </a:prstGeom>
          <a:noFill/>
          <a:ln/>
        </p:spPr>
        <p:txBody>
          <a:bodyPr wrap="square" lIns="0" tIns="0" rIns="0" bIns="0" rtlCol="0" anchor="ctr"/>
          <a:lstStyle/>
          <a:p>
            <a:pPr indent="0" marL="0">
              <a:buNone/>
            </a:pPr>
            <a:r>
              <a:rPr lang="en-US" sz="1200" b="1" dirty="0">
                <a:solidFill>
                  <a:srgbClr val="0A4F58"/>
                </a:solidFill>
                <a:latin typeface="Courier New" pitchFamily="34" charset="0"/>
                <a:ea typeface="Courier New" pitchFamily="34" charset="-122"/>
                <a:cs typeface="Courier New" pitchFamily="34" charset="-120"/>
              </a:rPr>
              <a:t>…/TritonGPU/IR/LinearLayoutConversions.{h,cpp}</a:t>
            </a:r>
            <a:endParaRPr lang="en-US" sz="1200" dirty="0"/>
          </a:p>
        </p:txBody>
      </p:sp>
      <p:sp>
        <p:nvSpPr>
          <p:cNvPr id="17" name="Text 14"/>
          <p:cNvSpPr txBox="1"/>
          <p:nvPr/>
        </p:nvSpPr>
        <p:spPr>
          <a:xfrm>
            <a:off x="5897880" y="3218688"/>
            <a:ext cx="5715000" cy="685800"/>
          </a:xfrm>
          <a:prstGeom prst="rect">
            <a:avLst/>
          </a:prstGeom>
          <a:noFill/>
          <a:ln/>
        </p:spPr>
        <p:txBody>
          <a:bodyPr wrap="square" lIns="0" tIns="0" rIns="0" bIns="0" rtlCol="0" anchor="ctr"/>
          <a:lstStyle/>
          <a:p>
            <a:pPr indent="0" marL="0">
              <a:buNone/>
            </a:pPr>
            <a:r>
              <a:rPr lang="en-US" sz="1300" dirty="0">
                <a:solidFill>
                  <a:srgbClr val="1E2A32"/>
                </a:solidFill>
                <a:latin typeface="Calibri" pitchFamily="34" charset="0"/>
                <a:ea typeface="Calibri" pitchFamily="34" charset="-122"/>
                <a:cs typeface="Calibri" pitchFamily="34" charset="-120"/>
              </a:rPr>
              <a:t>Legacy encodings → LL: Blocked = id(reg) × id(lane) × id(warp); NVIDIA MMA, AMD MFMA/WMMA, Slice, swizzled shared.</a:t>
            </a:r>
            <a:endParaRPr lang="en-US" sz="1300" dirty="0"/>
          </a:p>
        </p:txBody>
      </p:sp>
      <p:sp>
        <p:nvSpPr>
          <p:cNvPr id="18" name="panel"/>
          <p:cNvSpPr/>
          <p:nvPr/>
        </p:nvSpPr>
        <p:spPr>
          <a:xfrm>
            <a:off x="502920" y="4078224"/>
            <a:ext cx="11201400" cy="822960"/>
          </a:xfrm>
          <a:prstGeom prst="roundRect">
            <a:avLst>
              <a:gd name="adj" fmla="val 8889"/>
            </a:avLst>
          </a:prstGeom>
          <a:solidFill>
            <a:srgbClr val="FFFFFF"/>
          </a:solidFill>
          <a:ln w="12700">
            <a:solidFill>
              <a:srgbClr val="D3DADF"/>
            </a:solidFill>
            <a:prstDash val="solid"/>
          </a:ln>
        </p:spPr>
      </p:sp>
      <p:sp>
        <p:nvSpPr>
          <p:cNvPr id="19" name="num"/>
          <p:cNvSpPr txBox="1"/>
          <p:nvPr/>
        </p:nvSpPr>
        <p:spPr>
          <a:xfrm>
            <a:off x="640080" y="4261104"/>
            <a:ext cx="457200" cy="457200"/>
          </a:xfrm>
          <a:prstGeom prst="ellipse">
            <a:avLst/>
          </a:prstGeom>
          <a:solidFill>
            <a:srgbClr val="0E6E7A"/>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280160" y="4151376"/>
            <a:ext cx="4572000" cy="685800"/>
          </a:xfrm>
          <a:prstGeom prst="rect">
            <a:avLst/>
          </a:prstGeom>
          <a:noFill/>
          <a:ln/>
        </p:spPr>
        <p:txBody>
          <a:bodyPr wrap="square" lIns="0" tIns="0" rIns="0" bIns="0" rtlCol="0" anchor="ctr"/>
          <a:lstStyle/>
          <a:p>
            <a:pPr indent="0" marL="0">
              <a:buNone/>
            </a:pPr>
            <a:r>
              <a:rPr lang="en-US" sz="1200" b="1" dirty="0">
                <a:solidFill>
                  <a:srgbClr val="0A4F58"/>
                </a:solidFill>
                <a:latin typeface="Courier New" pitchFamily="34" charset="0"/>
                <a:ea typeface="Courier New" pitchFamily="34" charset="-122"/>
                <a:cs typeface="Courier New" pitchFamily="34" charset="-120"/>
              </a:rPr>
              <a:t>…/TritonGPU/Transforms/RemoveLayoutConversions.cpp</a:t>
            </a:r>
            <a:endParaRPr lang="en-US" sz="1200" dirty="0"/>
          </a:p>
        </p:txBody>
      </p:sp>
      <p:sp>
        <p:nvSpPr>
          <p:cNvPr id="21" name="Text 18"/>
          <p:cNvSpPr txBox="1"/>
          <p:nvPr/>
        </p:nvSpPr>
        <p:spPr>
          <a:xfrm>
            <a:off x="5897880" y="4151376"/>
            <a:ext cx="5715000" cy="685800"/>
          </a:xfrm>
          <a:prstGeom prst="rect">
            <a:avLst/>
          </a:prstGeom>
          <a:noFill/>
          <a:ln/>
        </p:spPr>
        <p:txBody>
          <a:bodyPr wrap="square" lIns="0" tIns="0" rIns="0" bIns="0" rtlCol="0" anchor="ctr"/>
          <a:lstStyle/>
          <a:p>
            <a:pPr indent="0" marL="0">
              <a:buNone/>
            </a:pPr>
            <a:r>
              <a:rPr lang="en-US" sz="1300" dirty="0">
                <a:solidFill>
                  <a:srgbClr val="1E2A32"/>
                </a:solidFill>
                <a:latin typeface="Calibri" pitchFamily="34" charset="0"/>
                <a:ea typeface="Calibri" pitchFamily="34" charset="-122"/>
                <a:cs typeface="Calibri" pitchFamily="34" charset="-120"/>
              </a:rPr>
              <a:t>Layout engine: anchors → propagate → resolve conflicts (insert converts) → rewrite → backward rematerialization.</a:t>
            </a:r>
            <a:endParaRPr lang="en-US" sz="1300" dirty="0"/>
          </a:p>
        </p:txBody>
      </p:sp>
      <p:sp>
        <p:nvSpPr>
          <p:cNvPr id="22" name="panel"/>
          <p:cNvSpPr/>
          <p:nvPr/>
        </p:nvSpPr>
        <p:spPr>
          <a:xfrm>
            <a:off x="502920" y="5010912"/>
            <a:ext cx="11201400" cy="822960"/>
          </a:xfrm>
          <a:prstGeom prst="roundRect">
            <a:avLst>
              <a:gd name="adj" fmla="val 8889"/>
            </a:avLst>
          </a:prstGeom>
          <a:solidFill>
            <a:srgbClr val="F3F6F7"/>
          </a:solidFill>
          <a:ln w="12700">
            <a:solidFill>
              <a:srgbClr val="D3DADF"/>
            </a:solidFill>
            <a:prstDash val="solid"/>
          </a:ln>
        </p:spPr>
      </p:sp>
      <p:sp>
        <p:nvSpPr>
          <p:cNvPr id="23" name="num"/>
          <p:cNvSpPr txBox="1"/>
          <p:nvPr/>
        </p:nvSpPr>
        <p:spPr>
          <a:xfrm>
            <a:off x="640080" y="5193792"/>
            <a:ext cx="457200" cy="457200"/>
          </a:xfrm>
          <a:prstGeom prst="ellipse">
            <a:avLst/>
          </a:prstGeom>
          <a:solidFill>
            <a:srgbClr val="0E6E7A"/>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280160" y="5084064"/>
            <a:ext cx="4572000" cy="685800"/>
          </a:xfrm>
          <a:prstGeom prst="rect">
            <a:avLst/>
          </a:prstGeom>
          <a:noFill/>
          <a:ln/>
        </p:spPr>
        <p:txBody>
          <a:bodyPr wrap="square" lIns="0" tIns="0" rIns="0" bIns="0" rtlCol="0" anchor="ctr"/>
          <a:lstStyle/>
          <a:p>
            <a:pPr indent="0" marL="0">
              <a:buNone/>
            </a:pPr>
            <a:r>
              <a:rPr lang="en-US" sz="1200" b="1" dirty="0">
                <a:solidFill>
                  <a:srgbClr val="0A4F58"/>
                </a:solidFill>
                <a:latin typeface="Courier New" pitchFamily="34" charset="0"/>
                <a:ea typeface="Courier New" pitchFamily="34" charset="-122"/>
                <a:cs typeface="Courier New" pitchFamily="34" charset="-120"/>
              </a:rPr>
              <a:t>python/tutorials/gluon/02-layouts.py</a:t>
            </a:r>
            <a:endParaRPr lang="en-US" sz="1200" dirty="0"/>
          </a:p>
        </p:txBody>
      </p:sp>
      <p:sp>
        <p:nvSpPr>
          <p:cNvPr id="25" name="Text 22"/>
          <p:cNvSpPr txBox="1"/>
          <p:nvPr/>
        </p:nvSpPr>
        <p:spPr>
          <a:xfrm>
            <a:off x="5897880" y="5084064"/>
            <a:ext cx="5715000" cy="685800"/>
          </a:xfrm>
          <a:prstGeom prst="rect">
            <a:avLst/>
          </a:prstGeom>
          <a:noFill/>
          <a:ln/>
        </p:spPr>
        <p:txBody>
          <a:bodyPr wrap="square" lIns="0" tIns="0" rIns="0" bIns="0" rtlCol="0" anchor="ctr"/>
          <a:lstStyle/>
          <a:p>
            <a:pPr indent="0" marL="0">
              <a:buNone/>
            </a:pPr>
            <a:r>
              <a:rPr lang="en-US" sz="1300" dirty="0">
                <a:solidFill>
                  <a:srgbClr val="1E2A32"/>
                </a:solidFill>
                <a:latin typeface="Calibri" pitchFamily="34" charset="0"/>
                <a:ea typeface="Calibri" pitchFamily="34" charset="-122"/>
                <a:cs typeface="Calibri" pitchFamily="34" charset="-120"/>
              </a:rPr>
              <a:t>User view: explicit layouts, convert_layout(assert_trivial=True), DistributedLinearLayout(reg_bases, lane_bases, warp_bases…); links the paper.</a:t>
            </a:r>
            <a:endParaRPr lang="en-US" sz="1300" dirty="0"/>
          </a:p>
        </p:txBody>
      </p:sp>
      <p:sp>
        <p:nvSpPr>
          <p:cNvPr id="26" name="Text 23"/>
          <p:cNvSpPr txBox="1"/>
          <p:nvPr/>
        </p:nvSpPr>
        <p:spPr>
          <a:xfrm>
            <a:off x="502920" y="5870448"/>
            <a:ext cx="1120140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README.md is mostly install/build help; the header comments and the Gluon tutorial are the explanatory docs.</a:t>
            </a:r>
            <a:endParaRPr lang="en-US" sz="12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 · SETUP</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Evaluation setup: three GPUs, micro-benchmarks + TritonBench</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Table 2 and §6, pp. 141–143</a:t>
            </a:r>
            <a:endParaRPr lang="en-US" sz="1000" dirty="0"/>
          </a:p>
        </p:txBody>
      </p:sp>
      <p:pic>
        <p:nvPicPr>
          <p:cNvPr id="6" name="fig-tab2" descr="Table 2 hardware platforms">    </p:cNvPr>
          <p:cNvPicPr>
            <a:picLocks noChangeAspect="1"/>
          </p:cNvPicPr>
          <p:nvPr/>
        </p:nvPicPr>
        <p:blipFill>
          <a:blip r:embed="rId1"/>
          <a:stretch>
            <a:fillRect/>
          </a:stretch>
        </p:blipFill>
        <p:spPr>
          <a:xfrm>
            <a:off x="502920" y="1325880"/>
            <a:ext cx="6035040" cy="1324888"/>
          </a:xfrm>
          <a:prstGeom prst="rect">
            <a:avLst/>
          </a:prstGeom>
        </p:spPr>
      </p:pic>
      <p:sp>
        <p:nvSpPr>
          <p:cNvPr id="7" name="caption"/>
          <p:cNvSpPr txBox="1"/>
          <p:nvPr/>
        </p:nvSpPr>
        <p:spPr>
          <a:xfrm>
            <a:off x="502920" y="2696488"/>
            <a:ext cx="603504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Table 2.</a:t>
            </a:r>
            <a:r>
              <a:rPr lang="en-US" sz="1100" dirty="0">
                <a:solidFill>
                  <a:srgbClr val="5B6770"/>
                </a:solidFill>
                <a:latin typeface="Calibri" pitchFamily="34" charset="0"/>
                <a:ea typeface="Calibri" pitchFamily="34" charset="-122"/>
                <a:cs typeface="Calibri" pitchFamily="34" charset="-120"/>
              </a:rPr>
              <a:t> Hardware platforms evaluated.</a:t>
            </a:r>
            <a:endParaRPr lang="en-US" sz="1100" dirty="0"/>
          </a:p>
        </p:txBody>
      </p:sp>
      <p:sp>
        <p:nvSpPr>
          <p:cNvPr id="8" name="bullets"/>
          <p:cNvSpPr txBox="1"/>
          <p:nvPr/>
        </p:nvSpPr>
        <p:spPr>
          <a:xfrm>
            <a:off x="6858000" y="1325880"/>
            <a:ext cx="4846320" cy="3291840"/>
          </a:xfrm>
          <a:prstGeom prst="rect">
            <a:avLst/>
          </a:prstGeom>
          <a:noFill/>
          <a:ln/>
        </p:spPr>
        <p:txBody>
          <a:bodyPr wrap="square" lIns="25400" tIns="25400" rIns="25400" bIns="25400" rtlCol="0" anchor="t"/>
          <a:lstStyle/>
          <a:p>
            <a:pPr marL="203200" indent="-203200">
              <a:spcAft>
                <a:spcPts val="800"/>
              </a:spcAft>
              <a:buSzPct val="100000"/>
              <a:buChar char="•"/>
            </a:pPr>
            <a:r>
              <a:rPr lang="en-US" sz="1500" b="1" dirty="0">
                <a:solidFill>
                  <a:srgbClr val="1E2A32"/>
                </a:solidFill>
                <a:latin typeface="Calibri" pitchFamily="34" charset="0"/>
                <a:ea typeface="Calibri" pitchFamily="34" charset="-122"/>
                <a:cs typeface="Calibri" pitchFamily="34" charset="-120"/>
              </a:rPr>
              <a:t>Triton-Linear</a:t>
            </a:r>
            <a:r>
              <a:rPr lang="en-US" sz="1500" dirty="0">
                <a:solidFill>
                  <a:srgbClr val="1E2A32"/>
                </a:solidFill>
                <a:latin typeface="Calibri" pitchFamily="34" charset="0"/>
                <a:ea typeface="Calibri" pitchFamily="34" charset="-122"/>
                <a:cs typeface="Calibri" pitchFamily="34" charset="-120"/>
              </a:rPr>
              <a:t> (linear layouts + §5 codegen) vs </a:t>
            </a:r>
            <a:r>
              <a:rPr lang="en-US" sz="1500" b="1" dirty="0">
                <a:solidFill>
                  <a:srgbClr val="1E2A32"/>
                </a:solidFill>
                <a:latin typeface="Calibri" pitchFamily="34" charset="0"/>
                <a:ea typeface="Calibri" pitchFamily="34" charset="-122"/>
                <a:cs typeface="Calibri" pitchFamily="34" charset="-120"/>
              </a:rPr>
              <a:t>baseline Triton</a:t>
            </a:r>
            <a:r>
              <a:rPr lang="en-US" sz="1500" dirty="0">
                <a:solidFill>
                  <a:srgbClr val="1E2A32"/>
                </a:solidFill>
                <a:latin typeface="Calibri" pitchFamily="34" charset="0"/>
                <a:ea typeface="Calibri" pitchFamily="34" charset="-122"/>
                <a:cs typeface="Calibri" pitchFamily="34" charset="-120"/>
              </a:rPr>
              <a:t> (legacy layouts, shared-memory conversions).</a:t>
            </a:r>
            <a:endParaRPr lang="en-US" sz="1500" dirty="0"/>
          </a:p>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Micro-benchmarks: </a:t>
            </a:r>
            <a:r>
              <a:rPr lang="en-US" sz="1500" b="1" dirty="0">
                <a:solidFill>
                  <a:srgbClr val="1E2A32"/>
                </a:solidFill>
                <a:latin typeface="Calibri" pitchFamily="34" charset="0"/>
                <a:ea typeface="Calibri" pitchFamily="34" charset="-122"/>
                <a:cs typeface="Calibri" pitchFamily="34" charset="-120"/>
              </a:rPr>
              <a:t>4 warps, 1 CTA</a:t>
            </a:r>
            <a:r>
              <a:rPr lang="en-US" sz="1500" dirty="0">
                <a:solidFill>
                  <a:srgbClr val="1E2A32"/>
                </a:solidFill>
                <a:latin typeface="Calibri" pitchFamily="34" charset="0"/>
                <a:ea typeface="Calibri" pitchFamily="34" charset="-122"/>
                <a:cs typeface="Calibri" pitchFamily="34" charset="-120"/>
              </a:rPr>
              <a:t> (mixed-precision matmul: 4 warps/CTA, varying CTAs).</a:t>
            </a:r>
            <a:endParaRPr lang="en-US" sz="1500" dirty="0"/>
          </a:p>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Each run </a:t>
            </a:r>
            <a:r>
              <a:rPr lang="en-US" sz="1500" b="1" dirty="0">
                <a:solidFill>
                  <a:srgbClr val="1E2A32"/>
                </a:solidFill>
                <a:latin typeface="Calibri" pitchFamily="34" charset="0"/>
                <a:ea typeface="Calibri" pitchFamily="34" charset="-122"/>
                <a:cs typeface="Calibri" pitchFamily="34" charset="-120"/>
              </a:rPr>
              <a:t>10×</a:t>
            </a:r>
            <a:r>
              <a:rPr lang="en-US" sz="1500" dirty="0">
                <a:solidFill>
                  <a:srgbClr val="1E2A32"/>
                </a:solidFill>
                <a:latin typeface="Calibri" pitchFamily="34" charset="0"/>
                <a:ea typeface="Calibri" pitchFamily="34" charset="-122"/>
                <a:cs typeface="Calibri" pitchFamily="34" charset="-120"/>
              </a:rPr>
              <a:t>, </a:t>
            </a:r>
            <a:r>
              <a:rPr lang="en-US" sz="1500" b="1" dirty="0">
                <a:solidFill>
                  <a:srgbClr val="1E2A32"/>
                </a:solidFill>
                <a:latin typeface="Calibri" pitchFamily="34" charset="0"/>
                <a:ea typeface="Calibri" pitchFamily="34" charset="-122"/>
                <a:cs typeface="Calibri" pitchFamily="34" charset="-120"/>
              </a:rPr>
              <a:t>median</a:t>
            </a:r>
            <a:r>
              <a:rPr lang="en-US" sz="1500" dirty="0">
                <a:solidFill>
                  <a:srgbClr val="1E2A32"/>
                </a:solidFill>
                <a:latin typeface="Calibri" pitchFamily="34" charset="0"/>
                <a:ea typeface="Calibri" pitchFamily="34" charset="-122"/>
                <a:cs typeface="Calibri" pitchFamily="34" charset="-120"/>
              </a:rPr>
              <a:t> reported.</a:t>
            </a:r>
            <a:endParaRPr lang="en-US" sz="1500" dirty="0"/>
          </a:p>
          <a:p>
            <a:pPr marL="203200" indent="-203200">
              <a:spcAft>
                <a:spcPts val="800"/>
              </a:spcAft>
              <a:buSzPct val="100000"/>
              <a:buChar char="•"/>
            </a:pPr>
            <a:r>
              <a:rPr lang="en-US" sz="1500" dirty="0">
                <a:solidFill>
                  <a:srgbClr val="1E2A32"/>
                </a:solidFill>
                <a:latin typeface="Calibri" pitchFamily="34" charset="0"/>
                <a:ea typeface="Calibri" pitchFamily="34" charset="-122"/>
                <a:cs typeface="Calibri" pitchFamily="34" charset="-120"/>
              </a:rPr>
              <a:t>Real workloads: </a:t>
            </a:r>
            <a:r>
              <a:rPr lang="en-US" sz="1500" b="1" dirty="0">
                <a:solidFill>
                  <a:srgbClr val="1E2A32"/>
                </a:solidFill>
                <a:latin typeface="Calibri" pitchFamily="34" charset="0"/>
                <a:ea typeface="Calibri" pitchFamily="34" charset="-122"/>
                <a:cs typeface="Calibri" pitchFamily="34" charset="-120"/>
              </a:rPr>
              <a:t>21 TritonBench</a:t>
            </a:r>
            <a:r>
              <a:rPr lang="en-US" sz="1500" dirty="0">
                <a:solidFill>
                  <a:srgbClr val="1E2A32"/>
                </a:solidFill>
                <a:latin typeface="Calibri" pitchFamily="34" charset="0"/>
                <a:ea typeface="Calibri" pitchFamily="34" charset="-122"/>
                <a:cs typeface="Calibri" pitchFamily="34" charset="-120"/>
              </a:rPr>
              <a:t> benchmarks, </a:t>
            </a:r>
            <a:r>
              <a:rPr lang="en-US" sz="1500" b="1" dirty="0">
                <a:solidFill>
                  <a:srgbClr val="1E2A32"/>
                </a:solidFill>
                <a:latin typeface="Calibri" pitchFamily="34" charset="0"/>
                <a:ea typeface="Calibri" pitchFamily="34" charset="-122"/>
                <a:cs typeface="Calibri" pitchFamily="34" charset="-120"/>
              </a:rPr>
              <a:t>265</a:t>
            </a:r>
            <a:r>
              <a:rPr lang="en-US" sz="1500" dirty="0">
                <a:solidFill>
                  <a:srgbClr val="1E2A32"/>
                </a:solidFill>
                <a:latin typeface="Calibri" pitchFamily="34" charset="0"/>
                <a:ea typeface="Calibri" pitchFamily="34" charset="-122"/>
                <a:cs typeface="Calibri" pitchFamily="34" charset="-120"/>
              </a:rPr>
              <a:t> input cases.</a:t>
            </a:r>
            <a:endParaRPr lang="en-US" sz="1500" dirty="0"/>
          </a:p>
        </p:txBody>
      </p:sp>
      <p:sp>
        <p:nvSpPr>
          <p:cNvPr id="9" name="callout"/>
          <p:cNvSpPr/>
          <p:nvPr/>
        </p:nvSpPr>
        <p:spPr>
          <a:xfrm>
            <a:off x="502920" y="3429000"/>
            <a:ext cx="6035040" cy="1005840"/>
          </a:xfrm>
          <a:prstGeom prst="roundRect">
            <a:avLst>
              <a:gd name="adj" fmla="val 7273"/>
            </a:avLst>
          </a:prstGeom>
          <a:solidFill>
            <a:srgbClr val="FFF0CC"/>
          </a:solidFill>
          <a:ln/>
        </p:spPr>
      </p:sp>
      <p:sp>
        <p:nvSpPr>
          <p:cNvPr id="10" name="callout-text"/>
          <p:cNvSpPr txBox="1"/>
          <p:nvPr/>
        </p:nvSpPr>
        <p:spPr>
          <a:xfrm>
            <a:off x="640080" y="3483864"/>
            <a:ext cx="5760720" cy="896112"/>
          </a:xfrm>
          <a:prstGeom prst="rect">
            <a:avLst/>
          </a:prstGeom>
          <a:noFill/>
          <a:ln/>
        </p:spPr>
        <p:txBody>
          <a:bodyPr wrap="square" lIns="0" tIns="0" rIns="0" bIns="0" rtlCol="0" anchor="ctr"/>
          <a:lstStyle/>
          <a:p>
            <a:pPr algn="l" indent="0" marL="0">
              <a:buNone/>
            </a:pPr>
            <a:r>
              <a:rPr lang="en-US" sz="1400" dirty="0">
                <a:solidFill>
                  <a:srgbClr val="6B4100"/>
                </a:solidFill>
                <a:latin typeface="Calibri" pitchFamily="34" charset="0"/>
                <a:ea typeface="Calibri" pitchFamily="34" charset="-122"/>
                <a:cs typeface="Calibri" pitchFamily="34" charset="-120"/>
              </a:rPr>
              <a:t>Some cases need GH200’s large shared memory or TMA descriptors (absent on RTX 4090 / MI250). </a:t>
            </a:r>
            <a:r>
              <a:rPr lang="en-US" sz="1400" b="1" dirty="0">
                <a:solidFill>
                  <a:srgbClr val="6B4100"/>
                </a:solidFill>
                <a:latin typeface="Calibri" pitchFamily="34" charset="0"/>
                <a:ea typeface="Calibri" pitchFamily="34" charset="-122"/>
                <a:cs typeface="Calibri" pitchFamily="34" charset="-120"/>
              </a:rPr>
              <a:t>A missing case is not a zero speedup.</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§6.1 · LOAD/STORE CONTIGUITY (§5.1 IN ACTION)</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Table 3: up to 128-bit accesses where legacy Triton saw 16</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Table 3 and “Load/Store Contiguity”, p. 142</a:t>
            </a:r>
            <a:endParaRPr lang="en-US" sz="1000" dirty="0"/>
          </a:p>
        </p:txBody>
      </p:sp>
      <p:pic>
        <p:nvPicPr>
          <p:cNvPr id="6" name="fig-tab3" descr="Table 3 load/store contiguity">    </p:cNvPr>
          <p:cNvPicPr>
            <a:picLocks noChangeAspect="1"/>
          </p:cNvPicPr>
          <p:nvPr/>
        </p:nvPicPr>
        <p:blipFill>
          <a:blip r:embed="rId1"/>
          <a:stretch>
            <a:fillRect/>
          </a:stretch>
        </p:blipFill>
        <p:spPr>
          <a:xfrm>
            <a:off x="502920" y="1280160"/>
            <a:ext cx="6766560" cy="3620287"/>
          </a:xfrm>
          <a:prstGeom prst="rect">
            <a:avLst/>
          </a:prstGeom>
        </p:spPr>
      </p:pic>
      <p:sp>
        <p:nvSpPr>
          <p:cNvPr id="7" name="caption"/>
          <p:cNvSpPr txBox="1"/>
          <p:nvPr/>
        </p:nvSpPr>
        <p:spPr>
          <a:xfrm>
            <a:off x="502920" y="4946167"/>
            <a:ext cx="676656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Table 3.</a:t>
            </a:r>
            <a:r>
              <a:rPr lang="en-US" sz="1100" dirty="0">
                <a:solidFill>
                  <a:srgbClr val="5B6770"/>
                </a:solidFill>
                <a:latin typeface="Calibri" pitchFamily="34" charset="0"/>
                <a:ea typeface="Calibri" pitchFamily="34" charset="-122"/>
                <a:cs typeface="Calibri" pitchFamily="34" charset="-120"/>
              </a:rPr>
              <a:t> Load/store instructions and bit widths (paper’s table; highlights added).</a:t>
            </a:r>
            <a:endParaRPr lang="en-US" sz="1100" dirty="0"/>
          </a:p>
        </p:txBody>
      </p:sp>
      <p:sp>
        <p:nvSpPr>
          <p:cNvPr id="8" name="row-highlight"/>
          <p:cNvSpPr/>
          <p:nvPr/>
        </p:nvSpPr>
        <p:spPr>
          <a:xfrm>
            <a:off x="502920" y="2222264"/>
            <a:ext cx="6766560" cy="284409"/>
          </a:xfrm>
          <a:prstGeom prst="rect">
            <a:avLst/>
          </a:prstGeom>
          <a:solidFill>
            <a:srgbClr val="F2B33D">
              <a:alpha val="25000"/>
            </a:srgbClr>
          </a:solidFill>
          <a:ln w="19050">
            <a:solidFill>
              <a:srgbClr val="A86300"/>
            </a:solidFill>
            <a:prstDash val="solid"/>
          </a:ln>
        </p:spPr>
      </p:sp>
      <p:sp>
        <p:nvSpPr>
          <p:cNvPr id="9" name="row-highlight"/>
          <p:cNvSpPr/>
          <p:nvPr/>
        </p:nvSpPr>
        <p:spPr>
          <a:xfrm>
            <a:off x="502920" y="3662084"/>
            <a:ext cx="6766560" cy="290334"/>
          </a:xfrm>
          <a:prstGeom prst="rect">
            <a:avLst/>
          </a:prstGeom>
          <a:solidFill>
            <a:srgbClr val="F2B33D">
              <a:alpha val="25000"/>
            </a:srgbClr>
          </a:solidFill>
          <a:ln w="19050">
            <a:solidFill>
              <a:srgbClr val="A86300"/>
            </a:solidFill>
            <a:prstDash val="solid"/>
          </a:ln>
        </p:spPr>
      </p:sp>
      <p:sp>
        <p:nvSpPr>
          <p:cNvPr id="10" name="callout"/>
          <p:cNvSpPr/>
          <p:nvPr/>
        </p:nvSpPr>
        <p:spPr>
          <a:xfrm>
            <a:off x="7589520" y="1325880"/>
            <a:ext cx="4114800" cy="1463040"/>
          </a:xfrm>
          <a:prstGeom prst="roundRect">
            <a:avLst>
              <a:gd name="adj" fmla="val 5000"/>
            </a:avLst>
          </a:prstGeom>
          <a:solidFill>
            <a:srgbClr val="DDEFF1"/>
          </a:solidFill>
          <a:ln/>
        </p:spPr>
      </p:sp>
      <p:sp>
        <p:nvSpPr>
          <p:cNvPr id="11" name="callout-text"/>
          <p:cNvSpPr txBox="1"/>
          <p:nvPr/>
        </p:nvSpPr>
        <p:spPr>
          <a:xfrm>
            <a:off x="7726680" y="1380744"/>
            <a:ext cx="3840480" cy="1353312"/>
          </a:xfrm>
          <a:prstGeom prst="rect">
            <a:avLst/>
          </a:prstGeom>
          <a:noFill/>
          <a:ln/>
        </p:spPr>
        <p:txBody>
          <a:bodyPr wrap="square" lIns="0" tIns="0" rIns="0" bIns="0" rtlCol="0" anchor="ctr"/>
          <a:lstStyle/>
          <a:p>
            <a:pPr algn="l" indent="0" marL="0">
              <a:buNone/>
            </a:pPr>
            <a:r>
              <a:rPr lang="en-US" sz="1400" b="1" dirty="0">
                <a:solidFill>
                  <a:srgbClr val="0A4F58"/>
                </a:solidFill>
                <a:latin typeface="Calibri" pitchFamily="34" charset="0"/>
                <a:ea typeface="Calibri" pitchFamily="34" charset="-122"/>
                <a:cs typeface="Calibri" pitchFamily="34" charset="-120"/>
              </a:rPr>
              <a:t>[512,2] × f8:</a:t>
            </a:r>
            <a:r>
              <a:rPr lang="en-US" sz="1400" dirty="0">
                <a:solidFill>
                  <a:srgbClr val="0A4F58"/>
                </a:solidFill>
                <a:latin typeface="Calibri" pitchFamily="34" charset="0"/>
                <a:ea typeface="Calibri" pitchFamily="34" charset="-122"/>
                <a:cs typeface="Calibri" pitchFamily="34" charset="-120"/>
              </a:rPr>
              <a:t> v1.b16 → v4.b32, </a:t>
            </a:r>
            <a:r>
              <a:rPr lang="en-US" sz="1400" b="1" dirty="0">
                <a:solidFill>
                  <a:srgbClr val="0A4F58"/>
                </a:solidFill>
                <a:latin typeface="Calibri" pitchFamily="34" charset="0"/>
                <a:ea typeface="Calibri" pitchFamily="34" charset="-122"/>
                <a:cs typeface="Calibri" pitchFamily="34" charset="-120"/>
              </a:rPr>
              <a:t>16 → 128 bits</a:t>
            </a:r>
            <a:r>
              <a:rPr lang="en-US" sz="1400" dirty="0">
                <a:solidFill>
                  <a:srgbClr val="0A4F58"/>
                </a:solidFill>
                <a:latin typeface="Calibri" pitchFamily="34" charset="0"/>
                <a:ea typeface="Calibri" pitchFamily="34" charset="-122"/>
                <a:cs typeface="Calibri" pitchFamily="34" charset="-120"/>
              </a:rPr>
              <a:t> (8× the width = +700%; the text says “up to 7× increase”).
</a:t>
            </a:r>
            <a:r>
              <a:rPr lang="en-US" sz="1400" b="1" dirty="0">
                <a:solidFill>
                  <a:srgbClr val="0A4F58"/>
                </a:solidFill>
                <a:latin typeface="Calibri" pitchFamily="34" charset="0"/>
                <a:ea typeface="Calibri" pitchFamily="34" charset="-122"/>
                <a:cs typeface="Calibri" pitchFamily="34" charset="-120"/>
              </a:rPr>
              <a:t>[512,2] × f16:</a:t>
            </a:r>
            <a:r>
              <a:rPr lang="en-US" sz="1400" dirty="0">
                <a:solidFill>
                  <a:srgbClr val="0A4F58"/>
                </a:solidFill>
                <a:latin typeface="Calibri" pitchFamily="34" charset="0"/>
                <a:ea typeface="Calibri" pitchFamily="34" charset="-122"/>
                <a:cs typeface="Calibri" pitchFamily="34" charset="-120"/>
              </a:rPr>
              <a:t> v1.b32 → v4.b32, </a:t>
            </a:r>
            <a:r>
              <a:rPr lang="en-US" sz="1400" b="1" dirty="0">
                <a:solidFill>
                  <a:srgbClr val="0A4F58"/>
                </a:solidFill>
                <a:latin typeface="Calibri" pitchFamily="34" charset="0"/>
                <a:ea typeface="Calibri" pitchFamily="34" charset="-122"/>
                <a:cs typeface="Calibri" pitchFamily="34" charset="-120"/>
              </a:rPr>
              <a:t>32 → 128 bits</a:t>
            </a:r>
            <a:r>
              <a:rPr lang="en-US" sz="1400" dirty="0">
                <a:solidFill>
                  <a:srgbClr val="0A4F58"/>
                </a:solidFill>
                <a:latin typeface="Calibri" pitchFamily="34" charset="0"/>
                <a:ea typeface="Calibri" pitchFamily="34" charset="-122"/>
                <a:cs typeface="Calibri" pitchFamily="34" charset="-120"/>
              </a:rPr>
              <a:t> (“↑300%”).</a:t>
            </a:r>
            <a:endParaRPr lang="en-US" sz="1400" dirty="0"/>
          </a:p>
        </p:txBody>
      </p:sp>
      <p:sp>
        <p:nvSpPr>
          <p:cNvPr id="12" name="callout"/>
          <p:cNvSpPr/>
          <p:nvPr/>
        </p:nvSpPr>
        <p:spPr>
          <a:xfrm>
            <a:off x="7589520" y="2926080"/>
            <a:ext cx="4114800" cy="1417320"/>
          </a:xfrm>
          <a:prstGeom prst="roundRect">
            <a:avLst>
              <a:gd name="adj" fmla="val 5161"/>
            </a:avLst>
          </a:prstGeom>
          <a:solidFill>
            <a:srgbClr val="FFF0CC"/>
          </a:solidFill>
          <a:ln/>
        </p:spPr>
      </p:sp>
      <p:sp>
        <p:nvSpPr>
          <p:cNvPr id="13" name="callout-text"/>
          <p:cNvSpPr txBox="1"/>
          <p:nvPr/>
        </p:nvSpPr>
        <p:spPr>
          <a:xfrm>
            <a:off x="7726680" y="2980944"/>
            <a:ext cx="3840480" cy="1307592"/>
          </a:xfrm>
          <a:prstGeom prst="rect">
            <a:avLst/>
          </a:prstGeom>
          <a:noFill/>
          <a:ln/>
        </p:spPr>
        <p:txBody>
          <a:bodyPr wrap="square" lIns="0" tIns="0" rIns="0" bIns="0" rtlCol="0" anchor="ctr"/>
          <a:lstStyle/>
          <a:p>
            <a:pPr algn="l" indent="0" marL="0">
              <a:buNone/>
            </a:pPr>
            <a:r>
              <a:rPr lang="en-US" sz="1300" b="1" dirty="0">
                <a:solidFill>
                  <a:srgbClr val="6B4100"/>
                </a:solidFill>
                <a:latin typeface="Calibri" pitchFamily="34" charset="0"/>
                <a:ea typeface="Calibri" pitchFamily="34" charset="-122"/>
                <a:cs typeface="Calibri" pitchFamily="34" charset="-120"/>
              </a:rPr>
              <a:t>Arithmetic note:</a:t>
            </a:r>
            <a:r>
              <a:rPr lang="en-US" sz="1300" dirty="0">
                <a:solidFill>
                  <a:srgbClr val="6B4100"/>
                </a:solidFill>
                <a:latin typeface="Calibri" pitchFamily="34" charset="0"/>
                <a:ea typeface="Calibri" pitchFamily="34" charset="-122"/>
                <a:cs typeface="Calibri" pitchFamily="34" charset="-120"/>
              </a:rPr>
              <a:t> [512,4] × f8 is 32 → 128 bits, i.e. 4× width = </a:t>
            </a:r>
            <a:r>
              <a:rPr lang="en-US" sz="1300" b="1" dirty="0">
                <a:solidFill>
                  <a:srgbClr val="6B4100"/>
                </a:solidFill>
                <a:latin typeface="Calibri" pitchFamily="34" charset="0"/>
                <a:ea typeface="Calibri" pitchFamily="34" charset="-122"/>
                <a:cs typeface="Calibri" pitchFamily="34" charset="-120"/>
              </a:rPr>
              <a:t>+300%</a:t>
            </a:r>
            <a:r>
              <a:rPr lang="en-US" sz="1300" dirty="0">
                <a:solidFill>
                  <a:srgbClr val="6B4100"/>
                </a:solidFill>
                <a:latin typeface="Calibri" pitchFamily="34" charset="0"/>
                <a:ea typeface="Calibri" pitchFamily="34" charset="-122"/>
                <a:cs typeface="Calibri" pitchFamily="34" charset="-120"/>
              </a:rPr>
              <a:t>; the table prints “↑400%”. Other labels use “+ increase”.</a:t>
            </a:r>
            <a:endParaRPr lang="en-US" sz="1300" dirty="0"/>
          </a:p>
        </p:txBody>
      </p:sp>
      <p:sp>
        <p:nvSpPr>
          <p:cNvPr id="14" name="Text 10"/>
          <p:cNvSpPr txBox="1"/>
          <p:nvPr/>
        </p:nvSpPr>
        <p:spPr>
          <a:xfrm>
            <a:off x="7589520" y="4480560"/>
            <a:ext cx="4114800" cy="10058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v4.b32 = four 32-bit units = 128 bits per access; fp8 values are packed inside b32 words. Wider instruction ≠ proportional runtime gain.</a:t>
            </a:r>
            <a:endParaRPr lang="en-US" sz="13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§6.1 · BROADCASTING AND REDUCTIONS (§5.1)</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Table 4: every layout now works; far fewer shared-memory ops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Table 4 and “Broadcasting”, p. 142</a:t>
            </a:r>
            <a:endParaRPr lang="en-US" sz="1000" dirty="0"/>
          </a:p>
        </p:txBody>
      </p:sp>
      <p:pic>
        <p:nvPicPr>
          <p:cNvPr id="6" name="fig-tab4" descr="Table 4 layout support">    </p:cNvPr>
          <p:cNvPicPr>
            <a:picLocks noChangeAspect="1"/>
          </p:cNvPicPr>
          <p:nvPr/>
        </p:nvPicPr>
        <p:blipFill>
          <a:blip r:embed="rId1"/>
          <a:stretch>
            <a:fillRect/>
          </a:stretch>
        </p:blipFill>
        <p:spPr>
          <a:xfrm>
            <a:off x="502920" y="1280160"/>
            <a:ext cx="6766560" cy="2619130"/>
          </a:xfrm>
          <a:prstGeom prst="rect">
            <a:avLst/>
          </a:prstGeom>
        </p:spPr>
      </p:pic>
      <p:sp>
        <p:nvSpPr>
          <p:cNvPr id="7" name="caption"/>
          <p:cNvSpPr txBox="1"/>
          <p:nvPr/>
        </p:nvSpPr>
        <p:spPr>
          <a:xfrm>
            <a:off x="502920" y="3945010"/>
            <a:ext cx="676656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Table 4.</a:t>
            </a:r>
            <a:r>
              <a:rPr lang="en-US" sz="1100" dirty="0">
                <a:solidFill>
                  <a:srgbClr val="5B6770"/>
                </a:solidFill>
                <a:latin typeface="Calibri" pitchFamily="34" charset="0"/>
                <a:ea typeface="Calibri" pitchFamily="34" charset="-122"/>
                <a:cs typeface="Calibri" pitchFamily="34" charset="-120"/>
              </a:rPr>
              <a:t> Layout support (pass rate) and number of shared-memory instructions.</a:t>
            </a:r>
            <a:endParaRPr lang="en-US" sz="1100" dirty="0"/>
          </a:p>
        </p:txBody>
      </p:sp>
      <p:sp>
        <p:nvSpPr>
          <p:cNvPr id="8" name="panel"/>
          <p:cNvSpPr/>
          <p:nvPr/>
        </p:nvSpPr>
        <p:spPr>
          <a:xfrm>
            <a:off x="7589520" y="1325880"/>
            <a:ext cx="4114800" cy="1188720"/>
          </a:xfrm>
          <a:prstGeom prst="roundRect">
            <a:avLst>
              <a:gd name="adj" fmla="val 6154"/>
            </a:avLst>
          </a:prstGeom>
          <a:solidFill>
            <a:srgbClr val="E3F2E4"/>
          </a:solidFill>
          <a:ln/>
        </p:spPr>
      </p:sp>
      <p:sp>
        <p:nvSpPr>
          <p:cNvPr id="9" name="Text 5"/>
          <p:cNvSpPr txBox="1"/>
          <p:nvPr/>
        </p:nvSpPr>
        <p:spPr>
          <a:xfrm>
            <a:off x="7726680" y="1417320"/>
            <a:ext cx="3840480" cy="502920"/>
          </a:xfrm>
          <a:prstGeom prst="rect">
            <a:avLst/>
          </a:prstGeom>
          <a:noFill/>
          <a:ln/>
        </p:spPr>
        <p:txBody>
          <a:bodyPr wrap="square" lIns="0" tIns="0" rIns="0" bIns="0" rtlCol="0" anchor="t"/>
          <a:lstStyle/>
          <a:p>
            <a:pPr indent="0" marL="0">
              <a:buNone/>
            </a:pPr>
            <a:r>
              <a:rPr lang="en-US" sz="2600" b="1" dirty="0">
                <a:solidFill>
                  <a:srgbClr val="2E7D32"/>
                </a:solidFill>
                <a:latin typeface="Calibri" pitchFamily="34" charset="0"/>
                <a:ea typeface="Calibri" pitchFamily="34" charset="-122"/>
                <a:cs typeface="Calibri" pitchFamily="34" charset="-120"/>
              </a:rPr>
              <a:t>0/10 → 10/10</a:t>
            </a:r>
            <a:endParaRPr lang="en-US" sz="2600" dirty="0"/>
          </a:p>
        </p:txBody>
      </p:sp>
      <p:sp>
        <p:nvSpPr>
          <p:cNvPr id="10" name="Text 6"/>
          <p:cNvSpPr txBox="1"/>
          <p:nvPr/>
        </p:nvSpPr>
        <p:spPr>
          <a:xfrm>
            <a:off x="7726680" y="1947672"/>
            <a:ext cx="3840480" cy="5029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MMA Input, Sliced&lt;MMA&gt;, Sliced&lt;MMA Input&gt;, Custom</a:t>
            </a:r>
            <a:endParaRPr lang="en-US" sz="1300" dirty="0"/>
          </a:p>
        </p:txBody>
      </p:sp>
      <p:sp>
        <p:nvSpPr>
          <p:cNvPr id="11" name="panel"/>
          <p:cNvSpPr/>
          <p:nvPr/>
        </p:nvSpPr>
        <p:spPr>
          <a:xfrm>
            <a:off x="7589520" y="2651760"/>
            <a:ext cx="4114800" cy="1188720"/>
          </a:xfrm>
          <a:prstGeom prst="roundRect">
            <a:avLst>
              <a:gd name="adj" fmla="val 6154"/>
            </a:avLst>
          </a:prstGeom>
          <a:solidFill>
            <a:srgbClr val="F3F6F7"/>
          </a:solidFill>
          <a:ln/>
        </p:spPr>
      </p:sp>
      <p:sp>
        <p:nvSpPr>
          <p:cNvPr id="12" name="Text 8"/>
          <p:cNvSpPr txBox="1"/>
          <p:nvPr/>
        </p:nvSpPr>
        <p:spPr>
          <a:xfrm>
            <a:off x="7726680" y="2743200"/>
            <a:ext cx="3840480" cy="502920"/>
          </a:xfrm>
          <a:prstGeom prst="rect">
            <a:avLst/>
          </a:prstGeom>
          <a:noFill/>
          <a:ln/>
        </p:spPr>
        <p:txBody>
          <a:bodyPr wrap="square" lIns="0" tIns="0" rIns="0" bIns="0" rtlCol="0" anchor="t"/>
          <a:lstStyle/>
          <a:p>
            <a:pPr indent="0" marL="0">
              <a:buNone/>
            </a:pPr>
            <a:r>
              <a:rPr lang="en-US" sz="2600" b="1" dirty="0">
                <a:solidFill>
                  <a:srgbClr val="0E6E7A"/>
                </a:solidFill>
                <a:latin typeface="Calibri" pitchFamily="34" charset="0"/>
                <a:ea typeface="Calibri" pitchFamily="34" charset="-122"/>
                <a:cs typeface="Calibri" pitchFamily="34" charset="-120"/>
              </a:rPr>
              <a:t>↓76%</a:t>
            </a:r>
            <a:endParaRPr lang="en-US" sz="2600" dirty="0"/>
          </a:p>
        </p:txBody>
      </p:sp>
      <p:sp>
        <p:nvSpPr>
          <p:cNvPr id="13" name="Text 9"/>
          <p:cNvSpPr txBox="1"/>
          <p:nvPr/>
        </p:nvSpPr>
        <p:spPr>
          <a:xfrm>
            <a:off x="7726680" y="3273552"/>
            <a:ext cx="3840480" cy="5029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Blocked: 5888 → 1388 shared-memory instructions</a:t>
            </a:r>
            <a:endParaRPr lang="en-US" sz="1300" dirty="0"/>
          </a:p>
        </p:txBody>
      </p:sp>
      <p:sp>
        <p:nvSpPr>
          <p:cNvPr id="14" name="panel"/>
          <p:cNvSpPr/>
          <p:nvPr/>
        </p:nvSpPr>
        <p:spPr>
          <a:xfrm>
            <a:off x="7589520" y="3977640"/>
            <a:ext cx="4114800" cy="1188720"/>
          </a:xfrm>
          <a:prstGeom prst="roundRect">
            <a:avLst>
              <a:gd name="adj" fmla="val 6154"/>
            </a:avLst>
          </a:prstGeom>
          <a:solidFill>
            <a:srgbClr val="F3F6F7"/>
          </a:solidFill>
          <a:ln/>
        </p:spPr>
      </p:sp>
      <p:sp>
        <p:nvSpPr>
          <p:cNvPr id="15" name="Text 11"/>
          <p:cNvSpPr txBox="1"/>
          <p:nvPr/>
        </p:nvSpPr>
        <p:spPr>
          <a:xfrm>
            <a:off x="7726680" y="4069080"/>
            <a:ext cx="3840480" cy="502920"/>
          </a:xfrm>
          <a:prstGeom prst="rect">
            <a:avLst/>
          </a:prstGeom>
          <a:noFill/>
          <a:ln/>
        </p:spPr>
        <p:txBody>
          <a:bodyPr wrap="square" lIns="0" tIns="0" rIns="0" bIns="0" rtlCol="0" anchor="t"/>
          <a:lstStyle/>
          <a:p>
            <a:pPr indent="0" marL="0">
              <a:buNone/>
            </a:pPr>
            <a:r>
              <a:rPr lang="en-US" sz="2600" b="1" dirty="0">
                <a:solidFill>
                  <a:srgbClr val="0E6E7A"/>
                </a:solidFill>
                <a:latin typeface="Calibri" pitchFamily="34" charset="0"/>
                <a:ea typeface="Calibri" pitchFamily="34" charset="-122"/>
                <a:cs typeface="Calibri" pitchFamily="34" charset="-120"/>
              </a:rPr>
              <a:t>↓40% / ↓30%</a:t>
            </a:r>
            <a:endParaRPr lang="en-US" sz="2600" dirty="0"/>
          </a:p>
        </p:txBody>
      </p:sp>
      <p:sp>
        <p:nvSpPr>
          <p:cNvPr id="16" name="Text 12"/>
          <p:cNvSpPr txBox="1"/>
          <p:nvPr/>
        </p:nvSpPr>
        <p:spPr>
          <a:xfrm>
            <a:off x="7726680" y="4599432"/>
            <a:ext cx="3840480" cy="502920"/>
          </a:xfrm>
          <a:prstGeom prst="rect">
            <a:avLst/>
          </a:prstGeom>
          <a:noFill/>
          <a:ln/>
        </p:spPr>
        <p:txBody>
          <a:bodyPr wrap="square" lIns="0" tIns="0" rIns="0" bIns="0" rtlCol="0" anchor="t"/>
          <a:lstStyle/>
          <a:p>
            <a:pPr indent="0" marL="0">
              <a:buNone/>
            </a:pPr>
            <a:r>
              <a:rPr lang="en-US" sz="1300" dirty="0">
                <a:solidFill>
                  <a:srgbClr val="1E2A32"/>
                </a:solidFill>
                <a:latin typeface="Calibri" pitchFamily="34" charset="0"/>
                <a:ea typeface="Calibri" pitchFamily="34" charset="-122"/>
                <a:cs typeface="Calibri" pitchFamily="34" charset="-120"/>
              </a:rPr>
              <a:t>MMA: 5914 → 3517;  Sliced&lt;Blocked&gt;: 6703 → 4687</a:t>
            </a:r>
            <a:endParaRPr lang="en-US" sz="1300" dirty="0"/>
          </a:p>
        </p:txBody>
      </p:sp>
      <p:sp>
        <p:nvSpPr>
          <p:cNvPr id="17" name="Text 13"/>
          <p:cNvSpPr txBox="1"/>
          <p:nvPr/>
        </p:nvSpPr>
        <p:spPr>
          <a:xfrm>
            <a:off x="502920" y="4892040"/>
            <a:ext cx="6766560" cy="59436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Pass rate = test cases compiling and correct. N/A = baseline failed, no count. Counts are micro-benchmark instruction counts, not runtime.</a:t>
            </a:r>
            <a:endParaRPr lang="en-US" sz="13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§6.1 · MIXED-PRECISION MATMUL CORRECTNESS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Table 5: from 366/784 to 784/784 mixed-precision cases passing</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Table 5 and “Mixed Precision Matmul”, p. 142</a:t>
            </a:r>
            <a:endParaRPr lang="en-US" sz="1000" dirty="0"/>
          </a:p>
        </p:txBody>
      </p:sp>
      <p:pic>
        <p:nvPicPr>
          <p:cNvPr id="6" name="fig-tab5" descr="Table 5 pass rates">    </p:cNvPr>
          <p:cNvPicPr>
            <a:picLocks noChangeAspect="1"/>
          </p:cNvPicPr>
          <p:nvPr/>
        </p:nvPicPr>
        <p:blipFill>
          <a:blip r:embed="rId1"/>
          <a:stretch>
            <a:fillRect/>
          </a:stretch>
        </p:blipFill>
        <p:spPr>
          <a:xfrm>
            <a:off x="502920" y="1280160"/>
            <a:ext cx="6949440" cy="2489992"/>
          </a:xfrm>
          <a:prstGeom prst="rect">
            <a:avLst/>
          </a:prstGeom>
        </p:spPr>
      </p:pic>
      <p:sp>
        <p:nvSpPr>
          <p:cNvPr id="7" name="caption"/>
          <p:cNvSpPr txBox="1"/>
          <p:nvPr/>
        </p:nvSpPr>
        <p:spPr>
          <a:xfrm>
            <a:off x="502920" y="3815872"/>
            <a:ext cx="694944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Table 5.</a:t>
            </a:r>
            <a:r>
              <a:rPr lang="en-US" sz="1100" dirty="0">
                <a:solidFill>
                  <a:srgbClr val="5B6770"/>
                </a:solidFill>
                <a:latin typeface="Calibri" pitchFamily="34" charset="0"/>
                <a:ea typeface="Calibri" pitchFamily="34" charset="-122"/>
                <a:cs typeface="Calibri" pitchFamily="34" charset="-120"/>
              </a:rPr>
              <a:t> Pass rate per data-type pair (Triton vs Triton-Linear).</a:t>
            </a:r>
            <a:endParaRPr lang="en-US" sz="1100" dirty="0"/>
          </a:p>
        </p:txBody>
      </p:sp>
      <p:sp>
        <p:nvSpPr>
          <p:cNvPr id="8" name="panel"/>
          <p:cNvSpPr/>
          <p:nvPr/>
        </p:nvSpPr>
        <p:spPr>
          <a:xfrm>
            <a:off x="7772400" y="1325880"/>
            <a:ext cx="3931920" cy="2286000"/>
          </a:xfrm>
          <a:prstGeom prst="roundRect">
            <a:avLst>
              <a:gd name="adj" fmla="val 3200"/>
            </a:avLst>
          </a:prstGeom>
          <a:solidFill>
            <a:srgbClr val="E3F2E4"/>
          </a:solidFill>
          <a:ln/>
        </p:spPr>
      </p:sp>
      <p:sp>
        <p:nvSpPr>
          <p:cNvPr id="9" name="Text 5"/>
          <p:cNvSpPr txBox="1"/>
          <p:nvPr/>
        </p:nvSpPr>
        <p:spPr>
          <a:xfrm>
            <a:off x="7955280" y="1463040"/>
            <a:ext cx="3566160" cy="2011680"/>
          </a:xfrm>
          <a:prstGeom prst="rect">
            <a:avLst/>
          </a:prstGeom>
          <a:noFill/>
          <a:ln/>
        </p:spPr>
        <p:txBody>
          <a:bodyPr wrap="square" lIns="0" tIns="0" rIns="0" bIns="0" rtlCol="0" anchor="ctr"/>
          <a:lstStyle/>
          <a:p>
            <a:pPr indent="0" marL="0">
              <a:buNone/>
            </a:pPr>
            <a:r>
              <a:rPr lang="en-US" sz="4000" b="1" dirty="0">
                <a:solidFill>
                  <a:srgbClr val="2E7D32"/>
                </a:solidFill>
                <a:latin typeface="Calibri" pitchFamily="34" charset="0"/>
                <a:ea typeface="Calibri" pitchFamily="34" charset="-122"/>
                <a:cs typeface="Calibri" pitchFamily="34" charset="-120"/>
              </a:rPr>
              <a:t>784 / 784</a:t>
            </a:r>
            <a:endParaRPr lang="en-US" sz="1600" dirty="0"/>
          </a:p>
          <a:p>
            <a:pPr indent="0" marL="0">
              <a:buNone/>
            </a:pPr>
            <a:r>
              <a:rPr lang="en-US" sz="1500" dirty="0">
                <a:solidFill>
                  <a:srgbClr val="1E2A32"/>
                </a:solidFill>
                <a:latin typeface="Calibri" pitchFamily="34" charset="0"/>
                <a:ea typeface="Calibri" pitchFamily="34" charset="-122"/>
                <a:cs typeface="Calibri" pitchFamily="34" charset="-120"/>
              </a:rPr>
              <a:t>Triton-Linear (100%)</a:t>
            </a:r>
            <a:endParaRPr lang="en-US" sz="1600" dirty="0"/>
          </a:p>
          <a:p>
            <a:pPr indent="0" marL="0">
              <a:buNone/>
            </a:pPr>
            <a:r>
              <a:rPr lang="en-US" sz="1500" dirty="0">
                <a:solidFill>
                  <a:srgbClr val="5B6770"/>
                </a:solidFill>
                <a:latin typeface="Calibri" pitchFamily="34" charset="0"/>
                <a:ea typeface="Calibri" pitchFamily="34" charset="-122"/>
                <a:cs typeface="Calibri" pitchFamily="34" charset="-120"/>
              </a:rPr>
              <a:t>vs 366 / 784 baseline (46.6%)</a:t>
            </a:r>
            <a:endParaRPr lang="en-US" sz="1600" dirty="0"/>
          </a:p>
        </p:txBody>
      </p:sp>
      <p:sp>
        <p:nvSpPr>
          <p:cNvPr id="10" name="bullets"/>
          <p:cNvSpPr txBox="1"/>
          <p:nvPr/>
        </p:nvSpPr>
        <p:spPr>
          <a:xfrm>
            <a:off x="7772400" y="3794760"/>
            <a:ext cx="3931920" cy="2011680"/>
          </a:xfrm>
          <a:prstGeom prst="rect">
            <a:avLst/>
          </a:prstGeom>
          <a:noFill/>
          <a:ln/>
        </p:spPr>
        <p:txBody>
          <a:bodyPr wrap="square" lIns="25400" tIns="25400" rIns="25400" bIns="25400" rtlCol="0" anchor="t"/>
          <a:lstStyle/>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Worst baseline pairs: </a:t>
            </a:r>
            <a:r>
              <a:rPr lang="en-US" sz="1400" b="1" dirty="0">
                <a:solidFill>
                  <a:srgbClr val="1E2A32"/>
                </a:solidFill>
                <a:latin typeface="Calibri" pitchFamily="34" charset="0"/>
                <a:ea typeface="Calibri" pitchFamily="34" charset="-122"/>
                <a:cs typeface="Calibri" pitchFamily="34" charset="-120"/>
              </a:rPr>
              <a:t>i8/f8 30/144</a:t>
            </a:r>
            <a:r>
              <a:rPr lang="en-US" sz="1400" dirty="0">
                <a:solidFill>
                  <a:srgbClr val="1E2A32"/>
                </a:solidFill>
                <a:latin typeface="Calibri" pitchFamily="34" charset="0"/>
                <a:ea typeface="Calibri" pitchFamily="34" charset="-122"/>
                <a:cs typeface="Calibri" pitchFamily="34" charset="-120"/>
              </a:rPr>
              <a:t>, i8/f16 36/96, i64/f32 16/32.</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Cause (paper): small shapes and low-precision types; no MMA layouts with </a:t>
            </a:r>
            <a:r>
              <a:rPr lang="en-US" sz="1400" b="1" dirty="0">
                <a:solidFill>
                  <a:srgbClr val="1E2A32"/>
                </a:solidFill>
                <a:latin typeface="Calibri" pitchFamily="34" charset="0"/>
                <a:ea typeface="Calibri" pitchFamily="34" charset="-122"/>
                <a:cs typeface="Calibri" pitchFamily="34" charset="-120"/>
              </a:rPr>
              <a:t>&gt; 32 consecutive bits</a:t>
            </a:r>
            <a:r>
              <a:rPr lang="en-US" sz="1400" dirty="0">
                <a:solidFill>
                  <a:srgbClr val="1E2A32"/>
                </a:solidFill>
                <a:latin typeface="Calibri" pitchFamily="34" charset="0"/>
                <a:ea typeface="Calibri" pitchFamily="34" charset="-122"/>
                <a:cs typeface="Calibri" pitchFamily="34" charset="-120"/>
              </a:rPr>
              <a:t> in the tile’s last dimension.</a:t>
            </a:r>
            <a:endParaRPr lang="en-US" sz="1400" dirty="0"/>
          </a:p>
        </p:txBody>
      </p:sp>
      <p:sp>
        <p:nvSpPr>
          <p:cNvPr id="11" name="Text 7"/>
          <p:cNvSpPr txBox="1"/>
          <p:nvPr/>
        </p:nvSpPr>
        <p:spPr>
          <a:xfrm>
            <a:off x="502920" y="4892040"/>
            <a:ext cx="6949440" cy="320040"/>
          </a:xfrm>
          <a:prstGeom prst="rect">
            <a:avLst/>
          </a:prstGeom>
          <a:noFill/>
          <a:ln/>
        </p:spPr>
        <p:txBody>
          <a:bodyPr wrap="square" lIns="0" tIns="0" rIns="0" bIns="0" rtlCol="0" anchor="t"/>
          <a:lstStyle/>
          <a:p>
            <a:pPr indent="0" marL="0">
              <a:buNone/>
            </a:pPr>
            <a:r>
              <a:rPr lang="en-US" sz="1300" dirty="0">
                <a:solidFill>
                  <a:srgbClr val="5B6770"/>
                </a:solidFill>
                <a:latin typeface="Calibri" pitchFamily="34" charset="0"/>
                <a:ea typeface="Calibri" pitchFamily="34" charset="-122"/>
                <a:cs typeface="Calibri" pitchFamily="34" charset="-120"/>
              </a:rPr>
              <a:t>14 data-type pairs × shapes = 784 cases. Reported for the paper’s revision.</a:t>
            </a:r>
            <a:endParaRPr lang="en-US" sz="13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§6.1 · MICRO-BENCHMARK PERFORMANCE (GH200)</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Figures 6–8: mixed precision, conversions, gather</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Figures 6–8 and §6.1 text, pp. 142–143</a:t>
            </a:r>
            <a:endParaRPr lang="en-US" sz="1000" dirty="0"/>
          </a:p>
        </p:txBody>
      </p:sp>
      <p:sp>
        <p:nvSpPr>
          <p:cNvPr id="6" name="Text 3"/>
          <p:cNvSpPr txBox="1"/>
          <p:nvPr/>
        </p:nvSpPr>
        <p:spPr>
          <a:xfrm>
            <a:off x="502920" y="1280160"/>
            <a:ext cx="54864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Figure 6 · MXFP4 matmul</a:t>
            </a:r>
            <a:endParaRPr lang="en-US" sz="1500" dirty="0"/>
          </a:p>
        </p:txBody>
      </p:sp>
      <p:pic>
        <p:nvPicPr>
          <p:cNvPr id="7" name="fig-fig6" descr="Figure 6 · MXFP4 matmul">    </p:cNvPr>
          <p:cNvPicPr>
            <a:picLocks noChangeAspect="1"/>
          </p:cNvPicPr>
          <p:nvPr/>
        </p:nvPicPr>
        <p:blipFill>
          <a:blip r:embed="rId1"/>
          <a:stretch>
            <a:fillRect/>
          </a:stretch>
        </p:blipFill>
        <p:spPr>
          <a:xfrm>
            <a:off x="502920" y="1600200"/>
            <a:ext cx="5486400" cy="1960713"/>
          </a:xfrm>
          <a:prstGeom prst="rect">
            <a:avLst/>
          </a:prstGeom>
        </p:spPr>
      </p:pic>
      <p:sp>
        <p:nvSpPr>
          <p:cNvPr id="8" name="Text 4"/>
          <p:cNvSpPr txBox="1"/>
          <p:nvPr/>
        </p:nvSpPr>
        <p:spPr>
          <a:xfrm>
            <a:off x="6217920" y="1280160"/>
            <a:ext cx="548640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Figure 7 · layout conversion</a:t>
            </a:r>
            <a:endParaRPr lang="en-US" sz="1500" dirty="0"/>
          </a:p>
        </p:txBody>
      </p:sp>
      <p:pic>
        <p:nvPicPr>
          <p:cNvPr id="9" name="fig-fig7" descr="Figure 7 · layout conversion">    </p:cNvPr>
          <p:cNvPicPr>
            <a:picLocks noChangeAspect="1"/>
          </p:cNvPicPr>
          <p:nvPr/>
        </p:nvPicPr>
        <p:blipFill>
          <a:blip r:embed="rId2"/>
          <a:stretch>
            <a:fillRect/>
          </a:stretch>
        </p:blipFill>
        <p:spPr>
          <a:xfrm>
            <a:off x="6217920" y="1600200"/>
            <a:ext cx="5486400" cy="1875270"/>
          </a:xfrm>
          <a:prstGeom prst="rect">
            <a:avLst/>
          </a:prstGeom>
        </p:spPr>
      </p:pic>
      <p:sp>
        <p:nvSpPr>
          <p:cNvPr id="10" name="Text 5"/>
          <p:cNvSpPr txBox="1"/>
          <p:nvPr/>
        </p:nvSpPr>
        <p:spPr>
          <a:xfrm>
            <a:off x="502920" y="3657600"/>
            <a:ext cx="4846320" cy="274320"/>
          </a:xfrm>
          <a:prstGeom prst="rect">
            <a:avLst/>
          </a:prstGeom>
          <a:noFill/>
          <a:ln/>
        </p:spPr>
        <p:txBody>
          <a:bodyPr wrap="square" lIns="0" tIns="0" rIns="0" bIns="0" rtlCol="0" anchor="t"/>
          <a:lstStyle/>
          <a:p>
            <a:pPr indent="0" marL="0">
              <a:buNone/>
            </a:pPr>
            <a:r>
              <a:rPr lang="en-US" sz="1500" b="1" dirty="0">
                <a:solidFill>
                  <a:srgbClr val="0E6E7A"/>
                </a:solidFill>
                <a:latin typeface="Calibri" pitchFamily="34" charset="0"/>
                <a:ea typeface="Calibri" pitchFamily="34" charset="-122"/>
                <a:cs typeface="Calibri" pitchFamily="34" charset="-120"/>
              </a:rPr>
              <a:t>Figure 8 · gather</a:t>
            </a:r>
            <a:endParaRPr lang="en-US" sz="1500" dirty="0"/>
          </a:p>
        </p:txBody>
      </p:sp>
      <p:pic>
        <p:nvPicPr>
          <p:cNvPr id="11" name="fig-fig8" descr="Figure 8 · gather">    </p:cNvPr>
          <p:cNvPicPr>
            <a:picLocks noChangeAspect="1"/>
          </p:cNvPicPr>
          <p:nvPr/>
        </p:nvPicPr>
        <p:blipFill>
          <a:blip r:embed="rId3"/>
          <a:stretch>
            <a:fillRect/>
          </a:stretch>
        </p:blipFill>
        <p:spPr>
          <a:xfrm>
            <a:off x="502920" y="3977640"/>
            <a:ext cx="4846320" cy="1826754"/>
          </a:xfrm>
          <a:prstGeom prst="rect">
            <a:avLst/>
          </a:prstGeom>
        </p:spPr>
      </p:pic>
      <p:sp>
        <p:nvSpPr>
          <p:cNvPr id="12" name="callout"/>
          <p:cNvSpPr/>
          <p:nvPr/>
        </p:nvSpPr>
        <p:spPr>
          <a:xfrm>
            <a:off x="6217920" y="3749040"/>
            <a:ext cx="5486400" cy="612648"/>
          </a:xfrm>
          <a:prstGeom prst="roundRect">
            <a:avLst>
              <a:gd name="adj" fmla="val 11940"/>
            </a:avLst>
          </a:prstGeom>
          <a:solidFill>
            <a:srgbClr val="DDEFF1"/>
          </a:solidFill>
          <a:ln/>
        </p:spPr>
      </p:sp>
      <p:sp>
        <p:nvSpPr>
          <p:cNvPr id="13" name="callout-text"/>
          <p:cNvSpPr txBox="1"/>
          <p:nvPr/>
        </p:nvSpPr>
        <p:spPr>
          <a:xfrm>
            <a:off x="6355080" y="3803904"/>
            <a:ext cx="5212080" cy="502920"/>
          </a:xfrm>
          <a:prstGeom prst="rect">
            <a:avLst/>
          </a:prstGeom>
          <a:noFill/>
          <a:ln/>
        </p:spPr>
        <p:txBody>
          <a:bodyPr wrap="square" lIns="0" tIns="0" rIns="0" bIns="0" rtlCol="0" anchor="ctr"/>
          <a:lstStyle/>
          <a:p>
            <a:pPr algn="l" indent="0" marL="0">
              <a:buNone/>
            </a:pPr>
            <a:r>
              <a:rPr lang="en-US" sz="1400" b="1" dirty="0">
                <a:solidFill>
                  <a:srgbClr val="0A4F58"/>
                </a:solidFill>
                <a:latin typeface="Calibri" pitchFamily="34" charset="0"/>
                <a:ea typeface="Calibri" pitchFamily="34" charset="-122"/>
                <a:cs typeface="Calibri" pitchFamily="34" charset="-120"/>
              </a:rPr>
              <a:t>Fig. 6:</a:t>
            </a:r>
            <a:r>
              <a:rPr lang="en-US" sz="1400" dirty="0">
                <a:solidFill>
                  <a:srgbClr val="0A4F58"/>
                </a:solidFill>
                <a:latin typeface="Calibri" pitchFamily="34" charset="0"/>
                <a:ea typeface="Calibri" pitchFamily="34" charset="-122"/>
                <a:cs typeface="Calibri" pitchFamily="34" charset="-120"/>
              </a:rPr>
              <a:t> Up to </a:t>
            </a:r>
            <a:r>
              <a:rPr lang="en-US" sz="1400" b="1" dirty="0">
                <a:solidFill>
                  <a:srgbClr val="0A4F58"/>
                </a:solidFill>
                <a:latin typeface="Calibri" pitchFamily="34" charset="0"/>
                <a:ea typeface="Calibri" pitchFamily="34" charset="-122"/>
                <a:cs typeface="Calibri" pitchFamily="34" charset="-120"/>
              </a:rPr>
              <a:t>1.87×</a:t>
            </a:r>
            <a:r>
              <a:rPr lang="en-US" sz="1400" dirty="0">
                <a:solidFill>
                  <a:srgbClr val="0A4F58"/>
                </a:solidFill>
                <a:latin typeface="Calibri" pitchFamily="34" charset="0"/>
                <a:ea typeface="Calibri" pitchFamily="34" charset="-122"/>
                <a:cs typeface="Calibri" pitchFamily="34" charset="-120"/>
              </a:rPr>
              <a:t> (mxfp4 × f16; baseline also lacked wgmma for f16).</a:t>
            </a:r>
            <a:endParaRPr lang="en-US" sz="1400" dirty="0"/>
          </a:p>
        </p:txBody>
      </p:sp>
      <p:sp>
        <p:nvSpPr>
          <p:cNvPr id="14" name="callout"/>
          <p:cNvSpPr/>
          <p:nvPr/>
        </p:nvSpPr>
        <p:spPr>
          <a:xfrm>
            <a:off x="6217920" y="4453128"/>
            <a:ext cx="5486400" cy="612648"/>
          </a:xfrm>
          <a:prstGeom prst="roundRect">
            <a:avLst>
              <a:gd name="adj" fmla="val 11940"/>
            </a:avLst>
          </a:prstGeom>
          <a:solidFill>
            <a:srgbClr val="DDEFF1"/>
          </a:solidFill>
          <a:ln/>
        </p:spPr>
      </p:sp>
      <p:sp>
        <p:nvSpPr>
          <p:cNvPr id="15" name="callout-text"/>
          <p:cNvSpPr txBox="1"/>
          <p:nvPr/>
        </p:nvSpPr>
        <p:spPr>
          <a:xfrm>
            <a:off x="6355080" y="4507992"/>
            <a:ext cx="5212080" cy="502920"/>
          </a:xfrm>
          <a:prstGeom prst="rect">
            <a:avLst/>
          </a:prstGeom>
          <a:noFill/>
          <a:ln/>
        </p:spPr>
        <p:txBody>
          <a:bodyPr wrap="square" lIns="0" tIns="0" rIns="0" bIns="0" rtlCol="0" anchor="ctr"/>
          <a:lstStyle/>
          <a:p>
            <a:pPr algn="l" indent="0" marL="0">
              <a:buNone/>
            </a:pPr>
            <a:r>
              <a:rPr lang="en-US" sz="1400" b="1" dirty="0">
                <a:solidFill>
                  <a:srgbClr val="0A4F58"/>
                </a:solidFill>
                <a:latin typeface="Calibri" pitchFamily="34" charset="0"/>
                <a:ea typeface="Calibri" pitchFamily="34" charset="-122"/>
                <a:cs typeface="Calibri" pitchFamily="34" charset="-120"/>
              </a:rPr>
              <a:t>Fig. 7:</a:t>
            </a:r>
            <a:r>
              <a:rPr lang="en-US" sz="1400" dirty="0">
                <a:solidFill>
                  <a:srgbClr val="0A4F58"/>
                </a:solidFill>
                <a:latin typeface="Calibri" pitchFamily="34" charset="0"/>
                <a:ea typeface="Calibri" pitchFamily="34" charset="-122"/>
                <a:cs typeface="Calibri" pitchFamily="34" charset="-120"/>
              </a:rPr>
              <a:t> Up to </a:t>
            </a:r>
            <a:r>
              <a:rPr lang="en-US" sz="1400" b="1" dirty="0">
                <a:solidFill>
                  <a:srgbClr val="0A4F58"/>
                </a:solidFill>
                <a:latin typeface="Calibri" pitchFamily="34" charset="0"/>
                <a:ea typeface="Calibri" pitchFamily="34" charset="-122"/>
                <a:cs typeface="Calibri" pitchFamily="34" charset="-120"/>
              </a:rPr>
              <a:t>3.93×</a:t>
            </a:r>
            <a:r>
              <a:rPr lang="en-US" sz="1400" dirty="0">
                <a:solidFill>
                  <a:srgbClr val="0A4F58"/>
                </a:solidFill>
                <a:latin typeface="Calibri" pitchFamily="34" charset="0"/>
                <a:ea typeface="Calibri" pitchFamily="34" charset="-122"/>
                <a:cs typeface="Calibri" pitchFamily="34" charset="-120"/>
              </a:rPr>
              <a:t>: warp shuffles vs shared-memory round trips.</a:t>
            </a:r>
            <a:endParaRPr lang="en-US" sz="1400" dirty="0"/>
          </a:p>
        </p:txBody>
      </p:sp>
      <p:sp>
        <p:nvSpPr>
          <p:cNvPr id="16" name="callout"/>
          <p:cNvSpPr/>
          <p:nvPr/>
        </p:nvSpPr>
        <p:spPr>
          <a:xfrm>
            <a:off x="6217920" y="5157216"/>
            <a:ext cx="5486400" cy="612648"/>
          </a:xfrm>
          <a:prstGeom prst="roundRect">
            <a:avLst>
              <a:gd name="adj" fmla="val 11940"/>
            </a:avLst>
          </a:prstGeom>
          <a:solidFill>
            <a:srgbClr val="DDEFF1"/>
          </a:solidFill>
          <a:ln/>
        </p:spPr>
      </p:sp>
      <p:sp>
        <p:nvSpPr>
          <p:cNvPr id="17" name="callout-text"/>
          <p:cNvSpPr txBox="1"/>
          <p:nvPr/>
        </p:nvSpPr>
        <p:spPr>
          <a:xfrm>
            <a:off x="6355080" y="5212080"/>
            <a:ext cx="5212080" cy="502920"/>
          </a:xfrm>
          <a:prstGeom prst="rect">
            <a:avLst/>
          </a:prstGeom>
          <a:noFill/>
          <a:ln/>
        </p:spPr>
        <p:txBody>
          <a:bodyPr wrap="square" lIns="0" tIns="0" rIns="0" bIns="0" rtlCol="0" anchor="ctr"/>
          <a:lstStyle/>
          <a:p>
            <a:pPr algn="l" indent="0" marL="0">
              <a:buNone/>
            </a:pPr>
            <a:r>
              <a:rPr lang="en-US" sz="1400" b="1" dirty="0">
                <a:solidFill>
                  <a:srgbClr val="0A4F58"/>
                </a:solidFill>
                <a:latin typeface="Calibri" pitchFamily="34" charset="0"/>
                <a:ea typeface="Calibri" pitchFamily="34" charset="-122"/>
                <a:cs typeface="Calibri" pitchFamily="34" charset="-120"/>
              </a:rPr>
              <a:t>Fig. 8:</a:t>
            </a:r>
            <a:r>
              <a:rPr lang="en-US" sz="1400" dirty="0">
                <a:solidFill>
                  <a:srgbClr val="0A4F58"/>
                </a:solidFill>
                <a:latin typeface="Calibri" pitchFamily="34" charset="0"/>
                <a:ea typeface="Calibri" pitchFamily="34" charset="-122"/>
                <a:cs typeface="Calibri" pitchFamily="34" charset="-120"/>
              </a:rPr>
              <a:t> Up to </a:t>
            </a:r>
            <a:r>
              <a:rPr lang="en-US" sz="1400" b="1" dirty="0">
                <a:solidFill>
                  <a:srgbClr val="0A4F58"/>
                </a:solidFill>
                <a:latin typeface="Calibri" pitchFamily="34" charset="0"/>
                <a:ea typeface="Calibri" pitchFamily="34" charset="-122"/>
                <a:cs typeface="Calibri" pitchFamily="34" charset="-120"/>
              </a:rPr>
              <a:t>14.20×</a:t>
            </a:r>
            <a:r>
              <a:rPr lang="en-US" sz="1400" dirty="0">
                <a:solidFill>
                  <a:srgbClr val="0A4F58"/>
                </a:solidFill>
                <a:latin typeface="Calibri" pitchFamily="34" charset="0"/>
                <a:ea typeface="Calibri" pitchFamily="34" charset="-122"/>
                <a:cs typeface="Calibri" pitchFamily="34" charset="-120"/>
              </a:rPr>
              <a:t>; drops for large axes ([512,32]) as shuffle rounds grow.</a:t>
            </a:r>
            <a:endParaRPr lang="en-US" sz="1400" dirty="0"/>
          </a:p>
        </p:txBody>
      </p:sp>
      <p:sp>
        <p:nvSpPr>
          <p:cNvPr id="18" name="Text 12"/>
          <p:cNvSpPr txBox="1"/>
          <p:nvPr/>
        </p:nvSpPr>
        <p:spPr>
          <a:xfrm>
            <a:off x="502920" y="5870448"/>
            <a:ext cx="11201400" cy="27432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Speedup = baseline ÷ Triton-Linear runtime (&gt; 1 = faster); each figure isolates one operation — not end-to-end.</a:t>
            </a:r>
            <a:endParaRPr lang="en-US" sz="12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§6.2 · REAL BENCHMARKS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Table 6 and Figure 9: 265 TritonBench cases on three GPUs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Table 6, Figure 9 and §6.2, pp. 143–144</a:t>
            </a:r>
            <a:endParaRPr lang="en-US" sz="1000" dirty="0"/>
          </a:p>
        </p:txBody>
      </p:sp>
      <p:pic>
        <p:nvPicPr>
          <p:cNvPr id="6" name="fig-fig9" descr="Figure 9 real benchmark speedups">    </p:cNvPr>
          <p:cNvPicPr>
            <a:picLocks noChangeAspect="1"/>
          </p:cNvPicPr>
          <p:nvPr/>
        </p:nvPicPr>
        <p:blipFill>
          <a:blip r:embed="rId1"/>
          <a:stretch>
            <a:fillRect/>
          </a:stretch>
        </p:blipFill>
        <p:spPr>
          <a:xfrm>
            <a:off x="502920" y="1280160"/>
            <a:ext cx="11201400" cy="2027186"/>
          </a:xfrm>
          <a:prstGeom prst="rect">
            <a:avLst/>
          </a:prstGeom>
        </p:spPr>
      </p:pic>
      <p:sp>
        <p:nvSpPr>
          <p:cNvPr id="7" name="caption"/>
          <p:cNvSpPr txBox="1"/>
          <p:nvPr/>
        </p:nvSpPr>
        <p:spPr>
          <a:xfrm>
            <a:off x="502920" y="3353066"/>
            <a:ext cx="11201400" cy="274320"/>
          </a:xfrm>
          <a:prstGeom prst="rect">
            <a:avLst/>
          </a:prstGeom>
          <a:noFill/>
          <a:ln/>
        </p:spPr>
        <p:txBody>
          <a:bodyPr wrap="square" lIns="0" tIns="0" rIns="0" bIns="0" rtlCol="0" anchor="t"/>
          <a:lstStyle/>
          <a:p>
            <a:pPr algn="l" indent="0" marL="0">
              <a:buNone/>
            </a:pPr>
            <a:r>
              <a:rPr lang="en-US" sz="1100" b="1" dirty="0">
                <a:solidFill>
                  <a:srgbClr val="5B6770"/>
                </a:solidFill>
                <a:latin typeface="Calibri" pitchFamily="34" charset="0"/>
                <a:ea typeface="Calibri" pitchFamily="34" charset="-122"/>
                <a:cs typeface="Calibri" pitchFamily="34" charset="-120"/>
              </a:rPr>
              <a:t>Figure 9.</a:t>
            </a:r>
            <a:r>
              <a:rPr lang="en-US" sz="1100" dirty="0">
                <a:solidFill>
                  <a:srgbClr val="5B6770"/>
                </a:solidFill>
                <a:latin typeface="Calibri" pitchFamily="34" charset="0"/>
                <a:ea typeface="Calibri" pitchFamily="34" charset="-122"/>
                <a:cs typeface="Calibri" pitchFamily="34" charset="-120"/>
              </a:rPr>
              <a:t> Speedups of real benchmarks on RTX 4090, GH200 and MI250 (each dot = one input case).</a:t>
            </a:r>
            <a:endParaRPr lang="en-US" sz="1100" dirty="0"/>
          </a:p>
        </p:txBody>
      </p:sp>
      <p:pic>
        <p:nvPicPr>
          <p:cNvPr id="8" name="fig-tab6" descr="Table 6 operation counts">    </p:cNvPr>
          <p:cNvPicPr>
            <a:picLocks noChangeAspect="1"/>
          </p:cNvPicPr>
          <p:nvPr/>
        </p:nvPicPr>
        <p:blipFill>
          <a:blip r:embed="rId2"/>
          <a:stretch>
            <a:fillRect/>
          </a:stretch>
        </p:blipFill>
        <p:spPr>
          <a:xfrm>
            <a:off x="502920" y="3840480"/>
            <a:ext cx="3643491" cy="2103120"/>
          </a:xfrm>
          <a:prstGeom prst="rect">
            <a:avLst/>
          </a:prstGeom>
        </p:spPr>
      </p:pic>
      <p:sp>
        <p:nvSpPr>
          <p:cNvPr id="9" name="Text 4"/>
          <p:cNvSpPr txBox="1"/>
          <p:nvPr/>
        </p:nvSpPr>
        <p:spPr>
          <a:xfrm>
            <a:off x="4480560" y="3840480"/>
            <a:ext cx="2286000" cy="822960"/>
          </a:xfrm>
          <a:prstGeom prst="rect">
            <a:avLst/>
          </a:prstGeom>
          <a:noFill/>
          <a:ln/>
        </p:spPr>
        <p:txBody>
          <a:bodyPr wrap="square" lIns="0" tIns="0" rIns="0" bIns="0" rtlCol="0" anchor="t"/>
          <a:lstStyle/>
          <a:p>
            <a:pPr indent="0" marL="0">
              <a:buNone/>
            </a:pPr>
            <a:r>
              <a:rPr lang="en-US" sz="1200" i="1" dirty="0">
                <a:solidFill>
                  <a:srgbClr val="5B6770"/>
                </a:solidFill>
                <a:latin typeface="Calibri" pitchFamily="34" charset="0"/>
                <a:ea typeface="Calibri" pitchFamily="34" charset="-122"/>
                <a:cs typeface="Calibri" pitchFamily="34" charset="-120"/>
              </a:rPr>
              <a:t>Table 6: shared-memory loads / stores / converts in TTGIR</a:t>
            </a:r>
            <a:endParaRPr lang="en-US" sz="1200" dirty="0"/>
          </a:p>
        </p:txBody>
      </p:sp>
      <p:sp>
        <p:nvSpPr>
          <p:cNvPr id="10" name="panel"/>
          <p:cNvSpPr/>
          <p:nvPr/>
        </p:nvSpPr>
        <p:spPr>
          <a:xfrm>
            <a:off x="6858000" y="3840480"/>
            <a:ext cx="4846320" cy="621792"/>
          </a:xfrm>
          <a:prstGeom prst="roundRect">
            <a:avLst>
              <a:gd name="adj" fmla="val 11765"/>
            </a:avLst>
          </a:prstGeom>
          <a:solidFill>
            <a:srgbClr val="F3F6F7"/>
          </a:solidFill>
          <a:ln w="12700">
            <a:solidFill>
              <a:srgbClr val="D3DADF"/>
            </a:solidFill>
            <a:prstDash val="solid"/>
          </a:ln>
        </p:spPr>
      </p:sp>
      <p:sp>
        <p:nvSpPr>
          <p:cNvPr id="11" name="Text 6"/>
          <p:cNvSpPr txBox="1"/>
          <p:nvPr/>
        </p:nvSpPr>
        <p:spPr>
          <a:xfrm>
            <a:off x="6967728" y="3840480"/>
            <a:ext cx="1051560" cy="621792"/>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GH200</a:t>
            </a:r>
            <a:endParaRPr lang="en-US" sz="1400" dirty="0"/>
          </a:p>
        </p:txBody>
      </p:sp>
      <p:sp>
        <p:nvSpPr>
          <p:cNvPr id="12" name="Text 7"/>
          <p:cNvSpPr txBox="1"/>
          <p:nvPr/>
        </p:nvSpPr>
        <p:spPr>
          <a:xfrm>
            <a:off x="8001000" y="3840480"/>
            <a:ext cx="1371600" cy="621792"/>
          </a:xfrm>
          <a:prstGeom prst="rect">
            <a:avLst/>
          </a:prstGeom>
          <a:noFill/>
          <a:ln/>
        </p:spPr>
        <p:txBody>
          <a:bodyPr wrap="square" lIns="0" tIns="0" rIns="0" bIns="0" rtlCol="0" anchor="ctr"/>
          <a:lstStyle/>
          <a:p>
            <a:pPr indent="0" marL="0">
              <a:buNone/>
            </a:pPr>
            <a:r>
              <a:rPr lang="en-US" sz="1400" b="1" dirty="0">
                <a:solidFill>
                  <a:srgbClr val="0E6E7A"/>
                </a:solidFill>
                <a:latin typeface="Calibri" pitchFamily="34" charset="0"/>
                <a:ea typeface="Calibri" pitchFamily="34" charset="-122"/>
                <a:cs typeface="Calibri" pitchFamily="34" charset="-120"/>
              </a:rPr>
              <a:t>0.96× – 1.40×</a:t>
            </a:r>
            <a:endParaRPr lang="en-US" sz="1400" dirty="0"/>
          </a:p>
        </p:txBody>
      </p:sp>
      <p:sp>
        <p:nvSpPr>
          <p:cNvPr id="13" name="Text 8"/>
          <p:cNvSpPr txBox="1"/>
          <p:nvPr/>
        </p:nvSpPr>
        <p:spPr>
          <a:xfrm>
            <a:off x="9372600" y="3840480"/>
            <a:ext cx="2286000" cy="621792"/>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int4_gemm, gemm, flex_attention; welford conversion → no-op</a:t>
            </a:r>
            <a:endParaRPr lang="en-US" sz="1100" dirty="0"/>
          </a:p>
        </p:txBody>
      </p:sp>
      <p:sp>
        <p:nvSpPr>
          <p:cNvPr id="14" name="panel"/>
          <p:cNvSpPr/>
          <p:nvPr/>
        </p:nvSpPr>
        <p:spPr>
          <a:xfrm>
            <a:off x="6858000" y="4553712"/>
            <a:ext cx="4846320" cy="621792"/>
          </a:xfrm>
          <a:prstGeom prst="roundRect">
            <a:avLst>
              <a:gd name="adj" fmla="val 11765"/>
            </a:avLst>
          </a:prstGeom>
          <a:solidFill>
            <a:srgbClr val="FFFFFF"/>
          </a:solidFill>
          <a:ln w="12700">
            <a:solidFill>
              <a:srgbClr val="D3DADF"/>
            </a:solidFill>
            <a:prstDash val="solid"/>
          </a:ln>
        </p:spPr>
      </p:sp>
      <p:sp>
        <p:nvSpPr>
          <p:cNvPr id="15" name="Text 10"/>
          <p:cNvSpPr txBox="1"/>
          <p:nvPr/>
        </p:nvSpPr>
        <p:spPr>
          <a:xfrm>
            <a:off x="6967728" y="4553712"/>
            <a:ext cx="1051560" cy="621792"/>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RTX 4090</a:t>
            </a:r>
            <a:endParaRPr lang="en-US" sz="1400" dirty="0"/>
          </a:p>
        </p:txBody>
      </p:sp>
      <p:sp>
        <p:nvSpPr>
          <p:cNvPr id="16" name="Text 11"/>
          <p:cNvSpPr txBox="1"/>
          <p:nvPr/>
        </p:nvSpPr>
        <p:spPr>
          <a:xfrm>
            <a:off x="8001000" y="4553712"/>
            <a:ext cx="1371600" cy="621792"/>
          </a:xfrm>
          <a:prstGeom prst="rect">
            <a:avLst/>
          </a:prstGeom>
          <a:noFill/>
          <a:ln/>
        </p:spPr>
        <p:txBody>
          <a:bodyPr wrap="square" lIns="0" tIns="0" rIns="0" bIns="0" rtlCol="0" anchor="ctr"/>
          <a:lstStyle/>
          <a:p>
            <a:pPr indent="0" marL="0">
              <a:buNone/>
            </a:pPr>
            <a:r>
              <a:rPr lang="en-US" sz="1400" b="1" dirty="0">
                <a:solidFill>
                  <a:srgbClr val="0E6E7A"/>
                </a:solidFill>
                <a:latin typeface="Calibri" pitchFamily="34" charset="0"/>
                <a:ea typeface="Calibri" pitchFamily="34" charset="-122"/>
                <a:cs typeface="Calibri" pitchFamily="34" charset="-120"/>
              </a:rPr>
              <a:t>0.97× – 1.37×</a:t>
            </a:r>
            <a:endParaRPr lang="en-US" sz="1400" dirty="0"/>
          </a:p>
        </p:txBody>
      </p:sp>
      <p:sp>
        <p:nvSpPr>
          <p:cNvPr id="17" name="Text 12"/>
          <p:cNvSpPr txBox="1"/>
          <p:nvPr/>
        </p:nvSpPr>
        <p:spPr>
          <a:xfrm>
            <a:off x="9372600" y="4553712"/>
            <a:ext cx="2286000" cy="621792"/>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template_attention: mma → ldmatrix path</a:t>
            </a:r>
            <a:endParaRPr lang="en-US" sz="1100" dirty="0"/>
          </a:p>
        </p:txBody>
      </p:sp>
      <p:sp>
        <p:nvSpPr>
          <p:cNvPr id="18" name="panel"/>
          <p:cNvSpPr/>
          <p:nvPr/>
        </p:nvSpPr>
        <p:spPr>
          <a:xfrm>
            <a:off x="6858000" y="5266944"/>
            <a:ext cx="4846320" cy="621792"/>
          </a:xfrm>
          <a:prstGeom prst="roundRect">
            <a:avLst>
              <a:gd name="adj" fmla="val 11765"/>
            </a:avLst>
          </a:prstGeom>
          <a:solidFill>
            <a:srgbClr val="F3F6F7"/>
          </a:solidFill>
          <a:ln w="12700">
            <a:solidFill>
              <a:srgbClr val="D3DADF"/>
            </a:solidFill>
            <a:prstDash val="solid"/>
          </a:ln>
        </p:spPr>
      </p:sp>
      <p:sp>
        <p:nvSpPr>
          <p:cNvPr id="19" name="Text 14"/>
          <p:cNvSpPr txBox="1"/>
          <p:nvPr/>
        </p:nvSpPr>
        <p:spPr>
          <a:xfrm>
            <a:off x="6967728" y="5266944"/>
            <a:ext cx="1051560" cy="621792"/>
          </a:xfrm>
          <a:prstGeom prst="rect">
            <a:avLst/>
          </a:prstGeom>
          <a:noFill/>
          <a:ln/>
        </p:spPr>
        <p:txBody>
          <a:bodyPr wrap="square" lIns="0" tIns="0" rIns="0" bIns="0" rtlCol="0" anchor="ctr"/>
          <a:lstStyle/>
          <a:p>
            <a:pPr indent="0" marL="0">
              <a:buNone/>
            </a:pPr>
            <a:r>
              <a:rPr lang="en-US" sz="1400" b="1" dirty="0">
                <a:solidFill>
                  <a:srgbClr val="1E2A32"/>
                </a:solidFill>
                <a:latin typeface="Calibri" pitchFamily="34" charset="0"/>
                <a:ea typeface="Calibri" pitchFamily="34" charset="-122"/>
                <a:cs typeface="Calibri" pitchFamily="34" charset="-120"/>
              </a:rPr>
              <a:t>MI250</a:t>
            </a:r>
            <a:endParaRPr lang="en-US" sz="1400" dirty="0"/>
          </a:p>
        </p:txBody>
      </p:sp>
      <p:sp>
        <p:nvSpPr>
          <p:cNvPr id="20" name="Text 15"/>
          <p:cNvSpPr txBox="1"/>
          <p:nvPr/>
        </p:nvSpPr>
        <p:spPr>
          <a:xfrm>
            <a:off x="8001000" y="5266944"/>
            <a:ext cx="1371600" cy="621792"/>
          </a:xfrm>
          <a:prstGeom prst="rect">
            <a:avLst/>
          </a:prstGeom>
          <a:noFill/>
          <a:ln/>
        </p:spPr>
        <p:txBody>
          <a:bodyPr wrap="square" lIns="0" tIns="0" rIns="0" bIns="0" rtlCol="0" anchor="ctr"/>
          <a:lstStyle/>
          <a:p>
            <a:pPr indent="0" marL="0">
              <a:buNone/>
            </a:pPr>
            <a:r>
              <a:rPr lang="en-US" sz="1400" b="1" dirty="0">
                <a:solidFill>
                  <a:srgbClr val="0E6E7A"/>
                </a:solidFill>
                <a:latin typeface="Calibri" pitchFamily="34" charset="0"/>
                <a:ea typeface="Calibri" pitchFamily="34" charset="-122"/>
                <a:cs typeface="Calibri" pitchFamily="34" charset="-120"/>
              </a:rPr>
              <a:t>1.00× – 1.03×</a:t>
            </a:r>
            <a:endParaRPr lang="en-US" sz="1400" dirty="0"/>
          </a:p>
        </p:txBody>
      </p:sp>
      <p:sp>
        <p:nvSpPr>
          <p:cNvPr id="21" name="Text 16"/>
          <p:cNvSpPr txBox="1"/>
          <p:nvPr/>
        </p:nvSpPr>
        <p:spPr>
          <a:xfrm>
            <a:off x="9372600" y="5266944"/>
            <a:ext cx="2286000" cy="621792"/>
          </a:xfrm>
          <a:prstGeom prst="rect">
            <a:avLst/>
          </a:prstGeom>
          <a:noFill/>
          <a:ln/>
        </p:spPr>
        <p:txBody>
          <a:bodyPr wrap="square" lIns="0" tIns="0" rIns="0" bIns="0" rtlCol="0" anchor="ctr"/>
          <a:lstStyle/>
          <a:p>
            <a:pPr indent="0" marL="0">
              <a:buNone/>
            </a:pPr>
            <a:r>
              <a:rPr lang="en-US" sz="1100" dirty="0">
                <a:solidFill>
                  <a:srgbClr val="5B6770"/>
                </a:solidFill>
                <a:latin typeface="Calibri" pitchFamily="34" charset="0"/>
                <a:ea typeface="Calibri" pitchFamily="34" charset="-122"/>
                <a:cs typeface="Calibri" pitchFamily="34" charset="-120"/>
              </a:rPr>
              <a:t>fewer efficient primitives (no ldmatrix)</a:t>
            </a:r>
            <a:endParaRPr lang="en-US" sz="11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§6 · ANALYSIS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Overall analysis and caveats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Abstract, §1 and §6, pp. 132–133, 142–144</a:t>
            </a:r>
            <a:endParaRPr lang="en-US" sz="1000" dirty="0"/>
          </a:p>
        </p:txBody>
      </p:sp>
      <p:sp>
        <p:nvSpPr>
          <p:cNvPr id="6" name="panel"/>
          <p:cNvSpPr/>
          <p:nvPr/>
        </p:nvSpPr>
        <p:spPr>
          <a:xfrm>
            <a:off x="502920" y="1325880"/>
            <a:ext cx="3611880" cy="2103120"/>
          </a:xfrm>
          <a:prstGeom prst="roundRect">
            <a:avLst>
              <a:gd name="adj" fmla="val 3478"/>
            </a:avLst>
          </a:prstGeom>
          <a:solidFill>
            <a:srgbClr val="E3F2E4"/>
          </a:solidFill>
          <a:ln/>
        </p:spPr>
      </p:sp>
      <p:sp>
        <p:nvSpPr>
          <p:cNvPr id="7" name="Text 4"/>
          <p:cNvSpPr txBox="1"/>
          <p:nvPr/>
        </p:nvSpPr>
        <p:spPr>
          <a:xfrm>
            <a:off x="685800" y="1463040"/>
            <a:ext cx="3246120" cy="411480"/>
          </a:xfrm>
          <a:prstGeom prst="rect">
            <a:avLst/>
          </a:prstGeom>
          <a:noFill/>
          <a:ln/>
        </p:spPr>
        <p:txBody>
          <a:bodyPr wrap="square" lIns="0" tIns="0" rIns="0" bIns="0" rtlCol="0" anchor="t"/>
          <a:lstStyle/>
          <a:p>
            <a:pPr indent="0" marL="0">
              <a:buNone/>
            </a:pPr>
            <a:r>
              <a:rPr lang="en-US" sz="2000" b="1" dirty="0">
                <a:solidFill>
                  <a:srgbClr val="2E7D32"/>
                </a:solidFill>
                <a:latin typeface="Calibri" pitchFamily="34" charset="0"/>
                <a:ea typeface="Calibri" pitchFamily="34" charset="-122"/>
                <a:cs typeface="Calibri" pitchFamily="34" charset="-120"/>
              </a:rPr>
              <a:t>Robustness</a:t>
            </a:r>
            <a:endParaRPr lang="en-US" sz="2000" dirty="0"/>
          </a:p>
        </p:txBody>
      </p:sp>
      <p:sp>
        <p:nvSpPr>
          <p:cNvPr id="8" name="Text 5"/>
          <p:cNvSpPr txBox="1"/>
          <p:nvPr/>
        </p:nvSpPr>
        <p:spPr>
          <a:xfrm>
            <a:off x="685800" y="1965960"/>
            <a:ext cx="3246120" cy="192024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More layouts supported; mixed-precision tests 366/784 → 784/784; reductions on all tested layouts.</a:t>
            </a:r>
            <a:endParaRPr lang="en-US" sz="1600" dirty="0"/>
          </a:p>
        </p:txBody>
      </p:sp>
      <p:sp>
        <p:nvSpPr>
          <p:cNvPr id="9" name="panel"/>
          <p:cNvSpPr/>
          <p:nvPr/>
        </p:nvSpPr>
        <p:spPr>
          <a:xfrm>
            <a:off x="4325112" y="1325880"/>
            <a:ext cx="3611880" cy="2103120"/>
          </a:xfrm>
          <a:prstGeom prst="roundRect">
            <a:avLst>
              <a:gd name="adj" fmla="val 3478"/>
            </a:avLst>
          </a:prstGeom>
          <a:solidFill>
            <a:srgbClr val="DDEFF1"/>
          </a:solidFill>
          <a:ln/>
        </p:spPr>
      </p:sp>
      <p:sp>
        <p:nvSpPr>
          <p:cNvPr id="10" name="Text 7"/>
          <p:cNvSpPr txBox="1"/>
          <p:nvPr/>
        </p:nvSpPr>
        <p:spPr>
          <a:xfrm>
            <a:off x="4507992" y="1463040"/>
            <a:ext cx="3246120" cy="411480"/>
          </a:xfrm>
          <a:prstGeom prst="rect">
            <a:avLst/>
          </a:prstGeom>
          <a:noFill/>
          <a:ln/>
        </p:spPr>
        <p:txBody>
          <a:bodyPr wrap="square" lIns="0" tIns="0" rIns="0" bIns="0" rtlCol="0" anchor="t"/>
          <a:lstStyle/>
          <a:p>
            <a:pPr indent="0" marL="0">
              <a:buNone/>
            </a:pPr>
            <a:r>
              <a:rPr lang="en-US" sz="2000" b="1" dirty="0">
                <a:solidFill>
                  <a:srgbClr val="0A4F58"/>
                </a:solidFill>
                <a:latin typeface="Calibri" pitchFamily="34" charset="0"/>
                <a:ea typeface="Calibri" pitchFamily="34" charset="-122"/>
                <a:cs typeface="Calibri" pitchFamily="34" charset="-120"/>
              </a:rPr>
              <a:t>Code generation</a:t>
            </a:r>
            <a:endParaRPr lang="en-US" sz="2000" dirty="0"/>
          </a:p>
        </p:txBody>
      </p:sp>
      <p:sp>
        <p:nvSpPr>
          <p:cNvPr id="11" name="Text 8"/>
          <p:cNvSpPr txBox="1"/>
          <p:nvPr/>
        </p:nvSpPr>
        <p:spPr>
          <a:xfrm>
            <a:off x="4507992" y="1965960"/>
            <a:ext cx="3246120" cy="192024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Up to 128-bit vector accesses; up to 76% fewer shared-memory instructions; shuffle-based conversion (3.93×) and gather (14.20×).</a:t>
            </a:r>
            <a:endParaRPr lang="en-US" sz="1600" dirty="0"/>
          </a:p>
        </p:txBody>
      </p:sp>
      <p:sp>
        <p:nvSpPr>
          <p:cNvPr id="12" name="panel"/>
          <p:cNvSpPr/>
          <p:nvPr/>
        </p:nvSpPr>
        <p:spPr>
          <a:xfrm>
            <a:off x="8147304" y="1325880"/>
            <a:ext cx="3611880" cy="2103120"/>
          </a:xfrm>
          <a:prstGeom prst="roundRect">
            <a:avLst>
              <a:gd name="adj" fmla="val 3478"/>
            </a:avLst>
          </a:prstGeom>
          <a:solidFill>
            <a:srgbClr val="FFF0CC"/>
          </a:solidFill>
          <a:ln/>
        </p:spPr>
      </p:sp>
      <p:sp>
        <p:nvSpPr>
          <p:cNvPr id="13" name="Text 10"/>
          <p:cNvSpPr txBox="1"/>
          <p:nvPr/>
        </p:nvSpPr>
        <p:spPr>
          <a:xfrm>
            <a:off x="8330184" y="1463040"/>
            <a:ext cx="3246120" cy="411480"/>
          </a:xfrm>
          <a:prstGeom prst="rect">
            <a:avLst/>
          </a:prstGeom>
          <a:noFill/>
          <a:ln/>
        </p:spPr>
        <p:txBody>
          <a:bodyPr wrap="square" lIns="0" tIns="0" rIns="0" bIns="0" rtlCol="0" anchor="t"/>
          <a:lstStyle/>
          <a:p>
            <a:pPr indent="0" marL="0">
              <a:buNone/>
            </a:pPr>
            <a:r>
              <a:rPr lang="en-US" sz="2000" b="1" dirty="0">
                <a:solidFill>
                  <a:srgbClr val="6B4100"/>
                </a:solidFill>
                <a:latin typeface="Calibri" pitchFamily="34" charset="0"/>
                <a:ea typeface="Calibri" pitchFamily="34" charset="-122"/>
                <a:cs typeface="Calibri" pitchFamily="34" charset="-120"/>
              </a:rPr>
              <a:t>End-to-end</a:t>
            </a:r>
            <a:endParaRPr lang="en-US" sz="2000" dirty="0"/>
          </a:p>
        </p:txBody>
      </p:sp>
      <p:sp>
        <p:nvSpPr>
          <p:cNvPr id="14" name="Text 11"/>
          <p:cNvSpPr txBox="1"/>
          <p:nvPr/>
        </p:nvSpPr>
        <p:spPr>
          <a:xfrm>
            <a:off x="8330184" y="1965960"/>
            <a:ext cx="3246120" cy="1920240"/>
          </a:xfrm>
          <a:prstGeom prst="rect">
            <a:avLst/>
          </a:prstGeom>
          <a:noFill/>
          <a:ln/>
        </p:spPr>
        <p:txBody>
          <a:bodyPr wrap="square" lIns="0" tIns="0" rIns="0" bIns="0" rtlCol="0" anchor="t"/>
          <a:lstStyle/>
          <a:p>
            <a:pPr indent="0" marL="0">
              <a:buNone/>
            </a:pPr>
            <a:r>
              <a:rPr lang="en-US" sz="1500" dirty="0">
                <a:solidFill>
                  <a:srgbClr val="1E2A32"/>
                </a:solidFill>
                <a:latin typeface="Calibri" pitchFamily="34" charset="0"/>
                <a:ea typeface="Calibri" pitchFamily="34" charset="-122"/>
                <a:cs typeface="Calibri" pitchFamily="34" charset="-120"/>
              </a:rPr>
              <a:t>Average </a:t>
            </a:r>
            <a:r>
              <a:rPr lang="en-US" sz="1500" b="1" dirty="0">
                <a:solidFill>
                  <a:srgbClr val="1E2A32"/>
                </a:solidFill>
                <a:latin typeface="Calibri" pitchFamily="34" charset="0"/>
                <a:ea typeface="Calibri" pitchFamily="34" charset="-122"/>
                <a:cs typeface="Calibri" pitchFamily="34" charset="-120"/>
              </a:rPr>
              <a:t>1.07×</a:t>
            </a:r>
            <a:r>
              <a:rPr lang="en-US" sz="1500" dirty="0">
                <a:solidFill>
                  <a:srgbClr val="1E2A32"/>
                </a:solidFill>
                <a:latin typeface="Calibri" pitchFamily="34" charset="0"/>
                <a:ea typeface="Calibri" pitchFamily="34" charset="-122"/>
                <a:cs typeface="Calibri" pitchFamily="34" charset="-120"/>
              </a:rPr>
              <a:t>, max </a:t>
            </a:r>
            <a:r>
              <a:rPr lang="en-US" sz="1500" b="1" dirty="0">
                <a:solidFill>
                  <a:srgbClr val="1E2A32"/>
                </a:solidFill>
                <a:latin typeface="Calibri" pitchFamily="34" charset="0"/>
                <a:ea typeface="Calibri" pitchFamily="34" charset="-122"/>
                <a:cs typeface="Calibri" pitchFamily="34" charset="-120"/>
              </a:rPr>
              <a:t>1.40×</a:t>
            </a:r>
            <a:r>
              <a:rPr lang="en-US" sz="1500" dirty="0">
                <a:solidFill>
                  <a:srgbClr val="1E2A32"/>
                </a:solidFill>
                <a:latin typeface="Calibri" pitchFamily="34" charset="0"/>
                <a:ea typeface="Calibri" pitchFamily="34" charset="-122"/>
                <a:cs typeface="Calibri" pitchFamily="34" charset="-120"/>
              </a:rPr>
              <a:t> over 265 real cases; varies by GPU and workload.</a:t>
            </a:r>
            <a:endParaRPr lang="en-US" sz="1600" dirty="0"/>
          </a:p>
        </p:txBody>
      </p:sp>
      <p:sp>
        <p:nvSpPr>
          <p:cNvPr id="15" name="callout"/>
          <p:cNvSpPr/>
          <p:nvPr/>
        </p:nvSpPr>
        <p:spPr>
          <a:xfrm>
            <a:off x="502920" y="3703320"/>
            <a:ext cx="11201400" cy="868680"/>
          </a:xfrm>
          <a:prstGeom prst="roundRect">
            <a:avLst>
              <a:gd name="adj" fmla="val 8421"/>
            </a:avLst>
          </a:prstGeom>
          <a:solidFill>
            <a:srgbClr val="DDEFF1"/>
          </a:solidFill>
          <a:ln/>
        </p:spPr>
      </p:sp>
      <p:sp>
        <p:nvSpPr>
          <p:cNvPr id="16" name="callout-text"/>
          <p:cNvSpPr txBox="1"/>
          <p:nvPr/>
        </p:nvSpPr>
        <p:spPr>
          <a:xfrm>
            <a:off x="640080" y="3758184"/>
            <a:ext cx="10927080" cy="758952"/>
          </a:xfrm>
          <a:prstGeom prst="rect">
            <a:avLst/>
          </a:prstGeom>
          <a:noFill/>
          <a:ln/>
        </p:spPr>
        <p:txBody>
          <a:bodyPr wrap="square" lIns="0" tIns="0" rIns="0" bIns="0" rtlCol="0" anchor="ctr"/>
          <a:lstStyle/>
          <a:p>
            <a:pPr algn="l" indent="0" marL="0">
              <a:buNone/>
            </a:pPr>
            <a:r>
              <a:rPr lang="en-US" sz="1500" b="1" dirty="0">
                <a:solidFill>
                  <a:srgbClr val="0A4F58"/>
                </a:solidFill>
                <a:latin typeface="Calibri" pitchFamily="34" charset="0"/>
                <a:ea typeface="Calibri" pitchFamily="34" charset="-122"/>
                <a:cs typeface="Calibri" pitchFamily="34" charset="-120"/>
              </a:rPr>
              <a:t>Amdahl’s law:</a:t>
            </a:r>
            <a:r>
              <a:rPr lang="en-US" sz="1500" dirty="0">
                <a:solidFill>
                  <a:srgbClr val="0A4F58"/>
                </a:solidFill>
                <a:latin typeface="Calibri" pitchFamily="34" charset="0"/>
                <a:ea typeface="Calibri" pitchFamily="34" charset="-122"/>
                <a:cs typeface="Calibri" pitchFamily="34" charset="-120"/>
              </a:rPr>
              <a:t> if 10% of a kernel’s time is in conversions and that part gets 4× faster, the kernel improves by 1 / (0.9 + 0.1/4) ≈ </a:t>
            </a:r>
            <a:r>
              <a:rPr lang="en-US" sz="1500" b="1" dirty="0">
                <a:solidFill>
                  <a:srgbClr val="0A4F58"/>
                </a:solidFill>
                <a:latin typeface="Calibri" pitchFamily="34" charset="0"/>
                <a:ea typeface="Calibri" pitchFamily="34" charset="-122"/>
                <a:cs typeface="Calibri" pitchFamily="34" charset="-120"/>
              </a:rPr>
              <a:t>1.08×</a:t>
            </a:r>
            <a:r>
              <a:rPr lang="en-US" sz="1500" dirty="0">
                <a:solidFill>
                  <a:srgbClr val="0A4F58"/>
                </a:solidFill>
                <a:latin typeface="Calibri" pitchFamily="34" charset="0"/>
                <a:ea typeface="Calibri" pitchFamily="34" charset="-122"/>
                <a:cs typeface="Calibri" pitchFamily="34" charset="-120"/>
              </a:rPr>
              <a:t>. Micro-benchmark maxima ≠ end-to-end speedups.</a:t>
            </a:r>
            <a:endParaRPr lang="en-US" sz="1500" dirty="0"/>
          </a:p>
        </p:txBody>
      </p:sp>
      <p:sp>
        <p:nvSpPr>
          <p:cNvPr id="17" name="Text 14"/>
          <p:cNvSpPr txBox="1"/>
          <p:nvPr/>
        </p:nvSpPr>
        <p:spPr>
          <a:xfrm>
            <a:off x="502920" y="4754880"/>
            <a:ext cx="11201400" cy="45720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Caveats: hardware-specific primitives (AMD gains small), platform-dependent benchmark availability, noise on small inputs.</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§8 · CONCLUSIONS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Conclusion and limitations</a:t>
            </a:r>
            <a:endParaRPr lang="en-US" sz="2800" dirty="0"/>
          </a:p>
        </p:txBody>
      </p:sp>
      <p:sp>
        <p:nvSpPr>
          <p:cNvPr id="4" name="source"/>
          <p:cNvSpPr txBox="1"/>
          <p:nvPr/>
        </p:nvSpPr>
        <p:spPr>
          <a:xfrm>
            <a:off x="502920" y="6181344"/>
            <a:ext cx="10424160" cy="237744"/>
          </a:xfrm>
          <a:prstGeom prst="rect">
            <a:avLst/>
          </a:prstGeom>
          <a:noFill/>
          <a:ln/>
        </p:spPr>
        <p:txBody>
          <a:bodyPr wrap="square" lIns="0" tIns="0" rIns="0" bIns="0" rtlCol="0" anchor="ctr"/>
          <a:lstStyle/>
          <a:p>
            <a:pPr indent="0" marL="0">
              <a:buNone/>
            </a:pPr>
            <a:r>
              <a:rPr lang="en-US" sz="1000" i="1" dirty="0">
                <a:solidFill>
                  <a:srgbClr val="5B6770"/>
                </a:solidFill>
                <a:latin typeface="Calibri" pitchFamily="34" charset="0"/>
                <a:ea typeface="Calibri" pitchFamily="34" charset="-122"/>
                <a:cs typeface="Calibri" pitchFamily="34" charset="-120"/>
              </a:rPr>
              <a:t>Source: §8 Conclusions, p. 144</a:t>
            </a:r>
            <a:endParaRPr lang="en-US" sz="1000" dirty="0"/>
          </a:p>
        </p:txBody>
      </p:sp>
      <p:sp>
        <p:nvSpPr>
          <p:cNvPr id="6" name="bullets"/>
          <p:cNvSpPr txBox="1"/>
          <p:nvPr/>
        </p:nvSpPr>
        <p:spPr>
          <a:xfrm>
            <a:off x="502920" y="1325880"/>
            <a:ext cx="6035040" cy="3474720"/>
          </a:xfrm>
          <a:prstGeom prst="rect">
            <a:avLst/>
          </a:prstGeom>
          <a:noFill/>
          <a:ln/>
        </p:spPr>
        <p:txBody>
          <a:bodyPr wrap="square" lIns="25400" tIns="25400" rIns="25400" bIns="25400" rtlCol="0" anchor="t"/>
          <a:lstStyle/>
          <a:p>
            <a:pPr marL="203200" indent="-203200">
              <a:spcAft>
                <a:spcPts val="1000"/>
              </a:spcAft>
              <a:buSzPct val="100000"/>
              <a:buChar char="•"/>
            </a:pPr>
            <a:r>
              <a:rPr lang="en-US" sz="1600" dirty="0">
                <a:solidFill>
                  <a:srgbClr val="1E2A32"/>
                </a:solidFill>
                <a:latin typeface="Calibri" pitchFamily="34" charset="0"/>
                <a:ea typeface="Calibri" pitchFamily="34" charset="-122"/>
                <a:cs typeface="Calibri" pitchFamily="34" charset="-120"/>
              </a:rPr>
              <a:t>Represent layouts as </a:t>
            </a:r>
            <a:r>
              <a:rPr lang="en-US" sz="1600" b="1" dirty="0">
                <a:solidFill>
                  <a:srgbClr val="1E2A32"/>
                </a:solidFill>
                <a:latin typeface="Calibri" pitchFamily="34" charset="0"/>
                <a:ea typeface="Calibri" pitchFamily="34" charset="-122"/>
                <a:cs typeface="Calibri" pitchFamily="34" charset="-120"/>
              </a:rPr>
              <a:t>linear maps over F₂</a:t>
            </a:r>
            <a:r>
              <a:rPr lang="en-US" sz="1600" dirty="0">
                <a:solidFill>
                  <a:srgbClr val="1E2A32"/>
                </a:solidFill>
                <a:latin typeface="Calibri" pitchFamily="34" charset="0"/>
                <a:ea typeface="Calibri" pitchFamily="34" charset="-122"/>
                <a:cs typeface="Calibri" pitchFamily="34" charset="-120"/>
              </a:rPr>
              <a:t> (hardware bits → coordinate bits).</a:t>
            </a:r>
            <a:endParaRPr lang="en-US" sz="1600" dirty="0"/>
          </a:p>
          <a:p>
            <a:pPr marL="203200" indent="-203200">
              <a:spcAft>
                <a:spcPts val="1000"/>
              </a:spcAft>
              <a:buSzPct val="100000"/>
              <a:buChar char="•"/>
            </a:pPr>
            <a:r>
              <a:rPr lang="en-US" sz="1600" b="1" dirty="0">
                <a:solidFill>
                  <a:srgbClr val="1E2A32"/>
                </a:solidFill>
                <a:latin typeface="Calibri" pitchFamily="34" charset="0"/>
                <a:ea typeface="Calibri" pitchFamily="34" charset="-122"/>
                <a:cs typeface="Calibri" pitchFamily="34" charset="-120"/>
              </a:rPr>
              <a:t>Compose / invert / divide</a:t>
            </a:r>
            <a:r>
              <a:rPr lang="en-US" sz="1600" dirty="0">
                <a:solidFill>
                  <a:srgbClr val="1E2A32"/>
                </a:solidFill>
                <a:latin typeface="Calibri" pitchFamily="34" charset="0"/>
                <a:ea typeface="Calibri" pitchFamily="34" charset="-122"/>
                <a:cs typeface="Calibri" pitchFamily="34" charset="-120"/>
              </a:rPr>
              <a:t> maps to derive conversions instead of hand-writing pairs.</a:t>
            </a:r>
            <a:endParaRPr lang="en-US" sz="1600" dirty="0"/>
          </a:p>
          <a:p>
            <a:pPr marL="203200" indent="-203200">
              <a:spcAft>
                <a:spcPts val="1000"/>
              </a:spcAft>
              <a:buSzPct val="100000"/>
              <a:buChar char="•"/>
            </a:pPr>
            <a:r>
              <a:rPr lang="en-US" sz="1600" dirty="0">
                <a:solidFill>
                  <a:srgbClr val="1E2A32"/>
                </a:solidFill>
                <a:latin typeface="Calibri" pitchFamily="34" charset="0"/>
                <a:ea typeface="Calibri" pitchFamily="34" charset="-122"/>
                <a:cs typeface="Calibri" pitchFamily="34" charset="-120"/>
              </a:rPr>
              <a:t>Lower to </a:t>
            </a:r>
            <a:r>
              <a:rPr lang="en-US" sz="1600" b="1" dirty="0">
                <a:solidFill>
                  <a:srgbClr val="1E2A32"/>
                </a:solidFill>
                <a:latin typeface="Calibri" pitchFamily="34" charset="0"/>
                <a:ea typeface="Calibri" pitchFamily="34" charset="-122"/>
                <a:cs typeface="Calibri" pitchFamily="34" charset="-120"/>
              </a:rPr>
              <a:t>register permutations, warp shuffles, vectorized accesses, ldmatrix/stmatrix, swizzled shared memory</a:t>
            </a:r>
            <a:r>
              <a:rPr lang="en-US" sz="1600" dirty="0">
                <a:solidFill>
                  <a:srgbClr val="1E2A32"/>
                </a:solidFill>
                <a:latin typeface="Calibri" pitchFamily="34" charset="0"/>
                <a:ea typeface="Calibri" pitchFamily="34" charset="-122"/>
                <a:cs typeface="Calibri" pitchFamily="34" charset="-120"/>
              </a:rPr>
              <a:t>.</a:t>
            </a:r>
            <a:endParaRPr lang="en-US" sz="1600" dirty="0"/>
          </a:p>
          <a:p>
            <a:pPr marL="203200" indent="-203200">
              <a:spcAft>
                <a:spcPts val="1000"/>
              </a:spcAft>
              <a:buSzPct val="100000"/>
              <a:buChar char="•"/>
            </a:pPr>
            <a:r>
              <a:rPr lang="en-US" sz="1600" dirty="0">
                <a:solidFill>
                  <a:srgbClr val="1E2A32"/>
                </a:solidFill>
                <a:latin typeface="Calibri" pitchFamily="34" charset="0"/>
                <a:ea typeface="Calibri" pitchFamily="34" charset="-122"/>
                <a:cs typeface="Calibri" pitchFamily="34" charset="-120"/>
              </a:rPr>
              <a:t>Result: stronger layout coverage and robustness, plus measurable speedups.</a:t>
            </a:r>
            <a:endParaRPr lang="en-US" sz="1600" dirty="0"/>
          </a:p>
        </p:txBody>
      </p:sp>
      <p:sp>
        <p:nvSpPr>
          <p:cNvPr id="7" name="panel"/>
          <p:cNvSpPr/>
          <p:nvPr/>
        </p:nvSpPr>
        <p:spPr>
          <a:xfrm>
            <a:off x="6858000" y="1325880"/>
            <a:ext cx="4846320" cy="4023360"/>
          </a:xfrm>
          <a:prstGeom prst="roundRect">
            <a:avLst>
              <a:gd name="adj" fmla="val 1818"/>
            </a:avLst>
          </a:prstGeom>
          <a:solidFill>
            <a:srgbClr val="FFF0CC"/>
          </a:solidFill>
          <a:ln/>
        </p:spPr>
      </p:sp>
      <p:sp>
        <p:nvSpPr>
          <p:cNvPr id="8" name="Text 5"/>
          <p:cNvSpPr txBox="1"/>
          <p:nvPr/>
        </p:nvSpPr>
        <p:spPr>
          <a:xfrm>
            <a:off x="7040880" y="1417320"/>
            <a:ext cx="4480560" cy="320040"/>
          </a:xfrm>
          <a:prstGeom prst="rect">
            <a:avLst/>
          </a:prstGeom>
          <a:noFill/>
          <a:ln/>
        </p:spPr>
        <p:txBody>
          <a:bodyPr wrap="square" lIns="0" tIns="0" rIns="0" bIns="0" rtlCol="0" anchor="t"/>
          <a:lstStyle/>
          <a:p>
            <a:pPr indent="0" marL="0">
              <a:buNone/>
            </a:pPr>
            <a:r>
              <a:rPr lang="en-US" sz="1700" b="1" dirty="0">
                <a:solidFill>
                  <a:srgbClr val="6B4100"/>
                </a:solidFill>
                <a:latin typeface="Calibri" pitchFamily="34" charset="0"/>
                <a:ea typeface="Calibri" pitchFamily="34" charset="-122"/>
                <a:cs typeface="Calibri" pitchFamily="34" charset="-120"/>
              </a:rPr>
              <a:t>Limitations (paper)</a:t>
            </a:r>
            <a:endParaRPr lang="en-US" sz="1700" dirty="0"/>
          </a:p>
        </p:txBody>
      </p:sp>
      <p:sp>
        <p:nvSpPr>
          <p:cNvPr id="9" name="bullets"/>
          <p:cNvSpPr txBox="1"/>
          <p:nvPr/>
        </p:nvSpPr>
        <p:spPr>
          <a:xfrm>
            <a:off x="7040880" y="1828800"/>
            <a:ext cx="4526280" cy="3383280"/>
          </a:xfrm>
          <a:prstGeom prst="rect">
            <a:avLst/>
          </a:prstGeom>
          <a:noFill/>
          <a:ln/>
        </p:spPr>
        <p:txBody>
          <a:bodyPr wrap="square" lIns="25400" tIns="25400" rIns="25400" bIns="25400" rtlCol="0" anchor="t"/>
          <a:lstStyle/>
          <a:p>
            <a:pPr marL="203200" indent="-203200">
              <a:spcAft>
                <a:spcPts val="1000"/>
              </a:spcAft>
              <a:buSzPct val="100000"/>
              <a:buChar char="•"/>
            </a:pPr>
            <a:r>
              <a:rPr lang="en-US" sz="1500" b="1" dirty="0">
                <a:solidFill>
                  <a:srgbClr val="1E2A32"/>
                </a:solidFill>
                <a:latin typeface="Calibri" pitchFamily="34" charset="0"/>
                <a:ea typeface="Calibri" pitchFamily="34" charset="-122"/>
                <a:cs typeface="Calibri" pitchFamily="34" charset="-120"/>
              </a:rPr>
              <a:t>Power-of-two shapes only</a:t>
            </a:r>
            <a:r>
              <a:rPr lang="en-US" sz="1500" dirty="0">
                <a:solidFill>
                  <a:srgbClr val="1E2A32"/>
                </a:solidFill>
                <a:latin typeface="Calibri" pitchFamily="34" charset="0"/>
                <a:ea typeface="Calibri" pitchFamily="34" charset="-122"/>
                <a:cs typeface="Calibri" pitchFamily="34" charset="-120"/>
              </a:rPr>
              <a:t>; workaround: larger tensors + masking out-of-bounds elements.</a:t>
            </a:r>
            <a:endParaRPr lang="en-US" sz="1500" dirty="0"/>
          </a:p>
          <a:p>
            <a:pPr marL="203200" indent="-203200">
              <a:spcAft>
                <a:spcPts val="1000"/>
              </a:spcAft>
              <a:buSzPct val="100000"/>
              <a:buChar char="•"/>
            </a:pPr>
            <a:r>
              <a:rPr lang="en-US" sz="1500" b="1" dirty="0">
                <a:solidFill>
                  <a:srgbClr val="1E2A32"/>
                </a:solidFill>
                <a:latin typeface="Calibri" pitchFamily="34" charset="0"/>
                <a:ea typeface="Calibri" pitchFamily="34" charset="-122"/>
                <a:cs typeface="Calibri" pitchFamily="34" charset="-120"/>
              </a:rPr>
              <a:t>Flips and slices</a:t>
            </a:r>
            <a:r>
              <a:rPr lang="en-US" sz="1500" dirty="0">
                <a:solidFill>
                  <a:srgbClr val="1E2A32"/>
                </a:solidFill>
                <a:latin typeface="Calibri" pitchFamily="34" charset="0"/>
                <a:ea typeface="Calibri" pitchFamily="34" charset="-122"/>
                <a:cs typeface="Calibri" pitchFamily="34" charset="-120"/>
              </a:rPr>
              <a:t> are not y = Ax; captured by </a:t>
            </a:r>
            <a:r>
              <a:rPr lang="en-US" sz="1500" b="1" dirty="0">
                <a:solidFill>
                  <a:srgbClr val="1E2A32"/>
                </a:solidFill>
                <a:latin typeface="Calibri" pitchFamily="34" charset="0"/>
                <a:ea typeface="Calibri" pitchFamily="34" charset="-122"/>
                <a:cs typeface="Calibri" pitchFamily="34" charset="-120"/>
              </a:rPr>
              <a:t>affine layouts y = Ax ⊕ b</a:t>
            </a:r>
            <a:r>
              <a:rPr lang="en-US" sz="1500" dirty="0">
                <a:solidFill>
                  <a:srgbClr val="1E2A32"/>
                </a:solidFill>
                <a:latin typeface="Calibri" pitchFamily="34" charset="0"/>
                <a:ea typeface="Calibri" pitchFamily="34" charset="-122"/>
                <a:cs typeface="Calibri" pitchFamily="34" charset="-120"/>
              </a:rPr>
              <a:t>.</a:t>
            </a:r>
            <a:endParaRPr lang="en-US" sz="1500" dirty="0"/>
          </a:p>
          <a:p>
            <a:pPr marL="203200" indent="-203200">
              <a:spcAft>
                <a:spcPts val="1000"/>
              </a:spcAft>
              <a:buSzPct val="100000"/>
              <a:buChar char="•"/>
            </a:pPr>
            <a:r>
              <a:rPr lang="en-US" sz="1500" dirty="0">
                <a:solidFill>
                  <a:srgbClr val="1E2A32"/>
                </a:solidFill>
                <a:latin typeface="Calibri" pitchFamily="34" charset="0"/>
                <a:ea typeface="Calibri" pitchFamily="34" charset="-122"/>
                <a:cs typeface="Calibri" pitchFamily="34" charset="-120"/>
              </a:rPr>
              <a:t>Future: combine with hardware measurements in a performance model for autotuning.</a:t>
            </a:r>
            <a:endParaRPr lang="en-US" sz="1500" dirty="0"/>
          </a:p>
        </p:txBody>
      </p:sp>
      <p:sp>
        <p:nvSpPr>
          <p:cNvPr id="10" name="callout"/>
          <p:cNvSpPr/>
          <p:nvPr/>
        </p:nvSpPr>
        <p:spPr>
          <a:xfrm>
            <a:off x="502920" y="4892040"/>
            <a:ext cx="6035040" cy="822960"/>
          </a:xfrm>
          <a:prstGeom prst="roundRect">
            <a:avLst>
              <a:gd name="adj" fmla="val 8889"/>
            </a:avLst>
          </a:prstGeom>
          <a:solidFill>
            <a:srgbClr val="DDEFF1"/>
          </a:solidFill>
          <a:ln/>
        </p:spPr>
      </p:sp>
      <p:sp>
        <p:nvSpPr>
          <p:cNvPr id="11" name="callout-text"/>
          <p:cNvSpPr txBox="1"/>
          <p:nvPr/>
        </p:nvSpPr>
        <p:spPr>
          <a:xfrm>
            <a:off x="640080" y="4946904"/>
            <a:ext cx="5760720" cy="713232"/>
          </a:xfrm>
          <a:prstGeom prst="rect">
            <a:avLst/>
          </a:prstGeom>
          <a:noFill/>
          <a:ln/>
        </p:spPr>
        <p:txBody>
          <a:bodyPr wrap="square" lIns="0" tIns="0" rIns="0" bIns="0" rtlCol="0" anchor="ctr"/>
          <a:lstStyle/>
          <a:p>
            <a:pPr algn="l" indent="0" marL="0">
              <a:buNone/>
            </a:pPr>
            <a:r>
              <a:rPr lang="en-US" sz="1400" dirty="0">
                <a:solidFill>
                  <a:srgbClr val="0A4F58"/>
                </a:solidFill>
                <a:latin typeface="Calibri" pitchFamily="34" charset="0"/>
                <a:ea typeface="Calibri" pitchFamily="34" charset="-122"/>
                <a:cs typeface="Calibri" pitchFamily="34" charset="-120"/>
              </a:rPr>
              <a:t>Example: flipping 8 elements, e → 7 − e, is e → e ⊕ 111: </a:t>
            </a:r>
            <a:r>
              <a:rPr lang="en-US" sz="1400" b="1" dirty="0">
                <a:solidFill>
                  <a:srgbClr val="0A4F58"/>
                </a:solidFill>
                <a:latin typeface="Calibri" pitchFamily="34" charset="0"/>
                <a:ea typeface="Calibri" pitchFamily="34" charset="-122"/>
                <a:cs typeface="Calibri" pitchFamily="34" charset="-120"/>
              </a:rPr>
              <a:t>affine</a:t>
            </a:r>
            <a:r>
              <a:rPr lang="en-US" sz="1400" dirty="0">
                <a:solidFill>
                  <a:srgbClr val="0A4F58"/>
                </a:solidFill>
                <a:latin typeface="Calibri" pitchFamily="34" charset="0"/>
                <a:ea typeface="Calibri" pitchFamily="34" charset="-122"/>
                <a:cs typeface="Calibri" pitchFamily="34" charset="-120"/>
              </a:rPr>
              <a:t> (b = 111), not linear (it moves 0).</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Questions?</a:t>
            </a:r>
            <a:endParaRPr lang="en-US" sz="2800" dirty="0"/>
          </a:p>
        </p:txBody>
      </p:sp>
      <p:sp>
        <p:nvSpPr>
          <p:cNvPr id="4" name="Text 1"/>
          <p:cNvSpPr txBox="1"/>
          <p:nvPr/>
        </p:nvSpPr>
        <p:spPr>
          <a:xfrm>
            <a:off x="502920" y="1463040"/>
            <a:ext cx="11201400" cy="548640"/>
          </a:xfrm>
          <a:prstGeom prst="rect">
            <a:avLst/>
          </a:prstGeom>
          <a:noFill/>
          <a:ln/>
        </p:spPr>
        <p:txBody>
          <a:bodyPr wrap="square" lIns="0" tIns="0" rIns="0" bIns="0" rtlCol="0" anchor="t"/>
          <a:lstStyle/>
          <a:p>
            <a:pPr indent="0" marL="0">
              <a:buNone/>
            </a:pPr>
            <a:r>
              <a:rPr lang="en-US" sz="2400" dirty="0">
                <a:solidFill>
                  <a:srgbClr val="5B6770"/>
                </a:solidFill>
                <a:latin typeface="Calibri" pitchFamily="34" charset="0"/>
                <a:ea typeface="Calibri" pitchFamily="34" charset="-122"/>
                <a:cs typeface="Calibri" pitchFamily="34" charset="-120"/>
              </a:rPr>
              <a:t>Thank you</a:t>
            </a:r>
            <a:endParaRPr lang="en-US" sz="2400" dirty="0"/>
          </a:p>
        </p:txBody>
      </p:sp>
      <p:sp>
        <p:nvSpPr>
          <p:cNvPr id="5" name="Text 2"/>
          <p:cNvSpPr txBox="1"/>
          <p:nvPr/>
        </p:nvSpPr>
        <p:spPr>
          <a:xfrm>
            <a:off x="502920" y="4754880"/>
            <a:ext cx="11201400" cy="1097280"/>
          </a:xfrm>
          <a:prstGeom prst="rect">
            <a:avLst/>
          </a:prstGeom>
          <a:noFill/>
          <a:ln/>
        </p:spPr>
        <p:txBody>
          <a:bodyPr wrap="square" lIns="0" tIns="0" rIns="0" bIns="0" rtlCol="0" anchor="t"/>
          <a:lstStyle/>
          <a:p>
            <a:pPr indent="0" marL="0">
              <a:buNone/>
            </a:pPr>
            <a:r>
              <a:rPr lang="en-US" sz="1400" b="1" dirty="0">
                <a:solidFill>
                  <a:srgbClr val="1E2A32"/>
                </a:solidFill>
                <a:latin typeface="Calibri" pitchFamily="34" charset="0"/>
                <a:ea typeface="Calibri" pitchFamily="34" charset="-122"/>
                <a:cs typeface="Calibri" pitchFamily="34" charset="-120"/>
              </a:rPr>
              <a:t>Paper: </a:t>
            </a:r>
            <a:r>
              <a:rPr lang="en-US" sz="1400" u="sng" dirty="0">
                <a:solidFill>
                  <a:srgbClr val="1E2A3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https://doi.org/10.1145/3760250.3762221</a:t>
            </a:r>
            <a:endParaRPr lang="en-US" sz="1400" dirty="0"/>
          </a:p>
          <a:p>
            <a:pPr indent="0" marL="0">
              <a:buNone/>
            </a:pPr>
            <a:r>
              <a:rPr lang="en-US" sz="1400" b="1" dirty="0">
                <a:solidFill>
                  <a:srgbClr val="1E2A32"/>
                </a:solidFill>
                <a:latin typeface="Calibri" pitchFamily="34" charset="0"/>
                <a:ea typeface="Calibri" pitchFamily="34" charset="-122"/>
                <a:cs typeface="Calibri" pitchFamily="34" charset="-120"/>
              </a:rPr>
              <a:t>arXiv: </a:t>
            </a:r>
            <a:r>
              <a:rPr lang="en-US" sz="1400" u="sng" dirty="0">
                <a:solidFill>
                  <a:srgbClr val="1E2A3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https://arxiv.org/abs/2505.23819</a:t>
            </a:r>
            <a:endParaRPr lang="en-US" sz="1400" dirty="0"/>
          </a:p>
          <a:p>
            <a:pPr indent="0" marL="0">
              <a:buNone/>
            </a:pPr>
            <a:r>
              <a:rPr lang="en-US" sz="1400" b="1" dirty="0">
                <a:solidFill>
                  <a:srgbClr val="1E2A32"/>
                </a:solidFill>
                <a:latin typeface="Calibri" pitchFamily="34" charset="0"/>
                <a:ea typeface="Calibri" pitchFamily="34" charset="-122"/>
                <a:cs typeface="Calibri" pitchFamily="34" charset="-120"/>
              </a:rPr>
              <a:t>Code: </a:t>
            </a:r>
            <a:r>
              <a:rPr lang="en-US" sz="1400" u="sng" dirty="0">
                <a:solidFill>
                  <a:srgbClr val="1E2A3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https://github.com/triton-lang/triton</a:t>
            </a:r>
            <a:endParaRPr lang="en-US" sz="1400" dirty="0"/>
          </a:p>
        </p:txBody>
      </p:sp>
      <p:sp>
        <p:nvSpPr>
          <p:cNvPr id="6" name="mcell"/>
          <p:cNvSpPr txBox="1"/>
          <p:nvPr/>
        </p:nvSpPr>
        <p:spPr>
          <a:xfrm>
            <a:off x="8778240" y="164592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7" name="mcell"/>
          <p:cNvSpPr txBox="1"/>
          <p:nvPr/>
        </p:nvSpPr>
        <p:spPr>
          <a:xfrm>
            <a:off x="905256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8" name="mcell"/>
          <p:cNvSpPr txBox="1"/>
          <p:nvPr/>
        </p:nvSpPr>
        <p:spPr>
          <a:xfrm>
            <a:off x="932688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9" name="mcell"/>
          <p:cNvSpPr txBox="1"/>
          <p:nvPr/>
        </p:nvSpPr>
        <p:spPr>
          <a:xfrm>
            <a:off x="960120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0" name="mcell"/>
          <p:cNvSpPr txBox="1"/>
          <p:nvPr/>
        </p:nvSpPr>
        <p:spPr>
          <a:xfrm>
            <a:off x="987552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1" name="mcell"/>
          <p:cNvSpPr txBox="1"/>
          <p:nvPr/>
        </p:nvSpPr>
        <p:spPr>
          <a:xfrm>
            <a:off x="1014984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2" name="mcell"/>
          <p:cNvSpPr txBox="1"/>
          <p:nvPr/>
        </p:nvSpPr>
        <p:spPr>
          <a:xfrm>
            <a:off x="1042416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3" name="mcell"/>
          <p:cNvSpPr txBox="1"/>
          <p:nvPr/>
        </p:nvSpPr>
        <p:spPr>
          <a:xfrm>
            <a:off x="10698480" y="16459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4" name="mcell"/>
          <p:cNvSpPr txBox="1"/>
          <p:nvPr/>
        </p:nvSpPr>
        <p:spPr>
          <a:xfrm>
            <a:off x="877824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5" name="mcell"/>
          <p:cNvSpPr txBox="1"/>
          <p:nvPr/>
        </p:nvSpPr>
        <p:spPr>
          <a:xfrm>
            <a:off x="905256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6" name="mcell"/>
          <p:cNvSpPr txBox="1"/>
          <p:nvPr/>
        </p:nvSpPr>
        <p:spPr>
          <a:xfrm>
            <a:off x="9326880" y="192024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17" name="mcell"/>
          <p:cNvSpPr txBox="1"/>
          <p:nvPr/>
        </p:nvSpPr>
        <p:spPr>
          <a:xfrm>
            <a:off x="960120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8" name="mcell"/>
          <p:cNvSpPr txBox="1"/>
          <p:nvPr/>
        </p:nvSpPr>
        <p:spPr>
          <a:xfrm>
            <a:off x="987552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19" name="mcell"/>
          <p:cNvSpPr txBox="1"/>
          <p:nvPr/>
        </p:nvSpPr>
        <p:spPr>
          <a:xfrm>
            <a:off x="1014984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0" name="mcell"/>
          <p:cNvSpPr txBox="1"/>
          <p:nvPr/>
        </p:nvSpPr>
        <p:spPr>
          <a:xfrm>
            <a:off x="1042416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1" name="mcell"/>
          <p:cNvSpPr txBox="1"/>
          <p:nvPr/>
        </p:nvSpPr>
        <p:spPr>
          <a:xfrm>
            <a:off x="10698480" y="19202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2" name="mcell"/>
          <p:cNvSpPr txBox="1"/>
          <p:nvPr/>
        </p:nvSpPr>
        <p:spPr>
          <a:xfrm>
            <a:off x="877824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3" name="mcell"/>
          <p:cNvSpPr txBox="1"/>
          <p:nvPr/>
        </p:nvSpPr>
        <p:spPr>
          <a:xfrm>
            <a:off x="905256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4" name="mcell"/>
          <p:cNvSpPr txBox="1"/>
          <p:nvPr/>
        </p:nvSpPr>
        <p:spPr>
          <a:xfrm>
            <a:off x="932688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5" name="mcell"/>
          <p:cNvSpPr txBox="1"/>
          <p:nvPr/>
        </p:nvSpPr>
        <p:spPr>
          <a:xfrm>
            <a:off x="9601200" y="219456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26" name="mcell"/>
          <p:cNvSpPr txBox="1"/>
          <p:nvPr/>
        </p:nvSpPr>
        <p:spPr>
          <a:xfrm>
            <a:off x="987552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7" name="mcell"/>
          <p:cNvSpPr txBox="1"/>
          <p:nvPr/>
        </p:nvSpPr>
        <p:spPr>
          <a:xfrm>
            <a:off x="1014984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8" name="mcell"/>
          <p:cNvSpPr txBox="1"/>
          <p:nvPr/>
        </p:nvSpPr>
        <p:spPr>
          <a:xfrm>
            <a:off x="1042416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29" name="mcell"/>
          <p:cNvSpPr txBox="1"/>
          <p:nvPr/>
        </p:nvSpPr>
        <p:spPr>
          <a:xfrm>
            <a:off x="10698480" y="21945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0" name="mcell"/>
          <p:cNvSpPr txBox="1"/>
          <p:nvPr/>
        </p:nvSpPr>
        <p:spPr>
          <a:xfrm>
            <a:off x="877824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1" name="mcell"/>
          <p:cNvSpPr txBox="1"/>
          <p:nvPr/>
        </p:nvSpPr>
        <p:spPr>
          <a:xfrm>
            <a:off x="905256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2" name="mcell"/>
          <p:cNvSpPr txBox="1"/>
          <p:nvPr/>
        </p:nvSpPr>
        <p:spPr>
          <a:xfrm>
            <a:off x="932688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3" name="mcell"/>
          <p:cNvSpPr txBox="1"/>
          <p:nvPr/>
        </p:nvSpPr>
        <p:spPr>
          <a:xfrm>
            <a:off x="960120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4" name="mcell"/>
          <p:cNvSpPr txBox="1"/>
          <p:nvPr/>
        </p:nvSpPr>
        <p:spPr>
          <a:xfrm>
            <a:off x="9875520" y="246888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35" name="mcell"/>
          <p:cNvSpPr txBox="1"/>
          <p:nvPr/>
        </p:nvSpPr>
        <p:spPr>
          <a:xfrm>
            <a:off x="1014984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6" name="mcell"/>
          <p:cNvSpPr txBox="1"/>
          <p:nvPr/>
        </p:nvSpPr>
        <p:spPr>
          <a:xfrm>
            <a:off x="1042416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7" name="mcell"/>
          <p:cNvSpPr txBox="1"/>
          <p:nvPr/>
        </p:nvSpPr>
        <p:spPr>
          <a:xfrm>
            <a:off x="10698480" y="246888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8" name="mcell"/>
          <p:cNvSpPr txBox="1"/>
          <p:nvPr/>
        </p:nvSpPr>
        <p:spPr>
          <a:xfrm>
            <a:off x="877824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39" name="mcell"/>
          <p:cNvSpPr txBox="1"/>
          <p:nvPr/>
        </p:nvSpPr>
        <p:spPr>
          <a:xfrm>
            <a:off x="9052560" y="274320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40" name="mcell"/>
          <p:cNvSpPr txBox="1"/>
          <p:nvPr/>
        </p:nvSpPr>
        <p:spPr>
          <a:xfrm>
            <a:off x="932688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1" name="mcell"/>
          <p:cNvSpPr txBox="1"/>
          <p:nvPr/>
        </p:nvSpPr>
        <p:spPr>
          <a:xfrm>
            <a:off x="960120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2" name="mcell"/>
          <p:cNvSpPr txBox="1"/>
          <p:nvPr/>
        </p:nvSpPr>
        <p:spPr>
          <a:xfrm>
            <a:off x="987552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3" name="mcell"/>
          <p:cNvSpPr txBox="1"/>
          <p:nvPr/>
        </p:nvSpPr>
        <p:spPr>
          <a:xfrm>
            <a:off x="1014984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4" name="mcell"/>
          <p:cNvSpPr txBox="1"/>
          <p:nvPr/>
        </p:nvSpPr>
        <p:spPr>
          <a:xfrm>
            <a:off x="1042416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5" name="mcell"/>
          <p:cNvSpPr txBox="1"/>
          <p:nvPr/>
        </p:nvSpPr>
        <p:spPr>
          <a:xfrm>
            <a:off x="10698480" y="274320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6" name="mcell"/>
          <p:cNvSpPr txBox="1"/>
          <p:nvPr/>
        </p:nvSpPr>
        <p:spPr>
          <a:xfrm>
            <a:off x="877824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7" name="mcell"/>
          <p:cNvSpPr txBox="1"/>
          <p:nvPr/>
        </p:nvSpPr>
        <p:spPr>
          <a:xfrm>
            <a:off x="905256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8" name="mcell"/>
          <p:cNvSpPr txBox="1"/>
          <p:nvPr/>
        </p:nvSpPr>
        <p:spPr>
          <a:xfrm>
            <a:off x="932688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49" name="mcell"/>
          <p:cNvSpPr txBox="1"/>
          <p:nvPr/>
        </p:nvSpPr>
        <p:spPr>
          <a:xfrm>
            <a:off x="960120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0" name="mcell"/>
          <p:cNvSpPr txBox="1"/>
          <p:nvPr/>
        </p:nvSpPr>
        <p:spPr>
          <a:xfrm>
            <a:off x="987552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1" name="mcell"/>
          <p:cNvSpPr txBox="1"/>
          <p:nvPr/>
        </p:nvSpPr>
        <p:spPr>
          <a:xfrm>
            <a:off x="10149840" y="301752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52" name="mcell"/>
          <p:cNvSpPr txBox="1"/>
          <p:nvPr/>
        </p:nvSpPr>
        <p:spPr>
          <a:xfrm>
            <a:off x="1042416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3" name="mcell"/>
          <p:cNvSpPr txBox="1"/>
          <p:nvPr/>
        </p:nvSpPr>
        <p:spPr>
          <a:xfrm>
            <a:off x="10698480" y="301752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4" name="mcell"/>
          <p:cNvSpPr txBox="1"/>
          <p:nvPr/>
        </p:nvSpPr>
        <p:spPr>
          <a:xfrm>
            <a:off x="877824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5" name="mcell"/>
          <p:cNvSpPr txBox="1"/>
          <p:nvPr/>
        </p:nvSpPr>
        <p:spPr>
          <a:xfrm>
            <a:off x="905256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6" name="mcell"/>
          <p:cNvSpPr txBox="1"/>
          <p:nvPr/>
        </p:nvSpPr>
        <p:spPr>
          <a:xfrm>
            <a:off x="932688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7" name="mcell"/>
          <p:cNvSpPr txBox="1"/>
          <p:nvPr/>
        </p:nvSpPr>
        <p:spPr>
          <a:xfrm>
            <a:off x="960120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8" name="mcell"/>
          <p:cNvSpPr txBox="1"/>
          <p:nvPr/>
        </p:nvSpPr>
        <p:spPr>
          <a:xfrm>
            <a:off x="987552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59" name="mcell"/>
          <p:cNvSpPr txBox="1"/>
          <p:nvPr/>
        </p:nvSpPr>
        <p:spPr>
          <a:xfrm>
            <a:off x="1014984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0" name="mcell"/>
          <p:cNvSpPr txBox="1"/>
          <p:nvPr/>
        </p:nvSpPr>
        <p:spPr>
          <a:xfrm>
            <a:off x="10424160" y="329184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61" name="mcell"/>
          <p:cNvSpPr txBox="1"/>
          <p:nvPr/>
        </p:nvSpPr>
        <p:spPr>
          <a:xfrm>
            <a:off x="10698480" y="329184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2" name="mcell"/>
          <p:cNvSpPr txBox="1"/>
          <p:nvPr/>
        </p:nvSpPr>
        <p:spPr>
          <a:xfrm>
            <a:off x="877824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3" name="mcell"/>
          <p:cNvSpPr txBox="1"/>
          <p:nvPr/>
        </p:nvSpPr>
        <p:spPr>
          <a:xfrm>
            <a:off x="905256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4" name="mcell"/>
          <p:cNvSpPr txBox="1"/>
          <p:nvPr/>
        </p:nvSpPr>
        <p:spPr>
          <a:xfrm>
            <a:off x="932688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5" name="mcell"/>
          <p:cNvSpPr txBox="1"/>
          <p:nvPr/>
        </p:nvSpPr>
        <p:spPr>
          <a:xfrm>
            <a:off x="960120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6" name="mcell"/>
          <p:cNvSpPr txBox="1"/>
          <p:nvPr/>
        </p:nvSpPr>
        <p:spPr>
          <a:xfrm>
            <a:off x="987552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7" name="mcell"/>
          <p:cNvSpPr txBox="1"/>
          <p:nvPr/>
        </p:nvSpPr>
        <p:spPr>
          <a:xfrm>
            <a:off x="1014984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8" name="mcell"/>
          <p:cNvSpPr txBox="1"/>
          <p:nvPr/>
        </p:nvSpPr>
        <p:spPr>
          <a:xfrm>
            <a:off x="10424160" y="3566160"/>
            <a:ext cx="274320" cy="274320"/>
          </a:xfrm>
          <a:prstGeom prst="rect">
            <a:avLst/>
          </a:prstGeom>
          <a:noFill/>
          <a:ln/>
        </p:spPr>
        <p:txBody>
          <a:bodyPr wrap="square" lIns="0" tIns="0" rIns="0" bIns="0" rtlCol="0" anchor="ctr"/>
          <a:lstStyle/>
          <a:p>
            <a:pPr algn="ctr" indent="0" marL="0">
              <a:buNone/>
            </a:pPr>
            <a:r>
              <a:rPr lang="en-US" sz="1200" dirty="0">
                <a:solidFill>
                  <a:srgbClr val="B9C1C7"/>
                </a:solidFill>
                <a:latin typeface="Calibri" pitchFamily="34" charset="0"/>
                <a:ea typeface="Calibri" pitchFamily="34" charset="-122"/>
                <a:cs typeface="Calibri" pitchFamily="34" charset="-120"/>
              </a:rPr>
              <a:t>0</a:t>
            </a:r>
            <a:endParaRPr lang="en-US" sz="1200" dirty="0"/>
          </a:p>
        </p:txBody>
      </p:sp>
      <p:sp>
        <p:nvSpPr>
          <p:cNvPr id="69" name="mcell"/>
          <p:cNvSpPr txBox="1"/>
          <p:nvPr/>
        </p:nvSpPr>
        <p:spPr>
          <a:xfrm>
            <a:off x="10698480" y="3566160"/>
            <a:ext cx="274320" cy="274320"/>
          </a:xfrm>
          <a:prstGeom prst="rect">
            <a:avLst/>
          </a:prstGeom>
          <a:noFill/>
          <a:ln/>
        </p:spPr>
        <p:txBody>
          <a:bodyPr wrap="square" lIns="0" tIns="0" rIns="0" bIns="0" rtlCol="0" anchor="ctr"/>
          <a:lstStyle/>
          <a:p>
            <a:pPr algn="ctr" indent="0" marL="0">
              <a:buNone/>
            </a:pPr>
            <a:r>
              <a:rPr lang="en-US" sz="1200" b="1" dirty="0">
                <a:solidFill>
                  <a:srgbClr val="1E2A32"/>
                </a:solidFill>
                <a:latin typeface="Calibri" pitchFamily="34" charset="0"/>
                <a:ea typeface="Calibri" pitchFamily="34" charset="-122"/>
                <a:cs typeface="Calibri" pitchFamily="34" charset="-120"/>
              </a:rPr>
              <a:t>1</a:t>
            </a:r>
            <a:endParaRPr lang="en-US" sz="1200" dirty="0"/>
          </a:p>
        </p:txBody>
      </p:sp>
      <p:sp>
        <p:nvSpPr>
          <p:cNvPr id="70" name="mbr"/>
          <p:cNvSpPr/>
          <p:nvPr/>
        </p:nvSpPr>
        <p:spPr>
          <a:xfrm>
            <a:off x="8750808" y="1618488"/>
            <a:ext cx="0" cy="2249424"/>
          </a:xfrm>
          <a:prstGeom prst="line">
            <a:avLst/>
          </a:prstGeom>
          <a:noFill/>
          <a:ln w="15875">
            <a:solidFill>
              <a:srgbClr val="1E2A32"/>
            </a:solidFill>
            <a:prstDash val="solid"/>
          </a:ln>
        </p:spPr>
      </p:sp>
      <p:sp>
        <p:nvSpPr>
          <p:cNvPr id="71" name="mbr"/>
          <p:cNvSpPr/>
          <p:nvPr/>
        </p:nvSpPr>
        <p:spPr>
          <a:xfrm>
            <a:off x="8750808" y="1618488"/>
            <a:ext cx="73152" cy="0"/>
          </a:xfrm>
          <a:prstGeom prst="line">
            <a:avLst/>
          </a:prstGeom>
          <a:noFill/>
          <a:ln w="15875">
            <a:solidFill>
              <a:srgbClr val="1E2A32"/>
            </a:solidFill>
            <a:prstDash val="solid"/>
          </a:ln>
        </p:spPr>
      </p:sp>
      <p:sp>
        <p:nvSpPr>
          <p:cNvPr id="72" name="mbr"/>
          <p:cNvSpPr/>
          <p:nvPr/>
        </p:nvSpPr>
        <p:spPr>
          <a:xfrm>
            <a:off x="8750808" y="3867912"/>
            <a:ext cx="73152" cy="0"/>
          </a:xfrm>
          <a:prstGeom prst="line">
            <a:avLst/>
          </a:prstGeom>
          <a:noFill/>
          <a:ln w="15875">
            <a:solidFill>
              <a:srgbClr val="1E2A32"/>
            </a:solidFill>
            <a:prstDash val="solid"/>
          </a:ln>
        </p:spPr>
      </p:sp>
      <p:sp>
        <p:nvSpPr>
          <p:cNvPr id="73" name="mbr"/>
          <p:cNvSpPr/>
          <p:nvPr/>
        </p:nvSpPr>
        <p:spPr>
          <a:xfrm>
            <a:off x="11000232" y="1618488"/>
            <a:ext cx="0" cy="2249424"/>
          </a:xfrm>
          <a:prstGeom prst="line">
            <a:avLst/>
          </a:prstGeom>
          <a:noFill/>
          <a:ln w="15875">
            <a:solidFill>
              <a:srgbClr val="1E2A32"/>
            </a:solidFill>
            <a:prstDash val="solid"/>
          </a:ln>
        </p:spPr>
      </p:sp>
      <p:sp>
        <p:nvSpPr>
          <p:cNvPr id="74" name="mbr"/>
          <p:cNvSpPr/>
          <p:nvPr/>
        </p:nvSpPr>
        <p:spPr>
          <a:xfrm>
            <a:off x="10927080" y="1618488"/>
            <a:ext cx="73152" cy="0"/>
          </a:xfrm>
          <a:prstGeom prst="line">
            <a:avLst/>
          </a:prstGeom>
          <a:noFill/>
          <a:ln w="15875">
            <a:solidFill>
              <a:srgbClr val="1E2A32"/>
            </a:solidFill>
            <a:prstDash val="solid"/>
          </a:ln>
        </p:spPr>
      </p:sp>
      <p:sp>
        <p:nvSpPr>
          <p:cNvPr id="75" name="mbr"/>
          <p:cNvSpPr/>
          <p:nvPr/>
        </p:nvSpPr>
        <p:spPr>
          <a:xfrm>
            <a:off x="10927080" y="3867912"/>
            <a:ext cx="73152" cy="0"/>
          </a:xfrm>
          <a:prstGeom prst="line">
            <a:avLst/>
          </a:prstGeom>
          <a:noFill/>
          <a:ln w="15875">
            <a:solidFill>
              <a:srgbClr val="1E2A32"/>
            </a:solidFill>
            <a:prstDash val="solid"/>
          </a:ln>
        </p:spPr>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kicker"/>
          <p:cNvSpPr txBox="1"/>
          <p:nvPr/>
        </p:nvSpPr>
        <p:spPr>
          <a:xfrm>
            <a:off x="502920" y="182880"/>
            <a:ext cx="9144000" cy="237744"/>
          </a:xfrm>
          <a:prstGeom prst="rect">
            <a:avLst/>
          </a:prstGeom>
          <a:noFill/>
          <a:ln/>
        </p:spPr>
        <p:txBody>
          <a:bodyPr wrap="square" lIns="0" tIns="0" rIns="0" bIns="0" rtlCol="0" anchor="ctr"/>
          <a:lstStyle/>
          <a:p>
            <a:pPr indent="0" marL="0">
              <a:buNone/>
            </a:pPr>
            <a:r>
              <a:rPr lang="en-US" sz="1200" b="1" spc="150" kern="0" dirty="0">
                <a:solidFill>
                  <a:srgbClr val="0E6E7A"/>
                </a:solidFill>
                <a:latin typeface="Calibri" pitchFamily="34" charset="0"/>
                <a:ea typeface="Calibri" pitchFamily="34" charset="-122"/>
                <a:cs typeface="Calibri" pitchFamily="34" charset="-120"/>
              </a:rPr>
              <a:t>REFERENCES</a:t>
            </a:r>
            <a:endParaRPr lang="en-US" sz="1200" dirty="0"/>
          </a:p>
        </p:txBody>
      </p:sp>
      <p:sp>
        <p:nvSpPr>
          <p:cNvPr id="3" name="Text 1"/>
          <p:cNvSpPr/>
          <p:nvPr>
            <p:ph idx="101" type="title" hasCustomPrompt="1"/>
          </p:nvPr>
        </p:nvSpPr>
        <p:spPr>
          <a:xfrm>
            <a:off x="502920" y="420624"/>
            <a:ext cx="11201400" cy="603504"/>
          </a:xfrm>
          <a:prstGeom prst="rect">
            <a:avLst/>
          </a:prstGeom>
          <a:noFill/>
          <a:ln/>
        </p:spPr>
        <p:txBody>
          <a:bodyPr wrap="square" lIns="0" tIns="0" rIns="0" bIns="0" rtlCol="0" anchor="t"/>
          <a:lstStyle/>
          <a:p>
            <a:pPr algn="l" indent="0" marL="0">
              <a:buNone/>
            </a:pPr>
            <a:r>
              <a:rPr lang="en-US" sz="2800" b="1" dirty="0">
                <a:solidFill>
                  <a:srgbClr val="1E2A32"/>
                </a:solidFill>
                <a:latin typeface="Cambria" pitchFamily="34" charset="0"/>
                <a:ea typeface="Cambria" pitchFamily="34" charset="-122"/>
                <a:cs typeface="Cambria" pitchFamily="34" charset="-120"/>
              </a:rPr>
              <a:t>Sources</a:t>
            </a:r>
            <a:endParaRPr lang="en-US" sz="2800" dirty="0"/>
          </a:p>
        </p:txBody>
      </p:sp>
      <p:sp>
        <p:nvSpPr>
          <p:cNvPr id="5" name="bullets"/>
          <p:cNvSpPr txBox="1"/>
          <p:nvPr/>
        </p:nvSpPr>
        <p:spPr>
          <a:xfrm>
            <a:off x="502920" y="1280160"/>
            <a:ext cx="11201400" cy="4754880"/>
          </a:xfrm>
          <a:prstGeom prst="rect">
            <a:avLst/>
          </a:prstGeom>
          <a:noFill/>
          <a:ln/>
        </p:spPr>
        <p:txBody>
          <a:bodyPr wrap="square" lIns="25400" tIns="25400" rIns="25400" bIns="25400" rtlCol="0" anchor="t"/>
          <a:lstStyle/>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K. Zhou, M. Lezcano-Casado, A. P. Goucher, A. Rakhmati, J. Niu, J. Lebar, P. Szczerbuk, P. Bell, P. Tillet, T. Raoux, Z. Moudallal. </a:t>
            </a:r>
            <a:r>
              <a:rPr lang="en-US" sz="1400" b="1" dirty="0">
                <a:solidFill>
                  <a:srgbClr val="1E2A32"/>
                </a:solidFill>
                <a:latin typeface="Calibri" pitchFamily="34" charset="0"/>
                <a:ea typeface="Calibri" pitchFamily="34" charset="-122"/>
                <a:cs typeface="Calibri" pitchFamily="34" charset="-120"/>
              </a:rPr>
              <a:t>Linear Layouts: Robust Code Generation of Efficient Tensor Computation Using F₂.</a:t>
            </a:r>
            <a:r>
              <a:rPr lang="en-US" sz="1400" dirty="0">
                <a:solidFill>
                  <a:srgbClr val="1E2A32"/>
                </a:solidFill>
                <a:latin typeface="Calibri" pitchFamily="34" charset="0"/>
                <a:ea typeface="Calibri" pitchFamily="34" charset="-122"/>
                <a:cs typeface="Calibri" pitchFamily="34" charset="-120"/>
              </a:rPr>
              <a:t> ASPLOS ’26. DOI 10.1145/3760250.3762221 · arXiv 2505.23819</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Triton repository: github.com/triton-lang/triton (README: installation/build)</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include/triton/Tools/LinearLayout.h — representation and in-source explanation</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lib/Tools/LinearLayout.cpp — composition, inversion, division, product</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include/…/TritonGPU/IR/LinearLayoutConversions.h and lib/…/LinearLayoutConversions.cpp — legacy encodings → linear layouts</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lib/Dialect/TritonGPU/Transforms/RemoveLayoutConversions.cpp — layout propagation and rematerialization</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lib/Conversion/TritonGPUToLLVM/GatherOpToLLVM.cpp — warp-local gather lowering</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python/tutorials/gluon/02-layouts.py — Gluon layout tutorial; docs/index.rst — documentation index</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NVIDIA PTX ISA — mma.m16n8k16 fragment layouts (used for illustrative MMA examples)</a:t>
            </a:r>
            <a:endParaRPr lang="en-US" sz="1400" dirty="0"/>
          </a:p>
          <a:p>
            <a:pPr marL="203200" indent="-203200">
              <a:spcAft>
                <a:spcPts val="600"/>
              </a:spcAft>
              <a:buSzPct val="100000"/>
              <a:buChar char="•"/>
            </a:pPr>
            <a:r>
              <a:rPr lang="en-US" sz="1400" dirty="0">
                <a:solidFill>
                  <a:srgbClr val="1E2A32"/>
                </a:solidFill>
                <a:latin typeface="Calibri" pitchFamily="34" charset="0"/>
                <a:ea typeface="Calibri" pitchFamily="34" charset="-122"/>
                <a:cs typeface="Calibri" pitchFamily="34" charset="-120"/>
              </a:rPr>
              <a:t>Source code read from the current main branch (Oct 2026); it may differ from the paper’s evaluated revision.</a:t>
            </a:r>
            <a:endParaRPr lang="en-US" sz="1400" dirty="0"/>
          </a:p>
        </p:txBody>
      </p:sp>
      <p:sp>
        <p:nvSpPr>
          <p:cNvPr id="25" name="Slide Number Placeholder 0"/>
          <p:cNvSpPr>
            <a:spLocks noGrp="1"/>
          </p:cNvSpPr>
          <p:nvPr>
            <p:ph type="sldNum" sz="quarter" idx="4294967295"/>
          </p:nvPr>
        </p:nvSpPr>
        <p:spPr>
          <a:xfrm>
            <a:off x="11109960" y="6473952"/>
            <a:ext cx="5943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theme/theme1.xml><?xml version="1.0" encoding="utf-8"?>
<a:theme xmlns:a="http://schemas.openxmlformats.org/drawingml/2006/main" name="Linear Layouts">
  <a:themeElements>
    <a:clrScheme name="Linear Layouts">
      <a:dk1>
        <a:srgbClr val="1E2A32"/>
      </a:dk1>
      <a:lt1>
        <a:srgbClr val="FFFFFF"/>
      </a:lt1>
      <a:dk2>
        <a:srgbClr val="0A4F58"/>
      </a:dk2>
      <a:lt2>
        <a:srgbClr val="F3F6F7"/>
      </a:lt2>
      <a:accent1>
        <a:srgbClr val="0E6E7A"/>
      </a:accent1>
      <a:accent2>
        <a:srgbClr val="A86300"/>
      </a:accent2>
      <a:accent3>
        <a:srgbClr val="2E7D32"/>
      </a:accent3>
      <a:accent4>
        <a:srgbClr val="B3261E"/>
      </a:accent4>
      <a:accent5>
        <a:srgbClr val="5B6770"/>
      </a:accent5>
      <a:accent6>
        <a:srgbClr val="7A8B99"/>
      </a:accent6>
      <a:hlink>
        <a:srgbClr val="0E6E7A"/>
      </a:hlink>
      <a:folHlink>
        <a:srgbClr val="0A4F58"/>
      </a:folHlink>
    </a:clrScheme>
    <a:fontScheme name="Linear Layou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Layouts: Robust Code Generation of Efficient Tensor Computation Using F2</dc:title>
  <dc:subject>E0358 paper presentation</dc:subject>
  <dc:creator>Ragimanu Jeevan</dc:creator>
  <cp:lastModifiedBy>Ragimanu Jeevan</cp:lastModifiedBy>
  <cp:revision>1</cp:revision>
  <dcterms:created xsi:type="dcterms:W3CDTF">2026-10-28T20:15:30Z</dcterms:created>
  <dcterms:modified xsi:type="dcterms:W3CDTF">2026-10-28T20:15:30Z</dcterms:modified>
</cp:coreProperties>
</file>